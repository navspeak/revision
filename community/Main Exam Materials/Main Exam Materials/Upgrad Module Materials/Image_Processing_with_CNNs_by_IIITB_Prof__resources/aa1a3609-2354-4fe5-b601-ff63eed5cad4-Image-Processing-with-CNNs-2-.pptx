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316" r:id="rId3"/>
    <p:sldId id="258" r:id="rId4"/>
    <p:sldId id="259" r:id="rId5"/>
    <p:sldId id="260" r:id="rId6"/>
    <p:sldId id="294" r:id="rId7"/>
    <p:sldId id="282" r:id="rId8"/>
    <p:sldId id="283" r:id="rId9"/>
    <p:sldId id="284" r:id="rId10"/>
    <p:sldId id="286" r:id="rId11"/>
    <p:sldId id="288" r:id="rId12"/>
    <p:sldId id="290" r:id="rId13"/>
    <p:sldId id="292" r:id="rId14"/>
    <p:sldId id="293" r:id="rId15"/>
    <p:sldId id="295" r:id="rId16"/>
    <p:sldId id="263" r:id="rId17"/>
    <p:sldId id="265" r:id="rId18"/>
    <p:sldId id="296" r:id="rId19"/>
    <p:sldId id="267" r:id="rId20"/>
    <p:sldId id="268" r:id="rId21"/>
    <p:sldId id="281" r:id="rId22"/>
    <p:sldId id="266" r:id="rId23"/>
    <p:sldId id="269" r:id="rId24"/>
    <p:sldId id="270" r:id="rId25"/>
    <p:sldId id="271" r:id="rId26"/>
    <p:sldId id="273" r:id="rId27"/>
    <p:sldId id="274" r:id="rId28"/>
    <p:sldId id="275" r:id="rId29"/>
    <p:sldId id="276" r:id="rId30"/>
    <p:sldId id="272" r:id="rId31"/>
    <p:sldId id="262" r:id="rId32"/>
    <p:sldId id="277" r:id="rId33"/>
    <p:sldId id="278" r:id="rId34"/>
    <p:sldId id="297" r:id="rId35"/>
    <p:sldId id="305" r:id="rId36"/>
    <p:sldId id="306" r:id="rId37"/>
    <p:sldId id="307" r:id="rId38"/>
    <p:sldId id="308" r:id="rId39"/>
    <p:sldId id="309" r:id="rId40"/>
    <p:sldId id="310" r:id="rId41"/>
    <p:sldId id="311" r:id="rId42"/>
    <p:sldId id="312" r:id="rId43"/>
    <p:sldId id="313" r:id="rId44"/>
    <p:sldId id="314" r:id="rId45"/>
    <p:sldId id="315" r:id="rId46"/>
    <p:sldId id="298" r:id="rId47"/>
    <p:sldId id="299" r:id="rId48"/>
    <p:sldId id="301" r:id="rId49"/>
    <p:sldId id="302" r:id="rId50"/>
    <p:sldId id="303" r:id="rId51"/>
    <p:sldId id="304" r:id="rId52"/>
    <p:sldId id="279" r:id="rId53"/>
    <p:sldId id="28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329" autoAdjust="0"/>
  </p:normalViewPr>
  <p:slideViewPr>
    <p:cSldViewPr snapToGrid="0">
      <p:cViewPr varScale="1">
        <p:scale>
          <a:sx n="74" d="100"/>
          <a:sy n="74" d="100"/>
        </p:scale>
        <p:origin x="101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9T06:44:05.753"/>
    </inkml:context>
    <inkml:brush xml:id="br0">
      <inkml:brushProperty name="width" value="0.1" units="cm"/>
      <inkml:brushProperty name="height" value="0.1" units="cm"/>
    </inkml:brush>
  </inkml:definitions>
  <inkml:trace contextRef="#ctx0" brushRef="#br0">37985 5285 191 0 0,'0'-4'352'0'0,"0"-5"3232"0"0,0-6 1216 0 0,0-4-2176 0 0,0 5 2464 0 0,-5 5-4736 0 0,0 8 224 0 0,-4 5-224 0 0,-1 5-192 0 0,2 5 160 0 0,-3 1-160 0 0,2 2 96 0 0,-3-3-96 0 0,2 1-32 0 0,-3-2-32 0 0,2 1 32 0 0,-2 2 64 0 0,-3 3-32 0 0,1 2-32 0 0,0-3-96 0 0,2 0 32 0 0,-1-4-32 0 0,2 1 0 0 0,-1 2 32 0 0,2 1-32 0 0,-2-1 0 0 0,-3 0 0 0 0,-2 1 0 0 0,-3 2 32 0 0,-1 1 0 0 0,-2 2 0 0 0,0-3-640 0 0,3-1 320 0 0,6-4 256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9T06:44:05.754"/>
    </inkml:context>
    <inkml:brush xml:id="br0">
      <inkml:brushProperty name="width" value="0.1" units="cm"/>
      <inkml:brushProperty name="height" value="0.1" units="cm"/>
    </inkml:brush>
  </inkml:definitions>
  <inkml:trace contextRef="#ctx0" brushRef="#br0">37623 5261 95 0 0,'0'-4'1888'0'0,"-4"-6"2208"0"0,-2-5 1504 0 0,5 0-1440 0 0,2 7-3680 0 0,2 8 640 0 0,3 5-576 0 0,2 5-288 0 0,-2 6 192 0 0,4-1-64 0 0,-1 2-224 0 0,-2 2 64 0 0,3-2-128 0 0,-2 0 32 0 0,-1 1 32 0 0,2-2-96 0 0,0 0 0 0 0,-2 1 32 0 0,2-1-64 0 0,-2-1 32 0 0,0 3 64 0 0,2-3-64 0 0,0 1-32 0 0,-3 1 64 0 0,3 3-32 0 0,0 1 0 0 0,-2 2-32 0 0,2-3-32 0 0,-1-2 0 0 0,-1 2-32 0 0,-2 0 128 0 0,-2-6-13984 0 0,3-7 10592 0 0,0-7 1664 0 0,-1-9-160 0 0,-1-3 1792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9T06:44:05.755"/>
    </inkml:context>
    <inkml:brush xml:id="br0">
      <inkml:brushProperty name="width" value="0.1" units="cm"/>
      <inkml:brushProperty name="height" value="0.1" units="cm"/>
    </inkml:brush>
  </inkml:definitions>
  <inkml:trace contextRef="#ctx0" brushRef="#br0">37931 5236 255 0 0,'0'-4'800'0'0,"0"-6"3008"0"0,-4 0 2016 0 0,-6 4-2208 0 0,0 9-3200 0 0,-4 7-128 0 0,1 6-32 0 0,-1 1-160 0 0,1 1 0 0 0,0 2 32 0 0,1 1-96 0 0,-2 1 32 0 0,-1 2 0 0 0,0 0-64 0 0,0 1 0 0 0,-2-1 32 0 0,-3 1-32 0 0,4 0 0 0 0,-1-5 0 0 0,2-1 0 0 0,0 0 0 0 0,-1 1-64 0 0,-3 0-64 0 0,-1 3-96 0 0,1 0-96 0 0,1-3 64 0 0,3-1-512 0 0,1-4-416 0 0,1-9-11552 0 0,4-4 12736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453B8-6DE4-4F0F-82E8-3C646E23EBA7}"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F7A3B-3671-4E7A-930C-B84CFBF4AC98}" type="slidenum">
              <a:rPr lang="en-US" smtClean="0"/>
              <a:t>‹#›</a:t>
            </a:fld>
            <a:endParaRPr lang="en-US"/>
          </a:p>
        </p:txBody>
      </p:sp>
    </p:spTree>
    <p:extLst>
      <p:ext uri="{BB962C8B-B14F-4D97-AF65-F5344CB8AC3E}">
        <p14:creationId xmlns:p14="http://schemas.microsoft.com/office/powerpoint/2010/main" val="2219794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Modules covered so far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Lexical and Syntactic Processing</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Semantic Processing and Classical Text Generation</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Introduction to Neurons and Neural Networks</a:t>
            </a:r>
            <a:endParaRPr lang="en-US" dirty="0" smtClean="0"/>
          </a:p>
          <a:p>
            <a:endParaRPr lang="en-US" dirty="0"/>
          </a:p>
        </p:txBody>
      </p:sp>
      <p:sp>
        <p:nvSpPr>
          <p:cNvPr id="4" name="Slide Number Placeholder 3"/>
          <p:cNvSpPr>
            <a:spLocks noGrp="1"/>
          </p:cNvSpPr>
          <p:nvPr>
            <p:ph type="sldNum" sz="quarter" idx="10"/>
          </p:nvPr>
        </p:nvSpPr>
        <p:spPr/>
        <p:txBody>
          <a:bodyPr/>
          <a:lstStyle/>
          <a:p>
            <a:fld id="{F89F7A3B-3671-4E7A-930C-B84CFBF4AC98}" type="slidenum">
              <a:rPr lang="en-US" smtClean="0"/>
              <a:t>1</a:t>
            </a:fld>
            <a:endParaRPr lang="en-US"/>
          </a:p>
        </p:txBody>
      </p:sp>
    </p:spTree>
    <p:extLst>
      <p:ext uri="{BB962C8B-B14F-4D97-AF65-F5344CB8AC3E}">
        <p14:creationId xmlns:p14="http://schemas.microsoft.com/office/powerpoint/2010/main" val="232358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basic difference between a CNN and the multi-layer FFNs is that inputs to CNNs are 2-D arrays (images), while inputs to our fully connected neural networks are vectors.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5</a:t>
            </a:fld>
            <a:endParaRPr lang="en-US"/>
          </a:p>
        </p:txBody>
      </p:sp>
    </p:spTree>
    <p:extLst>
      <p:ext uri="{BB962C8B-B14F-4D97-AF65-F5344CB8AC3E}">
        <p14:creationId xmlns:p14="http://schemas.microsoft.com/office/powerpoint/2010/main" val="3909214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F14E17-D95E-4A43-8B51-C372B177DB37}" type="slidenum">
              <a:rPr lang="en-IN" smtClean="0"/>
              <a:t>6</a:t>
            </a:fld>
            <a:endParaRPr lang="en-IN"/>
          </a:p>
        </p:txBody>
      </p:sp>
    </p:spTree>
    <p:extLst>
      <p:ext uri="{BB962C8B-B14F-4D97-AF65-F5344CB8AC3E}">
        <p14:creationId xmlns:p14="http://schemas.microsoft.com/office/powerpoint/2010/main" val="2016025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 digital camera perceives and stores an image as matrices, consisting of numbers. Typical color images are called RGB images, consisting of Red, Green, and Blue channels.</a:t>
            </a:r>
            <a:endParaRPr lang="en-US" dirty="0"/>
          </a:p>
        </p:txBody>
      </p:sp>
      <p:sp>
        <p:nvSpPr>
          <p:cNvPr id="4" name="Slide Number Placeholder 3"/>
          <p:cNvSpPr>
            <a:spLocks noGrp="1"/>
          </p:cNvSpPr>
          <p:nvPr>
            <p:ph type="sldNum" sz="quarter" idx="10"/>
          </p:nvPr>
        </p:nvSpPr>
        <p:spPr/>
        <p:txBody>
          <a:bodyPr/>
          <a:lstStyle/>
          <a:p>
            <a:fld id="{4817F3EF-29C5-4A18-8470-F0CAA231ADD4}" type="slidenum">
              <a:rPr lang="en-US" smtClean="0"/>
              <a:t>7</a:t>
            </a:fld>
            <a:endParaRPr lang="en-US"/>
          </a:p>
        </p:txBody>
      </p:sp>
    </p:spTree>
    <p:extLst>
      <p:ext uri="{BB962C8B-B14F-4D97-AF65-F5344CB8AC3E}">
        <p14:creationId xmlns:p14="http://schemas.microsoft.com/office/powerpoint/2010/main" val="1001862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An image is represented as a tensor with dimension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𝑀</m:t>
                    </m:r>
                    <m:r>
                      <a:rPr lang="en-IN" sz="1200" i="1" kern="1200">
                        <a:solidFill>
                          <a:schemeClr val="tx1"/>
                        </a:solidFill>
                        <a:effectLst/>
                        <a:latin typeface="Cambria Math" panose="02040503050406030204" pitchFamily="18" charset="0"/>
                        <a:ea typeface="+mn-ea"/>
                        <a:cs typeface="+mn-cs"/>
                      </a:rPr>
                      <m:t>×</m:t>
                    </m:r>
                    <m:r>
                      <a:rPr lang="en-IN" sz="1200" i="1" kern="1200">
                        <a:solidFill>
                          <a:schemeClr val="tx1"/>
                        </a:solidFill>
                        <a:effectLst/>
                        <a:latin typeface="Cambria Math" panose="02040503050406030204" pitchFamily="18" charset="0"/>
                        <a:ea typeface="+mn-ea"/>
                        <a:cs typeface="+mn-cs"/>
                      </a:rPr>
                      <m:t>𝑁</m:t>
                    </m:r>
                    <m:r>
                      <a:rPr lang="en-IN" sz="1200" i="1" kern="1200">
                        <a:solidFill>
                          <a:schemeClr val="tx1"/>
                        </a:solidFill>
                        <a:effectLst/>
                        <a:latin typeface="Cambria Math" panose="02040503050406030204" pitchFamily="18" charset="0"/>
                        <a:ea typeface="+mn-ea"/>
                        <a:cs typeface="+mn-cs"/>
                      </a:rPr>
                      <m:t>×3</m:t>
                    </m:r>
                  </m:oMath>
                </a14:m>
                <a:r>
                  <a:rPr lang="en-IN" sz="1200" kern="1200" dirty="0">
                    <a:solidFill>
                      <a:schemeClr val="tx1"/>
                    </a:solidFill>
                    <a:effectLst/>
                    <a:latin typeface="+mn-lt"/>
                    <a:ea typeface="+mn-ea"/>
                    <a:cs typeface="+mn-cs"/>
                  </a:rPr>
                  <a:t>, formed by concatenating three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𝑀</m:t>
                    </m:r>
                    <m:r>
                      <a:rPr lang="en-IN" sz="1200" i="1" kern="1200">
                        <a:solidFill>
                          <a:schemeClr val="tx1"/>
                        </a:solidFill>
                        <a:effectLst/>
                        <a:latin typeface="Cambria Math" panose="02040503050406030204" pitchFamily="18" charset="0"/>
                        <a:ea typeface="+mn-ea"/>
                        <a:cs typeface="+mn-cs"/>
                      </a:rPr>
                      <m:t>×</m:t>
                    </m:r>
                    <m:r>
                      <a:rPr lang="en-IN" sz="1200" i="1" kern="1200">
                        <a:solidFill>
                          <a:schemeClr val="tx1"/>
                        </a:solidFill>
                        <a:effectLst/>
                        <a:latin typeface="Cambria Math" panose="02040503050406030204" pitchFamily="18" charset="0"/>
                        <a:ea typeface="+mn-ea"/>
                        <a:cs typeface="+mn-cs"/>
                      </a:rPr>
                      <m:t>𝑁</m:t>
                    </m:r>
                  </m:oMath>
                </a14:m>
                <a:r>
                  <a:rPr lang="en-IN" sz="1200" kern="1200" dirty="0">
                    <a:solidFill>
                      <a:schemeClr val="tx1"/>
                    </a:solidFill>
                    <a:effectLst/>
                    <a:latin typeface="+mn-lt"/>
                    <a:ea typeface="+mn-ea"/>
                    <a:cs typeface="+mn-cs"/>
                  </a:rPr>
                  <a:t> matrices. The dimensions are called height, width, and channel. So, one RGB image can be considered as a concatenation of three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2</m:t>
                    </m:r>
                    <m:r>
                      <a:rPr lang="en-IN" sz="1200" i="1" kern="1200">
                        <a:solidFill>
                          <a:schemeClr val="tx1"/>
                        </a:solidFill>
                        <a:effectLst/>
                        <a:latin typeface="Cambria Math" panose="02040503050406030204" pitchFamily="18" charset="0"/>
                        <a:ea typeface="+mn-ea"/>
                        <a:cs typeface="+mn-cs"/>
                      </a:rPr>
                      <m:t>𝐷</m:t>
                    </m:r>
                  </m:oMath>
                </a14:m>
                <a:r>
                  <a:rPr lang="en-IN" sz="1200" kern="1200" dirty="0">
                    <a:solidFill>
                      <a:schemeClr val="tx1"/>
                    </a:solidFill>
                    <a:effectLst/>
                    <a:latin typeface="+mn-lt"/>
                    <a:ea typeface="+mn-ea"/>
                    <a:cs typeface="+mn-cs"/>
                  </a:rPr>
                  <a:t> images.</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An image is represented as a tensor with dimension </a:t>
                </a:r>
                <a:r>
                  <a:rPr lang="en-IN" sz="1200" i="0" kern="1200">
                    <a:solidFill>
                      <a:schemeClr val="tx1"/>
                    </a:solidFill>
                    <a:effectLst/>
                    <a:latin typeface="+mn-lt"/>
                    <a:ea typeface="+mn-ea"/>
                    <a:cs typeface="+mn-cs"/>
                  </a:rPr>
                  <a:t>𝑀×𝑁×3</a:t>
                </a:r>
                <a:r>
                  <a:rPr lang="en-IN" sz="1200" kern="1200" dirty="0">
                    <a:solidFill>
                      <a:schemeClr val="tx1"/>
                    </a:solidFill>
                    <a:effectLst/>
                    <a:latin typeface="+mn-lt"/>
                    <a:ea typeface="+mn-ea"/>
                    <a:cs typeface="+mn-cs"/>
                  </a:rPr>
                  <a:t>, formed by concatenating three </a:t>
                </a:r>
                <a:r>
                  <a:rPr lang="en-IN" sz="1200" i="0" kern="1200">
                    <a:solidFill>
                      <a:schemeClr val="tx1"/>
                    </a:solidFill>
                    <a:effectLst/>
                    <a:latin typeface="+mn-lt"/>
                    <a:ea typeface="+mn-ea"/>
                    <a:cs typeface="+mn-cs"/>
                  </a:rPr>
                  <a:t>𝑀×𝑁</a:t>
                </a:r>
                <a:r>
                  <a:rPr lang="en-IN" sz="1200" kern="1200" dirty="0">
                    <a:solidFill>
                      <a:schemeClr val="tx1"/>
                    </a:solidFill>
                    <a:effectLst/>
                    <a:latin typeface="+mn-lt"/>
                    <a:ea typeface="+mn-ea"/>
                    <a:cs typeface="+mn-cs"/>
                  </a:rPr>
                  <a:t> matrices. The dimensions are called height, width, and channel. So, one RGB image can be considered as a concatenation of three </a:t>
                </a:r>
                <a:r>
                  <a:rPr lang="en-IN" sz="1200" i="0" kern="1200">
                    <a:solidFill>
                      <a:schemeClr val="tx1"/>
                    </a:solidFill>
                    <a:effectLst/>
                    <a:latin typeface="+mn-lt"/>
                    <a:ea typeface="+mn-ea"/>
                    <a:cs typeface="+mn-cs"/>
                  </a:rPr>
                  <a:t>2𝐷</a:t>
                </a:r>
                <a:r>
                  <a:rPr lang="en-IN" sz="1200" kern="1200" dirty="0">
                    <a:solidFill>
                      <a:schemeClr val="tx1"/>
                    </a:solidFill>
                    <a:effectLst/>
                    <a:latin typeface="+mn-lt"/>
                    <a:ea typeface="+mn-ea"/>
                    <a:cs typeface="+mn-cs"/>
                  </a:rPr>
                  <a:t> images.</a:t>
                </a:r>
                <a:endParaRPr lang="en-US" dirty="0"/>
              </a:p>
            </p:txBody>
          </p:sp>
        </mc:Fallback>
      </mc:AlternateContent>
      <p:sp>
        <p:nvSpPr>
          <p:cNvPr id="4" name="Slide Number Placeholder 3"/>
          <p:cNvSpPr>
            <a:spLocks noGrp="1"/>
          </p:cNvSpPr>
          <p:nvPr>
            <p:ph type="sldNum" sz="quarter" idx="10"/>
          </p:nvPr>
        </p:nvSpPr>
        <p:spPr/>
        <p:txBody>
          <a:bodyPr/>
          <a:lstStyle/>
          <a:p>
            <a:fld id="{4817F3EF-29C5-4A18-8470-F0CAA231ADD4}" type="slidenum">
              <a:rPr lang="en-US" smtClean="0"/>
              <a:t>8</a:t>
            </a:fld>
            <a:endParaRPr lang="en-US"/>
          </a:p>
        </p:txBody>
      </p:sp>
    </p:spTree>
    <p:extLst>
      <p:ext uri="{BB962C8B-B14F-4D97-AF65-F5344CB8AC3E}">
        <p14:creationId xmlns:p14="http://schemas.microsoft.com/office/powerpoint/2010/main" val="2733013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value of a pixel is assigned according to the intensity of light falling on each location in an image. Pixel values at a location is called the gray levels or intensity of the image at that location.</a:t>
            </a:r>
            <a:endParaRPr lang="en-US" dirty="0"/>
          </a:p>
        </p:txBody>
      </p:sp>
      <p:sp>
        <p:nvSpPr>
          <p:cNvPr id="4" name="Slide Number Placeholder 3"/>
          <p:cNvSpPr>
            <a:spLocks noGrp="1"/>
          </p:cNvSpPr>
          <p:nvPr>
            <p:ph type="sldNum" sz="quarter" idx="10"/>
          </p:nvPr>
        </p:nvSpPr>
        <p:spPr/>
        <p:txBody>
          <a:bodyPr/>
          <a:lstStyle/>
          <a:p>
            <a:fld id="{4817F3EF-29C5-4A18-8470-F0CAA231ADD4}" type="slidenum">
              <a:rPr lang="en-US" smtClean="0"/>
              <a:t>9</a:t>
            </a:fld>
            <a:endParaRPr lang="en-US"/>
          </a:p>
        </p:txBody>
      </p:sp>
    </p:spTree>
    <p:extLst>
      <p:ext uri="{BB962C8B-B14F-4D97-AF65-F5344CB8AC3E}">
        <p14:creationId xmlns:p14="http://schemas.microsoft.com/office/powerpoint/2010/main" val="2553506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illumination component is determined by the illumination or light source and the reflectance component is determined by the characteristics of the imaged object.</a:t>
            </a:r>
            <a:endParaRPr lang="en-US" dirty="0"/>
          </a:p>
        </p:txBody>
      </p:sp>
      <p:sp>
        <p:nvSpPr>
          <p:cNvPr id="4" name="Slide Number Placeholder 3"/>
          <p:cNvSpPr>
            <a:spLocks noGrp="1"/>
          </p:cNvSpPr>
          <p:nvPr>
            <p:ph type="sldNum" sz="quarter" idx="10"/>
          </p:nvPr>
        </p:nvSpPr>
        <p:spPr/>
        <p:txBody>
          <a:bodyPr/>
          <a:lstStyle/>
          <a:p>
            <a:fld id="{4817F3EF-29C5-4A18-8470-F0CAA231ADD4}" type="slidenum">
              <a:rPr lang="en-US" smtClean="0"/>
              <a:t>10</a:t>
            </a:fld>
            <a:endParaRPr lang="en-US"/>
          </a:p>
        </p:txBody>
      </p:sp>
    </p:spTree>
    <p:extLst>
      <p:ext uri="{BB962C8B-B14F-4D97-AF65-F5344CB8AC3E}">
        <p14:creationId xmlns:p14="http://schemas.microsoft.com/office/powerpoint/2010/main" val="3517948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case of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bits/pixels, there are </a:t>
                </a:r>
                <a14:m>
                  <m:oMath xmlns:m="http://schemas.openxmlformats.org/officeDocument/2006/math">
                    <m:sSup>
                      <m:sSupPr>
                        <m:ctrlPr>
                          <a:rPr lang="en-US"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2</m:t>
                        </m:r>
                      </m:e>
                      <m:sup>
                        <m:r>
                          <a:rPr lang="en-IN" sz="1200" i="1" kern="1200">
                            <a:solidFill>
                              <a:schemeClr val="tx1"/>
                            </a:solidFill>
                            <a:effectLst/>
                            <a:latin typeface="Cambria Math" panose="02040503050406030204" pitchFamily="18" charset="0"/>
                            <a:ea typeface="+mn-ea"/>
                            <a:cs typeface="+mn-cs"/>
                          </a:rPr>
                          <m:t>𝑘</m:t>
                        </m:r>
                      </m:sup>
                    </m:sSup>
                  </m:oMath>
                </a14:m>
                <a:r>
                  <a:rPr lang="en-IN" sz="1200" kern="1200" dirty="0">
                    <a:solidFill>
                      <a:schemeClr val="tx1"/>
                    </a:solidFill>
                    <a:effectLst/>
                    <a:latin typeface="+mn-lt"/>
                    <a:ea typeface="+mn-ea"/>
                    <a:cs typeface="+mn-cs"/>
                  </a:rPr>
                  <a:t> gray levels. For a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r>
                      <a:rPr lang="en-IN" sz="1200" i="1" kern="1200">
                        <a:solidFill>
                          <a:schemeClr val="tx1"/>
                        </a:solidFill>
                        <a:effectLst/>
                        <a:latin typeface="Cambria Math" panose="02040503050406030204" pitchFamily="18" charset="0"/>
                        <a:ea typeface="+mn-ea"/>
                        <a:cs typeface="+mn-cs"/>
                      </a:rPr>
                      <m:t>−</m:t>
                    </m:r>
                  </m:oMath>
                </a14:m>
                <a:r>
                  <a:rPr lang="en-IN" sz="1200" kern="1200" dirty="0">
                    <a:solidFill>
                      <a:schemeClr val="tx1"/>
                    </a:solidFill>
                    <a:effectLst/>
                    <a:latin typeface="+mn-lt"/>
                    <a:ea typeface="+mn-ea"/>
                    <a:cs typeface="+mn-cs"/>
                  </a:rPr>
                  <a:t>bit system, the pixel values or intensity levels range from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0</m:t>
                    </m:r>
                  </m:oMath>
                </a14:m>
                <a:r>
                  <a:rPr lang="en-IN" sz="1200" kern="1200" dirty="0">
                    <a:solidFill>
                      <a:schemeClr val="tx1"/>
                    </a:solidFill>
                    <a:effectLst/>
                    <a:latin typeface="+mn-lt"/>
                    <a:ea typeface="+mn-ea"/>
                    <a:cs typeface="+mn-cs"/>
                  </a:rPr>
                  <a:t> to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𝐿</m:t>
                    </m:r>
                    <m:r>
                      <a:rPr lang="en-IN" sz="1200" i="1" kern="1200">
                        <a:solidFill>
                          <a:schemeClr val="tx1"/>
                        </a:solidFill>
                        <a:effectLst/>
                        <a:latin typeface="Cambria Math" panose="02040503050406030204" pitchFamily="18" charset="0"/>
                        <a:ea typeface="+mn-ea"/>
                        <a:cs typeface="+mn-cs"/>
                      </a:rPr>
                      <m:t>−1</m:t>
                    </m:r>
                  </m:oMath>
                </a14:m>
                <a:r>
                  <a:rPr lang="en-IN" sz="1200" kern="1200" dirty="0">
                    <a:solidFill>
                      <a:schemeClr val="tx1"/>
                    </a:solidFill>
                    <a:effectLst/>
                    <a:latin typeface="+mn-lt"/>
                    <a:ea typeface="+mn-ea"/>
                    <a:cs typeface="+mn-cs"/>
                  </a:rPr>
                  <a:t>, where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𝐿</m:t>
                    </m:r>
                    <m:r>
                      <a:rPr lang="en-IN" sz="1200" i="1" kern="1200">
                        <a:solidFill>
                          <a:schemeClr val="tx1"/>
                        </a:solidFill>
                        <a:effectLst/>
                        <a:latin typeface="Cambria Math" panose="02040503050406030204" pitchFamily="18" charset="0"/>
                        <a:ea typeface="+mn-ea"/>
                        <a:cs typeface="+mn-cs"/>
                      </a:rPr>
                      <m:t> = </m:t>
                    </m:r>
                    <m:sSup>
                      <m:sSupPr>
                        <m:ctrlPr>
                          <a:rPr lang="en-US"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2</m:t>
                        </m:r>
                      </m:e>
                      <m:sup>
                        <m:r>
                          <a:rPr lang="en-IN" sz="1200" i="1" kern="1200">
                            <a:solidFill>
                              <a:schemeClr val="tx1"/>
                            </a:solidFill>
                            <a:effectLst/>
                            <a:latin typeface="Cambria Math" panose="02040503050406030204" pitchFamily="18" charset="0"/>
                            <a:ea typeface="+mn-ea"/>
                            <a:cs typeface="+mn-cs"/>
                          </a:rPr>
                          <m:t>𝑘</m:t>
                        </m:r>
                      </m:sup>
                    </m:sSup>
                  </m:oMath>
                </a14:m>
                <a:r>
                  <a:rPr lang="en-IN" sz="1200" kern="1200" dirty="0">
                    <a:solidFill>
                      <a:schemeClr val="tx1"/>
                    </a:solidFill>
                    <a:effectLst/>
                    <a:latin typeface="+mn-lt"/>
                    <a:ea typeface="+mn-ea"/>
                    <a:cs typeface="+mn-cs"/>
                  </a:rPr>
                  <a:t>,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is the number of bits required to represent the digital image.</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case of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bits/pixels, there are </a:t>
                </a:r>
                <a:r>
                  <a:rPr lang="en-IN"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gray levels. For a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bit system, the pixel values or intensity levels range from </a:t>
                </a:r>
                <a:r>
                  <a:rPr lang="en-IN" sz="1200" i="0" kern="1200">
                    <a:solidFill>
                      <a:schemeClr val="tx1"/>
                    </a:solidFill>
                    <a:effectLst/>
                    <a:latin typeface="+mn-lt"/>
                    <a:ea typeface="+mn-ea"/>
                    <a:cs typeface="+mn-cs"/>
                  </a:rPr>
                  <a:t>0</a:t>
                </a:r>
                <a:r>
                  <a:rPr lang="en-IN" sz="1200" kern="1200" dirty="0">
                    <a:solidFill>
                      <a:schemeClr val="tx1"/>
                    </a:solidFill>
                    <a:effectLst/>
                    <a:latin typeface="+mn-lt"/>
                    <a:ea typeface="+mn-ea"/>
                    <a:cs typeface="+mn-cs"/>
                  </a:rPr>
                  <a:t> to </a:t>
                </a:r>
                <a:r>
                  <a:rPr lang="en-IN" sz="1200" i="0" kern="1200">
                    <a:solidFill>
                      <a:schemeClr val="tx1"/>
                    </a:solidFill>
                    <a:effectLst/>
                    <a:latin typeface="+mn-lt"/>
                    <a:ea typeface="+mn-ea"/>
                    <a:cs typeface="+mn-cs"/>
                  </a:rPr>
                  <a:t>𝐿−1</a:t>
                </a:r>
                <a:r>
                  <a:rPr lang="en-IN" sz="1200" kern="1200" dirty="0">
                    <a:solidFill>
                      <a:schemeClr val="tx1"/>
                    </a:solidFill>
                    <a:effectLst/>
                    <a:latin typeface="+mn-lt"/>
                    <a:ea typeface="+mn-ea"/>
                    <a:cs typeface="+mn-cs"/>
                  </a:rPr>
                  <a:t>, where </a:t>
                </a:r>
                <a:r>
                  <a:rPr lang="en-IN" sz="1200" i="0" kern="1200">
                    <a:solidFill>
                      <a:schemeClr val="tx1"/>
                    </a:solidFill>
                    <a:effectLst/>
                    <a:latin typeface="+mn-lt"/>
                    <a:ea typeface="+mn-ea"/>
                    <a:cs typeface="+mn-cs"/>
                  </a:rPr>
                  <a:t>𝐿 = 2</a:t>
                </a:r>
                <a:r>
                  <a:rPr lang="en-US" sz="1200" i="0" kern="1200">
                    <a:solidFill>
                      <a:schemeClr val="tx1"/>
                    </a:solidFill>
                    <a:effectLst/>
                    <a:latin typeface="+mn-lt"/>
                    <a:ea typeface="+mn-ea"/>
                    <a:cs typeface="+mn-cs"/>
                  </a:rPr>
                  <a:t>^</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is the number of bits required to represent the digital image.</a:t>
                </a:r>
                <a:endParaRPr lang="en-US" dirty="0"/>
              </a:p>
            </p:txBody>
          </p:sp>
        </mc:Fallback>
      </mc:AlternateContent>
      <p:sp>
        <p:nvSpPr>
          <p:cNvPr id="4" name="Slide Number Placeholder 3"/>
          <p:cNvSpPr>
            <a:spLocks noGrp="1"/>
          </p:cNvSpPr>
          <p:nvPr>
            <p:ph type="sldNum" sz="quarter" idx="10"/>
          </p:nvPr>
        </p:nvSpPr>
        <p:spPr/>
        <p:txBody>
          <a:bodyPr/>
          <a:lstStyle/>
          <a:p>
            <a:fld id="{4817F3EF-29C5-4A18-8470-F0CAA231ADD4}" type="slidenum">
              <a:rPr lang="en-US" smtClean="0"/>
              <a:t>13</a:t>
            </a:fld>
            <a:endParaRPr lang="en-US"/>
          </a:p>
        </p:txBody>
      </p:sp>
    </p:spTree>
    <p:extLst>
      <p:ext uri="{BB962C8B-B14F-4D97-AF65-F5344CB8AC3E}">
        <p14:creationId xmlns:p14="http://schemas.microsoft.com/office/powerpoint/2010/main" val="3006738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case of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bits/pixels, there are </a:t>
                </a:r>
                <a14:m>
                  <m:oMath xmlns:m="http://schemas.openxmlformats.org/officeDocument/2006/math">
                    <m:sSup>
                      <m:sSupPr>
                        <m:ctrlPr>
                          <a:rPr lang="en-US"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2</m:t>
                        </m:r>
                      </m:e>
                      <m:sup>
                        <m:r>
                          <a:rPr lang="en-IN" sz="1200" i="1" kern="1200">
                            <a:solidFill>
                              <a:schemeClr val="tx1"/>
                            </a:solidFill>
                            <a:effectLst/>
                            <a:latin typeface="Cambria Math" panose="02040503050406030204" pitchFamily="18" charset="0"/>
                            <a:ea typeface="+mn-ea"/>
                            <a:cs typeface="+mn-cs"/>
                          </a:rPr>
                          <m:t>𝑘</m:t>
                        </m:r>
                      </m:sup>
                    </m:sSup>
                  </m:oMath>
                </a14:m>
                <a:r>
                  <a:rPr lang="en-IN" sz="1200" kern="1200" dirty="0">
                    <a:solidFill>
                      <a:schemeClr val="tx1"/>
                    </a:solidFill>
                    <a:effectLst/>
                    <a:latin typeface="+mn-lt"/>
                    <a:ea typeface="+mn-ea"/>
                    <a:cs typeface="+mn-cs"/>
                  </a:rPr>
                  <a:t> gray levels. For a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r>
                      <a:rPr lang="en-IN" sz="1200" i="1" kern="1200">
                        <a:solidFill>
                          <a:schemeClr val="tx1"/>
                        </a:solidFill>
                        <a:effectLst/>
                        <a:latin typeface="Cambria Math" panose="02040503050406030204" pitchFamily="18" charset="0"/>
                        <a:ea typeface="+mn-ea"/>
                        <a:cs typeface="+mn-cs"/>
                      </a:rPr>
                      <m:t>−</m:t>
                    </m:r>
                  </m:oMath>
                </a14:m>
                <a:r>
                  <a:rPr lang="en-IN" sz="1200" kern="1200" dirty="0">
                    <a:solidFill>
                      <a:schemeClr val="tx1"/>
                    </a:solidFill>
                    <a:effectLst/>
                    <a:latin typeface="+mn-lt"/>
                    <a:ea typeface="+mn-ea"/>
                    <a:cs typeface="+mn-cs"/>
                  </a:rPr>
                  <a:t>bit system, the pixel values or intensity levels range from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0</m:t>
                    </m:r>
                  </m:oMath>
                </a14:m>
                <a:r>
                  <a:rPr lang="en-IN" sz="1200" kern="1200" dirty="0">
                    <a:solidFill>
                      <a:schemeClr val="tx1"/>
                    </a:solidFill>
                    <a:effectLst/>
                    <a:latin typeface="+mn-lt"/>
                    <a:ea typeface="+mn-ea"/>
                    <a:cs typeface="+mn-cs"/>
                  </a:rPr>
                  <a:t> to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𝐿</m:t>
                    </m:r>
                    <m:r>
                      <a:rPr lang="en-IN" sz="1200" i="1" kern="1200">
                        <a:solidFill>
                          <a:schemeClr val="tx1"/>
                        </a:solidFill>
                        <a:effectLst/>
                        <a:latin typeface="Cambria Math" panose="02040503050406030204" pitchFamily="18" charset="0"/>
                        <a:ea typeface="+mn-ea"/>
                        <a:cs typeface="+mn-cs"/>
                      </a:rPr>
                      <m:t>−1</m:t>
                    </m:r>
                  </m:oMath>
                </a14:m>
                <a:r>
                  <a:rPr lang="en-IN" sz="1200" kern="1200" dirty="0">
                    <a:solidFill>
                      <a:schemeClr val="tx1"/>
                    </a:solidFill>
                    <a:effectLst/>
                    <a:latin typeface="+mn-lt"/>
                    <a:ea typeface="+mn-ea"/>
                    <a:cs typeface="+mn-cs"/>
                  </a:rPr>
                  <a:t>, where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𝐿</m:t>
                    </m:r>
                    <m:r>
                      <a:rPr lang="en-IN" sz="1200" i="1" kern="1200">
                        <a:solidFill>
                          <a:schemeClr val="tx1"/>
                        </a:solidFill>
                        <a:effectLst/>
                        <a:latin typeface="Cambria Math" panose="02040503050406030204" pitchFamily="18" charset="0"/>
                        <a:ea typeface="+mn-ea"/>
                        <a:cs typeface="+mn-cs"/>
                      </a:rPr>
                      <m:t> = </m:t>
                    </m:r>
                    <m:sSup>
                      <m:sSupPr>
                        <m:ctrlPr>
                          <a:rPr lang="en-US"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2</m:t>
                        </m:r>
                      </m:e>
                      <m:sup>
                        <m:r>
                          <a:rPr lang="en-IN" sz="1200" i="1" kern="1200">
                            <a:solidFill>
                              <a:schemeClr val="tx1"/>
                            </a:solidFill>
                            <a:effectLst/>
                            <a:latin typeface="Cambria Math" panose="02040503050406030204" pitchFamily="18" charset="0"/>
                            <a:ea typeface="+mn-ea"/>
                            <a:cs typeface="+mn-cs"/>
                          </a:rPr>
                          <m:t>𝑘</m:t>
                        </m:r>
                      </m:sup>
                    </m:sSup>
                  </m:oMath>
                </a14:m>
                <a:r>
                  <a:rPr lang="en-IN" sz="1200" kern="1200" dirty="0">
                    <a:solidFill>
                      <a:schemeClr val="tx1"/>
                    </a:solidFill>
                    <a:effectLst/>
                    <a:latin typeface="+mn-lt"/>
                    <a:ea typeface="+mn-ea"/>
                    <a:cs typeface="+mn-cs"/>
                  </a:rPr>
                  <a:t>,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is the number of bits required to represent the digital image.</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case of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bits/pixels, there are </a:t>
                </a:r>
                <a:r>
                  <a:rPr lang="en-IN"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gray levels. For a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bit system, the pixel values or intensity levels range from </a:t>
                </a:r>
                <a:r>
                  <a:rPr lang="en-IN" sz="1200" i="0" kern="1200">
                    <a:solidFill>
                      <a:schemeClr val="tx1"/>
                    </a:solidFill>
                    <a:effectLst/>
                    <a:latin typeface="+mn-lt"/>
                    <a:ea typeface="+mn-ea"/>
                    <a:cs typeface="+mn-cs"/>
                  </a:rPr>
                  <a:t>0</a:t>
                </a:r>
                <a:r>
                  <a:rPr lang="en-IN" sz="1200" kern="1200" dirty="0">
                    <a:solidFill>
                      <a:schemeClr val="tx1"/>
                    </a:solidFill>
                    <a:effectLst/>
                    <a:latin typeface="+mn-lt"/>
                    <a:ea typeface="+mn-ea"/>
                    <a:cs typeface="+mn-cs"/>
                  </a:rPr>
                  <a:t> to </a:t>
                </a:r>
                <a:r>
                  <a:rPr lang="en-IN" sz="1200" i="0" kern="1200">
                    <a:solidFill>
                      <a:schemeClr val="tx1"/>
                    </a:solidFill>
                    <a:effectLst/>
                    <a:latin typeface="+mn-lt"/>
                    <a:ea typeface="+mn-ea"/>
                    <a:cs typeface="+mn-cs"/>
                  </a:rPr>
                  <a:t>𝐿−1</a:t>
                </a:r>
                <a:r>
                  <a:rPr lang="en-IN" sz="1200" kern="1200" dirty="0">
                    <a:solidFill>
                      <a:schemeClr val="tx1"/>
                    </a:solidFill>
                    <a:effectLst/>
                    <a:latin typeface="+mn-lt"/>
                    <a:ea typeface="+mn-ea"/>
                    <a:cs typeface="+mn-cs"/>
                  </a:rPr>
                  <a:t>, where </a:t>
                </a:r>
                <a:r>
                  <a:rPr lang="en-IN" sz="1200" i="0" kern="1200">
                    <a:solidFill>
                      <a:schemeClr val="tx1"/>
                    </a:solidFill>
                    <a:effectLst/>
                    <a:latin typeface="+mn-lt"/>
                    <a:ea typeface="+mn-ea"/>
                    <a:cs typeface="+mn-cs"/>
                  </a:rPr>
                  <a:t>𝐿 = 2</a:t>
                </a:r>
                <a:r>
                  <a:rPr lang="en-US" sz="1200" i="0" kern="1200">
                    <a:solidFill>
                      <a:schemeClr val="tx1"/>
                    </a:solidFill>
                    <a:effectLst/>
                    <a:latin typeface="+mn-lt"/>
                    <a:ea typeface="+mn-ea"/>
                    <a:cs typeface="+mn-cs"/>
                  </a:rPr>
                  <a:t>^</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is the number of bits required to represent the digital image.</a:t>
                </a:r>
                <a:endParaRPr lang="en-US" dirty="0"/>
              </a:p>
            </p:txBody>
          </p:sp>
        </mc:Fallback>
      </mc:AlternateContent>
      <p:sp>
        <p:nvSpPr>
          <p:cNvPr id="4" name="Slide Number Placeholder 3"/>
          <p:cNvSpPr>
            <a:spLocks noGrp="1"/>
          </p:cNvSpPr>
          <p:nvPr>
            <p:ph type="sldNum" sz="quarter" idx="10"/>
          </p:nvPr>
        </p:nvSpPr>
        <p:spPr/>
        <p:txBody>
          <a:bodyPr/>
          <a:lstStyle/>
          <a:p>
            <a:fld id="{4817F3EF-29C5-4A18-8470-F0CAA231ADD4}" type="slidenum">
              <a:rPr lang="en-US" smtClean="0"/>
              <a:t>14</a:t>
            </a:fld>
            <a:endParaRPr lang="en-US"/>
          </a:p>
        </p:txBody>
      </p:sp>
    </p:spTree>
    <p:extLst>
      <p:ext uri="{BB962C8B-B14F-4D97-AF65-F5344CB8AC3E}">
        <p14:creationId xmlns:p14="http://schemas.microsoft.com/office/powerpoint/2010/main" val="3315710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a:solidFill>
                  <a:schemeClr val="tx1"/>
                </a:solidFill>
                <a:effectLst/>
                <a:latin typeface="+mn-lt"/>
                <a:ea typeface="+mn-ea"/>
                <a:cs typeface="+mn-cs"/>
              </a:rPr>
              <a:t>A spatial filter has a kernel consisting of filter coefficients. In the case of linear spatial filtering, spatial filters or kernels or masks or windows are slid through a region of an image and sum of product operation is performed. The size of the kernel defines it’s neighbourhood. The coefficients determine the nature of the filter. Both size and coefficients determine the kind of filtering operation. Linear spatial filtering is also called spatial convolution.</a:t>
            </a:r>
            <a:endParaRPr lang="en-IN"/>
          </a:p>
        </p:txBody>
      </p:sp>
      <p:sp>
        <p:nvSpPr>
          <p:cNvPr id="4" name="Slide Number Placeholder 3"/>
          <p:cNvSpPr>
            <a:spLocks noGrp="1"/>
          </p:cNvSpPr>
          <p:nvPr>
            <p:ph type="sldNum" sz="quarter" idx="10"/>
          </p:nvPr>
        </p:nvSpPr>
        <p:spPr/>
        <p:txBody>
          <a:bodyPr/>
          <a:lstStyle/>
          <a:p>
            <a:fld id="{66694356-F8C4-4338-8F1C-8CD331F083F6}" type="slidenum">
              <a:rPr lang="en-US" smtClean="0"/>
              <a:t>18</a:t>
            </a:fld>
            <a:endParaRPr lang="en-US"/>
          </a:p>
        </p:txBody>
      </p:sp>
    </p:spTree>
    <p:extLst>
      <p:ext uri="{BB962C8B-B14F-4D97-AF65-F5344CB8AC3E}">
        <p14:creationId xmlns:p14="http://schemas.microsoft.com/office/powerpoint/2010/main" val="3082518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F14E17-D95E-4A43-8B51-C372B177DB37}" type="slidenum">
              <a:rPr lang="en-IN" smtClean="0"/>
              <a:t>31</a:t>
            </a:fld>
            <a:endParaRPr lang="en-IN"/>
          </a:p>
        </p:txBody>
      </p:sp>
    </p:spTree>
    <p:extLst>
      <p:ext uri="{BB962C8B-B14F-4D97-AF65-F5344CB8AC3E}">
        <p14:creationId xmlns:p14="http://schemas.microsoft.com/office/powerpoint/2010/main" val="1648391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89F7A3B-3671-4E7A-930C-B84CFBF4AC98}" type="slidenum">
              <a:rPr lang="en-US" smtClean="0"/>
              <a:t>35</a:t>
            </a:fld>
            <a:endParaRPr lang="en-US"/>
          </a:p>
        </p:txBody>
      </p:sp>
    </p:spTree>
    <p:extLst>
      <p:ext uri="{BB962C8B-B14F-4D97-AF65-F5344CB8AC3E}">
        <p14:creationId xmlns:p14="http://schemas.microsoft.com/office/powerpoint/2010/main" val="4211577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In the</a:t>
            </a:r>
            <a:r>
              <a:rPr lang="en-IN" baseline="0" dirty="0" smtClean="0"/>
              <a:t> forward pass, the input passes through the layers of the network and output is computed. </a:t>
            </a:r>
            <a:r>
              <a:rPr lang="en-US" sz="1200" b="0" i="0" kern="1200" dirty="0" smtClean="0">
                <a:solidFill>
                  <a:schemeClr val="tx1"/>
                </a:solidFill>
                <a:effectLst/>
                <a:latin typeface="+mn-lt"/>
                <a:ea typeface="+mn-ea"/>
                <a:cs typeface="+mn-cs"/>
              </a:rPr>
              <a:t>The Forward Pass starts from the Convolutional Layer</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where </a:t>
            </a:r>
            <a:r>
              <a:rPr lang="en-US" sz="1200" b="1" i="0" kern="1200" dirty="0" smtClean="0">
                <a:solidFill>
                  <a:schemeClr val="tx1"/>
                </a:solidFill>
                <a:effectLst/>
                <a:latin typeface="+mn-lt"/>
                <a:ea typeface="+mn-ea"/>
                <a:cs typeface="+mn-cs"/>
              </a:rPr>
              <a:t>Convolution </a:t>
            </a:r>
            <a:r>
              <a:rPr lang="en-US" sz="1200" b="0" i="0" kern="1200" dirty="0" smtClean="0">
                <a:solidFill>
                  <a:schemeClr val="tx1"/>
                </a:solidFill>
                <a:effectLst/>
                <a:latin typeface="+mn-lt"/>
                <a:ea typeface="+mn-ea"/>
                <a:cs typeface="+mn-cs"/>
              </a:rPr>
              <a:t>operation is performed between the input image and the kernels.</a:t>
            </a:r>
            <a:r>
              <a:rPr lang="en-US" sz="1200" b="0" i="0" kern="1200" baseline="0" dirty="0" smtClean="0">
                <a:solidFill>
                  <a:schemeClr val="tx1"/>
                </a:solidFill>
                <a:effectLst/>
                <a:latin typeface="+mn-lt"/>
                <a:ea typeface="+mn-ea"/>
                <a:cs typeface="+mn-cs"/>
              </a:rPr>
              <a:t> The result is passed through a non linear activation function to get the output feature </a:t>
            </a:r>
            <a:r>
              <a:rPr lang="en-US" sz="1200" b="0" i="0" kern="1200" dirty="0" smtClean="0">
                <a:solidFill>
                  <a:schemeClr val="tx1"/>
                </a:solidFill>
                <a:effectLst/>
                <a:latin typeface="+mn-lt"/>
                <a:ea typeface="+mn-ea"/>
                <a:cs typeface="+mn-cs"/>
              </a:rPr>
              <a:t>map.</a:t>
            </a:r>
            <a:r>
              <a:rPr lang="en-US" sz="1200" b="0" i="0" kern="1200" baseline="0" dirty="0" smtClean="0">
                <a:solidFill>
                  <a:schemeClr val="tx1"/>
                </a:solidFill>
                <a:effectLst/>
                <a:latin typeface="+mn-lt"/>
                <a:ea typeface="+mn-ea"/>
                <a:cs typeface="+mn-cs"/>
              </a:rPr>
              <a:t> The first equation describes the convolution operation between input I and kernel K. </a:t>
            </a:r>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i,j</a:t>
            </a:r>
            <a:r>
              <a:rPr lang="en-US" sz="1200" b="0" i="0" kern="1200" dirty="0" smtClean="0">
                <a:solidFill>
                  <a:schemeClr val="tx1"/>
                </a:solidFill>
                <a:effectLst/>
                <a:latin typeface="+mn-lt"/>
                <a:ea typeface="+mn-ea"/>
                <a:cs typeface="+mn-cs"/>
              </a:rPr>
              <a:t> are indices that are used to represent a single pixel in the input image, kernel, and the produced output. </a:t>
            </a:r>
            <a:r>
              <a:rPr lang="en-US" sz="1200" b="0" i="0" kern="1200" dirty="0" err="1" smtClean="0">
                <a:solidFill>
                  <a:schemeClr val="tx1"/>
                </a:solidFill>
                <a:effectLst/>
                <a:latin typeface="+mn-lt"/>
                <a:ea typeface="+mn-ea"/>
                <a:cs typeface="+mn-cs"/>
              </a:rPr>
              <a:t>m,n</a:t>
            </a:r>
            <a:r>
              <a:rPr lang="en-US" sz="1200" b="0" i="0" kern="1200" dirty="0" smtClean="0">
                <a:solidFill>
                  <a:schemeClr val="tx1"/>
                </a:solidFill>
                <a:effectLst/>
                <a:latin typeface="+mn-lt"/>
                <a:ea typeface="+mn-ea"/>
                <a:cs typeface="+mn-cs"/>
              </a:rPr>
              <a:t> are used to represent the dimensions (height, width) of the filter or kernel. As </a:t>
            </a:r>
            <a:r>
              <a:rPr lang="en-US" sz="1200" b="0" i="0" kern="1200" dirty="0" err="1" smtClean="0">
                <a:solidFill>
                  <a:schemeClr val="tx1"/>
                </a:solidFill>
                <a:effectLst/>
                <a:latin typeface="+mn-lt"/>
                <a:ea typeface="+mn-ea"/>
                <a:cs typeface="+mn-cs"/>
              </a:rPr>
              <a:t>i</a:t>
            </a:r>
            <a:r>
              <a:rPr lang="en-US" sz="1200" b="0" i="0" kern="1200" dirty="0" smtClean="0">
                <a:solidFill>
                  <a:schemeClr val="tx1"/>
                </a:solidFill>
                <a:effectLst/>
                <a:latin typeface="+mn-lt"/>
                <a:ea typeface="+mn-ea"/>
                <a:cs typeface="+mn-cs"/>
              </a:rPr>
              <a:t> and j change, the filter is applied through each of the input pixels.</a:t>
            </a:r>
            <a:r>
              <a:rPr lang="en-US" sz="1200" b="0" i="0" kern="1200" baseline="0" dirty="0" smtClean="0">
                <a:solidFill>
                  <a:schemeClr val="tx1"/>
                </a:solidFill>
                <a:effectLst/>
                <a:latin typeface="+mn-lt"/>
                <a:ea typeface="+mn-ea"/>
                <a:cs typeface="+mn-cs"/>
              </a:rPr>
              <a:t> The bias term bi is added to this result. In convolution the kernel is rotated 180 degrees before the element wise multiplication.</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We have already discussed, pooling layer </a:t>
            </a:r>
            <a:r>
              <a:rPr lang="en-US" sz="1200" b="0" i="0" kern="1200" baseline="0" dirty="0" err="1" smtClean="0">
                <a:solidFill>
                  <a:schemeClr val="tx1"/>
                </a:solidFill>
                <a:effectLst/>
                <a:latin typeface="+mn-lt"/>
                <a:ea typeface="+mn-ea"/>
                <a:cs typeface="+mn-cs"/>
              </a:rPr>
              <a:t>downsamples</a:t>
            </a:r>
            <a:r>
              <a:rPr lang="en-US" sz="1200" b="0" i="0" kern="1200" baseline="0" dirty="0" smtClean="0">
                <a:solidFill>
                  <a:schemeClr val="tx1"/>
                </a:solidFill>
                <a:effectLst/>
                <a:latin typeface="+mn-lt"/>
                <a:ea typeface="+mn-ea"/>
                <a:cs typeface="+mn-cs"/>
              </a:rPr>
              <a:t> its input by performing either max pooling or average pooling operation. I</a:t>
            </a:r>
            <a:r>
              <a:rPr lang="en-US" sz="1200" b="0" i="0" kern="1200" dirty="0" smtClean="0">
                <a:solidFill>
                  <a:schemeClr val="tx1"/>
                </a:solidFill>
                <a:effectLst/>
                <a:latin typeface="+mn-lt"/>
                <a:ea typeface="+mn-ea"/>
                <a:cs typeface="+mn-cs"/>
              </a:rPr>
              <a:t>n the case of </a:t>
            </a:r>
            <a:r>
              <a:rPr lang="en-US" sz="1200" b="1" i="0" kern="1200" dirty="0" smtClean="0">
                <a:solidFill>
                  <a:schemeClr val="tx1"/>
                </a:solidFill>
                <a:effectLst/>
                <a:latin typeface="+mn-lt"/>
                <a:ea typeface="+mn-ea"/>
                <a:cs typeface="+mn-cs"/>
              </a:rPr>
              <a:t>Max Pooling</a:t>
            </a:r>
            <a:r>
              <a:rPr lang="en-US" sz="1200" b="0" i="0" kern="1200" dirty="0" smtClean="0">
                <a:solidFill>
                  <a:schemeClr val="tx1"/>
                </a:solidFill>
                <a:effectLst/>
                <a:latin typeface="+mn-lt"/>
                <a:ea typeface="+mn-ea"/>
                <a:cs typeface="+mn-cs"/>
              </a:rPr>
              <a:t>, a window slides over the input feature map, and the maximum value within each window is selected as the output. The second equation</a:t>
            </a:r>
            <a:r>
              <a:rPr lang="en-US" sz="1200" b="0" i="0" kern="1200" baseline="0" dirty="0" smtClean="0">
                <a:solidFill>
                  <a:schemeClr val="tx1"/>
                </a:solidFill>
                <a:effectLst/>
                <a:latin typeface="+mn-lt"/>
                <a:ea typeface="+mn-ea"/>
                <a:cs typeface="+mn-cs"/>
              </a:rPr>
              <a:t> represents this operation, m and n are the size of the pooling window.</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The output of the last pooling layer is then flattened and given as input to the fully connected layer. Similar to the MLP, </a:t>
            </a:r>
            <a:r>
              <a:rPr lang="en-US" sz="1200" b="0" i="0" kern="1200" dirty="0" smtClean="0">
                <a:solidFill>
                  <a:schemeClr val="tx1"/>
                </a:solidFill>
                <a:effectLst/>
                <a:latin typeface="+mn-lt"/>
                <a:ea typeface="+mn-ea"/>
                <a:cs typeface="+mn-cs"/>
              </a:rPr>
              <a:t>each neuron is connected to every neuron in the previous layer. Unlike convolutional and pooling layers that share weights across inputs, the Fully Connected Layer assigns unique weights</a:t>
            </a:r>
            <a:r>
              <a:rPr lang="en-US" sz="1200" b="0" i="0" kern="1200" baseline="0" dirty="0" smtClean="0">
                <a:solidFill>
                  <a:schemeClr val="tx1"/>
                </a:solidFill>
                <a:effectLst/>
                <a:latin typeface="+mn-lt"/>
                <a:ea typeface="+mn-ea"/>
                <a:cs typeface="+mn-cs"/>
              </a:rPr>
              <a:t> for each dense connection</a:t>
            </a:r>
            <a:r>
              <a:rPr lang="en-US" sz="1200" b="0" i="0" kern="1200" dirty="0" smtClean="0">
                <a:solidFill>
                  <a:schemeClr val="tx1"/>
                </a:solidFill>
                <a:effectLst/>
                <a:latin typeface="+mn-lt"/>
                <a:ea typeface="+mn-ea"/>
                <a:cs typeface="+mn-cs"/>
              </a:rPr>
              <a:t>. The third equation represent the forward pass for</a:t>
            </a:r>
            <a:r>
              <a:rPr lang="en-US" sz="1200" b="0" i="0" kern="1200" baseline="0" dirty="0" smtClean="0">
                <a:solidFill>
                  <a:schemeClr val="tx1"/>
                </a:solidFill>
                <a:effectLst/>
                <a:latin typeface="+mn-lt"/>
                <a:ea typeface="+mn-ea"/>
                <a:cs typeface="+mn-cs"/>
              </a:rPr>
              <a:t> the fully connected layer, where W are the weights, b is the bias, and </a:t>
            </a:r>
            <a:r>
              <a:rPr lang="el-GR" sz="1200" b="0" i="0" kern="1200" dirty="0" smtClean="0">
                <a:solidFill>
                  <a:schemeClr val="tx1"/>
                </a:solidFill>
                <a:effectLst/>
                <a:latin typeface="+mn-lt"/>
                <a:ea typeface="+mn-ea"/>
                <a:cs typeface="+mn-cs"/>
              </a:rPr>
              <a:t>Φ</a:t>
            </a:r>
            <a:r>
              <a:rPr lang="en-IN" sz="1200" b="0" i="0" kern="1200" dirty="0" smtClean="0">
                <a:solidFill>
                  <a:schemeClr val="tx1"/>
                </a:solidFill>
                <a:effectLst/>
                <a:latin typeface="+mn-lt"/>
                <a:ea typeface="+mn-ea"/>
                <a:cs typeface="+mn-cs"/>
              </a:rPr>
              <a:t> is the activation function.</a:t>
            </a:r>
            <a:endParaRPr lang="en-IN" b="0" dirty="0"/>
          </a:p>
        </p:txBody>
      </p:sp>
      <p:sp>
        <p:nvSpPr>
          <p:cNvPr id="4" name="Slide Number Placeholder 3"/>
          <p:cNvSpPr>
            <a:spLocks noGrp="1"/>
          </p:cNvSpPr>
          <p:nvPr>
            <p:ph type="sldNum" sz="quarter" idx="10"/>
          </p:nvPr>
        </p:nvSpPr>
        <p:spPr/>
        <p:txBody>
          <a:bodyPr/>
          <a:lstStyle/>
          <a:p>
            <a:fld id="{952C8692-1F92-4737-97E7-E4B7F2D6BD0C}" type="slidenum">
              <a:rPr lang="en-US" smtClean="0"/>
              <a:t>36</a:t>
            </a:fld>
            <a:endParaRPr lang="en-US"/>
          </a:p>
        </p:txBody>
      </p:sp>
    </p:spTree>
    <p:extLst>
      <p:ext uri="{BB962C8B-B14F-4D97-AF65-F5344CB8AC3E}">
        <p14:creationId xmlns:p14="http://schemas.microsoft.com/office/powerpoint/2010/main" val="3574102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Backpropagation is nothing but doing the reverse of the forward pass where we find the gradient of each of the neuron with respect to the loss function to determine how much the output contribute to the overall loss. In Forward Pass, we start from the Convolution Layer until the Fully Connected Layer, In backpropagation, we start from the Fully Connected Layer all the way up to the Convolution Layer.</a:t>
            </a:r>
          </a:p>
          <a:p>
            <a:r>
              <a:rPr lang="en-US" sz="1200" b="0" i="0" kern="1200" dirty="0" smtClean="0">
                <a:solidFill>
                  <a:schemeClr val="tx1"/>
                </a:solidFill>
                <a:effectLst/>
                <a:latin typeface="+mn-lt"/>
                <a:ea typeface="+mn-ea"/>
                <a:cs typeface="+mn-cs"/>
              </a:rPr>
              <a:t>The first step is to find a Loss Function which is used to evaluate the predicted output. Lets consider binary cross entropy loss function, which</a:t>
            </a:r>
            <a:r>
              <a:rPr lang="en-US" sz="1200" b="0" i="0" kern="1200" baseline="0" dirty="0" smtClean="0">
                <a:solidFill>
                  <a:schemeClr val="tx1"/>
                </a:solidFill>
                <a:effectLst/>
                <a:latin typeface="+mn-lt"/>
                <a:ea typeface="+mn-ea"/>
                <a:cs typeface="+mn-cs"/>
              </a:rPr>
              <a:t> finds the </a:t>
            </a:r>
            <a:r>
              <a:rPr lang="en-US" sz="1200" b="0" i="0" kern="1200" dirty="0" smtClean="0">
                <a:solidFill>
                  <a:schemeClr val="tx1"/>
                </a:solidFill>
                <a:effectLst/>
                <a:latin typeface="+mn-lt"/>
                <a:ea typeface="+mn-ea"/>
                <a:cs typeface="+mn-cs"/>
              </a:rPr>
              <a:t>dissimilarity between the predicted probability score and the true binary label. In</a:t>
            </a:r>
            <a:r>
              <a:rPr lang="en-US" sz="1200" b="0" i="0" kern="1200" baseline="0" dirty="0" smtClean="0">
                <a:solidFill>
                  <a:schemeClr val="tx1"/>
                </a:solidFill>
                <a:effectLst/>
                <a:latin typeface="+mn-lt"/>
                <a:ea typeface="+mn-ea"/>
                <a:cs typeface="+mn-cs"/>
              </a:rPr>
              <a:t> this case, y1 and y2 are the true labels and y1^ and y2^ are the predicted probabilities.</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37</a:t>
            </a:fld>
            <a:endParaRPr lang="en-US"/>
          </a:p>
        </p:txBody>
      </p:sp>
    </p:spTree>
    <p:extLst>
      <p:ext uri="{BB962C8B-B14F-4D97-AF65-F5344CB8AC3E}">
        <p14:creationId xmlns:p14="http://schemas.microsoft.com/office/powerpoint/2010/main" val="4205253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 can find</a:t>
            </a:r>
            <a:r>
              <a:rPr lang="en-US" sz="1200" b="0" i="0" kern="1200" baseline="0" dirty="0" smtClean="0">
                <a:solidFill>
                  <a:schemeClr val="tx1"/>
                </a:solidFill>
                <a:effectLst/>
                <a:latin typeface="+mn-lt"/>
                <a:ea typeface="+mn-ea"/>
                <a:cs typeface="+mn-cs"/>
              </a:rPr>
              <a:t> the </a:t>
            </a:r>
            <a:r>
              <a:rPr lang="en-US" sz="1200" b="0" i="0" kern="1200" baseline="0" dirty="0" err="1" smtClean="0">
                <a:solidFill>
                  <a:schemeClr val="tx1"/>
                </a:solidFill>
                <a:effectLst/>
                <a:latin typeface="+mn-lt"/>
                <a:ea typeface="+mn-ea"/>
                <a:cs typeface="+mn-cs"/>
              </a:rPr>
              <a:t>t</a:t>
            </a:r>
            <a:r>
              <a:rPr lang="en-US" sz="1200" b="0" i="0" kern="1200" dirty="0" err="1" smtClean="0">
                <a:solidFill>
                  <a:schemeClr val="tx1"/>
                </a:solidFill>
                <a:effectLst/>
                <a:latin typeface="+mn-lt"/>
                <a:ea typeface="+mn-ea"/>
                <a:cs typeface="+mn-cs"/>
              </a:rPr>
              <a:t>he</a:t>
            </a:r>
            <a:r>
              <a:rPr lang="en-US" sz="1200" b="0" i="0" kern="1200" dirty="0" smtClean="0">
                <a:solidFill>
                  <a:schemeClr val="tx1"/>
                </a:solidFill>
                <a:effectLst/>
                <a:latin typeface="+mn-lt"/>
                <a:ea typeface="+mn-ea"/>
                <a:cs typeface="+mn-cs"/>
              </a:rPr>
              <a:t> derivative of Loss with respect to ^</a:t>
            </a:r>
            <a:r>
              <a:rPr lang="en-US" sz="1200" b="0" i="0" kern="1200" dirty="0" err="1" smtClean="0">
                <a:solidFill>
                  <a:schemeClr val="tx1"/>
                </a:solidFill>
                <a:effectLst/>
                <a:latin typeface="+mn-lt"/>
                <a:ea typeface="+mn-ea"/>
                <a:cs typeface="+mn-cs"/>
              </a:rPr>
              <a:t>yi</a:t>
            </a:r>
            <a:r>
              <a:rPr lang="en-US" sz="1200" b="0" i="0" kern="1200" dirty="0" smtClean="0">
                <a:solidFill>
                  <a:schemeClr val="tx1"/>
                </a:solidFill>
                <a:effectLst/>
                <a:latin typeface="+mn-lt"/>
                <a:ea typeface="+mn-ea"/>
                <a:cs typeface="+mn-cs"/>
              </a:rPr>
              <a:t> by applying the chain rule.</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38</a:t>
            </a:fld>
            <a:endParaRPr lang="en-US"/>
          </a:p>
        </p:txBody>
      </p:sp>
    </p:spTree>
    <p:extLst>
      <p:ext uri="{BB962C8B-B14F-4D97-AF65-F5344CB8AC3E}">
        <p14:creationId xmlns:p14="http://schemas.microsoft.com/office/powerpoint/2010/main" val="4089520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Lets</a:t>
            </a:r>
            <a:r>
              <a:rPr lang="en-IN" baseline="0" dirty="0" smtClean="0"/>
              <a:t> first discuss the backpropagation through the fully connected layer. This is same as the backpropagation of the MLP. Our objective is to update the weights and biases of the dense connections using this formula, n is the learning rate which decides the step size. This formula is based on the Stochastic Gradient Descent Algorithm, where we will have to update the parameters in the negative direction of the gradient.</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39</a:t>
            </a:fld>
            <a:endParaRPr lang="en-US"/>
          </a:p>
        </p:txBody>
      </p:sp>
    </p:spTree>
    <p:extLst>
      <p:ext uri="{BB962C8B-B14F-4D97-AF65-F5344CB8AC3E}">
        <p14:creationId xmlns:p14="http://schemas.microsoft.com/office/powerpoint/2010/main" val="3308771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 need to find the gradient of loss with respect to weights, which represents how much the changes in weights affect the loss function. We can do so by applying the chain rule again.</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40</a:t>
            </a:fld>
            <a:endParaRPr lang="en-US"/>
          </a:p>
        </p:txBody>
      </p:sp>
    </p:spTree>
    <p:extLst>
      <p:ext uri="{BB962C8B-B14F-4D97-AF65-F5344CB8AC3E}">
        <p14:creationId xmlns:p14="http://schemas.microsoft.com/office/powerpoint/2010/main" val="1599845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Next, let's find the gradient of the loss with respect to inputs, </a:t>
            </a:r>
            <a:r>
              <a:rPr lang="en-US" sz="1200" b="0" i="0" kern="1200" dirty="0" err="1" smtClean="0">
                <a:solidFill>
                  <a:schemeClr val="tx1"/>
                </a:solidFill>
                <a:effectLst/>
                <a:latin typeface="+mn-lt"/>
                <a:ea typeface="+mn-ea"/>
                <a:cs typeface="+mn-cs"/>
              </a:rPr>
              <a:t>ie</a:t>
            </a:r>
            <a:r>
              <a:rPr lang="en-US" sz="1200" b="0" i="0" kern="1200" dirty="0" smtClean="0">
                <a:solidFill>
                  <a:schemeClr val="tx1"/>
                </a:solidFill>
                <a:effectLst/>
                <a:latin typeface="+mn-lt"/>
                <a:ea typeface="+mn-ea"/>
                <a:cs typeface="+mn-cs"/>
              </a:rPr>
              <a:t>, how much the change in inputs affects the loss. Note that the</a:t>
            </a:r>
            <a:r>
              <a:rPr lang="en-US" sz="1200" b="1" i="0" kern="1200" dirty="0" smtClean="0">
                <a:solidFill>
                  <a:schemeClr val="tx1"/>
                </a:solidFill>
                <a:effectLst/>
                <a:latin typeface="+mn-lt"/>
                <a:ea typeface="+mn-ea"/>
                <a:cs typeface="+mn-cs"/>
              </a:rPr>
              <a:t> inputs to one corresponding layer are the output coming from the previous layer, </a:t>
            </a:r>
            <a:r>
              <a:rPr lang="en-US" sz="1200" b="0" i="0" kern="1200" dirty="0" smtClean="0">
                <a:solidFill>
                  <a:schemeClr val="tx1"/>
                </a:solidFill>
                <a:effectLst/>
                <a:latin typeface="+mn-lt"/>
                <a:ea typeface="+mn-ea"/>
                <a:cs typeface="+mn-cs"/>
              </a:rPr>
              <a:t>and hence</a:t>
            </a:r>
            <a:r>
              <a:rPr lang="en-US" sz="1200" b="0" i="0" kern="1200" baseline="0" dirty="0" smtClean="0">
                <a:solidFill>
                  <a:schemeClr val="tx1"/>
                </a:solidFill>
                <a:effectLst/>
                <a:latin typeface="+mn-lt"/>
                <a:ea typeface="+mn-ea"/>
                <a:cs typeface="+mn-cs"/>
              </a:rPr>
              <a:t> we will express the gradient of the loss function with respect to the inputs as this. </a:t>
            </a:r>
            <a:r>
              <a:rPr lang="en-US" sz="1200" b="0" i="0" kern="1200" dirty="0" smtClean="0">
                <a:solidFill>
                  <a:schemeClr val="tx1"/>
                </a:solidFill>
                <a:effectLst/>
                <a:latin typeface="+mn-lt"/>
                <a:ea typeface="+mn-ea"/>
                <a:cs typeface="+mn-cs"/>
              </a:rPr>
              <a:t>The change in loss with respect to input is influenced by the weights and the change in loss with respect to the outputs.</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41</a:t>
            </a:fld>
            <a:endParaRPr lang="en-US"/>
          </a:p>
        </p:txBody>
      </p:sp>
    </p:spTree>
    <p:extLst>
      <p:ext uri="{BB962C8B-B14F-4D97-AF65-F5344CB8AC3E}">
        <p14:creationId xmlns:p14="http://schemas.microsoft.com/office/powerpoint/2010/main" val="3914972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Finally, we need to find the gradient of loss with respect to bias, ∂</a:t>
            </a:r>
            <a:r>
              <a:rPr lang="en-US" sz="1200" b="0" i="0" kern="1200" dirty="0" err="1" smtClean="0">
                <a:solidFill>
                  <a:schemeClr val="tx1"/>
                </a:solidFill>
                <a:effectLst/>
                <a:latin typeface="+mn-lt"/>
                <a:ea typeface="+mn-ea"/>
                <a:cs typeface="+mn-cs"/>
              </a:rPr>
              <a:t>L∂bj</a:t>
            </a:r>
            <a:r>
              <a:rPr lang="en-US" sz="1200" b="0" i="0" kern="1200" dirty="0" smtClean="0">
                <a:solidFill>
                  <a:schemeClr val="tx1"/>
                </a:solidFill>
                <a:effectLst/>
                <a:latin typeface="+mn-lt"/>
                <a:ea typeface="+mn-ea"/>
                <a:cs typeface="+mn-cs"/>
              </a:rPr>
              <a:t> using the chain rule. This represents how much the loss changes with respect to the outputs, and how much the output changes with respect to the bias.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next and most important step in backpropagation is to update the weights and bias using the gradients of weights and bias, using</a:t>
            </a:r>
            <a:r>
              <a:rPr lang="en-US" sz="1200" b="0" i="0" kern="1200" baseline="0" dirty="0" smtClean="0">
                <a:solidFill>
                  <a:schemeClr val="tx1"/>
                </a:solidFill>
                <a:effectLst/>
                <a:latin typeface="+mn-lt"/>
                <a:ea typeface="+mn-ea"/>
                <a:cs typeface="+mn-cs"/>
              </a:rPr>
              <a:t> the expression that we had discussed already.</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42</a:t>
            </a:fld>
            <a:endParaRPr lang="en-US"/>
          </a:p>
        </p:txBody>
      </p:sp>
    </p:spTree>
    <p:extLst>
      <p:ext uri="{BB962C8B-B14F-4D97-AF65-F5344CB8AC3E}">
        <p14:creationId xmlns:p14="http://schemas.microsoft.com/office/powerpoint/2010/main" val="996517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When going backward, the next layer after the Dense Layer is a Pooling Layer. So the next step is to pass the gradients of inputs produced from the Dense layer to the Pooling Layer. But</a:t>
            </a:r>
            <a:r>
              <a:rPr lang="en-US" sz="1200" b="0" i="0" kern="1200" baseline="0" dirty="0" smtClean="0">
                <a:solidFill>
                  <a:schemeClr val="tx1"/>
                </a:solidFill>
                <a:effectLst/>
                <a:latin typeface="+mn-lt"/>
                <a:ea typeface="+mn-ea"/>
                <a:cs typeface="+mn-cs"/>
              </a:rPr>
              <a:t> we had flattened the output of pooling layer before giving it as input to the dense layer. So, in the backward pass, we need to convert the 1D gradient vector into 2D gradient matrix through reshape operation. </a:t>
            </a:r>
            <a:r>
              <a:rPr lang="en-US" sz="1200" b="0" i="0" kern="1200" dirty="0" smtClean="0">
                <a:solidFill>
                  <a:schemeClr val="tx1"/>
                </a:solidFill>
                <a:effectLst/>
                <a:latin typeface="+mn-lt"/>
                <a:ea typeface="+mn-ea"/>
                <a:cs typeface="+mn-cs"/>
              </a:rPr>
              <a:t>The process of reshaping in the backward pass can be determined based on the shape of the pooling layers in the forward pass. The specific shape of the pooling layers will determine how the 1D gradient vector from the Dense layer should be transformed back into a 2D gradient matrix.</a:t>
            </a:r>
          </a:p>
          <a:p>
            <a:r>
              <a:rPr lang="en-US" sz="1200" b="0" i="0" kern="1200" dirty="0" smtClean="0">
                <a:solidFill>
                  <a:schemeClr val="tx1"/>
                </a:solidFill>
                <a:effectLst/>
                <a:latin typeface="+mn-lt"/>
                <a:ea typeface="+mn-ea"/>
                <a:cs typeface="+mn-cs"/>
              </a:rPr>
              <a:t>When considering Pooling in general, there is no actual gradient calculation done, instead, passing the gradient backward according to the Pooling function used. In the case of Max Pooling, we will select the maximum value from each window and produce the output in the forward pass, In backpropagation, the gradient corresponding to the maximum values is sent backward and the rest is considered as 0. If the value became 1, then the gradient is passed backward and if the value became 0, then the gradient is not passed.</a:t>
            </a:r>
            <a:endParaRPr lang="en-US" sz="1200" b="0" i="0" kern="1200" baseline="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43</a:t>
            </a:fld>
            <a:endParaRPr lang="en-US"/>
          </a:p>
        </p:txBody>
      </p:sp>
    </p:spTree>
    <p:extLst>
      <p:ext uri="{BB962C8B-B14F-4D97-AF65-F5344CB8AC3E}">
        <p14:creationId xmlns:p14="http://schemas.microsoft.com/office/powerpoint/2010/main" val="1210207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backward derivations for the Dense Layer and Convolutional Layer share certain similarities. The only difference is that here we apply Convolution rather than dot product operation. Similar to the Dense Layer, we need to find the gradients with respect to weights, inputs, and bias.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To find the derivative of Loss with respect to weights in a Convolution Layer, we have to convolve the output gradient feature map and the input matrix. The equation for finding how much the loss changes with respect to the weights using the chain rule is expressed.</a:t>
            </a:r>
            <a:r>
              <a:rPr lang="en-US" sz="1200" b="0" i="0" kern="1200" baseline="0" dirty="0" smtClean="0">
                <a:solidFill>
                  <a:schemeClr val="tx1"/>
                </a:solidFill>
                <a:effectLst/>
                <a:latin typeface="+mn-lt"/>
                <a:ea typeface="+mn-ea"/>
                <a:cs typeface="+mn-cs"/>
              </a:rPr>
              <a:t> We observe that </a:t>
            </a:r>
            <a:r>
              <a:rPr lang="en-US" sz="1200" b="0" i="0" kern="1200" dirty="0" smtClean="0">
                <a:solidFill>
                  <a:schemeClr val="tx1"/>
                </a:solidFill>
                <a:effectLst/>
                <a:latin typeface="+mn-lt"/>
                <a:ea typeface="+mn-ea"/>
                <a:cs typeface="+mn-cs"/>
              </a:rPr>
              <a:t>the kernel gradients are produced by convolving the gradients in the output matrix and the values in the input matrix. Similarly,</a:t>
            </a:r>
            <a:r>
              <a:rPr lang="en-US" sz="1200" b="0" i="0" kern="1200" baseline="0" dirty="0" smtClean="0">
                <a:solidFill>
                  <a:schemeClr val="tx1"/>
                </a:solidFill>
                <a:effectLst/>
                <a:latin typeface="+mn-lt"/>
                <a:ea typeface="+mn-ea"/>
                <a:cs typeface="+mn-cs"/>
              </a:rPr>
              <a:t> the</a:t>
            </a:r>
            <a:r>
              <a:rPr lang="en-US" sz="1200" b="0" i="0" kern="1200" dirty="0" smtClean="0">
                <a:solidFill>
                  <a:schemeClr val="tx1"/>
                </a:solidFill>
                <a:effectLst/>
                <a:latin typeface="+mn-lt"/>
                <a:ea typeface="+mn-ea"/>
                <a:cs typeface="+mn-cs"/>
              </a:rPr>
              <a:t> change in loss with respect to inputs and bias can be given by computing the gradient of the Loss with respect to inputs and bias respectively. As its convolution operation, the kernel has to be rotated 180</a:t>
            </a:r>
            <a:r>
              <a:rPr lang="en-US" sz="1200" b="0" i="0" kern="1200" baseline="0" dirty="0" smtClean="0">
                <a:solidFill>
                  <a:schemeClr val="tx1"/>
                </a:solidFill>
                <a:effectLst/>
                <a:latin typeface="+mn-lt"/>
                <a:ea typeface="+mn-ea"/>
                <a:cs typeface="+mn-cs"/>
              </a:rPr>
              <a:t> degrees.</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44</a:t>
            </a:fld>
            <a:endParaRPr lang="en-US"/>
          </a:p>
        </p:txBody>
      </p:sp>
    </p:spTree>
    <p:extLst>
      <p:ext uri="{BB962C8B-B14F-4D97-AF65-F5344CB8AC3E}">
        <p14:creationId xmlns:p14="http://schemas.microsoft.com/office/powerpoint/2010/main" val="3379826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Next, we update the weights and biases using the</a:t>
            </a:r>
            <a:r>
              <a:rPr lang="en-IN" baseline="0" dirty="0" smtClean="0"/>
              <a:t> backpropagation formula.</a:t>
            </a:r>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45</a:t>
            </a:fld>
            <a:endParaRPr lang="en-US"/>
          </a:p>
        </p:txBody>
      </p:sp>
    </p:spTree>
    <p:extLst>
      <p:ext uri="{BB962C8B-B14F-4D97-AF65-F5344CB8AC3E}">
        <p14:creationId xmlns:p14="http://schemas.microsoft.com/office/powerpoint/2010/main" val="37246488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LeNet-5 </a:t>
            </a:r>
            <a:r>
              <a:rPr lang="en-US" sz="1200" kern="1200" err="1">
                <a:solidFill>
                  <a:schemeClr val="tx1"/>
                </a:solidFill>
                <a:effectLst/>
                <a:latin typeface="+mn-lt"/>
                <a:ea typeface="+mn-ea"/>
                <a:cs typeface="+mn-cs"/>
              </a:rPr>
              <a:t>Ws</a:t>
            </a:r>
            <a:r>
              <a:rPr lang="en-US" sz="1200" kern="1200">
                <a:solidFill>
                  <a:schemeClr val="tx1"/>
                </a:solidFill>
                <a:effectLst/>
                <a:latin typeface="+mn-lt"/>
                <a:ea typeface="+mn-ea"/>
                <a:cs typeface="+mn-cs"/>
              </a:rPr>
              <a:t> developed by Yann </a:t>
            </a:r>
            <a:r>
              <a:rPr lang="en-US" sz="1200" kern="1200" err="1">
                <a:solidFill>
                  <a:schemeClr val="tx1"/>
                </a:solidFill>
                <a:effectLst/>
                <a:latin typeface="+mn-lt"/>
                <a:ea typeface="+mn-ea"/>
                <a:cs typeface="+mn-cs"/>
              </a:rPr>
              <a:t>LeCun</a:t>
            </a:r>
            <a:r>
              <a:rPr lang="en-US" sz="1200" kern="1200">
                <a:solidFill>
                  <a:schemeClr val="tx1"/>
                </a:solidFill>
                <a:effectLst/>
                <a:latin typeface="+mn-lt"/>
                <a:ea typeface="+mn-ea"/>
                <a:cs typeface="+mn-cs"/>
              </a:rPr>
              <a:t> in 1990’s. It was popularly used for digit classification (MNIST dataset).</a:t>
            </a:r>
          </a:p>
          <a:p>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46</a:t>
            </a:fld>
            <a:endParaRPr lang="en-US"/>
          </a:p>
        </p:txBody>
      </p:sp>
    </p:spTree>
    <p:extLst>
      <p:ext uri="{BB962C8B-B14F-4D97-AF65-F5344CB8AC3E}">
        <p14:creationId xmlns:p14="http://schemas.microsoft.com/office/powerpoint/2010/main" val="1111003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 </a:t>
            </a:r>
            <a:r>
              <a:rPr lang="en-US" sz="1200" kern="1200" err="1">
                <a:solidFill>
                  <a:schemeClr val="tx1"/>
                </a:solidFill>
                <a:effectLst/>
                <a:latin typeface="+mn-lt"/>
                <a:ea typeface="+mn-ea"/>
                <a:cs typeface="+mn-cs"/>
              </a:rPr>
              <a:t>AlexNet</a:t>
            </a:r>
            <a:r>
              <a:rPr lang="en-US" sz="1200" kern="1200">
                <a:solidFill>
                  <a:schemeClr val="tx1"/>
                </a:solidFill>
                <a:effectLst/>
                <a:latin typeface="+mn-lt"/>
                <a:ea typeface="+mn-ea"/>
                <a:cs typeface="+mn-cs"/>
              </a:rPr>
              <a:t> was submitted to the ImageNet ILSVRC challenge in 2012 and significantly outperformed the second runner-up (top 5 error of 16% compared to runner-up with 26% error). The Network had a very similar architecture to </a:t>
            </a:r>
            <a:r>
              <a:rPr lang="en-US" sz="1200" kern="1200" err="1">
                <a:solidFill>
                  <a:schemeClr val="tx1"/>
                </a:solidFill>
                <a:effectLst/>
                <a:latin typeface="+mn-lt"/>
                <a:ea typeface="+mn-ea"/>
                <a:cs typeface="+mn-cs"/>
              </a:rPr>
              <a:t>LeNet</a:t>
            </a:r>
            <a:r>
              <a:rPr lang="en-US" sz="1200" kern="1200">
                <a:solidFill>
                  <a:schemeClr val="tx1"/>
                </a:solidFill>
                <a:effectLst/>
                <a:latin typeface="+mn-lt"/>
                <a:ea typeface="+mn-ea"/>
                <a:cs typeface="+mn-cs"/>
              </a:rPr>
              <a:t>, but was deeper, bigger, and featured Convolutional Layers stacked on top of each other (previously it was common to only have a single CONV layer always immediately followed by a POOL layer). </a:t>
            </a:r>
            <a:r>
              <a:rPr lang="en-US" sz="1200" kern="1200" err="1">
                <a:solidFill>
                  <a:schemeClr val="tx1"/>
                </a:solidFill>
                <a:effectLst/>
                <a:latin typeface="+mn-lt"/>
                <a:ea typeface="+mn-ea"/>
                <a:cs typeface="+mn-cs"/>
              </a:rPr>
              <a:t>AlexNet</a:t>
            </a:r>
            <a:r>
              <a:rPr lang="en-US" sz="1200" kern="1200">
                <a:solidFill>
                  <a:schemeClr val="tx1"/>
                </a:solidFill>
                <a:effectLst/>
                <a:latin typeface="+mn-lt"/>
                <a:ea typeface="+mn-ea"/>
                <a:cs typeface="+mn-cs"/>
              </a:rPr>
              <a:t> used the </a:t>
            </a:r>
            <a:r>
              <a:rPr lang="en-US" sz="1200" kern="1200" err="1">
                <a:solidFill>
                  <a:schemeClr val="tx1"/>
                </a:solidFill>
                <a:effectLst/>
                <a:latin typeface="+mn-lt"/>
                <a:ea typeface="+mn-ea"/>
                <a:cs typeface="+mn-cs"/>
              </a:rPr>
              <a:t>ReLU</a:t>
            </a:r>
            <a:r>
              <a:rPr lang="en-US" sz="1200" kern="1200">
                <a:solidFill>
                  <a:schemeClr val="tx1"/>
                </a:solidFill>
                <a:effectLst/>
                <a:latin typeface="+mn-lt"/>
                <a:ea typeface="+mn-ea"/>
                <a:cs typeface="+mn-cs"/>
              </a:rPr>
              <a:t> activation function, which helped in faster training by mitigating the vanishing gradient problem that was common with traditional activation functions like sigmoid and </a:t>
            </a:r>
            <a:r>
              <a:rPr lang="en-US" sz="1200" kern="1200" err="1">
                <a:solidFill>
                  <a:schemeClr val="tx1"/>
                </a:solidFill>
                <a:effectLst/>
                <a:latin typeface="+mn-lt"/>
                <a:ea typeface="+mn-ea"/>
                <a:cs typeface="+mn-cs"/>
              </a:rPr>
              <a:t>tanh</a:t>
            </a:r>
            <a:r>
              <a:rPr lang="en-US" sz="1200" kern="1200">
                <a:solidFill>
                  <a:schemeClr val="tx1"/>
                </a:solidFill>
                <a:effectLst/>
                <a:latin typeface="+mn-lt"/>
                <a:ea typeface="+mn-ea"/>
                <a:cs typeface="+mn-cs"/>
              </a:rPr>
              <a:t>. It leveraged GPU acceleration for training, which significantly reduced the training time. To prevent overfitting, </a:t>
            </a:r>
            <a:r>
              <a:rPr lang="en-US" sz="1200" kern="1200" err="1">
                <a:solidFill>
                  <a:schemeClr val="tx1"/>
                </a:solidFill>
                <a:effectLst/>
                <a:latin typeface="+mn-lt"/>
                <a:ea typeface="+mn-ea"/>
                <a:cs typeface="+mn-cs"/>
              </a:rPr>
              <a:t>AlexNet</a:t>
            </a:r>
            <a:r>
              <a:rPr lang="en-US" sz="1200" kern="1200">
                <a:solidFill>
                  <a:schemeClr val="tx1"/>
                </a:solidFill>
                <a:effectLst/>
                <a:latin typeface="+mn-lt"/>
                <a:ea typeface="+mn-ea"/>
                <a:cs typeface="+mn-cs"/>
              </a:rPr>
              <a:t> employed dropout regularization in its fully connected layers. Additionally, it used data augmentation techniques such as image translations, horizontal reflections, and patch extractions to artificially increase the size of the training dataset. This helped in improving the model's generalization ability.</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47</a:t>
            </a:fld>
            <a:endParaRPr lang="en-US"/>
          </a:p>
        </p:txBody>
      </p:sp>
    </p:spTree>
    <p:extLst>
      <p:ext uri="{BB962C8B-B14F-4D97-AF65-F5344CB8AC3E}">
        <p14:creationId xmlns:p14="http://schemas.microsoft.com/office/powerpoint/2010/main" val="1408767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ILSVRC 2014 winner was a Convolutional Network from </a:t>
            </a:r>
            <a:r>
              <a:rPr lang="en-US" sz="1200" kern="1200" err="1">
                <a:solidFill>
                  <a:schemeClr val="tx1"/>
                </a:solidFill>
                <a:effectLst/>
                <a:latin typeface="+mn-lt"/>
                <a:ea typeface="+mn-ea"/>
                <a:cs typeface="+mn-cs"/>
              </a:rPr>
              <a:t>Szegedy</a:t>
            </a:r>
            <a:r>
              <a:rPr lang="en-US" sz="1200" kern="1200">
                <a:solidFill>
                  <a:schemeClr val="tx1"/>
                </a:solidFill>
                <a:effectLst/>
                <a:latin typeface="+mn-lt"/>
                <a:ea typeface="+mn-ea"/>
                <a:cs typeface="+mn-cs"/>
              </a:rPr>
              <a:t> et al. from Google. Its main contribution was the development of an Inception Module that dramatically reduced the number of parameters in the network (4M, compared to </a:t>
            </a:r>
            <a:r>
              <a:rPr lang="en-US" sz="1200" kern="1200" err="1">
                <a:solidFill>
                  <a:schemeClr val="tx1"/>
                </a:solidFill>
                <a:effectLst/>
                <a:latin typeface="+mn-lt"/>
                <a:ea typeface="+mn-ea"/>
                <a:cs typeface="+mn-cs"/>
              </a:rPr>
              <a:t>AlexNet</a:t>
            </a:r>
            <a:r>
              <a:rPr lang="en-US" sz="1200" kern="1200">
                <a:solidFill>
                  <a:schemeClr val="tx1"/>
                </a:solidFill>
                <a:effectLst/>
                <a:latin typeface="+mn-lt"/>
                <a:ea typeface="+mn-ea"/>
                <a:cs typeface="+mn-cs"/>
              </a:rPr>
              <a:t> with 60M). The Inception architecture, which uses multiple filter sizes (1x1, 3x3, and 5x5) within the same layer to capture different levels of detail. </a:t>
            </a:r>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48</a:t>
            </a:fld>
            <a:endParaRPr lang="en-US"/>
          </a:p>
        </p:txBody>
      </p:sp>
    </p:spTree>
    <p:extLst>
      <p:ext uri="{BB962C8B-B14F-4D97-AF65-F5344CB8AC3E}">
        <p14:creationId xmlns:p14="http://schemas.microsoft.com/office/powerpoint/2010/main" val="27893003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These modules allow the network to choose between different convolutional filter sizes in each block, enhancing its ability to capture diverse features. </a:t>
            </a:r>
            <a:r>
              <a:rPr lang="en-US" sz="1200" kern="1200" err="1">
                <a:solidFill>
                  <a:schemeClr val="tx1"/>
                </a:solidFill>
                <a:effectLst/>
                <a:latin typeface="+mn-lt"/>
                <a:ea typeface="+mn-ea"/>
                <a:cs typeface="+mn-cs"/>
              </a:rPr>
              <a:t>GoogLeNet</a:t>
            </a:r>
            <a:r>
              <a:rPr lang="en-US" sz="1200" kern="1200">
                <a:solidFill>
                  <a:schemeClr val="tx1"/>
                </a:solidFill>
                <a:effectLst/>
                <a:latin typeface="+mn-lt"/>
                <a:ea typeface="+mn-ea"/>
                <a:cs typeface="+mn-cs"/>
              </a:rPr>
              <a:t> is 22 layers deep, significantly deeper than previous models like </a:t>
            </a:r>
            <a:r>
              <a:rPr lang="en-US" sz="1200" kern="1200" err="1">
                <a:solidFill>
                  <a:schemeClr val="tx1"/>
                </a:solidFill>
                <a:effectLst/>
                <a:latin typeface="+mn-lt"/>
                <a:ea typeface="+mn-ea"/>
                <a:cs typeface="+mn-cs"/>
              </a:rPr>
              <a:t>AlexNet</a:t>
            </a:r>
            <a:r>
              <a:rPr lang="en-US" sz="1200" kern="1200">
                <a:solidFill>
                  <a:schemeClr val="tx1"/>
                </a:solidFill>
                <a:effectLst/>
                <a:latin typeface="+mn-lt"/>
                <a:ea typeface="+mn-ea"/>
                <a:cs typeface="+mn-cs"/>
              </a:rPr>
              <a:t>, yet it is computationally efficient due to the use of 1x1 convolutions for dimensionality reduction. This is also because, this network uses Average Pooling instead of Fully Connected layers at the top of the </a:t>
            </a:r>
            <a:r>
              <a:rPr lang="en-US" sz="1200" kern="1200" err="1">
                <a:solidFill>
                  <a:schemeClr val="tx1"/>
                </a:solidFill>
                <a:effectLst/>
                <a:latin typeface="+mn-lt"/>
                <a:ea typeface="+mn-ea"/>
                <a:cs typeface="+mn-cs"/>
              </a:rPr>
              <a:t>ConvNet</a:t>
            </a:r>
            <a:r>
              <a:rPr lang="en-US" sz="1200" kern="1200">
                <a:solidFill>
                  <a:schemeClr val="tx1"/>
                </a:solidFill>
                <a:effectLst/>
                <a:latin typeface="+mn-lt"/>
                <a:ea typeface="+mn-ea"/>
                <a:cs typeface="+mn-cs"/>
              </a:rPr>
              <a:t>. To combat the vanishing gradient problem, </a:t>
            </a:r>
            <a:r>
              <a:rPr lang="en-US" sz="1200" kern="1200" err="1">
                <a:solidFill>
                  <a:schemeClr val="tx1"/>
                </a:solidFill>
                <a:effectLst/>
                <a:latin typeface="+mn-lt"/>
                <a:ea typeface="+mn-ea"/>
                <a:cs typeface="+mn-cs"/>
              </a:rPr>
              <a:t>GoogLeNet</a:t>
            </a:r>
            <a:r>
              <a:rPr lang="en-US" sz="1200" kern="1200">
                <a:solidFill>
                  <a:schemeClr val="tx1"/>
                </a:solidFill>
                <a:effectLst/>
                <a:latin typeface="+mn-lt"/>
                <a:ea typeface="+mn-ea"/>
                <a:cs typeface="+mn-cs"/>
              </a:rPr>
              <a:t> includes auxiliary classifiers at intermediate layers, which help in training the deep network more effectively. </a:t>
            </a:r>
            <a:r>
              <a:rPr lang="en-US" sz="1200" kern="1200" err="1">
                <a:solidFill>
                  <a:schemeClr val="tx1"/>
                </a:solidFill>
                <a:effectLst/>
                <a:latin typeface="+mn-lt"/>
                <a:ea typeface="+mn-ea"/>
                <a:cs typeface="+mn-cs"/>
              </a:rPr>
              <a:t>GoogLeNet</a:t>
            </a:r>
            <a:r>
              <a:rPr lang="en-US" sz="1200" kern="1200">
                <a:solidFill>
                  <a:schemeClr val="tx1"/>
                </a:solidFill>
                <a:effectLst/>
                <a:latin typeface="+mn-lt"/>
                <a:ea typeface="+mn-ea"/>
                <a:cs typeface="+mn-cs"/>
              </a:rPr>
              <a:t> achieved a top-5 error rate of 6.7% in the 2014 ImageNet Large Scale Visual Recognition Challenge (ILSVRC).</a:t>
            </a:r>
            <a:endParaRPr lang="en-US"/>
          </a:p>
          <a:p>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49</a:t>
            </a:fld>
            <a:endParaRPr lang="en-US"/>
          </a:p>
        </p:txBody>
      </p:sp>
    </p:spTree>
    <p:extLst>
      <p:ext uri="{BB962C8B-B14F-4D97-AF65-F5344CB8AC3E}">
        <p14:creationId xmlns:p14="http://schemas.microsoft.com/office/powerpoint/2010/main" val="112220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 runner-up in ILSVRC 2014 was the network from Karen </a:t>
            </a:r>
            <a:r>
              <a:rPr lang="en-US" sz="1200" kern="1200" err="1">
                <a:solidFill>
                  <a:schemeClr val="tx1"/>
                </a:solidFill>
                <a:effectLst/>
                <a:latin typeface="+mn-lt"/>
                <a:ea typeface="+mn-ea"/>
                <a:cs typeface="+mn-cs"/>
              </a:rPr>
              <a:t>Simonyan</a:t>
            </a:r>
            <a:r>
              <a:rPr lang="en-US" sz="1200" kern="1200">
                <a:solidFill>
                  <a:schemeClr val="tx1"/>
                </a:solidFill>
                <a:effectLst/>
                <a:latin typeface="+mn-lt"/>
                <a:ea typeface="+mn-ea"/>
                <a:cs typeface="+mn-cs"/>
              </a:rPr>
              <a:t> and Andrew Zisserman, developed by the Visual Geometry Group at the University of Oxford. </a:t>
            </a:r>
            <a:r>
              <a:rPr lang="en-US" sz="1200" kern="1200" err="1">
                <a:solidFill>
                  <a:schemeClr val="tx1"/>
                </a:solidFill>
                <a:effectLst/>
                <a:latin typeface="+mn-lt"/>
                <a:ea typeface="+mn-ea"/>
                <a:cs typeface="+mn-cs"/>
              </a:rPr>
              <a:t>VGGNet</a:t>
            </a:r>
            <a:r>
              <a:rPr lang="en-US" sz="1200" kern="1200">
                <a:solidFill>
                  <a:schemeClr val="tx1"/>
                </a:solidFill>
                <a:effectLst/>
                <a:latin typeface="+mn-lt"/>
                <a:ea typeface="+mn-ea"/>
                <a:cs typeface="+mn-cs"/>
              </a:rPr>
              <a:t> is known for its simplicity and uniform architecture, using only 3x3 convolutional layers stacked on top of each other, with increasing depth. The most common versions are VGG-16 and VGG-19, which have 16 and 19 weight layers, respectively. </a:t>
            </a:r>
            <a:r>
              <a:rPr lang="en-US" sz="1200" kern="1200" err="1">
                <a:solidFill>
                  <a:schemeClr val="tx1"/>
                </a:solidFill>
                <a:effectLst/>
                <a:latin typeface="+mn-lt"/>
                <a:ea typeface="+mn-ea"/>
                <a:cs typeface="+mn-cs"/>
              </a:rPr>
              <a:t>VGGNet</a:t>
            </a:r>
            <a:r>
              <a:rPr lang="en-US" sz="1200" kern="1200">
                <a:solidFill>
                  <a:schemeClr val="tx1"/>
                </a:solidFill>
                <a:effectLst/>
                <a:latin typeface="+mn-lt"/>
                <a:ea typeface="+mn-ea"/>
                <a:cs typeface="+mn-cs"/>
              </a:rPr>
              <a:t> achieved a top-5 error rate of 7.3% on the ImageNet dataset. The depth of </a:t>
            </a:r>
            <a:r>
              <a:rPr lang="en-US" sz="1200" kern="1200" err="1">
                <a:solidFill>
                  <a:schemeClr val="tx1"/>
                </a:solidFill>
                <a:effectLst/>
                <a:latin typeface="+mn-lt"/>
                <a:ea typeface="+mn-ea"/>
                <a:cs typeface="+mn-cs"/>
              </a:rPr>
              <a:t>VGGNet</a:t>
            </a:r>
            <a:r>
              <a:rPr lang="en-US" sz="1200" kern="1200">
                <a:solidFill>
                  <a:schemeClr val="tx1"/>
                </a:solidFill>
                <a:effectLst/>
                <a:latin typeface="+mn-lt"/>
                <a:ea typeface="+mn-ea"/>
                <a:cs typeface="+mn-cs"/>
              </a:rPr>
              <a:t> allows it to capture more complex features, but it also results in a large number of parameters (138 million for VGG-16), making it computationally expensive.</a:t>
            </a:r>
          </a:p>
          <a:p>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50</a:t>
            </a:fld>
            <a:endParaRPr lang="en-US"/>
          </a:p>
        </p:txBody>
      </p:sp>
    </p:spTree>
    <p:extLst>
      <p:ext uri="{BB962C8B-B14F-4D97-AF65-F5344CB8AC3E}">
        <p14:creationId xmlns:p14="http://schemas.microsoft.com/office/powerpoint/2010/main" val="2723583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Residual Network developed by </a:t>
            </a:r>
            <a:r>
              <a:rPr lang="en-US" sz="1200" kern="1200" err="1">
                <a:solidFill>
                  <a:schemeClr val="tx1"/>
                </a:solidFill>
                <a:effectLst/>
                <a:latin typeface="+mn-lt"/>
                <a:ea typeface="+mn-ea"/>
                <a:cs typeface="+mn-cs"/>
              </a:rPr>
              <a:t>Kaiming</a:t>
            </a:r>
            <a:r>
              <a:rPr lang="en-US" sz="1200" kern="1200">
                <a:solidFill>
                  <a:schemeClr val="tx1"/>
                </a:solidFill>
                <a:effectLst/>
                <a:latin typeface="+mn-lt"/>
                <a:ea typeface="+mn-ea"/>
                <a:cs typeface="+mn-cs"/>
              </a:rPr>
              <a:t> He et al. was the winner of ILSVRC 2015. The core idea of ResNet is the use of residual blocks, which allow the network to learn residual functions with reference to the layer inputs. This helps in addressing the vanishing gradient problem during</a:t>
            </a:r>
            <a:r>
              <a:rPr lang="en-US" sz="1200" kern="1200" baseline="0">
                <a:solidFill>
                  <a:schemeClr val="tx1"/>
                </a:solidFill>
                <a:effectLst/>
                <a:latin typeface="+mn-lt"/>
                <a:ea typeface="+mn-ea"/>
                <a:cs typeface="+mn-cs"/>
              </a:rPr>
              <a:t> backpropagation</a:t>
            </a:r>
            <a:r>
              <a:rPr lang="en-US" sz="1200" kern="1200">
                <a:solidFill>
                  <a:schemeClr val="tx1"/>
                </a:solidFill>
                <a:effectLst/>
                <a:latin typeface="+mn-lt"/>
                <a:ea typeface="+mn-ea"/>
                <a:cs typeface="+mn-cs"/>
              </a:rPr>
              <a:t>, making it possible to train very deep networks. During</a:t>
            </a:r>
            <a:r>
              <a:rPr lang="en-US" sz="1200" kern="1200" baseline="0">
                <a:solidFill>
                  <a:schemeClr val="tx1"/>
                </a:solidFill>
                <a:effectLst/>
                <a:latin typeface="+mn-lt"/>
                <a:ea typeface="+mn-ea"/>
                <a:cs typeface="+mn-cs"/>
              </a:rPr>
              <a:t> forward pass the residual block lets the convolutional layers learn identity functions, thereby reducing complexity of the model.</a:t>
            </a:r>
            <a:endParaRPr lang="en-US"/>
          </a:p>
        </p:txBody>
      </p:sp>
      <p:sp>
        <p:nvSpPr>
          <p:cNvPr id="4" name="Slide Number Placeholder 3"/>
          <p:cNvSpPr>
            <a:spLocks noGrp="1"/>
          </p:cNvSpPr>
          <p:nvPr>
            <p:ph type="sldNum" sz="quarter" idx="10"/>
          </p:nvPr>
        </p:nvSpPr>
        <p:spPr/>
        <p:txBody>
          <a:bodyPr/>
          <a:lstStyle/>
          <a:p>
            <a:fld id="{04616780-5FC7-405F-97B7-63C200538BDD}" type="slidenum">
              <a:rPr lang="en-US" smtClean="0"/>
              <a:t>51</a:t>
            </a:fld>
            <a:endParaRPr lang="en-US"/>
          </a:p>
        </p:txBody>
      </p:sp>
    </p:spTree>
    <p:extLst>
      <p:ext uri="{BB962C8B-B14F-4D97-AF65-F5344CB8AC3E}">
        <p14:creationId xmlns:p14="http://schemas.microsoft.com/office/powerpoint/2010/main" val="2402458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343369D-D92A-4CCD-96F5-DC1E1FB3E12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1768442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43369D-D92A-4CCD-96F5-DC1E1FB3E12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47681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343369D-D92A-4CCD-96F5-DC1E1FB3E12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331401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343369D-D92A-4CCD-96F5-DC1E1FB3E12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2468655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43369D-D92A-4CCD-96F5-DC1E1FB3E12D}"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308497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43369D-D92A-4CCD-96F5-DC1E1FB3E12D}"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3486345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43369D-D92A-4CCD-96F5-DC1E1FB3E12D}"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20121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43369D-D92A-4CCD-96F5-DC1E1FB3E12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3616583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43369D-D92A-4CCD-96F5-DC1E1FB3E12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2138017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43369D-D92A-4CCD-96F5-DC1E1FB3E12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291249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43369D-D92A-4CCD-96F5-DC1E1FB3E12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4D751-4E3A-49A1-A401-E2C6E2537F64}" type="slidenum">
              <a:rPr lang="en-US" smtClean="0"/>
              <a:t>‹#›</a:t>
            </a:fld>
            <a:endParaRPr lang="en-US"/>
          </a:p>
        </p:txBody>
      </p:sp>
    </p:spTree>
    <p:extLst>
      <p:ext uri="{BB962C8B-B14F-4D97-AF65-F5344CB8AC3E}">
        <p14:creationId xmlns:p14="http://schemas.microsoft.com/office/powerpoint/2010/main" val="3185760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43369D-D92A-4CCD-96F5-DC1E1FB3E12D}" type="datetimeFigureOut">
              <a:rPr lang="en-US" smtClean="0"/>
              <a:t>1/30/2026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94D751-4E3A-49A1-A401-E2C6E2537F64}" type="slidenum">
              <a:rPr lang="en-US" smtClean="0"/>
              <a:t>‹#›</a:t>
            </a:fld>
            <a:endParaRPr lang="en-US"/>
          </a:p>
        </p:txBody>
      </p:sp>
    </p:spTree>
    <p:extLst>
      <p:ext uri="{BB962C8B-B14F-4D97-AF65-F5344CB8AC3E}">
        <p14:creationId xmlns:p14="http://schemas.microsoft.com/office/powerpoint/2010/main" val="1393119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98" Type="http://schemas.openxmlformats.org/officeDocument/2006/relationships/customXml" Target="../ink/ink2.xml"/><Relationship Id="rId3" Type="http://schemas.openxmlformats.org/officeDocument/2006/relationships/image" Target="../media/image6.jpg"/><Relationship Id="rId9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8.png"/><Relationship Id="rId99" Type="http://schemas.openxmlformats.org/officeDocument/2006/relationships/image" Target="NULL"/><Relationship Id="rId101" Type="http://schemas.openxmlformats.org/officeDocument/2006/relationships/image" Target="NULL"/><Relationship Id="rId4" Type="http://schemas.openxmlformats.org/officeDocument/2006/relationships/image" Target="../media/image7.jpg"/><Relationship Id="rId100"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7.wmf"/><Relationship Id="rId5" Type="http://schemas.openxmlformats.org/officeDocument/2006/relationships/oleObject" Target="../embeddings/oleObject1.bin"/><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260.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2.xml.rels><?xml version="1.0" encoding="UTF-8" standalone="yes"?>
<Relationships xmlns="http://schemas.openxmlformats.org/package/2006/relationships"><Relationship Id="rId3" Type="http://schemas.openxmlformats.org/officeDocument/2006/relationships/hyperlink" Target="https://onlinecourses.nptel.ac.in/noc22_cs124/preview" TargetMode="External"/><Relationship Id="rId2" Type="http://schemas.openxmlformats.org/officeDocument/2006/relationships/hyperlink" Target="http://www.deeplearningbook.or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smtClean="0">
                <a:latin typeface="Sitka Small Semibold" pitchFamily="2" charset="0"/>
              </a:rPr>
              <a:t>Image Processing with CNNs</a:t>
            </a:r>
            <a:endParaRPr lang="en-US" dirty="0"/>
          </a:p>
        </p:txBody>
      </p:sp>
      <p:sp>
        <p:nvSpPr>
          <p:cNvPr id="3" name="Subtitle 2"/>
          <p:cNvSpPr>
            <a:spLocks noGrp="1"/>
          </p:cNvSpPr>
          <p:nvPr>
            <p:ph type="subTitle" idx="1"/>
          </p:nvPr>
        </p:nvSpPr>
        <p:spPr>
          <a:xfrm>
            <a:off x="1524000" y="4083302"/>
            <a:ext cx="9144000" cy="1655762"/>
          </a:xfrm>
        </p:spPr>
        <p:txBody>
          <a:bodyPr/>
          <a:lstStyle/>
          <a:p>
            <a:r>
              <a:rPr lang="en-IN" cap="none" dirty="0" smtClean="0">
                <a:latin typeface="Sitka Text" pitchFamily="2" charset="0"/>
              </a:rPr>
              <a:t>Prof. Sushree S. Behera</a:t>
            </a:r>
          </a:p>
          <a:p>
            <a:r>
              <a:rPr lang="en-IN" cap="none" dirty="0" smtClean="0">
                <a:latin typeface="Sitka Text" pitchFamily="2" charset="0"/>
              </a:rPr>
              <a:t>IIIT Bangalore</a:t>
            </a:r>
          </a:p>
          <a:p>
            <a:endParaRPr lang="en-US" dirty="0"/>
          </a:p>
        </p:txBody>
      </p:sp>
    </p:spTree>
    <p:extLst>
      <p:ext uri="{BB962C8B-B14F-4D97-AF65-F5344CB8AC3E}">
        <p14:creationId xmlns:p14="http://schemas.microsoft.com/office/powerpoint/2010/main" val="1129300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Agenda</a:t>
            </a:r>
            <a:endParaRPr lang="en-US" dirty="0">
              <a:latin typeface="Sitka Text" pitchFamily="2" charset="0"/>
            </a:endParaRPr>
          </a:p>
        </p:txBody>
      </p:sp>
      <p:sp>
        <p:nvSpPr>
          <p:cNvPr id="3" name="Content Placeholder 2"/>
          <p:cNvSpPr>
            <a:spLocks noGrp="1"/>
          </p:cNvSpPr>
          <p:nvPr>
            <p:ph idx="1"/>
          </p:nvPr>
        </p:nvSpPr>
        <p:spPr/>
        <p:txBody>
          <a:bodyPr>
            <a:normAutofit/>
          </a:bodyPr>
          <a:lstStyle/>
          <a:p>
            <a:pPr>
              <a:lnSpc>
                <a:spcPct val="100000"/>
              </a:lnSpc>
            </a:pPr>
            <a:r>
              <a:rPr lang="en-US" sz="2000" dirty="0">
                <a:latin typeface="Sitka Text" pitchFamily="2" charset="0"/>
              </a:rPr>
              <a:t>Introduction </a:t>
            </a:r>
            <a:r>
              <a:rPr lang="en-US" sz="2000" dirty="0" smtClean="0">
                <a:latin typeface="Sitka Text" pitchFamily="2" charset="0"/>
              </a:rPr>
              <a:t>&amp; Motivation</a:t>
            </a:r>
          </a:p>
          <a:p>
            <a:pPr>
              <a:lnSpc>
                <a:spcPct val="100000"/>
              </a:lnSpc>
            </a:pPr>
            <a:r>
              <a:rPr lang="en-US" sz="2000" dirty="0">
                <a:latin typeface="Sitka Text" pitchFamily="2" charset="0"/>
              </a:rPr>
              <a:t>Understanding </a:t>
            </a:r>
            <a:r>
              <a:rPr lang="en-US" sz="2000" dirty="0" smtClean="0">
                <a:latin typeface="Sitka Text" pitchFamily="2" charset="0"/>
              </a:rPr>
              <a:t>Image Data</a:t>
            </a:r>
          </a:p>
          <a:p>
            <a:pPr>
              <a:lnSpc>
                <a:spcPct val="100000"/>
              </a:lnSpc>
            </a:pPr>
            <a:r>
              <a:rPr lang="en-US" sz="2000" dirty="0" smtClean="0">
                <a:latin typeface="Sitka Text" pitchFamily="2" charset="0"/>
              </a:rPr>
              <a:t>CNN Architecture</a:t>
            </a:r>
          </a:p>
          <a:p>
            <a:pPr lvl="1">
              <a:lnSpc>
                <a:spcPct val="100000"/>
              </a:lnSpc>
            </a:pPr>
            <a:r>
              <a:rPr lang="en-US" sz="1800" dirty="0" smtClean="0">
                <a:latin typeface="Sitka Text" pitchFamily="2" charset="0"/>
              </a:rPr>
              <a:t>Convolutional Layer</a:t>
            </a:r>
          </a:p>
          <a:p>
            <a:pPr lvl="1">
              <a:lnSpc>
                <a:spcPct val="100000"/>
              </a:lnSpc>
            </a:pPr>
            <a:r>
              <a:rPr lang="en-US" sz="1800" dirty="0" smtClean="0">
                <a:latin typeface="Sitka Text" pitchFamily="2" charset="0"/>
              </a:rPr>
              <a:t>Feature </a:t>
            </a:r>
            <a:r>
              <a:rPr lang="en-US" sz="1800" dirty="0">
                <a:latin typeface="Sitka Text" pitchFamily="2" charset="0"/>
              </a:rPr>
              <a:t>Maps &amp; </a:t>
            </a:r>
            <a:r>
              <a:rPr lang="en-US" sz="1800" dirty="0" smtClean="0">
                <a:latin typeface="Sitka Text" pitchFamily="2" charset="0"/>
              </a:rPr>
              <a:t>Pooling Layers</a:t>
            </a:r>
          </a:p>
          <a:p>
            <a:pPr lvl="1">
              <a:lnSpc>
                <a:spcPct val="100000"/>
              </a:lnSpc>
            </a:pPr>
            <a:r>
              <a:rPr lang="en-US" sz="1800" dirty="0" smtClean="0">
                <a:latin typeface="Sitka Text" pitchFamily="2" charset="0"/>
              </a:rPr>
              <a:t>Fully-connected Layers</a:t>
            </a:r>
          </a:p>
          <a:p>
            <a:pPr>
              <a:lnSpc>
                <a:spcPct val="100000"/>
              </a:lnSpc>
            </a:pPr>
            <a:r>
              <a:rPr lang="en-US" sz="2000" dirty="0">
                <a:latin typeface="Sitka Text" pitchFamily="2" charset="0"/>
              </a:rPr>
              <a:t>Hierarchical </a:t>
            </a:r>
            <a:r>
              <a:rPr lang="en-US" sz="2000" dirty="0" smtClean="0">
                <a:latin typeface="Sitka Text" pitchFamily="2" charset="0"/>
              </a:rPr>
              <a:t>Feature Learning</a:t>
            </a:r>
          </a:p>
          <a:p>
            <a:pPr>
              <a:lnSpc>
                <a:spcPct val="100000"/>
              </a:lnSpc>
            </a:pPr>
            <a:r>
              <a:rPr lang="en-US" sz="2000" dirty="0" smtClean="0">
                <a:latin typeface="Sitka Text" pitchFamily="2" charset="0"/>
              </a:rPr>
              <a:t>Transfer Learning and Fine-tuning</a:t>
            </a:r>
          </a:p>
          <a:p>
            <a:pPr>
              <a:lnSpc>
                <a:spcPct val="100000"/>
              </a:lnSpc>
            </a:pPr>
            <a:r>
              <a:rPr lang="en-US" sz="2000" dirty="0" smtClean="0">
                <a:latin typeface="Sitka Text" pitchFamily="2" charset="0"/>
              </a:rPr>
              <a:t>Back-propagation in CNNs</a:t>
            </a:r>
          </a:p>
          <a:p>
            <a:pPr>
              <a:lnSpc>
                <a:spcPct val="100000"/>
              </a:lnSpc>
            </a:pPr>
            <a:r>
              <a:rPr lang="en-US" sz="2000" dirty="0" smtClean="0">
                <a:latin typeface="Sitka Text" pitchFamily="2" charset="0"/>
              </a:rPr>
              <a:t>Various CNN Architectures and their Application</a:t>
            </a:r>
          </a:p>
        </p:txBody>
      </p:sp>
    </p:spTree>
    <p:extLst>
      <p:ext uri="{BB962C8B-B14F-4D97-AF65-F5344CB8AC3E}">
        <p14:creationId xmlns:p14="http://schemas.microsoft.com/office/powerpoint/2010/main" val="30696274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sp>
        <p:nvSpPr>
          <p:cNvPr id="5" name="Rectangle 4"/>
          <p:cNvSpPr/>
          <p:nvPr/>
        </p:nvSpPr>
        <p:spPr>
          <a:xfrm>
            <a:off x="6339037" y="6427113"/>
            <a:ext cx="5852963" cy="430887"/>
          </a:xfrm>
          <a:prstGeom prst="rect">
            <a:avLst/>
          </a:prstGeom>
        </p:spPr>
        <p:txBody>
          <a:bodyPr wrap="square">
            <a:spAutoFit/>
          </a:bodyPr>
          <a:lstStyle/>
          <a:p>
            <a:r>
              <a:rPr lang="en-IN" sz="1050" dirty="0" smtClean="0">
                <a:latin typeface="Sitka Text" pitchFamily="2" charset="0"/>
              </a:rPr>
              <a:t>https://learnopencv.com/understanding-convolutional-neural-networks-cnn/</a:t>
            </a:r>
          </a:p>
          <a:p>
            <a:r>
              <a:rPr lang="en-IN" sz="1050" dirty="0" smtClean="0">
                <a:latin typeface="Sitka Text" pitchFamily="2" charset="0"/>
              </a:rPr>
              <a:t>https://www.geeksforgeeks.org/introduction-convolution-neural-network/</a:t>
            </a:r>
            <a:endParaRPr lang="en-IN" sz="1050" dirty="0">
              <a:latin typeface="Sitka Text" pitchFamily="2" charset="0"/>
            </a:endParaRPr>
          </a:p>
        </p:txBody>
      </p:sp>
      <p:pic>
        <p:nvPicPr>
          <p:cNvPr id="7" name="Picture 6"/>
          <p:cNvPicPr>
            <a:picLocks noChangeAspect="1"/>
          </p:cNvPicPr>
          <p:nvPr/>
        </p:nvPicPr>
        <p:blipFill rotWithShape="1">
          <a:blip r:embed="rId2"/>
          <a:srcRect t="10823" r="95836" b="79977"/>
          <a:stretch/>
        </p:blipFill>
        <p:spPr>
          <a:xfrm>
            <a:off x="1769083" y="2406026"/>
            <a:ext cx="418837" cy="339904"/>
          </a:xfrm>
          <a:prstGeom prst="rect">
            <a:avLst/>
          </a:prstGeom>
        </p:spPr>
      </p:pic>
      <p:pic>
        <p:nvPicPr>
          <p:cNvPr id="10" name="Picture 9">
            <a:extLst>
              <a:ext uri="{FF2B5EF4-FFF2-40B4-BE49-F238E27FC236}">
                <a16:creationId xmlns:a16="http://schemas.microsoft.com/office/drawing/2014/main" id="{F00CD101-2579-0C9C-E4FB-247DA7BAA678}"/>
              </a:ext>
            </a:extLst>
          </p:cNvPr>
          <p:cNvPicPr>
            <a:picLocks noChangeAspect="1"/>
          </p:cNvPicPr>
          <p:nvPr/>
        </p:nvPicPr>
        <p:blipFill rotWithShape="1">
          <a:blip r:embed="rId2"/>
          <a:srcRect t="10823" r="74797" b="57513"/>
          <a:stretch/>
        </p:blipFill>
        <p:spPr>
          <a:xfrm>
            <a:off x="4858854" y="2377859"/>
            <a:ext cx="2535252" cy="1169806"/>
          </a:xfrm>
          <a:prstGeom prst="rect">
            <a:avLst/>
          </a:prstGeom>
        </p:spPr>
      </p:pic>
      <p:pic>
        <p:nvPicPr>
          <p:cNvPr id="12" name="Picture 11">
            <a:extLst>
              <a:ext uri="{FF2B5EF4-FFF2-40B4-BE49-F238E27FC236}">
                <a16:creationId xmlns:a16="http://schemas.microsoft.com/office/drawing/2014/main" id="{86BF32B6-7183-63F9-4837-E66AA11168E8}"/>
              </a:ext>
            </a:extLst>
          </p:cNvPr>
          <p:cNvPicPr>
            <a:picLocks noChangeAspect="1"/>
          </p:cNvPicPr>
          <p:nvPr/>
        </p:nvPicPr>
        <p:blipFill rotWithShape="1">
          <a:blip r:embed="rId2"/>
          <a:srcRect t="10823" r="74797" b="23138"/>
          <a:stretch/>
        </p:blipFill>
        <p:spPr>
          <a:xfrm>
            <a:off x="8147250" y="2406026"/>
            <a:ext cx="2535252" cy="2439805"/>
          </a:xfrm>
          <a:prstGeom prst="rect">
            <a:avLst/>
          </a:prstGeom>
        </p:spPr>
      </p:pic>
      <p:pic>
        <p:nvPicPr>
          <p:cNvPr id="14" name="Picture 13">
            <a:extLst>
              <a:ext uri="{FF2B5EF4-FFF2-40B4-BE49-F238E27FC236}">
                <a16:creationId xmlns:a16="http://schemas.microsoft.com/office/drawing/2014/main" id="{245BCDBC-CA97-3945-2205-6BCC04139668}"/>
              </a:ext>
            </a:extLst>
          </p:cNvPr>
          <p:cNvPicPr>
            <a:picLocks noChangeAspect="1"/>
          </p:cNvPicPr>
          <p:nvPr/>
        </p:nvPicPr>
        <p:blipFill rotWithShape="1">
          <a:blip r:embed="rId2"/>
          <a:srcRect t="10823" r="93317" b="73891"/>
          <a:stretch/>
        </p:blipFill>
        <p:spPr>
          <a:xfrm>
            <a:off x="3187232" y="2377858"/>
            <a:ext cx="672310" cy="564732"/>
          </a:xfrm>
          <a:prstGeom prst="rect">
            <a:avLst/>
          </a:prstGeom>
        </p:spPr>
      </p:pic>
      <p:sp>
        <p:nvSpPr>
          <p:cNvPr id="3" name="Rectangle 2"/>
          <p:cNvSpPr/>
          <p:nvPr/>
        </p:nvSpPr>
        <p:spPr>
          <a:xfrm>
            <a:off x="4223903" y="5267140"/>
            <a:ext cx="3451586" cy="369332"/>
          </a:xfrm>
          <a:prstGeom prst="rect">
            <a:avLst/>
          </a:prstGeom>
        </p:spPr>
        <p:txBody>
          <a:bodyPr wrap="none">
            <a:spAutoFit/>
          </a:bodyPr>
          <a:lstStyle/>
          <a:p>
            <a:pPr>
              <a:lnSpc>
                <a:spcPct val="100000"/>
              </a:lnSpc>
            </a:pPr>
            <a:r>
              <a:rPr lang="en-US" dirty="0">
                <a:latin typeface="Sitka Text" pitchFamily="2" charset="0"/>
              </a:rPr>
              <a:t>Hierarchical Feature Learning</a:t>
            </a:r>
          </a:p>
        </p:txBody>
      </p:sp>
      <p:cxnSp>
        <p:nvCxnSpPr>
          <p:cNvPr id="6" name="Straight Arrow Connector 5"/>
          <p:cNvCxnSpPr/>
          <p:nvPr/>
        </p:nvCxnSpPr>
        <p:spPr>
          <a:xfrm flipV="1">
            <a:off x="2090928" y="5669280"/>
            <a:ext cx="7717536" cy="182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73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rotWithShape="1">
          <a:blip r:embed="rId2"/>
          <a:srcRect l="17486"/>
          <a:stretch/>
        </p:blipFill>
        <p:spPr>
          <a:xfrm>
            <a:off x="4304336" y="2151221"/>
            <a:ext cx="6193746" cy="2568163"/>
          </a:xfrm>
          <a:prstGeom prst="rect">
            <a:avLst/>
          </a:prstGeom>
        </p:spPr>
      </p:pic>
      <p:sp>
        <p:nvSpPr>
          <p:cNvPr id="5" name="Rectangle 4"/>
          <p:cNvSpPr/>
          <p:nvPr/>
        </p:nvSpPr>
        <p:spPr>
          <a:xfrm>
            <a:off x="6339037" y="6427113"/>
            <a:ext cx="5852963" cy="430887"/>
          </a:xfrm>
          <a:prstGeom prst="rect">
            <a:avLst/>
          </a:prstGeom>
        </p:spPr>
        <p:txBody>
          <a:bodyPr wrap="square">
            <a:spAutoFit/>
          </a:bodyPr>
          <a:lstStyle/>
          <a:p>
            <a:r>
              <a:rPr lang="en-IN" sz="1050" dirty="0">
                <a:latin typeface="Sitka Text" pitchFamily="2" charset="0"/>
              </a:rPr>
              <a:t>https://learnopencv.com/understanding-convolutional-neural-networks-cnn/</a:t>
            </a:r>
          </a:p>
          <a:p>
            <a:r>
              <a:rPr lang="en-IN" sz="1050" dirty="0">
                <a:latin typeface="Sitka Text" pitchFamily="2" charset="0"/>
              </a:rPr>
              <a:t>https://www.geeksforgeeks.org/introduction-convolution-neural-network/</a:t>
            </a:r>
          </a:p>
        </p:txBody>
      </p:sp>
      <p:pic>
        <p:nvPicPr>
          <p:cNvPr id="7" name="Picture 6"/>
          <p:cNvPicPr>
            <a:picLocks noChangeAspect="1"/>
          </p:cNvPicPr>
          <p:nvPr/>
        </p:nvPicPr>
        <p:blipFill rotWithShape="1">
          <a:blip r:embed="rId3"/>
          <a:srcRect r="74797"/>
          <a:stretch/>
        </p:blipFill>
        <p:spPr>
          <a:xfrm>
            <a:off x="1769084" y="1908625"/>
            <a:ext cx="2535252" cy="3694496"/>
          </a:xfrm>
          <a:prstGeom prst="rect">
            <a:avLst/>
          </a:prstGeom>
        </p:spPr>
      </p:pic>
      <p:sp>
        <p:nvSpPr>
          <p:cNvPr id="3" name="TextBox 2"/>
          <p:cNvSpPr txBox="1"/>
          <p:nvPr/>
        </p:nvSpPr>
        <p:spPr>
          <a:xfrm>
            <a:off x="1145774" y="5417323"/>
            <a:ext cx="10386526" cy="646331"/>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Sitka Text" pitchFamily="2" charset="0"/>
              </a:rPr>
              <a:t>Designed to work with grid-structured inputs, with strong spatial dependencies in local regions.</a:t>
            </a:r>
          </a:p>
        </p:txBody>
      </p:sp>
    </p:spTree>
    <p:extLst>
      <p:ext uri="{BB962C8B-B14F-4D97-AF65-F5344CB8AC3E}">
        <p14:creationId xmlns:p14="http://schemas.microsoft.com/office/powerpoint/2010/main" val="253011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Networks</a:t>
            </a:r>
          </a:p>
        </p:txBody>
      </p:sp>
      <p:pic>
        <p:nvPicPr>
          <p:cNvPr id="4" name="Content Placeholder 3"/>
          <p:cNvPicPr>
            <a:picLocks noGrp="1" noChangeAspect="1"/>
          </p:cNvPicPr>
          <p:nvPr>
            <p:ph idx="1"/>
          </p:nvPr>
        </p:nvPicPr>
        <p:blipFill rotWithShape="1">
          <a:blip r:embed="rId3"/>
          <a:srcRect l="-1" r="74783" b="-839"/>
          <a:stretch/>
        </p:blipFill>
        <p:spPr>
          <a:xfrm>
            <a:off x="1409876" y="2479027"/>
            <a:ext cx="2536480" cy="3725424"/>
          </a:xfrm>
          <a:prstGeom prst="rect">
            <a:avLst/>
          </a:prstGeom>
        </p:spPr>
      </p:pic>
      <p:sp>
        <p:nvSpPr>
          <p:cNvPr id="5" name="Rectangle 4"/>
          <p:cNvSpPr/>
          <p:nvPr/>
        </p:nvSpPr>
        <p:spPr>
          <a:xfrm>
            <a:off x="6343589" y="6476886"/>
            <a:ext cx="5687990" cy="253916"/>
          </a:xfrm>
          <a:prstGeom prst="rect">
            <a:avLst/>
          </a:prstGeom>
        </p:spPr>
        <p:txBody>
          <a:bodyPr wrap="square">
            <a:spAutoFit/>
          </a:bodyPr>
          <a:lstStyle/>
          <a:p>
            <a:r>
              <a:rPr lang="en-IN" sz="1050" dirty="0">
                <a:latin typeface="Sitka Text" pitchFamily="2" charset="0"/>
              </a:rPr>
              <a:t>https://learnopencv.com/understanding-convolutional-neural-networks-cnn/</a:t>
            </a:r>
          </a:p>
        </p:txBody>
      </p:sp>
      <p:pic>
        <p:nvPicPr>
          <p:cNvPr id="8" name="Content Placeholder 3"/>
          <p:cNvPicPr>
            <a:picLocks noChangeAspect="1"/>
          </p:cNvPicPr>
          <p:nvPr/>
        </p:nvPicPr>
        <p:blipFill rotWithShape="1">
          <a:blip r:embed="rId3"/>
          <a:srcRect l="25018" r="60508" b="24454"/>
          <a:stretch/>
        </p:blipFill>
        <p:spPr>
          <a:xfrm>
            <a:off x="4084720" y="2713188"/>
            <a:ext cx="1455821" cy="2790971"/>
          </a:xfrm>
          <a:prstGeom prst="rect">
            <a:avLst/>
          </a:prstGeom>
        </p:spPr>
      </p:pic>
      <p:pic>
        <p:nvPicPr>
          <p:cNvPr id="9" name="Content Placeholder 3"/>
          <p:cNvPicPr>
            <a:picLocks noChangeAspect="1"/>
          </p:cNvPicPr>
          <p:nvPr/>
        </p:nvPicPr>
        <p:blipFill rotWithShape="1">
          <a:blip r:embed="rId3"/>
          <a:srcRect l="39412" r="34468" b="33139"/>
          <a:stretch/>
        </p:blipFill>
        <p:spPr>
          <a:xfrm>
            <a:off x="5678905" y="2713188"/>
            <a:ext cx="2627234" cy="247012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F02A221-FA4C-FBA8-CF4E-055B7818492C}"/>
                  </a:ext>
                </a:extLst>
              </p:cNvPr>
              <p:cNvSpPr txBox="1"/>
              <p:nvPr/>
            </p:nvSpPr>
            <p:spPr>
              <a:xfrm flipH="1">
                <a:off x="5678905" y="1708694"/>
                <a:ext cx="6020368" cy="1101648"/>
              </a:xfrm>
              <a:prstGeom prst="rect">
                <a:avLst/>
              </a:prstGeom>
              <a:noFill/>
            </p:spPr>
            <p:txBody>
              <a:bodyPr wrap="square" rtlCol="0">
                <a:spAutoFit/>
              </a:bodyPr>
              <a:lstStyle/>
              <a:p>
                <a:r>
                  <a:rPr lang="en-IN" dirty="0" smtClean="0">
                    <a:solidFill>
                      <a:schemeClr val="tx1"/>
                    </a:solidFill>
                    <a:latin typeface="Sitka Text" pitchFamily="2" charset="0"/>
                  </a:rPr>
                  <a:t>Number of trainable weights </a:t>
                </a:r>
              </a:p>
              <a:p>
                <a:pPr/>
                <a14:m>
                  <m:oMathPara xmlns:m="http://schemas.openxmlformats.org/officeDocument/2006/math">
                    <m:oMathParaPr>
                      <m:jc m:val="centerGroup"/>
                    </m:oMathParaPr>
                    <m:oMath xmlns:m="http://schemas.openxmlformats.org/officeDocument/2006/math">
                      <m:r>
                        <a:rPr lang="en-IN" i="1" dirty="0" smtClean="0">
                          <a:solidFill>
                            <a:schemeClr val="tx1"/>
                          </a:solidFill>
                          <a:latin typeface="Cambria Math" panose="02040503050406030204" pitchFamily="18" charset="0"/>
                        </a:rPr>
                        <m:t>= 150528 </m:t>
                      </m:r>
                      <m:r>
                        <a:rPr lang="en-IN" i="1" dirty="0" smtClean="0">
                          <a:solidFill>
                            <a:schemeClr val="tx1"/>
                          </a:solidFill>
                          <a:latin typeface="Cambria Math" panose="02040503050406030204" pitchFamily="18" charset="0"/>
                          <a:ea typeface="Cambria Math" panose="02040503050406030204" pitchFamily="18" charset="0"/>
                        </a:rPr>
                        <m:t>×</m:t>
                      </m:r>
                      <m:r>
                        <a:rPr lang="en-IN" i="1" dirty="0" smtClean="0">
                          <a:solidFill>
                            <a:schemeClr val="tx1"/>
                          </a:solidFill>
                          <a:latin typeface="Cambria Math" panose="02040503050406030204" pitchFamily="18" charset="0"/>
                        </a:rPr>
                        <m:t> 4096 </m:t>
                      </m:r>
                      <m:r>
                        <a:rPr lang="en-IN" i="1" dirty="0">
                          <a:solidFill>
                            <a:schemeClr val="tx1"/>
                          </a:solidFill>
                          <a:latin typeface="Cambria Math" panose="02040503050406030204" pitchFamily="18" charset="0"/>
                        </a:rPr>
                        <m:t>+ 4096 </m:t>
                      </m:r>
                      <m:r>
                        <a:rPr lang="en-IN" i="1" dirty="0" smtClean="0">
                          <a:solidFill>
                            <a:schemeClr val="tx1"/>
                          </a:solidFill>
                          <a:latin typeface="Cambria Math" panose="02040503050406030204" pitchFamily="18" charset="0"/>
                          <a:ea typeface="Cambria Math" panose="02040503050406030204" pitchFamily="18" charset="0"/>
                        </a:rPr>
                        <m:t>×</m:t>
                      </m:r>
                      <m:r>
                        <a:rPr lang="en-IN" i="1" dirty="0">
                          <a:solidFill>
                            <a:schemeClr val="tx1"/>
                          </a:solidFill>
                          <a:latin typeface="Cambria Math" panose="02040503050406030204" pitchFamily="18" charset="0"/>
                        </a:rPr>
                        <m:t>4096 +4096 </m:t>
                      </m:r>
                      <m:r>
                        <a:rPr lang="en-IN" i="1" dirty="0">
                          <a:solidFill>
                            <a:schemeClr val="tx1"/>
                          </a:solidFill>
                          <a:latin typeface="Cambria Math" panose="02040503050406030204" pitchFamily="18" charset="0"/>
                          <a:ea typeface="Cambria Math" panose="02040503050406030204" pitchFamily="18" charset="0"/>
                        </a:rPr>
                        <m:t>×</m:t>
                      </m:r>
                      <m:r>
                        <a:rPr lang="en-IN" i="1" dirty="0">
                          <a:solidFill>
                            <a:schemeClr val="tx1"/>
                          </a:solidFill>
                          <a:latin typeface="Cambria Math" panose="02040503050406030204" pitchFamily="18" charset="0"/>
                        </a:rPr>
                        <m:t>4096</m:t>
                      </m:r>
                    </m:oMath>
                  </m:oMathPara>
                </a14:m>
                <a:endParaRPr lang="en-US" i="1" dirty="0" smtClean="0">
                  <a:solidFill>
                    <a:schemeClr val="tx1"/>
                  </a:solidFill>
                  <a:latin typeface="Cambria Math" panose="02040503050406030204" pitchFamily="18" charset="0"/>
                </a:endParaRPr>
              </a:p>
              <a:p>
                <a:r>
                  <a:rPr lang="en-IN" dirty="0" smtClean="0">
                    <a:solidFill>
                      <a:schemeClr val="tx1"/>
                    </a:solidFill>
                  </a:rPr>
                  <a:t>      </a:t>
                </a:r>
                <a14:m>
                  <m:oMath xmlns:m="http://schemas.openxmlformats.org/officeDocument/2006/math">
                    <m:r>
                      <a:rPr lang="en-IN"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650,117,120</m:t>
                    </m:r>
                    <m:r>
                      <a:rPr lang="en-IN"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650</m:t>
                    </m:r>
                    <m:r>
                      <a:rPr lang="en-IN" i="1" baseline="30000" dirty="0" smtClean="0">
                        <a:solidFill>
                          <a:schemeClr val="tx1"/>
                        </a:solidFill>
                        <a:latin typeface="Cambria Math" panose="02040503050406030204" pitchFamily="18" charset="0"/>
                      </a:rPr>
                      <m:t> </m:t>
                    </m:r>
                  </m:oMath>
                </a14:m>
                <a:r>
                  <a:rPr lang="en-US" dirty="0">
                    <a:solidFill>
                      <a:schemeClr val="tx1"/>
                    </a:solidFill>
                    <a:latin typeface="Sitka Text" pitchFamily="2" charset="0"/>
                  </a:rPr>
                  <a:t>Million</a:t>
                </a:r>
              </a:p>
              <a:p>
                <a:endParaRPr lang="en-IN" baseline="30000" dirty="0">
                  <a:solidFill>
                    <a:schemeClr val="tx1"/>
                  </a:solidFill>
                  <a:latin typeface="Sitka Text" pitchFamily="2" charset="0"/>
                </a:endParaRPr>
              </a:p>
            </p:txBody>
          </p:sp>
        </mc:Choice>
        <mc:Fallback xmlns="">
          <p:sp>
            <p:nvSpPr>
              <p:cNvPr id="10" name="TextBox 9">
                <a:extLst>
                  <a:ext uri="{FF2B5EF4-FFF2-40B4-BE49-F238E27FC236}">
                    <a16:creationId xmlns:a16="http://schemas.microsoft.com/office/drawing/2014/main" id="{FF02A221-FA4C-FBA8-CF4E-055B7818492C}"/>
                  </a:ext>
                </a:extLst>
              </p:cNvPr>
              <p:cNvSpPr txBox="1">
                <a:spLocks noRot="1" noChangeAspect="1" noMove="1" noResize="1" noEditPoints="1" noAdjustHandles="1" noChangeArrowheads="1" noChangeShapeType="1" noTextEdit="1"/>
              </p:cNvSpPr>
              <p:nvPr/>
            </p:nvSpPr>
            <p:spPr>
              <a:xfrm flipH="1">
                <a:off x="5678905" y="1708694"/>
                <a:ext cx="6020368" cy="1101648"/>
              </a:xfrm>
              <a:prstGeom prst="rect">
                <a:avLst/>
              </a:prstGeom>
              <a:blipFill>
                <a:blip r:embed="rId4"/>
                <a:stretch>
                  <a:fillRect l="-912" t="-2762"/>
                </a:stretch>
              </a:blipFill>
            </p:spPr>
            <p:txBody>
              <a:bodyPr/>
              <a:lstStyle/>
              <a:p>
                <a:r>
                  <a:rPr lang="en-US">
                    <a:noFill/>
                  </a:rPr>
                  <a:t> </a:t>
                </a:r>
              </a:p>
            </p:txBody>
          </p:sp>
        </mc:Fallback>
      </mc:AlternateContent>
    </p:spTree>
    <p:extLst>
      <p:ext uri="{BB962C8B-B14F-4D97-AF65-F5344CB8AC3E}">
        <p14:creationId xmlns:p14="http://schemas.microsoft.com/office/powerpoint/2010/main" val="100645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rotWithShape="1">
          <a:blip r:embed="rId3"/>
          <a:srcRect l="14652"/>
          <a:stretch/>
        </p:blipFill>
        <p:spPr>
          <a:xfrm>
            <a:off x="2267337" y="1840785"/>
            <a:ext cx="5982940" cy="4022725"/>
          </a:xfrm>
          <a:prstGeom prst="rect">
            <a:avLst/>
          </a:prstGeom>
        </p:spPr>
      </p:pic>
      <p:pic>
        <p:nvPicPr>
          <p:cNvPr id="6" name="Picture 5"/>
          <p:cNvPicPr>
            <a:picLocks noChangeAspect="1"/>
          </p:cNvPicPr>
          <p:nvPr/>
        </p:nvPicPr>
        <p:blipFill rotWithShape="1">
          <a:blip r:embed="rId4"/>
          <a:srcRect l="594" t="11932" r="75714" b="24087"/>
          <a:stretch/>
        </p:blipFill>
        <p:spPr>
          <a:xfrm>
            <a:off x="608673" y="241837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7" name="Picture 6"/>
          <p:cNvPicPr>
            <a:picLocks noChangeAspect="1"/>
          </p:cNvPicPr>
          <p:nvPr/>
        </p:nvPicPr>
        <p:blipFill rotWithShape="1">
          <a:blip r:embed="rId4"/>
          <a:srcRect t="75953" r="74797" b="11409"/>
          <a:stretch/>
        </p:blipFill>
        <p:spPr>
          <a:xfrm>
            <a:off x="338330" y="5819855"/>
            <a:ext cx="2535252" cy="466927"/>
          </a:xfrm>
          <a:prstGeom prst="rect">
            <a:avLst/>
          </a:prstGeom>
        </p:spPr>
      </p:pic>
      <p:sp>
        <p:nvSpPr>
          <p:cNvPr id="8" name="Rectangle 7"/>
          <p:cNvSpPr/>
          <p:nvPr/>
        </p:nvSpPr>
        <p:spPr>
          <a:xfrm>
            <a:off x="6096000" y="6427113"/>
            <a:ext cx="5712053" cy="430887"/>
          </a:xfrm>
          <a:prstGeom prst="rect">
            <a:avLst/>
          </a:prstGeom>
        </p:spPr>
        <p:txBody>
          <a:bodyPr wrap="square">
            <a:spAutoFit/>
          </a:bodyPr>
          <a:lstStyle/>
          <a:p>
            <a:r>
              <a:rPr lang="en-IN" sz="1050" dirty="0">
                <a:latin typeface="Sitka Text" pitchFamily="2" charset="0"/>
              </a:rPr>
              <a:t>https://learnopencv.com/understanding-convolutional-neural-networks-cnn/</a:t>
            </a:r>
          </a:p>
          <a:p>
            <a:r>
              <a:rPr lang="en-IN" sz="1050" dirty="0">
                <a:latin typeface="Sitka Text" pitchFamily="2" charset="0"/>
              </a:rPr>
              <a:t>https://cs231n.github.io/convolutional-networks/#conv</a:t>
            </a:r>
          </a:p>
        </p:txBody>
      </p:sp>
      <p:sp>
        <p:nvSpPr>
          <p:cNvPr id="16" name="Rectangle 15"/>
          <p:cNvSpPr/>
          <p:nvPr/>
        </p:nvSpPr>
        <p:spPr>
          <a:xfrm>
            <a:off x="7124204" y="5586857"/>
            <a:ext cx="2784737" cy="369332"/>
          </a:xfrm>
          <a:prstGeom prst="rect">
            <a:avLst/>
          </a:prstGeom>
        </p:spPr>
        <p:txBody>
          <a:bodyPr wrap="none">
            <a:spAutoFit/>
          </a:bodyPr>
          <a:lstStyle/>
          <a:p>
            <a:r>
              <a:rPr lang="en-IN" dirty="0">
                <a:latin typeface="Sitka Text" pitchFamily="2" charset="0"/>
              </a:rPr>
              <a:t>Total: 138M parameters</a:t>
            </a:r>
          </a:p>
        </p:txBody>
      </p:sp>
    </p:spTree>
    <p:extLst>
      <p:ext uri="{BB962C8B-B14F-4D97-AF65-F5344CB8AC3E}">
        <p14:creationId xmlns:p14="http://schemas.microsoft.com/office/powerpoint/2010/main" val="65410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Digital Image</a:t>
            </a:r>
            <a:endParaRPr lang="en-US" dirty="0">
              <a:latin typeface="Sitka Text" pitchFamily="2" charset="0"/>
            </a:endParaRPr>
          </a:p>
        </p:txBody>
      </p:sp>
      <p:sp>
        <p:nvSpPr>
          <p:cNvPr id="4" name="Rectangle 3"/>
          <p:cNvSpPr/>
          <p:nvPr/>
        </p:nvSpPr>
        <p:spPr>
          <a:xfrm>
            <a:off x="10219390" y="6480583"/>
            <a:ext cx="1917513" cy="261610"/>
          </a:xfrm>
          <a:prstGeom prst="rect">
            <a:avLst/>
          </a:prstGeom>
        </p:spPr>
        <p:txBody>
          <a:bodyPr wrap="none">
            <a:spAutoFit/>
          </a:bodyPr>
          <a:lstStyle/>
          <a:p>
            <a:r>
              <a:rPr lang="en-IN" sz="1100" dirty="0">
                <a:latin typeface="Sitka Text" pitchFamily="2" charset="0"/>
              </a:rPr>
              <a:t>https://www.google.com/</a:t>
            </a: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30984" t="7756" r="28347" b="14013"/>
          <a:stretch/>
        </p:blipFill>
        <p:spPr>
          <a:xfrm>
            <a:off x="6245292" y="2236609"/>
            <a:ext cx="2015412" cy="4094919"/>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90441" y="169375"/>
            <a:ext cx="3546255" cy="2385527"/>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92958" y="0"/>
            <a:ext cx="4093280" cy="3084351"/>
          </a:xfrm>
          <a:prstGeom prst="rect">
            <a:avLst/>
          </a:prstGeom>
        </p:spPr>
      </p:pic>
      <p:graphicFrame>
        <p:nvGraphicFramePr>
          <p:cNvPr id="9" name="Table 8"/>
          <p:cNvGraphicFramePr>
            <a:graphicFrameLocks noGrp="1"/>
          </p:cNvGraphicFramePr>
          <p:nvPr>
            <p:extLst/>
          </p:nvPr>
        </p:nvGraphicFramePr>
        <p:xfrm>
          <a:off x="3019758" y="3020004"/>
          <a:ext cx="2140068" cy="1761624"/>
        </p:xfrm>
        <a:graphic>
          <a:graphicData uri="http://schemas.openxmlformats.org/drawingml/2006/table">
            <a:tbl>
              <a:tblPr firstRow="1" bandRow="1">
                <a:tableStyleId>{5940675A-B579-460E-94D1-54222C63F5DA}</a:tableStyleId>
              </a:tblPr>
              <a:tblGrid>
                <a:gridCol w="356678">
                  <a:extLst>
                    <a:ext uri="{9D8B030D-6E8A-4147-A177-3AD203B41FA5}">
                      <a16:colId xmlns:a16="http://schemas.microsoft.com/office/drawing/2014/main" val="3729901385"/>
                    </a:ext>
                  </a:extLst>
                </a:gridCol>
                <a:gridCol w="356678">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132033511"/>
                    </a:ext>
                  </a:extLst>
                </a:gridCol>
                <a:gridCol w="356678">
                  <a:extLst>
                    <a:ext uri="{9D8B030D-6E8A-4147-A177-3AD203B41FA5}">
                      <a16:colId xmlns:a16="http://schemas.microsoft.com/office/drawing/2014/main" val="3641177828"/>
                    </a:ext>
                  </a:extLst>
                </a:gridCol>
              </a:tblGrid>
              <a:tr h="293604">
                <a:tc>
                  <a:txBody>
                    <a:bodyPr/>
                    <a:lstStyle/>
                    <a:p>
                      <a:r>
                        <a:rPr lang="en-IN" sz="900" b="1" dirty="0"/>
                        <a:t>183</a:t>
                      </a:r>
                    </a:p>
                  </a:txBody>
                  <a:tcPr>
                    <a:solidFill>
                      <a:srgbClr val="FF0000"/>
                    </a:solidFill>
                  </a:tcPr>
                </a:tc>
                <a:tc>
                  <a:txBody>
                    <a:bodyPr/>
                    <a:lstStyle/>
                    <a:p>
                      <a:r>
                        <a:rPr lang="en-IN" sz="900" b="1" dirty="0"/>
                        <a:t>183</a:t>
                      </a:r>
                    </a:p>
                  </a:txBody>
                  <a:tcPr>
                    <a:solidFill>
                      <a:srgbClr val="FF0000"/>
                    </a:solidFill>
                  </a:tcPr>
                </a:tc>
                <a:tc>
                  <a:txBody>
                    <a:bodyPr/>
                    <a:lstStyle/>
                    <a:p>
                      <a:r>
                        <a:rPr lang="en-IN" sz="900" b="1" dirty="0"/>
                        <a:t>181</a:t>
                      </a:r>
                    </a:p>
                  </a:txBody>
                  <a:tcPr>
                    <a:solidFill>
                      <a:srgbClr val="FF0000"/>
                    </a:solidFill>
                  </a:tcPr>
                </a:tc>
                <a:tc>
                  <a:txBody>
                    <a:bodyPr/>
                    <a:lstStyle/>
                    <a:p>
                      <a:r>
                        <a:rPr lang="en-IN" sz="900" b="1" dirty="0"/>
                        <a:t>184</a:t>
                      </a:r>
                    </a:p>
                  </a:txBody>
                  <a:tcPr>
                    <a:solidFill>
                      <a:srgbClr val="FF0000"/>
                    </a:solidFill>
                  </a:tcPr>
                </a:tc>
                <a:tc>
                  <a:txBody>
                    <a:bodyPr/>
                    <a:lstStyle/>
                    <a:p>
                      <a:r>
                        <a:rPr lang="en-IN" sz="900" b="1" dirty="0"/>
                        <a:t>200</a:t>
                      </a:r>
                    </a:p>
                  </a:txBody>
                  <a:tcPr>
                    <a:solidFill>
                      <a:srgbClr val="FF0000"/>
                    </a:solidFill>
                  </a:tcPr>
                </a:tc>
                <a:tc>
                  <a:txBody>
                    <a:bodyPr/>
                    <a:lstStyle/>
                    <a:p>
                      <a:r>
                        <a:rPr lang="en-IN" sz="900" b="1" dirty="0"/>
                        <a:t>200</a:t>
                      </a:r>
                    </a:p>
                  </a:txBody>
                  <a:tcPr>
                    <a:solidFill>
                      <a:srgbClr val="FF0000"/>
                    </a:solidFill>
                  </a:tcPr>
                </a:tc>
                <a:extLst>
                  <a:ext uri="{0D108BD9-81ED-4DB2-BD59-A6C34878D82A}">
                    <a16:rowId xmlns:a16="http://schemas.microsoft.com/office/drawing/2014/main" val="1749418105"/>
                  </a:ext>
                </a:extLst>
              </a:tr>
              <a:tr h="293604">
                <a:tc>
                  <a:txBody>
                    <a:bodyPr/>
                    <a:lstStyle/>
                    <a:p>
                      <a:r>
                        <a:rPr lang="en-IN" sz="900" b="1" dirty="0"/>
                        <a:t>182</a:t>
                      </a:r>
                    </a:p>
                  </a:txBody>
                  <a:tcPr>
                    <a:solidFill>
                      <a:srgbClr val="FF0000"/>
                    </a:solidFill>
                  </a:tcPr>
                </a:tc>
                <a:tc>
                  <a:txBody>
                    <a:bodyPr/>
                    <a:lstStyle/>
                    <a:p>
                      <a:r>
                        <a:rPr lang="en-IN" sz="900" b="1" dirty="0"/>
                        <a:t>188</a:t>
                      </a:r>
                    </a:p>
                  </a:txBody>
                  <a:tcPr>
                    <a:solidFill>
                      <a:srgbClr val="FF0000"/>
                    </a:solidFill>
                  </a:tcPr>
                </a:tc>
                <a:tc>
                  <a:txBody>
                    <a:bodyPr/>
                    <a:lstStyle/>
                    <a:p>
                      <a:r>
                        <a:rPr lang="en-IN" sz="900" b="1" dirty="0"/>
                        <a:t>180</a:t>
                      </a:r>
                    </a:p>
                  </a:txBody>
                  <a:tcPr>
                    <a:solidFill>
                      <a:srgbClr val="FF0000"/>
                    </a:solidFill>
                  </a:tcPr>
                </a:tc>
                <a:tc>
                  <a:txBody>
                    <a:bodyPr/>
                    <a:lstStyle/>
                    <a:p>
                      <a:r>
                        <a:rPr lang="en-IN" sz="900" b="1" dirty="0"/>
                        <a:t>200</a:t>
                      </a:r>
                    </a:p>
                  </a:txBody>
                  <a:tcPr>
                    <a:solidFill>
                      <a:srgbClr val="FF0000"/>
                    </a:solidFill>
                  </a:tcPr>
                </a:tc>
                <a:tc>
                  <a:txBody>
                    <a:bodyPr/>
                    <a:lstStyle/>
                    <a:p>
                      <a:r>
                        <a:rPr lang="en-IN" sz="900" b="1" dirty="0"/>
                        <a:t>200</a:t>
                      </a:r>
                    </a:p>
                  </a:txBody>
                  <a:tcPr>
                    <a:solidFill>
                      <a:srgbClr val="FF0000"/>
                    </a:solidFill>
                  </a:tcPr>
                </a:tc>
                <a:tc>
                  <a:txBody>
                    <a:bodyPr/>
                    <a:lstStyle/>
                    <a:p>
                      <a:r>
                        <a:rPr lang="en-IN" sz="900" b="1" dirty="0"/>
                        <a:t>200</a:t>
                      </a:r>
                    </a:p>
                  </a:txBody>
                  <a:tcPr>
                    <a:solidFill>
                      <a:srgbClr val="FF0000"/>
                    </a:solidFill>
                  </a:tcPr>
                </a:tc>
                <a:extLst>
                  <a:ext uri="{0D108BD9-81ED-4DB2-BD59-A6C34878D82A}">
                    <a16:rowId xmlns:a16="http://schemas.microsoft.com/office/drawing/2014/main" val="869494078"/>
                  </a:ext>
                </a:extLst>
              </a:tr>
              <a:tr h="293604">
                <a:tc>
                  <a:txBody>
                    <a:bodyPr/>
                    <a:lstStyle/>
                    <a:p>
                      <a:r>
                        <a:rPr lang="en-IN" sz="900" b="1" dirty="0"/>
                        <a:t>147</a:t>
                      </a:r>
                    </a:p>
                  </a:txBody>
                  <a:tcPr>
                    <a:solidFill>
                      <a:srgbClr val="FF0000"/>
                    </a:solidFill>
                  </a:tcPr>
                </a:tc>
                <a:tc>
                  <a:txBody>
                    <a:bodyPr/>
                    <a:lstStyle/>
                    <a:p>
                      <a:r>
                        <a:rPr lang="en-IN" sz="900" b="1" dirty="0"/>
                        <a:t>145</a:t>
                      </a:r>
                    </a:p>
                  </a:txBody>
                  <a:tcPr>
                    <a:solidFill>
                      <a:srgbClr val="FF0000"/>
                    </a:solidFill>
                  </a:tcPr>
                </a:tc>
                <a:tc>
                  <a:txBody>
                    <a:bodyPr/>
                    <a:lstStyle/>
                    <a:p>
                      <a:r>
                        <a:rPr lang="en-IN" sz="900" b="1" dirty="0"/>
                        <a:t>100</a:t>
                      </a:r>
                    </a:p>
                  </a:txBody>
                  <a:tcPr>
                    <a:solidFill>
                      <a:srgbClr val="FF0000"/>
                    </a:solidFill>
                  </a:tcPr>
                </a:tc>
                <a:tc>
                  <a:txBody>
                    <a:bodyPr/>
                    <a:lstStyle/>
                    <a:p>
                      <a:r>
                        <a:rPr lang="en-IN" sz="900" b="1" dirty="0"/>
                        <a:t>102</a:t>
                      </a:r>
                    </a:p>
                  </a:txBody>
                  <a:tcPr>
                    <a:solidFill>
                      <a:srgbClr val="FF0000"/>
                    </a:solidFill>
                  </a:tcPr>
                </a:tc>
                <a:tc>
                  <a:txBody>
                    <a:bodyPr/>
                    <a:lstStyle/>
                    <a:p>
                      <a:r>
                        <a:rPr lang="en-IN" sz="900" b="1" dirty="0"/>
                        <a:t>211</a:t>
                      </a:r>
                    </a:p>
                  </a:txBody>
                  <a:tcPr>
                    <a:solidFill>
                      <a:srgbClr val="FF0000"/>
                    </a:solidFill>
                  </a:tcPr>
                </a:tc>
                <a:tc>
                  <a:txBody>
                    <a:bodyPr/>
                    <a:lstStyle/>
                    <a:p>
                      <a:r>
                        <a:rPr lang="en-IN" sz="900" b="1" dirty="0"/>
                        <a:t>233</a:t>
                      </a:r>
                    </a:p>
                  </a:txBody>
                  <a:tcPr>
                    <a:solidFill>
                      <a:srgbClr val="FF0000"/>
                    </a:solidFill>
                  </a:tcPr>
                </a:tc>
                <a:extLst>
                  <a:ext uri="{0D108BD9-81ED-4DB2-BD59-A6C34878D82A}">
                    <a16:rowId xmlns:a16="http://schemas.microsoft.com/office/drawing/2014/main" val="2892384286"/>
                  </a:ext>
                </a:extLst>
              </a:tr>
              <a:tr h="293604">
                <a:tc>
                  <a:txBody>
                    <a:bodyPr/>
                    <a:lstStyle/>
                    <a:p>
                      <a:r>
                        <a:rPr lang="en-IN" sz="900" b="1" dirty="0"/>
                        <a:t>155</a:t>
                      </a:r>
                    </a:p>
                  </a:txBody>
                  <a:tcPr>
                    <a:solidFill>
                      <a:srgbClr val="FF0000"/>
                    </a:solidFill>
                  </a:tcPr>
                </a:tc>
                <a:tc>
                  <a:txBody>
                    <a:bodyPr/>
                    <a:lstStyle/>
                    <a:p>
                      <a:r>
                        <a:rPr lang="en-IN" sz="900" b="1" dirty="0"/>
                        <a:t>152</a:t>
                      </a:r>
                    </a:p>
                  </a:txBody>
                  <a:tcPr>
                    <a:solidFill>
                      <a:srgbClr val="FF0000"/>
                    </a:solidFill>
                  </a:tcPr>
                </a:tc>
                <a:tc>
                  <a:txBody>
                    <a:bodyPr/>
                    <a:lstStyle/>
                    <a:p>
                      <a:r>
                        <a:rPr lang="en-IN" sz="900" b="1" dirty="0"/>
                        <a:t>80</a:t>
                      </a:r>
                    </a:p>
                  </a:txBody>
                  <a:tcPr>
                    <a:solidFill>
                      <a:srgbClr val="FF0000"/>
                    </a:solidFill>
                  </a:tcPr>
                </a:tc>
                <a:tc>
                  <a:txBody>
                    <a:bodyPr/>
                    <a:lstStyle/>
                    <a:p>
                      <a:r>
                        <a:rPr lang="en-IN" sz="900" b="1" dirty="0"/>
                        <a:t>107</a:t>
                      </a:r>
                    </a:p>
                  </a:txBody>
                  <a:tcPr>
                    <a:solidFill>
                      <a:srgbClr val="FF0000"/>
                    </a:solidFill>
                  </a:tcPr>
                </a:tc>
                <a:tc>
                  <a:txBody>
                    <a:bodyPr/>
                    <a:lstStyle/>
                    <a:p>
                      <a:r>
                        <a:rPr lang="en-IN" sz="900" b="1" dirty="0"/>
                        <a:t>200</a:t>
                      </a:r>
                    </a:p>
                  </a:txBody>
                  <a:tcPr>
                    <a:solidFill>
                      <a:srgbClr val="FF0000"/>
                    </a:solidFill>
                  </a:tcPr>
                </a:tc>
                <a:tc>
                  <a:txBody>
                    <a:bodyPr/>
                    <a:lstStyle/>
                    <a:p>
                      <a:r>
                        <a:rPr lang="en-IN" sz="900" b="1" dirty="0"/>
                        <a:t>100</a:t>
                      </a:r>
                    </a:p>
                  </a:txBody>
                  <a:tcPr>
                    <a:solidFill>
                      <a:srgbClr val="FF0000"/>
                    </a:solidFill>
                  </a:tcPr>
                </a:tc>
                <a:extLst>
                  <a:ext uri="{0D108BD9-81ED-4DB2-BD59-A6C34878D82A}">
                    <a16:rowId xmlns:a16="http://schemas.microsoft.com/office/drawing/2014/main" val="1662086186"/>
                  </a:ext>
                </a:extLst>
              </a:tr>
              <a:tr h="293604">
                <a:tc>
                  <a:txBody>
                    <a:bodyPr/>
                    <a:lstStyle/>
                    <a:p>
                      <a:r>
                        <a:rPr lang="en-IN" sz="900" b="1" dirty="0"/>
                        <a:t>162</a:t>
                      </a:r>
                    </a:p>
                  </a:txBody>
                  <a:tcPr>
                    <a:solidFill>
                      <a:srgbClr val="FF0000"/>
                    </a:solidFill>
                  </a:tcPr>
                </a:tc>
                <a:tc>
                  <a:txBody>
                    <a:bodyPr/>
                    <a:lstStyle/>
                    <a:p>
                      <a:r>
                        <a:rPr lang="en-IN" sz="900" b="1" dirty="0"/>
                        <a:t>159</a:t>
                      </a:r>
                    </a:p>
                  </a:txBody>
                  <a:tcPr>
                    <a:solidFill>
                      <a:srgbClr val="FF0000"/>
                    </a:solidFill>
                  </a:tcPr>
                </a:tc>
                <a:tc>
                  <a:txBody>
                    <a:bodyPr/>
                    <a:lstStyle/>
                    <a:p>
                      <a:r>
                        <a:rPr lang="en-IN" sz="900" b="1" dirty="0"/>
                        <a:t>100</a:t>
                      </a:r>
                    </a:p>
                  </a:txBody>
                  <a:tcPr>
                    <a:solidFill>
                      <a:srgbClr val="FF0000"/>
                    </a:solidFill>
                  </a:tcPr>
                </a:tc>
                <a:tc>
                  <a:txBody>
                    <a:bodyPr/>
                    <a:lstStyle/>
                    <a:p>
                      <a:r>
                        <a:rPr lang="en-IN" sz="900" b="1" dirty="0"/>
                        <a:t>100</a:t>
                      </a:r>
                    </a:p>
                  </a:txBody>
                  <a:tcPr>
                    <a:solidFill>
                      <a:srgbClr val="FF0000"/>
                    </a:solidFill>
                  </a:tcPr>
                </a:tc>
                <a:tc>
                  <a:txBody>
                    <a:bodyPr/>
                    <a:lstStyle/>
                    <a:p>
                      <a:r>
                        <a:rPr lang="en-IN" sz="900" b="1" dirty="0"/>
                        <a:t>100</a:t>
                      </a:r>
                    </a:p>
                  </a:txBody>
                  <a:tcPr>
                    <a:solidFill>
                      <a:srgbClr val="FF0000"/>
                    </a:solidFill>
                  </a:tcPr>
                </a:tc>
                <a:tc>
                  <a:txBody>
                    <a:bodyPr/>
                    <a:lstStyle/>
                    <a:p>
                      <a:r>
                        <a:rPr lang="en-IN" sz="900" b="1" dirty="0"/>
                        <a:t>155</a:t>
                      </a:r>
                    </a:p>
                  </a:txBody>
                  <a:tcPr>
                    <a:solidFill>
                      <a:srgbClr val="FF0000"/>
                    </a:solidFill>
                  </a:tcPr>
                </a:tc>
                <a:extLst>
                  <a:ext uri="{0D108BD9-81ED-4DB2-BD59-A6C34878D82A}">
                    <a16:rowId xmlns:a16="http://schemas.microsoft.com/office/drawing/2014/main" val="1931922367"/>
                  </a:ext>
                </a:extLst>
              </a:tr>
              <a:tr h="293604">
                <a:tc>
                  <a:txBody>
                    <a:bodyPr/>
                    <a:lstStyle/>
                    <a:p>
                      <a:r>
                        <a:rPr lang="en-IN" sz="900" b="1" dirty="0"/>
                        <a:t>56</a:t>
                      </a:r>
                    </a:p>
                  </a:txBody>
                  <a:tcPr>
                    <a:solidFill>
                      <a:srgbClr val="FF0000"/>
                    </a:solidFill>
                  </a:tcPr>
                </a:tc>
                <a:tc>
                  <a:txBody>
                    <a:bodyPr/>
                    <a:lstStyle/>
                    <a:p>
                      <a:r>
                        <a:rPr lang="en-IN" sz="900" b="1" dirty="0"/>
                        <a:t>82</a:t>
                      </a:r>
                    </a:p>
                  </a:txBody>
                  <a:tcPr>
                    <a:solidFill>
                      <a:srgbClr val="FF0000"/>
                    </a:solidFill>
                  </a:tcPr>
                </a:tc>
                <a:tc>
                  <a:txBody>
                    <a:bodyPr/>
                    <a:lstStyle/>
                    <a:p>
                      <a:r>
                        <a:rPr lang="en-IN" sz="900" b="1" dirty="0"/>
                        <a:t>47</a:t>
                      </a:r>
                    </a:p>
                  </a:txBody>
                  <a:tcPr>
                    <a:solidFill>
                      <a:srgbClr val="FF0000"/>
                    </a:solidFill>
                  </a:tcPr>
                </a:tc>
                <a:tc>
                  <a:txBody>
                    <a:bodyPr/>
                    <a:lstStyle/>
                    <a:p>
                      <a:r>
                        <a:rPr lang="en-IN" sz="900" b="1" dirty="0"/>
                        <a:t>52</a:t>
                      </a:r>
                    </a:p>
                  </a:txBody>
                  <a:tcPr>
                    <a:solidFill>
                      <a:srgbClr val="FF0000"/>
                    </a:solidFill>
                  </a:tcPr>
                </a:tc>
                <a:tc>
                  <a:txBody>
                    <a:bodyPr/>
                    <a:lstStyle/>
                    <a:p>
                      <a:r>
                        <a:rPr lang="en-IN" sz="900" b="1" dirty="0"/>
                        <a:t>100</a:t>
                      </a:r>
                    </a:p>
                  </a:txBody>
                  <a:tcPr>
                    <a:solidFill>
                      <a:srgbClr val="FF0000"/>
                    </a:solidFill>
                  </a:tcPr>
                </a:tc>
                <a:tc>
                  <a:txBody>
                    <a:bodyPr/>
                    <a:lstStyle/>
                    <a:p>
                      <a:r>
                        <a:rPr lang="en-IN" sz="900" b="1" dirty="0"/>
                        <a:t>102</a:t>
                      </a:r>
                    </a:p>
                  </a:txBody>
                  <a:tcPr>
                    <a:solidFill>
                      <a:srgbClr val="FF0000"/>
                    </a:solidFill>
                  </a:tcPr>
                </a:tc>
                <a:extLst>
                  <a:ext uri="{0D108BD9-81ED-4DB2-BD59-A6C34878D82A}">
                    <a16:rowId xmlns:a16="http://schemas.microsoft.com/office/drawing/2014/main" val="632590776"/>
                  </a:ext>
                </a:extLst>
              </a:tr>
            </a:tbl>
          </a:graphicData>
        </a:graphic>
      </p:graphicFrame>
      <p:graphicFrame>
        <p:nvGraphicFramePr>
          <p:cNvPr id="10" name="Table 9"/>
          <p:cNvGraphicFramePr>
            <a:graphicFrameLocks noGrp="1"/>
          </p:cNvGraphicFramePr>
          <p:nvPr>
            <p:extLst/>
          </p:nvPr>
        </p:nvGraphicFramePr>
        <p:xfrm>
          <a:off x="3219715" y="3243010"/>
          <a:ext cx="2140068" cy="1761624"/>
        </p:xfrm>
        <a:graphic>
          <a:graphicData uri="http://schemas.openxmlformats.org/drawingml/2006/table">
            <a:tbl>
              <a:tblPr firstRow="1" bandRow="1">
                <a:tableStyleId>{5940675A-B579-460E-94D1-54222C63F5DA}</a:tableStyleId>
              </a:tblPr>
              <a:tblGrid>
                <a:gridCol w="356678">
                  <a:extLst>
                    <a:ext uri="{9D8B030D-6E8A-4147-A177-3AD203B41FA5}">
                      <a16:colId xmlns:a16="http://schemas.microsoft.com/office/drawing/2014/main" val="3729901385"/>
                    </a:ext>
                  </a:extLst>
                </a:gridCol>
                <a:gridCol w="356678">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132033511"/>
                    </a:ext>
                  </a:extLst>
                </a:gridCol>
                <a:gridCol w="356678">
                  <a:extLst>
                    <a:ext uri="{9D8B030D-6E8A-4147-A177-3AD203B41FA5}">
                      <a16:colId xmlns:a16="http://schemas.microsoft.com/office/drawing/2014/main" val="3641177828"/>
                    </a:ext>
                  </a:extLst>
                </a:gridCol>
              </a:tblGrid>
              <a:tr h="293604">
                <a:tc>
                  <a:txBody>
                    <a:bodyPr/>
                    <a:lstStyle/>
                    <a:p>
                      <a:r>
                        <a:rPr lang="en-IN" sz="900" dirty="0"/>
                        <a:t>183</a:t>
                      </a:r>
                    </a:p>
                  </a:txBody>
                  <a:tcPr>
                    <a:solidFill>
                      <a:srgbClr val="00B050"/>
                    </a:solidFill>
                  </a:tcPr>
                </a:tc>
                <a:tc>
                  <a:txBody>
                    <a:bodyPr/>
                    <a:lstStyle/>
                    <a:p>
                      <a:r>
                        <a:rPr lang="en-IN" sz="900" dirty="0"/>
                        <a:t>183</a:t>
                      </a:r>
                    </a:p>
                  </a:txBody>
                  <a:tcPr>
                    <a:solidFill>
                      <a:srgbClr val="00B050"/>
                    </a:solidFill>
                  </a:tcPr>
                </a:tc>
                <a:tc>
                  <a:txBody>
                    <a:bodyPr/>
                    <a:lstStyle/>
                    <a:p>
                      <a:r>
                        <a:rPr lang="en-IN" sz="900" dirty="0"/>
                        <a:t>181</a:t>
                      </a:r>
                    </a:p>
                  </a:txBody>
                  <a:tcPr>
                    <a:solidFill>
                      <a:srgbClr val="00B050"/>
                    </a:solidFill>
                  </a:tcPr>
                </a:tc>
                <a:tc>
                  <a:txBody>
                    <a:bodyPr/>
                    <a:lstStyle/>
                    <a:p>
                      <a:r>
                        <a:rPr lang="en-IN" sz="900" dirty="0"/>
                        <a:t>184</a:t>
                      </a:r>
                    </a:p>
                  </a:txBody>
                  <a:tcPr>
                    <a:solidFill>
                      <a:srgbClr val="00B050"/>
                    </a:solidFill>
                  </a:tcPr>
                </a:tc>
                <a:tc>
                  <a:txBody>
                    <a:bodyPr/>
                    <a:lstStyle/>
                    <a:p>
                      <a:r>
                        <a:rPr lang="en-IN" sz="900" dirty="0"/>
                        <a:t>200</a:t>
                      </a:r>
                    </a:p>
                  </a:txBody>
                  <a:tcPr>
                    <a:solidFill>
                      <a:srgbClr val="00B050"/>
                    </a:solidFill>
                  </a:tcPr>
                </a:tc>
                <a:tc>
                  <a:txBody>
                    <a:bodyPr/>
                    <a:lstStyle/>
                    <a:p>
                      <a:r>
                        <a:rPr lang="en-IN" sz="900" dirty="0"/>
                        <a:t>200</a:t>
                      </a:r>
                    </a:p>
                  </a:txBody>
                  <a:tcPr>
                    <a:solidFill>
                      <a:srgbClr val="00B050"/>
                    </a:solidFill>
                  </a:tcPr>
                </a:tc>
                <a:extLst>
                  <a:ext uri="{0D108BD9-81ED-4DB2-BD59-A6C34878D82A}">
                    <a16:rowId xmlns:a16="http://schemas.microsoft.com/office/drawing/2014/main" val="1749418105"/>
                  </a:ext>
                </a:extLst>
              </a:tr>
              <a:tr h="293604">
                <a:tc>
                  <a:txBody>
                    <a:bodyPr/>
                    <a:lstStyle/>
                    <a:p>
                      <a:r>
                        <a:rPr lang="en-IN" sz="900" dirty="0"/>
                        <a:t>182</a:t>
                      </a:r>
                    </a:p>
                  </a:txBody>
                  <a:tcPr>
                    <a:solidFill>
                      <a:srgbClr val="00B050"/>
                    </a:solidFill>
                  </a:tcPr>
                </a:tc>
                <a:tc>
                  <a:txBody>
                    <a:bodyPr/>
                    <a:lstStyle/>
                    <a:p>
                      <a:r>
                        <a:rPr lang="en-IN" sz="900" dirty="0"/>
                        <a:t>188</a:t>
                      </a:r>
                    </a:p>
                  </a:txBody>
                  <a:tcPr>
                    <a:solidFill>
                      <a:srgbClr val="00B050"/>
                    </a:solidFill>
                  </a:tcPr>
                </a:tc>
                <a:tc>
                  <a:txBody>
                    <a:bodyPr/>
                    <a:lstStyle/>
                    <a:p>
                      <a:r>
                        <a:rPr lang="en-IN" sz="900" dirty="0"/>
                        <a:t>180</a:t>
                      </a:r>
                    </a:p>
                  </a:txBody>
                  <a:tcPr>
                    <a:solidFill>
                      <a:srgbClr val="00B050"/>
                    </a:solidFill>
                  </a:tcPr>
                </a:tc>
                <a:tc>
                  <a:txBody>
                    <a:bodyPr/>
                    <a:lstStyle/>
                    <a:p>
                      <a:r>
                        <a:rPr lang="en-IN" sz="900" dirty="0"/>
                        <a:t>200</a:t>
                      </a:r>
                    </a:p>
                  </a:txBody>
                  <a:tcPr>
                    <a:solidFill>
                      <a:srgbClr val="00B050"/>
                    </a:solidFill>
                  </a:tcPr>
                </a:tc>
                <a:tc>
                  <a:txBody>
                    <a:bodyPr/>
                    <a:lstStyle/>
                    <a:p>
                      <a:r>
                        <a:rPr lang="en-IN" sz="900" dirty="0"/>
                        <a:t>200</a:t>
                      </a:r>
                    </a:p>
                  </a:txBody>
                  <a:tcPr>
                    <a:solidFill>
                      <a:srgbClr val="00B050"/>
                    </a:solidFill>
                  </a:tcPr>
                </a:tc>
                <a:tc>
                  <a:txBody>
                    <a:bodyPr/>
                    <a:lstStyle/>
                    <a:p>
                      <a:r>
                        <a:rPr lang="en-IN" sz="900" dirty="0"/>
                        <a:t>200</a:t>
                      </a:r>
                    </a:p>
                  </a:txBody>
                  <a:tcPr>
                    <a:solidFill>
                      <a:srgbClr val="00B050"/>
                    </a:solidFill>
                  </a:tcPr>
                </a:tc>
                <a:extLst>
                  <a:ext uri="{0D108BD9-81ED-4DB2-BD59-A6C34878D82A}">
                    <a16:rowId xmlns:a16="http://schemas.microsoft.com/office/drawing/2014/main" val="869494078"/>
                  </a:ext>
                </a:extLst>
              </a:tr>
              <a:tr h="293604">
                <a:tc>
                  <a:txBody>
                    <a:bodyPr/>
                    <a:lstStyle/>
                    <a:p>
                      <a:r>
                        <a:rPr lang="en-IN" sz="900" dirty="0"/>
                        <a:t>147</a:t>
                      </a:r>
                    </a:p>
                  </a:txBody>
                  <a:tcPr>
                    <a:solidFill>
                      <a:srgbClr val="00B050"/>
                    </a:solidFill>
                  </a:tcPr>
                </a:tc>
                <a:tc>
                  <a:txBody>
                    <a:bodyPr/>
                    <a:lstStyle/>
                    <a:p>
                      <a:r>
                        <a:rPr lang="en-IN" sz="900" dirty="0"/>
                        <a:t>145</a:t>
                      </a:r>
                    </a:p>
                  </a:txBody>
                  <a:tcPr>
                    <a:solidFill>
                      <a:srgbClr val="00B050"/>
                    </a:solidFill>
                  </a:tcPr>
                </a:tc>
                <a:tc>
                  <a:txBody>
                    <a:bodyPr/>
                    <a:lstStyle/>
                    <a:p>
                      <a:r>
                        <a:rPr lang="en-IN" sz="900" dirty="0"/>
                        <a:t>100</a:t>
                      </a:r>
                    </a:p>
                  </a:txBody>
                  <a:tcPr>
                    <a:solidFill>
                      <a:srgbClr val="00B050"/>
                    </a:solidFill>
                  </a:tcPr>
                </a:tc>
                <a:tc>
                  <a:txBody>
                    <a:bodyPr/>
                    <a:lstStyle/>
                    <a:p>
                      <a:r>
                        <a:rPr lang="en-IN" sz="900" dirty="0"/>
                        <a:t>102</a:t>
                      </a:r>
                    </a:p>
                  </a:txBody>
                  <a:tcPr>
                    <a:solidFill>
                      <a:srgbClr val="00B050"/>
                    </a:solidFill>
                  </a:tcPr>
                </a:tc>
                <a:tc>
                  <a:txBody>
                    <a:bodyPr/>
                    <a:lstStyle/>
                    <a:p>
                      <a:r>
                        <a:rPr lang="en-IN" sz="900" dirty="0"/>
                        <a:t>211</a:t>
                      </a:r>
                    </a:p>
                  </a:txBody>
                  <a:tcPr>
                    <a:solidFill>
                      <a:srgbClr val="00B050"/>
                    </a:solidFill>
                  </a:tcPr>
                </a:tc>
                <a:tc>
                  <a:txBody>
                    <a:bodyPr/>
                    <a:lstStyle/>
                    <a:p>
                      <a:r>
                        <a:rPr lang="en-IN" sz="900" dirty="0"/>
                        <a:t>233</a:t>
                      </a:r>
                    </a:p>
                  </a:txBody>
                  <a:tcPr>
                    <a:solidFill>
                      <a:srgbClr val="00B050"/>
                    </a:solidFill>
                  </a:tcPr>
                </a:tc>
                <a:extLst>
                  <a:ext uri="{0D108BD9-81ED-4DB2-BD59-A6C34878D82A}">
                    <a16:rowId xmlns:a16="http://schemas.microsoft.com/office/drawing/2014/main" val="2892384286"/>
                  </a:ext>
                </a:extLst>
              </a:tr>
              <a:tr h="293604">
                <a:tc>
                  <a:txBody>
                    <a:bodyPr/>
                    <a:lstStyle/>
                    <a:p>
                      <a:r>
                        <a:rPr lang="en-IN" sz="900" dirty="0"/>
                        <a:t>155</a:t>
                      </a:r>
                    </a:p>
                  </a:txBody>
                  <a:tcPr>
                    <a:solidFill>
                      <a:srgbClr val="00B050"/>
                    </a:solidFill>
                  </a:tcPr>
                </a:tc>
                <a:tc>
                  <a:txBody>
                    <a:bodyPr/>
                    <a:lstStyle/>
                    <a:p>
                      <a:r>
                        <a:rPr lang="en-IN" sz="900" dirty="0"/>
                        <a:t>152</a:t>
                      </a:r>
                    </a:p>
                  </a:txBody>
                  <a:tcPr>
                    <a:solidFill>
                      <a:srgbClr val="00B050"/>
                    </a:solidFill>
                  </a:tcPr>
                </a:tc>
                <a:tc>
                  <a:txBody>
                    <a:bodyPr/>
                    <a:lstStyle/>
                    <a:p>
                      <a:r>
                        <a:rPr lang="en-IN" sz="900" dirty="0"/>
                        <a:t>80</a:t>
                      </a:r>
                    </a:p>
                  </a:txBody>
                  <a:tcPr>
                    <a:solidFill>
                      <a:srgbClr val="00B050"/>
                    </a:solidFill>
                  </a:tcPr>
                </a:tc>
                <a:tc>
                  <a:txBody>
                    <a:bodyPr/>
                    <a:lstStyle/>
                    <a:p>
                      <a:r>
                        <a:rPr lang="en-IN" sz="900" dirty="0"/>
                        <a:t>107</a:t>
                      </a:r>
                    </a:p>
                  </a:txBody>
                  <a:tcPr>
                    <a:solidFill>
                      <a:srgbClr val="00B050"/>
                    </a:solidFill>
                  </a:tcPr>
                </a:tc>
                <a:tc>
                  <a:txBody>
                    <a:bodyPr/>
                    <a:lstStyle/>
                    <a:p>
                      <a:r>
                        <a:rPr lang="en-IN" sz="900" dirty="0"/>
                        <a:t>200</a:t>
                      </a:r>
                    </a:p>
                  </a:txBody>
                  <a:tcPr>
                    <a:solidFill>
                      <a:srgbClr val="00B050"/>
                    </a:solidFill>
                  </a:tcPr>
                </a:tc>
                <a:tc>
                  <a:txBody>
                    <a:bodyPr/>
                    <a:lstStyle/>
                    <a:p>
                      <a:r>
                        <a:rPr lang="en-IN" sz="900" dirty="0"/>
                        <a:t>100</a:t>
                      </a:r>
                    </a:p>
                  </a:txBody>
                  <a:tcPr>
                    <a:solidFill>
                      <a:srgbClr val="00B050"/>
                    </a:solidFill>
                  </a:tcPr>
                </a:tc>
                <a:extLst>
                  <a:ext uri="{0D108BD9-81ED-4DB2-BD59-A6C34878D82A}">
                    <a16:rowId xmlns:a16="http://schemas.microsoft.com/office/drawing/2014/main" val="1662086186"/>
                  </a:ext>
                </a:extLst>
              </a:tr>
              <a:tr h="293604">
                <a:tc>
                  <a:txBody>
                    <a:bodyPr/>
                    <a:lstStyle/>
                    <a:p>
                      <a:r>
                        <a:rPr lang="en-IN" sz="900" dirty="0"/>
                        <a:t>162</a:t>
                      </a:r>
                    </a:p>
                  </a:txBody>
                  <a:tcPr>
                    <a:solidFill>
                      <a:srgbClr val="00B050"/>
                    </a:solidFill>
                  </a:tcPr>
                </a:tc>
                <a:tc>
                  <a:txBody>
                    <a:bodyPr/>
                    <a:lstStyle/>
                    <a:p>
                      <a:r>
                        <a:rPr lang="en-IN" sz="900" dirty="0"/>
                        <a:t>159</a:t>
                      </a:r>
                    </a:p>
                  </a:txBody>
                  <a:tcPr>
                    <a:solidFill>
                      <a:srgbClr val="00B050"/>
                    </a:solidFill>
                  </a:tcPr>
                </a:tc>
                <a:tc>
                  <a:txBody>
                    <a:bodyPr/>
                    <a:lstStyle/>
                    <a:p>
                      <a:r>
                        <a:rPr lang="en-IN" sz="900" dirty="0"/>
                        <a:t>100</a:t>
                      </a:r>
                    </a:p>
                  </a:txBody>
                  <a:tcPr>
                    <a:solidFill>
                      <a:srgbClr val="00B050"/>
                    </a:solidFill>
                  </a:tcPr>
                </a:tc>
                <a:tc>
                  <a:txBody>
                    <a:bodyPr/>
                    <a:lstStyle/>
                    <a:p>
                      <a:r>
                        <a:rPr lang="en-IN" sz="900" dirty="0"/>
                        <a:t>100</a:t>
                      </a:r>
                    </a:p>
                  </a:txBody>
                  <a:tcPr>
                    <a:solidFill>
                      <a:srgbClr val="00B050"/>
                    </a:solidFill>
                  </a:tcPr>
                </a:tc>
                <a:tc>
                  <a:txBody>
                    <a:bodyPr/>
                    <a:lstStyle/>
                    <a:p>
                      <a:r>
                        <a:rPr lang="en-IN" sz="900" dirty="0"/>
                        <a:t>100</a:t>
                      </a:r>
                    </a:p>
                  </a:txBody>
                  <a:tcPr>
                    <a:solidFill>
                      <a:srgbClr val="00B050"/>
                    </a:solidFill>
                  </a:tcPr>
                </a:tc>
                <a:tc>
                  <a:txBody>
                    <a:bodyPr/>
                    <a:lstStyle/>
                    <a:p>
                      <a:r>
                        <a:rPr lang="en-IN" sz="900" dirty="0"/>
                        <a:t>155</a:t>
                      </a:r>
                    </a:p>
                  </a:txBody>
                  <a:tcPr>
                    <a:solidFill>
                      <a:srgbClr val="00B050"/>
                    </a:solidFill>
                  </a:tcPr>
                </a:tc>
                <a:extLst>
                  <a:ext uri="{0D108BD9-81ED-4DB2-BD59-A6C34878D82A}">
                    <a16:rowId xmlns:a16="http://schemas.microsoft.com/office/drawing/2014/main" val="1931922367"/>
                  </a:ext>
                </a:extLst>
              </a:tr>
              <a:tr h="293604">
                <a:tc>
                  <a:txBody>
                    <a:bodyPr/>
                    <a:lstStyle/>
                    <a:p>
                      <a:r>
                        <a:rPr lang="en-IN" sz="900" dirty="0"/>
                        <a:t>56</a:t>
                      </a:r>
                    </a:p>
                  </a:txBody>
                  <a:tcPr>
                    <a:solidFill>
                      <a:srgbClr val="00B050"/>
                    </a:solidFill>
                  </a:tcPr>
                </a:tc>
                <a:tc>
                  <a:txBody>
                    <a:bodyPr/>
                    <a:lstStyle/>
                    <a:p>
                      <a:r>
                        <a:rPr lang="en-IN" sz="900" dirty="0"/>
                        <a:t>82</a:t>
                      </a:r>
                    </a:p>
                  </a:txBody>
                  <a:tcPr>
                    <a:solidFill>
                      <a:srgbClr val="00B050"/>
                    </a:solidFill>
                  </a:tcPr>
                </a:tc>
                <a:tc>
                  <a:txBody>
                    <a:bodyPr/>
                    <a:lstStyle/>
                    <a:p>
                      <a:r>
                        <a:rPr lang="en-IN" sz="900" dirty="0"/>
                        <a:t>47</a:t>
                      </a:r>
                    </a:p>
                  </a:txBody>
                  <a:tcPr>
                    <a:solidFill>
                      <a:srgbClr val="00B050"/>
                    </a:solidFill>
                  </a:tcPr>
                </a:tc>
                <a:tc>
                  <a:txBody>
                    <a:bodyPr/>
                    <a:lstStyle/>
                    <a:p>
                      <a:r>
                        <a:rPr lang="en-IN" sz="900" dirty="0"/>
                        <a:t>52</a:t>
                      </a:r>
                    </a:p>
                  </a:txBody>
                  <a:tcPr>
                    <a:solidFill>
                      <a:srgbClr val="00B050"/>
                    </a:solidFill>
                  </a:tcPr>
                </a:tc>
                <a:tc>
                  <a:txBody>
                    <a:bodyPr/>
                    <a:lstStyle/>
                    <a:p>
                      <a:r>
                        <a:rPr lang="en-IN" sz="900" dirty="0"/>
                        <a:t>100</a:t>
                      </a:r>
                    </a:p>
                  </a:txBody>
                  <a:tcPr>
                    <a:solidFill>
                      <a:srgbClr val="00B050"/>
                    </a:solidFill>
                  </a:tcPr>
                </a:tc>
                <a:tc>
                  <a:txBody>
                    <a:bodyPr/>
                    <a:lstStyle/>
                    <a:p>
                      <a:r>
                        <a:rPr lang="en-IN" sz="900" dirty="0"/>
                        <a:t>102</a:t>
                      </a:r>
                    </a:p>
                  </a:txBody>
                  <a:tcPr>
                    <a:solidFill>
                      <a:srgbClr val="00B050"/>
                    </a:solidFill>
                  </a:tcPr>
                </a:tc>
                <a:extLst>
                  <a:ext uri="{0D108BD9-81ED-4DB2-BD59-A6C34878D82A}">
                    <a16:rowId xmlns:a16="http://schemas.microsoft.com/office/drawing/2014/main" val="632590776"/>
                  </a:ext>
                </a:extLst>
              </a:tr>
            </a:tbl>
          </a:graphicData>
        </a:graphic>
      </p:graphicFrame>
      <p:graphicFrame>
        <p:nvGraphicFramePr>
          <p:cNvPr id="11" name="Table 10"/>
          <p:cNvGraphicFramePr>
            <a:graphicFrameLocks noGrp="1"/>
          </p:cNvGraphicFramePr>
          <p:nvPr>
            <p:extLst/>
          </p:nvPr>
        </p:nvGraphicFramePr>
        <p:xfrm>
          <a:off x="3462512" y="3447354"/>
          <a:ext cx="2140068" cy="1761624"/>
        </p:xfrm>
        <a:graphic>
          <a:graphicData uri="http://schemas.openxmlformats.org/drawingml/2006/table">
            <a:tbl>
              <a:tblPr firstRow="1" bandRow="1">
                <a:tableStyleId>{5940675A-B579-460E-94D1-54222C63F5DA}</a:tableStyleId>
              </a:tblPr>
              <a:tblGrid>
                <a:gridCol w="356678">
                  <a:extLst>
                    <a:ext uri="{9D8B030D-6E8A-4147-A177-3AD203B41FA5}">
                      <a16:colId xmlns:a16="http://schemas.microsoft.com/office/drawing/2014/main" val="3729901385"/>
                    </a:ext>
                  </a:extLst>
                </a:gridCol>
                <a:gridCol w="356678">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132033511"/>
                    </a:ext>
                  </a:extLst>
                </a:gridCol>
                <a:gridCol w="356678">
                  <a:extLst>
                    <a:ext uri="{9D8B030D-6E8A-4147-A177-3AD203B41FA5}">
                      <a16:colId xmlns:a16="http://schemas.microsoft.com/office/drawing/2014/main" val="3641177828"/>
                    </a:ext>
                  </a:extLst>
                </a:gridCol>
              </a:tblGrid>
              <a:tr h="293604">
                <a:tc>
                  <a:txBody>
                    <a:bodyPr/>
                    <a:lstStyle/>
                    <a:p>
                      <a:r>
                        <a:rPr lang="en-IN" sz="900" dirty="0"/>
                        <a:t>178</a:t>
                      </a:r>
                    </a:p>
                  </a:txBody>
                  <a:tcPr>
                    <a:solidFill>
                      <a:srgbClr val="0070C0"/>
                    </a:solidFill>
                  </a:tcPr>
                </a:tc>
                <a:tc>
                  <a:txBody>
                    <a:bodyPr/>
                    <a:lstStyle/>
                    <a:p>
                      <a:r>
                        <a:rPr lang="en-IN" sz="900" dirty="0"/>
                        <a:t>179</a:t>
                      </a:r>
                    </a:p>
                  </a:txBody>
                  <a:tcPr>
                    <a:solidFill>
                      <a:srgbClr val="0070C0"/>
                    </a:solidFill>
                  </a:tcPr>
                </a:tc>
                <a:tc>
                  <a:txBody>
                    <a:bodyPr/>
                    <a:lstStyle/>
                    <a:p>
                      <a:r>
                        <a:rPr lang="en-IN" sz="900" dirty="0"/>
                        <a:t>181</a:t>
                      </a:r>
                    </a:p>
                  </a:txBody>
                  <a:tcPr>
                    <a:solidFill>
                      <a:srgbClr val="0070C0"/>
                    </a:solidFill>
                  </a:tcPr>
                </a:tc>
                <a:tc>
                  <a:txBody>
                    <a:bodyPr/>
                    <a:lstStyle/>
                    <a:p>
                      <a:r>
                        <a:rPr lang="en-IN" sz="900" dirty="0"/>
                        <a:t>184</a:t>
                      </a:r>
                    </a:p>
                  </a:txBody>
                  <a:tcPr>
                    <a:solidFill>
                      <a:srgbClr val="0070C0"/>
                    </a:solidFill>
                  </a:tcPr>
                </a:tc>
                <a:tc>
                  <a:txBody>
                    <a:bodyPr/>
                    <a:lstStyle/>
                    <a:p>
                      <a:r>
                        <a:rPr lang="en-IN" sz="900" dirty="0"/>
                        <a:t>189</a:t>
                      </a:r>
                    </a:p>
                  </a:txBody>
                  <a:tcPr>
                    <a:solidFill>
                      <a:srgbClr val="0070C0"/>
                    </a:solidFill>
                  </a:tcPr>
                </a:tc>
                <a:tc>
                  <a:txBody>
                    <a:bodyPr/>
                    <a:lstStyle/>
                    <a:p>
                      <a:r>
                        <a:rPr lang="en-IN" sz="900" dirty="0"/>
                        <a:t>188</a:t>
                      </a:r>
                    </a:p>
                  </a:txBody>
                  <a:tcPr>
                    <a:solidFill>
                      <a:srgbClr val="0070C0"/>
                    </a:solidFill>
                  </a:tcPr>
                </a:tc>
                <a:extLst>
                  <a:ext uri="{0D108BD9-81ED-4DB2-BD59-A6C34878D82A}">
                    <a16:rowId xmlns:a16="http://schemas.microsoft.com/office/drawing/2014/main" val="1749418105"/>
                  </a:ext>
                </a:extLst>
              </a:tr>
              <a:tr h="293604">
                <a:tc>
                  <a:txBody>
                    <a:bodyPr/>
                    <a:lstStyle/>
                    <a:p>
                      <a:r>
                        <a:rPr lang="en-IN" sz="900" dirty="0"/>
                        <a:t>178</a:t>
                      </a:r>
                    </a:p>
                  </a:txBody>
                  <a:tcPr>
                    <a:solidFill>
                      <a:srgbClr val="0070C0"/>
                    </a:solidFill>
                  </a:tcPr>
                </a:tc>
                <a:tc>
                  <a:txBody>
                    <a:bodyPr/>
                    <a:lstStyle/>
                    <a:p>
                      <a:r>
                        <a:rPr lang="en-IN" sz="900" dirty="0"/>
                        <a:t>158</a:t>
                      </a:r>
                    </a:p>
                  </a:txBody>
                  <a:tcPr>
                    <a:solidFill>
                      <a:srgbClr val="0070C0"/>
                    </a:solidFill>
                  </a:tcPr>
                </a:tc>
                <a:tc>
                  <a:txBody>
                    <a:bodyPr/>
                    <a:lstStyle/>
                    <a:p>
                      <a:r>
                        <a:rPr lang="en-IN" sz="900" dirty="0"/>
                        <a:t>180</a:t>
                      </a:r>
                    </a:p>
                  </a:txBody>
                  <a:tcPr>
                    <a:solidFill>
                      <a:srgbClr val="0070C0"/>
                    </a:solidFill>
                  </a:tcPr>
                </a:tc>
                <a:tc>
                  <a:txBody>
                    <a:bodyPr/>
                    <a:lstStyle/>
                    <a:p>
                      <a:r>
                        <a:rPr lang="en-IN" sz="900" dirty="0"/>
                        <a:t>188</a:t>
                      </a:r>
                    </a:p>
                  </a:txBody>
                  <a:tcPr>
                    <a:solidFill>
                      <a:srgbClr val="0070C0"/>
                    </a:solidFill>
                  </a:tcPr>
                </a:tc>
                <a:tc>
                  <a:txBody>
                    <a:bodyPr/>
                    <a:lstStyle/>
                    <a:p>
                      <a:r>
                        <a:rPr lang="en-IN" sz="900" dirty="0"/>
                        <a:t>192</a:t>
                      </a:r>
                    </a:p>
                  </a:txBody>
                  <a:tcPr>
                    <a:solidFill>
                      <a:srgbClr val="0070C0"/>
                    </a:solidFill>
                  </a:tcPr>
                </a:tc>
                <a:tc>
                  <a:txBody>
                    <a:bodyPr/>
                    <a:lstStyle/>
                    <a:p>
                      <a:r>
                        <a:rPr lang="en-IN" sz="900" dirty="0"/>
                        <a:t>200</a:t>
                      </a:r>
                    </a:p>
                  </a:txBody>
                  <a:tcPr>
                    <a:solidFill>
                      <a:srgbClr val="0070C0"/>
                    </a:solidFill>
                  </a:tcPr>
                </a:tc>
                <a:extLst>
                  <a:ext uri="{0D108BD9-81ED-4DB2-BD59-A6C34878D82A}">
                    <a16:rowId xmlns:a16="http://schemas.microsoft.com/office/drawing/2014/main" val="869494078"/>
                  </a:ext>
                </a:extLst>
              </a:tr>
              <a:tr h="293604">
                <a:tc>
                  <a:txBody>
                    <a:bodyPr/>
                    <a:lstStyle/>
                    <a:p>
                      <a:r>
                        <a:rPr lang="en-IN" sz="900" dirty="0"/>
                        <a:t>145</a:t>
                      </a:r>
                    </a:p>
                  </a:txBody>
                  <a:tcPr>
                    <a:solidFill>
                      <a:srgbClr val="0070C0"/>
                    </a:solidFill>
                  </a:tcPr>
                </a:tc>
                <a:tc>
                  <a:txBody>
                    <a:bodyPr/>
                    <a:lstStyle/>
                    <a:p>
                      <a:r>
                        <a:rPr lang="en-IN" sz="900" dirty="0"/>
                        <a:t>145</a:t>
                      </a:r>
                    </a:p>
                  </a:txBody>
                  <a:tcPr>
                    <a:solidFill>
                      <a:srgbClr val="0070C0"/>
                    </a:solidFill>
                  </a:tcPr>
                </a:tc>
                <a:tc>
                  <a:txBody>
                    <a:bodyPr/>
                    <a:lstStyle/>
                    <a:p>
                      <a:r>
                        <a:rPr lang="en-IN" sz="900" dirty="0"/>
                        <a:t>100</a:t>
                      </a:r>
                    </a:p>
                  </a:txBody>
                  <a:tcPr>
                    <a:solidFill>
                      <a:srgbClr val="0070C0"/>
                    </a:solidFill>
                  </a:tcPr>
                </a:tc>
                <a:tc>
                  <a:txBody>
                    <a:bodyPr/>
                    <a:lstStyle/>
                    <a:p>
                      <a:r>
                        <a:rPr lang="en-IN" sz="900" dirty="0"/>
                        <a:t>102</a:t>
                      </a:r>
                    </a:p>
                  </a:txBody>
                  <a:tcPr>
                    <a:solidFill>
                      <a:srgbClr val="0070C0"/>
                    </a:solidFill>
                  </a:tcPr>
                </a:tc>
                <a:tc>
                  <a:txBody>
                    <a:bodyPr/>
                    <a:lstStyle/>
                    <a:p>
                      <a:r>
                        <a:rPr lang="en-IN" sz="900" dirty="0"/>
                        <a:t>211</a:t>
                      </a:r>
                    </a:p>
                  </a:txBody>
                  <a:tcPr>
                    <a:solidFill>
                      <a:srgbClr val="0070C0"/>
                    </a:solidFill>
                  </a:tcPr>
                </a:tc>
                <a:tc>
                  <a:txBody>
                    <a:bodyPr/>
                    <a:lstStyle/>
                    <a:p>
                      <a:r>
                        <a:rPr lang="en-IN" sz="900" dirty="0"/>
                        <a:t>233</a:t>
                      </a:r>
                    </a:p>
                  </a:txBody>
                  <a:tcPr>
                    <a:solidFill>
                      <a:srgbClr val="0070C0"/>
                    </a:solidFill>
                  </a:tcPr>
                </a:tc>
                <a:extLst>
                  <a:ext uri="{0D108BD9-81ED-4DB2-BD59-A6C34878D82A}">
                    <a16:rowId xmlns:a16="http://schemas.microsoft.com/office/drawing/2014/main" val="2892384286"/>
                  </a:ext>
                </a:extLst>
              </a:tr>
              <a:tr h="293604">
                <a:tc>
                  <a:txBody>
                    <a:bodyPr/>
                    <a:lstStyle/>
                    <a:p>
                      <a:r>
                        <a:rPr lang="en-IN" sz="900" dirty="0"/>
                        <a:t>158</a:t>
                      </a:r>
                    </a:p>
                  </a:txBody>
                  <a:tcPr>
                    <a:solidFill>
                      <a:srgbClr val="0070C0"/>
                    </a:solidFill>
                  </a:tcPr>
                </a:tc>
                <a:tc>
                  <a:txBody>
                    <a:bodyPr/>
                    <a:lstStyle/>
                    <a:p>
                      <a:r>
                        <a:rPr lang="en-IN" sz="900" dirty="0"/>
                        <a:t>152</a:t>
                      </a:r>
                    </a:p>
                  </a:txBody>
                  <a:tcPr>
                    <a:solidFill>
                      <a:srgbClr val="0070C0"/>
                    </a:solidFill>
                  </a:tcPr>
                </a:tc>
                <a:tc>
                  <a:txBody>
                    <a:bodyPr/>
                    <a:lstStyle/>
                    <a:p>
                      <a:r>
                        <a:rPr lang="en-IN" sz="900" dirty="0"/>
                        <a:t>80</a:t>
                      </a:r>
                    </a:p>
                  </a:txBody>
                  <a:tcPr>
                    <a:solidFill>
                      <a:srgbClr val="0070C0"/>
                    </a:solidFill>
                  </a:tcPr>
                </a:tc>
                <a:tc>
                  <a:txBody>
                    <a:bodyPr/>
                    <a:lstStyle/>
                    <a:p>
                      <a:r>
                        <a:rPr lang="en-IN" sz="900" dirty="0"/>
                        <a:t>107</a:t>
                      </a:r>
                    </a:p>
                  </a:txBody>
                  <a:tcPr>
                    <a:solidFill>
                      <a:srgbClr val="0070C0"/>
                    </a:solidFill>
                  </a:tcPr>
                </a:tc>
                <a:tc>
                  <a:txBody>
                    <a:bodyPr/>
                    <a:lstStyle/>
                    <a:p>
                      <a:r>
                        <a:rPr lang="en-IN" sz="900" dirty="0"/>
                        <a:t>200</a:t>
                      </a:r>
                    </a:p>
                  </a:txBody>
                  <a:tcPr>
                    <a:solidFill>
                      <a:srgbClr val="0070C0"/>
                    </a:solidFill>
                  </a:tcPr>
                </a:tc>
                <a:tc>
                  <a:txBody>
                    <a:bodyPr/>
                    <a:lstStyle/>
                    <a:p>
                      <a:r>
                        <a:rPr lang="en-IN" sz="900" dirty="0"/>
                        <a:t>100</a:t>
                      </a:r>
                    </a:p>
                  </a:txBody>
                  <a:tcPr>
                    <a:solidFill>
                      <a:srgbClr val="0070C0"/>
                    </a:solidFill>
                  </a:tcPr>
                </a:tc>
                <a:extLst>
                  <a:ext uri="{0D108BD9-81ED-4DB2-BD59-A6C34878D82A}">
                    <a16:rowId xmlns:a16="http://schemas.microsoft.com/office/drawing/2014/main" val="1662086186"/>
                  </a:ext>
                </a:extLst>
              </a:tr>
              <a:tr h="293604">
                <a:tc>
                  <a:txBody>
                    <a:bodyPr/>
                    <a:lstStyle/>
                    <a:p>
                      <a:r>
                        <a:rPr lang="en-IN" sz="900" dirty="0"/>
                        <a:t>159</a:t>
                      </a:r>
                    </a:p>
                  </a:txBody>
                  <a:tcPr>
                    <a:solidFill>
                      <a:srgbClr val="0070C0"/>
                    </a:solidFill>
                  </a:tcPr>
                </a:tc>
                <a:tc>
                  <a:txBody>
                    <a:bodyPr/>
                    <a:lstStyle/>
                    <a:p>
                      <a:r>
                        <a:rPr lang="en-IN" sz="900" dirty="0"/>
                        <a:t>159</a:t>
                      </a:r>
                    </a:p>
                  </a:txBody>
                  <a:tcPr>
                    <a:solidFill>
                      <a:srgbClr val="0070C0"/>
                    </a:solidFill>
                  </a:tcPr>
                </a:tc>
                <a:tc>
                  <a:txBody>
                    <a:bodyPr/>
                    <a:lstStyle/>
                    <a:p>
                      <a:r>
                        <a:rPr lang="en-IN" sz="900" dirty="0"/>
                        <a:t>100</a:t>
                      </a:r>
                    </a:p>
                  </a:txBody>
                  <a:tcPr>
                    <a:solidFill>
                      <a:srgbClr val="0070C0"/>
                    </a:solidFill>
                  </a:tcPr>
                </a:tc>
                <a:tc>
                  <a:txBody>
                    <a:bodyPr/>
                    <a:lstStyle/>
                    <a:p>
                      <a:r>
                        <a:rPr lang="en-IN" sz="900" dirty="0"/>
                        <a:t>100</a:t>
                      </a:r>
                    </a:p>
                  </a:txBody>
                  <a:tcPr>
                    <a:solidFill>
                      <a:srgbClr val="0070C0"/>
                    </a:solidFill>
                  </a:tcPr>
                </a:tc>
                <a:tc>
                  <a:txBody>
                    <a:bodyPr/>
                    <a:lstStyle/>
                    <a:p>
                      <a:r>
                        <a:rPr lang="en-IN" sz="900" dirty="0"/>
                        <a:t>100</a:t>
                      </a:r>
                    </a:p>
                  </a:txBody>
                  <a:tcPr>
                    <a:solidFill>
                      <a:srgbClr val="0070C0"/>
                    </a:solidFill>
                  </a:tcPr>
                </a:tc>
                <a:tc>
                  <a:txBody>
                    <a:bodyPr/>
                    <a:lstStyle/>
                    <a:p>
                      <a:r>
                        <a:rPr lang="en-IN" sz="900" dirty="0"/>
                        <a:t>155</a:t>
                      </a:r>
                    </a:p>
                  </a:txBody>
                  <a:tcPr>
                    <a:solidFill>
                      <a:srgbClr val="0070C0"/>
                    </a:solidFill>
                  </a:tcPr>
                </a:tc>
                <a:extLst>
                  <a:ext uri="{0D108BD9-81ED-4DB2-BD59-A6C34878D82A}">
                    <a16:rowId xmlns:a16="http://schemas.microsoft.com/office/drawing/2014/main" val="1931922367"/>
                  </a:ext>
                </a:extLst>
              </a:tr>
              <a:tr h="293604">
                <a:tc>
                  <a:txBody>
                    <a:bodyPr/>
                    <a:lstStyle/>
                    <a:p>
                      <a:r>
                        <a:rPr lang="en-IN" sz="900" dirty="0"/>
                        <a:t>59</a:t>
                      </a:r>
                    </a:p>
                  </a:txBody>
                  <a:tcPr>
                    <a:solidFill>
                      <a:srgbClr val="0070C0"/>
                    </a:solidFill>
                  </a:tcPr>
                </a:tc>
                <a:tc>
                  <a:txBody>
                    <a:bodyPr/>
                    <a:lstStyle/>
                    <a:p>
                      <a:r>
                        <a:rPr lang="en-IN" sz="900" dirty="0"/>
                        <a:t>58</a:t>
                      </a:r>
                    </a:p>
                  </a:txBody>
                  <a:tcPr>
                    <a:solidFill>
                      <a:srgbClr val="0070C0"/>
                    </a:solidFill>
                  </a:tcPr>
                </a:tc>
                <a:tc>
                  <a:txBody>
                    <a:bodyPr/>
                    <a:lstStyle/>
                    <a:p>
                      <a:r>
                        <a:rPr lang="en-IN" sz="900" dirty="0"/>
                        <a:t>47</a:t>
                      </a:r>
                    </a:p>
                  </a:txBody>
                  <a:tcPr>
                    <a:solidFill>
                      <a:srgbClr val="0070C0"/>
                    </a:solidFill>
                  </a:tcPr>
                </a:tc>
                <a:tc>
                  <a:txBody>
                    <a:bodyPr/>
                    <a:lstStyle/>
                    <a:p>
                      <a:r>
                        <a:rPr lang="en-IN" sz="900" dirty="0"/>
                        <a:t>52</a:t>
                      </a:r>
                    </a:p>
                  </a:txBody>
                  <a:tcPr>
                    <a:solidFill>
                      <a:srgbClr val="0070C0"/>
                    </a:solidFill>
                  </a:tcPr>
                </a:tc>
                <a:tc>
                  <a:txBody>
                    <a:bodyPr/>
                    <a:lstStyle/>
                    <a:p>
                      <a:r>
                        <a:rPr lang="en-IN" sz="900" dirty="0"/>
                        <a:t>100</a:t>
                      </a:r>
                    </a:p>
                  </a:txBody>
                  <a:tcPr>
                    <a:solidFill>
                      <a:srgbClr val="0070C0"/>
                    </a:solidFill>
                  </a:tcPr>
                </a:tc>
                <a:tc>
                  <a:txBody>
                    <a:bodyPr/>
                    <a:lstStyle/>
                    <a:p>
                      <a:r>
                        <a:rPr lang="en-IN" sz="900" dirty="0"/>
                        <a:t>102</a:t>
                      </a:r>
                    </a:p>
                  </a:txBody>
                  <a:tcPr>
                    <a:solidFill>
                      <a:srgbClr val="0070C0"/>
                    </a:solidFill>
                  </a:tcPr>
                </a:tc>
                <a:extLst>
                  <a:ext uri="{0D108BD9-81ED-4DB2-BD59-A6C34878D82A}">
                    <a16:rowId xmlns:a16="http://schemas.microsoft.com/office/drawing/2014/main" val="632590776"/>
                  </a:ext>
                </a:extLst>
              </a:tr>
            </a:tbl>
          </a:graphicData>
        </a:graphic>
      </p:graphicFrame>
      <p:sp>
        <p:nvSpPr>
          <p:cNvPr id="12" name="TextBox 11"/>
          <p:cNvSpPr txBox="1"/>
          <p:nvPr/>
        </p:nvSpPr>
        <p:spPr>
          <a:xfrm>
            <a:off x="5087188" y="2890308"/>
            <a:ext cx="345233" cy="369332"/>
          </a:xfrm>
          <a:prstGeom prst="rect">
            <a:avLst/>
          </a:prstGeom>
          <a:noFill/>
        </p:spPr>
        <p:txBody>
          <a:bodyPr wrap="square" rtlCol="0">
            <a:spAutoFit/>
          </a:bodyPr>
          <a:lstStyle/>
          <a:p>
            <a:pPr algn="ctr"/>
            <a:r>
              <a:rPr lang="en-IN" dirty="0">
                <a:latin typeface="Sitka Text" pitchFamily="2" charset="0"/>
              </a:rPr>
              <a:t>R</a:t>
            </a:r>
          </a:p>
        </p:txBody>
      </p:sp>
      <p:sp>
        <p:nvSpPr>
          <p:cNvPr id="13" name="TextBox 12"/>
          <p:cNvSpPr txBox="1"/>
          <p:nvPr/>
        </p:nvSpPr>
        <p:spPr>
          <a:xfrm>
            <a:off x="5308565" y="3130030"/>
            <a:ext cx="345233" cy="369332"/>
          </a:xfrm>
          <a:prstGeom prst="rect">
            <a:avLst/>
          </a:prstGeom>
          <a:noFill/>
        </p:spPr>
        <p:txBody>
          <a:bodyPr wrap="square" rtlCol="0">
            <a:spAutoFit/>
          </a:bodyPr>
          <a:lstStyle/>
          <a:p>
            <a:pPr algn="ctr"/>
            <a:r>
              <a:rPr lang="en-IN" dirty="0">
                <a:latin typeface="Sitka Text" pitchFamily="2" charset="0"/>
              </a:rPr>
              <a:t>G</a:t>
            </a:r>
          </a:p>
        </p:txBody>
      </p:sp>
      <p:sp>
        <p:nvSpPr>
          <p:cNvPr id="14" name="TextBox 13"/>
          <p:cNvSpPr txBox="1"/>
          <p:nvPr/>
        </p:nvSpPr>
        <p:spPr>
          <a:xfrm>
            <a:off x="5520812" y="3326989"/>
            <a:ext cx="345233" cy="369332"/>
          </a:xfrm>
          <a:prstGeom prst="rect">
            <a:avLst/>
          </a:prstGeom>
          <a:noFill/>
        </p:spPr>
        <p:txBody>
          <a:bodyPr wrap="square" rtlCol="0">
            <a:spAutoFit/>
          </a:bodyPr>
          <a:lstStyle/>
          <a:p>
            <a:pPr algn="ctr"/>
            <a:r>
              <a:rPr lang="en-IN" dirty="0">
                <a:latin typeface="Sitka Text" pitchFamily="2" charset="0"/>
              </a:rPr>
              <a:t>B</a:t>
            </a:r>
          </a:p>
        </p:txBody>
      </p:sp>
      <mc:AlternateContent xmlns:mc="http://schemas.openxmlformats.org/markup-compatibility/2006" xmlns:p14="http://schemas.microsoft.com/office/powerpoint/2010/main">
        <mc:Choice Requires="p14">
          <p:contentPart p14:bwMode="auto" r:id="rId6">
            <p14:nvContentPartPr>
              <p14:cNvPr id="58" name="Ink 57">
                <a:extLst>
                  <a:ext uri="{FF2B5EF4-FFF2-40B4-BE49-F238E27FC236}">
                    <a16:creationId xmlns:a16="http://schemas.microsoft.com/office/drawing/2014/main" id="{3B97A988-5602-2BBA-18CE-0D5C5F2FB66A}"/>
                  </a:ext>
                </a:extLst>
              </p14:cNvPr>
              <p14:cNvContentPartPr/>
              <p14:nvPr/>
            </p14:nvContentPartPr>
            <p14:xfrm>
              <a:off x="10147403" y="1691061"/>
              <a:ext cx="143975" cy="158974"/>
            </p14:xfrm>
          </p:contentPart>
        </mc:Choice>
        <mc:Fallback xmlns="">
          <p:pic>
            <p:nvPicPr>
              <p:cNvPr id="58" name="Ink 57">
                <a:extLst>
                  <a:ext uri="{FF2B5EF4-FFF2-40B4-BE49-F238E27FC236}">
                    <a16:creationId xmlns:a16="http://schemas.microsoft.com/office/drawing/2014/main" id="{3B97A988-5602-2BBA-18CE-0D5C5F2FB66A}"/>
                  </a:ext>
                </a:extLst>
              </p:cNvPr>
              <p:cNvPicPr/>
              <p:nvPr/>
            </p:nvPicPr>
            <p:blipFill>
              <a:blip r:embed="rId97"/>
              <a:stretch>
                <a:fillRect/>
              </a:stretch>
            </p:blipFill>
            <p:spPr>
              <a:xfrm>
                <a:off x="10129810" y="1673118"/>
                <a:ext cx="179520" cy="194501"/>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5E837D55-646A-6C71-AB03-0C0F4C5418C2}"/>
                  </a:ext>
                </a:extLst>
              </p14:cNvPr>
              <p14:cNvContentPartPr/>
              <p14:nvPr/>
            </p14:nvContentPartPr>
            <p14:xfrm>
              <a:off x="10156129" y="1689218"/>
              <a:ext cx="81337" cy="159682"/>
            </p14:xfrm>
          </p:contentPart>
        </mc:Choice>
        <mc:Fallback xmlns="">
          <p:pic>
            <p:nvPicPr>
              <p:cNvPr id="59" name="Ink 58">
                <a:extLst>
                  <a:ext uri="{FF2B5EF4-FFF2-40B4-BE49-F238E27FC236}">
                    <a16:creationId xmlns:a16="http://schemas.microsoft.com/office/drawing/2014/main" id="{5E837D55-646A-6C71-AB03-0C0F4C5418C2}"/>
                  </a:ext>
                </a:extLst>
              </p:cNvPr>
              <p:cNvPicPr/>
              <p:nvPr/>
            </p:nvPicPr>
            <p:blipFill>
              <a:blip r:embed="rId99"/>
              <a:stretch>
                <a:fillRect/>
              </a:stretch>
            </p:blipFill>
            <p:spPr>
              <a:xfrm>
                <a:off x="10138213" y="1671635"/>
                <a:ext cx="116810" cy="195207"/>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1EC87678-9AB8-7E34-981D-144424B42FA3}"/>
                  </a:ext>
                </a:extLst>
              </p14:cNvPr>
              <p14:cNvContentPartPr/>
              <p14:nvPr/>
            </p14:nvContentPartPr>
            <p14:xfrm>
              <a:off x="10127699" y="1688420"/>
              <a:ext cx="146162" cy="173297"/>
            </p14:xfrm>
          </p:contentPart>
        </mc:Choice>
        <mc:Fallback xmlns="">
          <p:pic>
            <p:nvPicPr>
              <p:cNvPr id="60" name="Ink 59">
                <a:extLst>
                  <a:ext uri="{FF2B5EF4-FFF2-40B4-BE49-F238E27FC236}">
                    <a16:creationId xmlns:a16="http://schemas.microsoft.com/office/drawing/2014/main" id="{1EC87678-9AB8-7E34-981D-144424B42FA3}"/>
                  </a:ext>
                </a:extLst>
              </p:cNvPr>
              <p:cNvPicPr/>
              <p:nvPr/>
            </p:nvPicPr>
            <p:blipFill>
              <a:blip r:embed="rId101"/>
              <a:stretch>
                <a:fillRect/>
              </a:stretch>
            </p:blipFill>
            <p:spPr>
              <a:xfrm>
                <a:off x="10109743" y="1670443"/>
                <a:ext cx="181715" cy="208891"/>
              </a:xfrm>
              <a:prstGeom prst="rect">
                <a:avLst/>
              </a:prstGeom>
            </p:spPr>
          </p:pic>
        </mc:Fallback>
      </mc:AlternateContent>
    </p:spTree>
    <p:extLst>
      <p:ext uri="{BB962C8B-B14F-4D97-AF65-F5344CB8AC3E}">
        <p14:creationId xmlns:p14="http://schemas.microsoft.com/office/powerpoint/2010/main" val="69896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Digital Image</a:t>
            </a:r>
            <a:endParaRPr lang="en-US" dirty="0"/>
          </a:p>
        </p:txBody>
      </p:sp>
      <p:pic>
        <p:nvPicPr>
          <p:cNvPr id="4" name="Picture 3">
            <a:extLst>
              <a:ext uri="{FF2B5EF4-FFF2-40B4-BE49-F238E27FC236}">
                <a16:creationId xmlns:a16="http://schemas.microsoft.com/office/drawing/2014/main" id="{ACE607B4-B9B0-7629-67A4-811D7A9D8B90}"/>
              </a:ext>
            </a:extLst>
          </p:cNvPr>
          <p:cNvPicPr>
            <a:picLocks noChangeAspect="1" noChangeArrowheads="1"/>
          </p:cNvPicPr>
          <p:nvPr/>
        </p:nvPicPr>
        <p:blipFill rotWithShape="1">
          <a:blip r:embed="rId3"/>
          <a:srcRect l="75055" t="4105" r="1344" b="21078"/>
          <a:stretch/>
        </p:blipFill>
        <p:spPr bwMode="auto">
          <a:xfrm>
            <a:off x="2650564" y="1762170"/>
            <a:ext cx="2413756" cy="2322096"/>
          </a:xfrm>
          <a:prstGeom prst="rect">
            <a:avLst/>
          </a:prstGeom>
          <a:noFill/>
          <a:ln w="9525">
            <a:noFill/>
            <a:miter lim="800000"/>
            <a:headEnd/>
            <a:tailEnd/>
          </a:ln>
          <a:effectLst/>
        </p:spPr>
      </p:pic>
      <p:pic>
        <p:nvPicPr>
          <p:cNvPr id="5" name="Picture 5" descr="color2">
            <a:extLst>
              <a:ext uri="{FF2B5EF4-FFF2-40B4-BE49-F238E27FC236}">
                <a16:creationId xmlns:a16="http://schemas.microsoft.com/office/drawing/2014/main" id="{C084CF04-D711-77FA-9DF8-F3BCCCA8736E}"/>
              </a:ext>
            </a:extLst>
          </p:cNvPr>
          <p:cNvPicPr>
            <a:picLocks noChangeAspect="1" noChangeArrowheads="1"/>
          </p:cNvPicPr>
          <p:nvPr/>
        </p:nvPicPr>
        <p:blipFill>
          <a:blip r:embed="rId4">
            <a:lum bright="-12000"/>
          </a:blip>
          <a:srcRect/>
          <a:stretch>
            <a:fillRect/>
          </a:stretch>
        </p:blipFill>
        <p:spPr bwMode="auto">
          <a:xfrm>
            <a:off x="7007314" y="1816767"/>
            <a:ext cx="3162104" cy="2212901"/>
          </a:xfrm>
          <a:prstGeom prst="rect">
            <a:avLst/>
          </a:prstGeom>
          <a:noFill/>
        </p:spPr>
      </p:pic>
      <p:sp>
        <p:nvSpPr>
          <p:cNvPr id="7" name="TextBox 6"/>
          <p:cNvSpPr txBox="1"/>
          <p:nvPr/>
        </p:nvSpPr>
        <p:spPr>
          <a:xfrm>
            <a:off x="7287491" y="6604084"/>
            <a:ext cx="49045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p>
        </p:txBody>
      </p:sp>
      <p:pic>
        <p:nvPicPr>
          <p:cNvPr id="6" name="Picture 5">
            <a:extLst>
              <a:ext uri="{FF2B5EF4-FFF2-40B4-BE49-F238E27FC236}">
                <a16:creationId xmlns:a16="http://schemas.microsoft.com/office/drawing/2014/main" id="{ACE607B4-B9B0-7629-67A4-811D7A9D8B90}"/>
              </a:ext>
            </a:extLst>
          </p:cNvPr>
          <p:cNvPicPr>
            <a:picLocks noChangeAspect="1" noChangeArrowheads="1"/>
          </p:cNvPicPr>
          <p:nvPr/>
        </p:nvPicPr>
        <p:blipFill rotWithShape="1">
          <a:blip r:embed="rId3"/>
          <a:srcRect t="6786" r="29486"/>
          <a:stretch/>
        </p:blipFill>
        <p:spPr bwMode="auto">
          <a:xfrm>
            <a:off x="3592747" y="4163673"/>
            <a:ext cx="5356224" cy="2148751"/>
          </a:xfrm>
          <a:prstGeom prst="rect">
            <a:avLst/>
          </a:prstGeom>
          <a:noFill/>
          <a:ln w="9525">
            <a:noFill/>
            <a:miter lim="800000"/>
            <a:headEnd/>
            <a:tailEnd/>
          </a:ln>
          <a:effectLst/>
        </p:spPr>
      </p:pic>
    </p:spTree>
    <p:extLst>
      <p:ext uri="{BB962C8B-B14F-4D97-AF65-F5344CB8AC3E}">
        <p14:creationId xmlns:p14="http://schemas.microsoft.com/office/powerpoint/2010/main" val="222064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Digital Image</a:t>
            </a:r>
            <a:endParaRPr lang="en-US" dirty="0"/>
          </a:p>
        </p:txBody>
      </p:sp>
      <p:sp>
        <p:nvSpPr>
          <p:cNvPr id="3" name="Content Placeholder 2"/>
          <p:cNvSpPr>
            <a:spLocks noGrp="1"/>
          </p:cNvSpPr>
          <p:nvPr>
            <p:ph idx="1"/>
          </p:nvPr>
        </p:nvSpPr>
        <p:spPr>
          <a:xfrm>
            <a:off x="838200" y="1624263"/>
            <a:ext cx="10515600" cy="4373794"/>
          </a:xfrm>
        </p:spPr>
        <p:txBody>
          <a:bodyPr>
            <a:normAutofit/>
          </a:bodyPr>
          <a:lstStyle/>
          <a:p>
            <a:pPr>
              <a:lnSpc>
                <a:spcPct val="150000"/>
              </a:lnSpc>
              <a:buFont typeface="Wingdings" panose="05000000000000000000" pitchFamily="2" charset="2"/>
              <a:buChar char="q"/>
            </a:pPr>
            <a:r>
              <a:rPr lang="en-US" altLang="en-US" sz="2000" dirty="0">
                <a:latin typeface="Sitka Text" pitchFamily="2" charset="0"/>
              </a:rPr>
              <a:t> Represented as a finite set of digital values, called picture elements or pixels.</a:t>
            </a:r>
          </a:p>
          <a:p>
            <a:endParaRPr lang="en-US" altLang="en-US" sz="2000" b="1" u="sng" dirty="0">
              <a:latin typeface="Sitka Text" pitchFamily="2" charset="0"/>
            </a:endParaRPr>
          </a:p>
          <a:p>
            <a:endParaRPr lang="en-US" sz="2000" dirty="0"/>
          </a:p>
        </p:txBody>
      </p:sp>
      <p:grpSp>
        <p:nvGrpSpPr>
          <p:cNvPr id="5" name="Group 12"/>
          <p:cNvGrpSpPr>
            <a:grpSpLocks/>
          </p:cNvGrpSpPr>
          <p:nvPr/>
        </p:nvGrpSpPr>
        <p:grpSpPr bwMode="auto">
          <a:xfrm>
            <a:off x="1809111" y="2539145"/>
            <a:ext cx="5950894" cy="3246210"/>
            <a:chOff x="1464" y="2747"/>
            <a:chExt cx="2871" cy="1454"/>
          </a:xfrm>
        </p:grpSpPr>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4" y="2747"/>
              <a:ext cx="2871" cy="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 name="Rectangle 6"/>
            <p:cNvSpPr>
              <a:spLocks noChangeArrowheads="1"/>
            </p:cNvSpPr>
            <p:nvPr/>
          </p:nvSpPr>
          <p:spPr bwMode="auto">
            <a:xfrm>
              <a:off x="2225" y="3153"/>
              <a:ext cx="128" cy="12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GB" altLang="en-US"/>
            </a:p>
          </p:txBody>
        </p:sp>
        <p:sp>
          <p:nvSpPr>
            <p:cNvPr id="8" name="Rectangle 7"/>
            <p:cNvSpPr>
              <a:spLocks noChangeArrowheads="1"/>
            </p:cNvSpPr>
            <p:nvPr/>
          </p:nvSpPr>
          <p:spPr bwMode="auto">
            <a:xfrm>
              <a:off x="2840" y="2773"/>
              <a:ext cx="1460" cy="140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GB" altLang="en-US"/>
            </a:p>
          </p:txBody>
        </p:sp>
        <p:sp>
          <p:nvSpPr>
            <p:cNvPr id="9" name="Line 8"/>
            <p:cNvSpPr>
              <a:spLocks noChangeShapeType="1"/>
            </p:cNvSpPr>
            <p:nvPr/>
          </p:nvSpPr>
          <p:spPr bwMode="auto">
            <a:xfrm flipV="1">
              <a:off x="2348" y="3108"/>
              <a:ext cx="484" cy="10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0" name="Rectangle 9"/>
            <p:cNvSpPr>
              <a:spLocks noChangeArrowheads="1"/>
            </p:cNvSpPr>
            <p:nvPr/>
          </p:nvSpPr>
          <p:spPr bwMode="auto">
            <a:xfrm>
              <a:off x="3225" y="3137"/>
              <a:ext cx="56" cy="57"/>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GB" altLang="en-US"/>
            </a:p>
          </p:txBody>
        </p:sp>
        <p:sp>
          <p:nvSpPr>
            <p:cNvPr id="11" name="Text Box 10"/>
            <p:cNvSpPr txBox="1">
              <a:spLocks noChangeArrowheads="1"/>
            </p:cNvSpPr>
            <p:nvPr/>
          </p:nvSpPr>
          <p:spPr bwMode="auto">
            <a:xfrm>
              <a:off x="3414" y="2965"/>
              <a:ext cx="34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000">
                  <a:solidFill>
                    <a:srgbClr val="CC0000"/>
                  </a:solidFill>
                </a:rPr>
                <a:t>1 pixel</a:t>
              </a:r>
              <a:endParaRPr lang="en-US" altLang="en-US" sz="1000">
                <a:solidFill>
                  <a:srgbClr val="CC0000"/>
                </a:solidFill>
              </a:endParaRPr>
            </a:p>
          </p:txBody>
        </p:sp>
        <p:sp>
          <p:nvSpPr>
            <p:cNvPr id="12" name="Line 11"/>
            <p:cNvSpPr>
              <a:spLocks noChangeShapeType="1"/>
            </p:cNvSpPr>
            <p:nvPr/>
          </p:nvSpPr>
          <p:spPr bwMode="auto">
            <a:xfrm flipH="1">
              <a:off x="3296" y="3052"/>
              <a:ext cx="168" cy="9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grpSp>
      <p:sp>
        <p:nvSpPr>
          <p:cNvPr id="18" name="TextBox 17"/>
          <p:cNvSpPr txBox="1"/>
          <p:nvPr/>
        </p:nvSpPr>
        <p:spPr>
          <a:xfrm>
            <a:off x="9970763" y="3288825"/>
            <a:ext cx="823155" cy="369332"/>
          </a:xfrm>
          <a:prstGeom prst="rect">
            <a:avLst/>
          </a:prstGeom>
          <a:noFill/>
        </p:spPr>
        <p:txBody>
          <a:bodyPr wrap="square" rtlCol="0">
            <a:spAutoFit/>
          </a:bodyPr>
          <a:lstStyle/>
          <a:p>
            <a:r>
              <a:rPr lang="en-IN" dirty="0" smtClean="0">
                <a:latin typeface="Sitka Text" pitchFamily="2" charset="0"/>
              </a:rPr>
              <a:t>Red</a:t>
            </a:r>
            <a:endParaRPr lang="en-IN" dirty="0">
              <a:latin typeface="Sitka Text" pitchFamily="2" charset="0"/>
            </a:endParaRPr>
          </a:p>
        </p:txBody>
      </p:sp>
      <p:sp>
        <p:nvSpPr>
          <p:cNvPr id="19" name="TextBox 18"/>
          <p:cNvSpPr txBox="1"/>
          <p:nvPr/>
        </p:nvSpPr>
        <p:spPr>
          <a:xfrm>
            <a:off x="10303329" y="3577285"/>
            <a:ext cx="1181888" cy="369332"/>
          </a:xfrm>
          <a:prstGeom prst="rect">
            <a:avLst/>
          </a:prstGeom>
          <a:noFill/>
        </p:spPr>
        <p:txBody>
          <a:bodyPr wrap="square" rtlCol="0">
            <a:spAutoFit/>
          </a:bodyPr>
          <a:lstStyle/>
          <a:p>
            <a:r>
              <a:rPr lang="en-IN" dirty="0" smtClean="0">
                <a:latin typeface="Sitka Text" pitchFamily="2" charset="0"/>
              </a:rPr>
              <a:t>Green</a:t>
            </a:r>
            <a:endParaRPr lang="en-IN" dirty="0">
              <a:latin typeface="Sitka Text" pitchFamily="2" charset="0"/>
            </a:endParaRPr>
          </a:p>
        </p:txBody>
      </p:sp>
      <p:sp>
        <p:nvSpPr>
          <p:cNvPr id="20" name="TextBox 19"/>
          <p:cNvSpPr txBox="1"/>
          <p:nvPr/>
        </p:nvSpPr>
        <p:spPr>
          <a:xfrm>
            <a:off x="10475161" y="3887836"/>
            <a:ext cx="838224" cy="369332"/>
          </a:xfrm>
          <a:prstGeom prst="rect">
            <a:avLst/>
          </a:prstGeom>
          <a:noFill/>
        </p:spPr>
        <p:txBody>
          <a:bodyPr wrap="square" rtlCol="0">
            <a:spAutoFit/>
          </a:bodyPr>
          <a:lstStyle/>
          <a:p>
            <a:r>
              <a:rPr lang="en-IN" dirty="0" smtClean="0">
                <a:latin typeface="Sitka Text" pitchFamily="2" charset="0"/>
              </a:rPr>
              <a:t>Blue</a:t>
            </a:r>
            <a:endParaRPr lang="en-IN" dirty="0">
              <a:latin typeface="Sitka Text" pitchFamily="2" charset="0"/>
            </a:endParaRPr>
          </a:p>
        </p:txBody>
      </p:sp>
      <p:graphicFrame>
        <p:nvGraphicFramePr>
          <p:cNvPr id="15" name="Table 14"/>
          <p:cNvGraphicFramePr>
            <a:graphicFrameLocks noGrp="1"/>
          </p:cNvGraphicFramePr>
          <p:nvPr>
            <p:extLst/>
          </p:nvPr>
        </p:nvGraphicFramePr>
        <p:xfrm>
          <a:off x="8164321" y="3473491"/>
          <a:ext cx="1806442" cy="1468020"/>
        </p:xfrm>
        <a:graphic>
          <a:graphicData uri="http://schemas.openxmlformats.org/drawingml/2006/table">
            <a:tbl>
              <a:tblPr firstRow="1" bandRow="1">
                <a:solidFill>
                  <a:srgbClr val="FF0000"/>
                </a:solidFill>
                <a:tableStyleId>{5940675A-B579-460E-94D1-54222C63F5DA}</a:tableStyleId>
              </a:tblPr>
              <a:tblGrid>
                <a:gridCol w="356678">
                  <a:extLst>
                    <a:ext uri="{9D8B030D-6E8A-4147-A177-3AD203B41FA5}">
                      <a16:colId xmlns:a16="http://schemas.microsoft.com/office/drawing/2014/main" val="3729901385"/>
                    </a:ext>
                  </a:extLst>
                </a:gridCol>
                <a:gridCol w="379730">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3641177828"/>
                    </a:ext>
                  </a:extLst>
                </a:gridCol>
              </a:tblGrid>
              <a:tr h="293604">
                <a:tc>
                  <a:txBody>
                    <a:bodyPr/>
                    <a:lstStyle/>
                    <a:p>
                      <a:r>
                        <a:rPr lang="en-IN" sz="900" b="1" dirty="0" smtClean="0"/>
                        <a:t>10</a:t>
                      </a:r>
                      <a:endParaRPr lang="en-IN" sz="900" b="1" dirty="0"/>
                    </a:p>
                  </a:txBody>
                  <a:tcPr>
                    <a:solidFill>
                      <a:srgbClr val="FF5050"/>
                    </a:solidFill>
                  </a:tcPr>
                </a:tc>
                <a:tc>
                  <a:txBody>
                    <a:bodyPr/>
                    <a:lstStyle/>
                    <a:p>
                      <a:r>
                        <a:rPr lang="en-IN" sz="900" b="1" dirty="0" smtClean="0"/>
                        <a:t>13</a:t>
                      </a:r>
                      <a:endParaRPr lang="en-IN" sz="900" b="1" dirty="0"/>
                    </a:p>
                  </a:txBody>
                  <a:tcPr>
                    <a:solidFill>
                      <a:srgbClr val="FF5050"/>
                    </a:solidFill>
                  </a:tcPr>
                </a:tc>
                <a:tc>
                  <a:txBody>
                    <a:bodyPr/>
                    <a:lstStyle/>
                    <a:p>
                      <a:r>
                        <a:rPr lang="en-IN" sz="900" b="1" dirty="0" smtClean="0"/>
                        <a:t>50</a:t>
                      </a:r>
                      <a:endParaRPr lang="en-IN" sz="900" b="1" dirty="0"/>
                    </a:p>
                  </a:txBody>
                  <a:tcPr>
                    <a:solidFill>
                      <a:srgbClr val="FF5050"/>
                    </a:solidFill>
                  </a:tcPr>
                </a:tc>
                <a:tc>
                  <a:txBody>
                    <a:bodyPr/>
                    <a:lstStyle/>
                    <a:p>
                      <a:r>
                        <a:rPr lang="en-IN" sz="900" b="1" dirty="0" smtClean="0"/>
                        <a:t>84</a:t>
                      </a:r>
                      <a:endParaRPr lang="en-IN" sz="900" b="1" dirty="0"/>
                    </a:p>
                  </a:txBody>
                  <a:tcPr>
                    <a:solidFill>
                      <a:srgbClr val="FF5050"/>
                    </a:solidFill>
                  </a:tcPr>
                </a:tc>
                <a:tc>
                  <a:txBody>
                    <a:bodyPr/>
                    <a:lstStyle/>
                    <a:p>
                      <a:r>
                        <a:rPr lang="en-IN" sz="900" b="1" dirty="0" smtClean="0"/>
                        <a:t>102</a:t>
                      </a:r>
                      <a:endParaRPr lang="en-IN" sz="900" b="1" dirty="0"/>
                    </a:p>
                  </a:txBody>
                  <a:tcPr>
                    <a:solidFill>
                      <a:srgbClr val="FF5050"/>
                    </a:solidFill>
                  </a:tcPr>
                </a:tc>
                <a:extLst>
                  <a:ext uri="{0D108BD9-81ED-4DB2-BD59-A6C34878D82A}">
                    <a16:rowId xmlns:a16="http://schemas.microsoft.com/office/drawing/2014/main" val="1749418105"/>
                  </a:ext>
                </a:extLst>
              </a:tr>
              <a:tr h="293604">
                <a:tc>
                  <a:txBody>
                    <a:bodyPr/>
                    <a:lstStyle/>
                    <a:p>
                      <a:r>
                        <a:rPr lang="en-IN" sz="900" b="1" dirty="0" smtClean="0"/>
                        <a:t>17</a:t>
                      </a:r>
                      <a:endParaRPr lang="en-IN" sz="900" b="1" dirty="0"/>
                    </a:p>
                  </a:txBody>
                  <a:tcPr>
                    <a:solidFill>
                      <a:srgbClr val="FF5050"/>
                    </a:solidFill>
                  </a:tcPr>
                </a:tc>
                <a:tc>
                  <a:txBody>
                    <a:bodyPr/>
                    <a:lstStyle/>
                    <a:p>
                      <a:r>
                        <a:rPr lang="en-IN" sz="900" b="1" dirty="0"/>
                        <a:t>145</a:t>
                      </a:r>
                    </a:p>
                  </a:txBody>
                  <a:tcPr>
                    <a:solidFill>
                      <a:srgbClr val="FF5050"/>
                    </a:solidFill>
                  </a:tcPr>
                </a:tc>
                <a:tc>
                  <a:txBody>
                    <a:bodyPr/>
                    <a:lstStyle/>
                    <a:p>
                      <a:r>
                        <a:rPr lang="en-IN" sz="900" b="1" dirty="0"/>
                        <a:t>100</a:t>
                      </a:r>
                    </a:p>
                  </a:txBody>
                  <a:tcPr>
                    <a:solidFill>
                      <a:srgbClr val="FF5050"/>
                    </a:solidFill>
                  </a:tcPr>
                </a:tc>
                <a:tc>
                  <a:txBody>
                    <a:bodyPr/>
                    <a:lstStyle/>
                    <a:p>
                      <a:r>
                        <a:rPr lang="en-IN" sz="900" b="1" dirty="0"/>
                        <a:t>102</a:t>
                      </a:r>
                    </a:p>
                  </a:txBody>
                  <a:tcPr>
                    <a:solidFill>
                      <a:srgbClr val="FF5050"/>
                    </a:solidFill>
                  </a:tcPr>
                </a:tc>
                <a:tc>
                  <a:txBody>
                    <a:bodyPr/>
                    <a:lstStyle/>
                    <a:p>
                      <a:r>
                        <a:rPr lang="en-IN" sz="900" b="1" dirty="0"/>
                        <a:t>233</a:t>
                      </a:r>
                    </a:p>
                  </a:txBody>
                  <a:tcPr>
                    <a:solidFill>
                      <a:srgbClr val="FF5050"/>
                    </a:solidFill>
                  </a:tcPr>
                </a:tc>
                <a:extLst>
                  <a:ext uri="{0D108BD9-81ED-4DB2-BD59-A6C34878D82A}">
                    <a16:rowId xmlns:a16="http://schemas.microsoft.com/office/drawing/2014/main" val="2892384286"/>
                  </a:ext>
                </a:extLst>
              </a:tr>
              <a:tr h="293604">
                <a:tc>
                  <a:txBody>
                    <a:bodyPr/>
                    <a:lstStyle/>
                    <a:p>
                      <a:r>
                        <a:rPr lang="en-IN" sz="900" b="1" dirty="0" smtClean="0"/>
                        <a:t>15</a:t>
                      </a:r>
                      <a:endParaRPr lang="en-IN" sz="900" b="1" dirty="0"/>
                    </a:p>
                  </a:txBody>
                  <a:tcPr>
                    <a:solidFill>
                      <a:srgbClr val="FF5050"/>
                    </a:solidFill>
                  </a:tcPr>
                </a:tc>
                <a:tc>
                  <a:txBody>
                    <a:bodyPr/>
                    <a:lstStyle/>
                    <a:p>
                      <a:r>
                        <a:rPr lang="en-IN" sz="900" b="1" dirty="0"/>
                        <a:t>152</a:t>
                      </a:r>
                    </a:p>
                  </a:txBody>
                  <a:tcPr>
                    <a:solidFill>
                      <a:srgbClr val="FF5050"/>
                    </a:solidFill>
                  </a:tcPr>
                </a:tc>
                <a:tc>
                  <a:txBody>
                    <a:bodyPr/>
                    <a:lstStyle/>
                    <a:p>
                      <a:r>
                        <a:rPr lang="en-IN" sz="900" b="1" dirty="0"/>
                        <a:t>80</a:t>
                      </a:r>
                    </a:p>
                  </a:txBody>
                  <a:tcPr>
                    <a:solidFill>
                      <a:srgbClr val="FF5050"/>
                    </a:solidFill>
                  </a:tcPr>
                </a:tc>
                <a:tc>
                  <a:txBody>
                    <a:bodyPr/>
                    <a:lstStyle/>
                    <a:p>
                      <a:r>
                        <a:rPr lang="en-IN" sz="900" b="1" dirty="0"/>
                        <a:t>107</a:t>
                      </a:r>
                    </a:p>
                  </a:txBody>
                  <a:tcPr>
                    <a:solidFill>
                      <a:srgbClr val="FF5050"/>
                    </a:solidFill>
                  </a:tcPr>
                </a:tc>
                <a:tc>
                  <a:txBody>
                    <a:bodyPr/>
                    <a:lstStyle/>
                    <a:p>
                      <a:r>
                        <a:rPr lang="en-IN" sz="900" b="1" dirty="0"/>
                        <a:t>100</a:t>
                      </a:r>
                    </a:p>
                  </a:txBody>
                  <a:tcPr>
                    <a:solidFill>
                      <a:srgbClr val="FF5050"/>
                    </a:solidFill>
                  </a:tcPr>
                </a:tc>
                <a:extLst>
                  <a:ext uri="{0D108BD9-81ED-4DB2-BD59-A6C34878D82A}">
                    <a16:rowId xmlns:a16="http://schemas.microsoft.com/office/drawing/2014/main" val="1662086186"/>
                  </a:ext>
                </a:extLst>
              </a:tr>
              <a:tr h="293604">
                <a:tc>
                  <a:txBody>
                    <a:bodyPr/>
                    <a:lstStyle/>
                    <a:p>
                      <a:r>
                        <a:rPr lang="en-IN" sz="900" b="1" dirty="0" smtClean="0"/>
                        <a:t>16</a:t>
                      </a:r>
                      <a:endParaRPr lang="en-IN" sz="900" b="1" dirty="0"/>
                    </a:p>
                  </a:txBody>
                  <a:tcPr>
                    <a:solidFill>
                      <a:srgbClr val="FF5050"/>
                    </a:solidFill>
                  </a:tcPr>
                </a:tc>
                <a:tc>
                  <a:txBody>
                    <a:bodyPr/>
                    <a:lstStyle/>
                    <a:p>
                      <a:r>
                        <a:rPr lang="en-IN" sz="900" b="1" dirty="0"/>
                        <a:t>159</a:t>
                      </a:r>
                    </a:p>
                  </a:txBody>
                  <a:tcPr>
                    <a:solidFill>
                      <a:srgbClr val="FF5050"/>
                    </a:solidFill>
                  </a:tcPr>
                </a:tc>
                <a:tc>
                  <a:txBody>
                    <a:bodyPr/>
                    <a:lstStyle/>
                    <a:p>
                      <a:r>
                        <a:rPr lang="en-IN" sz="900" b="1" dirty="0"/>
                        <a:t>100</a:t>
                      </a:r>
                    </a:p>
                  </a:txBody>
                  <a:tcPr>
                    <a:solidFill>
                      <a:srgbClr val="FF5050"/>
                    </a:solidFill>
                  </a:tcPr>
                </a:tc>
                <a:tc>
                  <a:txBody>
                    <a:bodyPr/>
                    <a:lstStyle/>
                    <a:p>
                      <a:r>
                        <a:rPr lang="en-IN" sz="900" b="1" dirty="0"/>
                        <a:t>100</a:t>
                      </a:r>
                    </a:p>
                  </a:txBody>
                  <a:tcPr>
                    <a:solidFill>
                      <a:srgbClr val="FF5050"/>
                    </a:solidFill>
                  </a:tcPr>
                </a:tc>
                <a:tc>
                  <a:txBody>
                    <a:bodyPr/>
                    <a:lstStyle/>
                    <a:p>
                      <a:r>
                        <a:rPr lang="en-IN" sz="900" b="1" dirty="0"/>
                        <a:t>155</a:t>
                      </a:r>
                    </a:p>
                  </a:txBody>
                  <a:tcPr>
                    <a:solidFill>
                      <a:srgbClr val="FF5050"/>
                    </a:solidFill>
                  </a:tcPr>
                </a:tc>
                <a:extLst>
                  <a:ext uri="{0D108BD9-81ED-4DB2-BD59-A6C34878D82A}">
                    <a16:rowId xmlns:a16="http://schemas.microsoft.com/office/drawing/2014/main" val="1931922367"/>
                  </a:ext>
                </a:extLst>
              </a:tr>
              <a:tr h="293604">
                <a:tc>
                  <a:txBody>
                    <a:bodyPr/>
                    <a:lstStyle/>
                    <a:p>
                      <a:r>
                        <a:rPr lang="en-IN" sz="900" b="1" dirty="0" smtClean="0"/>
                        <a:t>5</a:t>
                      </a:r>
                      <a:endParaRPr lang="en-IN" sz="900" b="1" dirty="0"/>
                    </a:p>
                  </a:txBody>
                  <a:tcPr>
                    <a:solidFill>
                      <a:srgbClr val="FF5050"/>
                    </a:solidFill>
                  </a:tcPr>
                </a:tc>
                <a:tc>
                  <a:txBody>
                    <a:bodyPr/>
                    <a:lstStyle/>
                    <a:p>
                      <a:r>
                        <a:rPr lang="en-IN" sz="900" b="1" dirty="0"/>
                        <a:t>82</a:t>
                      </a:r>
                    </a:p>
                  </a:txBody>
                  <a:tcPr>
                    <a:solidFill>
                      <a:srgbClr val="FF5050"/>
                    </a:solidFill>
                  </a:tcPr>
                </a:tc>
                <a:tc>
                  <a:txBody>
                    <a:bodyPr/>
                    <a:lstStyle/>
                    <a:p>
                      <a:r>
                        <a:rPr lang="en-IN" sz="900" b="1" dirty="0"/>
                        <a:t>47</a:t>
                      </a:r>
                    </a:p>
                  </a:txBody>
                  <a:tcPr>
                    <a:solidFill>
                      <a:srgbClr val="FF5050"/>
                    </a:solidFill>
                  </a:tcPr>
                </a:tc>
                <a:tc>
                  <a:txBody>
                    <a:bodyPr/>
                    <a:lstStyle/>
                    <a:p>
                      <a:r>
                        <a:rPr lang="en-IN" sz="900" b="1" dirty="0"/>
                        <a:t>52</a:t>
                      </a:r>
                    </a:p>
                  </a:txBody>
                  <a:tcPr>
                    <a:solidFill>
                      <a:srgbClr val="FF5050"/>
                    </a:solidFill>
                  </a:tcPr>
                </a:tc>
                <a:tc>
                  <a:txBody>
                    <a:bodyPr/>
                    <a:lstStyle/>
                    <a:p>
                      <a:r>
                        <a:rPr lang="en-IN" sz="900" b="1" dirty="0"/>
                        <a:t>102</a:t>
                      </a:r>
                    </a:p>
                  </a:txBody>
                  <a:tcPr>
                    <a:solidFill>
                      <a:srgbClr val="FF5050"/>
                    </a:solidFill>
                  </a:tcPr>
                </a:tc>
                <a:extLst>
                  <a:ext uri="{0D108BD9-81ED-4DB2-BD59-A6C34878D82A}">
                    <a16:rowId xmlns:a16="http://schemas.microsoft.com/office/drawing/2014/main" val="632590776"/>
                  </a:ext>
                </a:extLst>
              </a:tr>
            </a:tbl>
          </a:graphicData>
        </a:graphic>
      </p:graphicFrame>
      <p:sp>
        <p:nvSpPr>
          <p:cNvPr id="21" name="Rectangle 20"/>
          <p:cNvSpPr/>
          <p:nvPr/>
        </p:nvSpPr>
        <p:spPr>
          <a:xfrm>
            <a:off x="7170821" y="5260257"/>
            <a:ext cx="516638" cy="45788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Table 21"/>
          <p:cNvGraphicFramePr>
            <a:graphicFrameLocks noGrp="1"/>
          </p:cNvGraphicFramePr>
          <p:nvPr>
            <p:extLst/>
          </p:nvPr>
        </p:nvGraphicFramePr>
        <p:xfrm>
          <a:off x="8440861" y="3657108"/>
          <a:ext cx="1783390" cy="1468020"/>
        </p:xfrm>
        <a:graphic>
          <a:graphicData uri="http://schemas.openxmlformats.org/drawingml/2006/table">
            <a:tbl>
              <a:tblPr firstRow="1" bandRow="1">
                <a:tableStyleId>{5940675A-B579-460E-94D1-54222C63F5DA}</a:tableStyleId>
              </a:tblPr>
              <a:tblGrid>
                <a:gridCol w="356678">
                  <a:extLst>
                    <a:ext uri="{9D8B030D-6E8A-4147-A177-3AD203B41FA5}">
                      <a16:colId xmlns:a16="http://schemas.microsoft.com/office/drawing/2014/main" val="3729901385"/>
                    </a:ext>
                  </a:extLst>
                </a:gridCol>
                <a:gridCol w="356678">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3641177828"/>
                    </a:ext>
                  </a:extLst>
                </a:gridCol>
              </a:tblGrid>
              <a:tr h="293604">
                <a:tc>
                  <a:txBody>
                    <a:bodyPr/>
                    <a:lstStyle/>
                    <a:p>
                      <a:r>
                        <a:rPr lang="en-IN" sz="900" b="1" dirty="0" smtClean="0"/>
                        <a:t>50</a:t>
                      </a:r>
                      <a:endParaRPr lang="en-IN" sz="900" b="1" dirty="0"/>
                    </a:p>
                  </a:txBody>
                  <a:tcPr>
                    <a:solidFill>
                      <a:schemeClr val="accent6">
                        <a:lumMod val="40000"/>
                        <a:lumOff val="60000"/>
                      </a:schemeClr>
                    </a:solidFill>
                  </a:tcPr>
                </a:tc>
                <a:tc>
                  <a:txBody>
                    <a:bodyPr/>
                    <a:lstStyle/>
                    <a:p>
                      <a:r>
                        <a:rPr lang="en-IN" sz="900" b="1" dirty="0" smtClean="0"/>
                        <a:t>86</a:t>
                      </a:r>
                      <a:endParaRPr lang="en-IN" sz="900" b="1" dirty="0"/>
                    </a:p>
                  </a:txBody>
                  <a:tcPr>
                    <a:solidFill>
                      <a:schemeClr val="accent6">
                        <a:lumMod val="40000"/>
                        <a:lumOff val="60000"/>
                      </a:schemeClr>
                    </a:solidFill>
                  </a:tcPr>
                </a:tc>
                <a:tc>
                  <a:txBody>
                    <a:bodyPr/>
                    <a:lstStyle/>
                    <a:p>
                      <a:r>
                        <a:rPr lang="en-IN" sz="900" b="1" dirty="0" smtClean="0"/>
                        <a:t>155</a:t>
                      </a:r>
                      <a:endParaRPr lang="en-IN" sz="900" b="1" dirty="0"/>
                    </a:p>
                  </a:txBody>
                  <a:tcPr>
                    <a:solidFill>
                      <a:schemeClr val="accent6">
                        <a:lumMod val="40000"/>
                        <a:lumOff val="60000"/>
                      </a:schemeClr>
                    </a:solidFill>
                  </a:tcPr>
                </a:tc>
                <a:tc>
                  <a:txBody>
                    <a:bodyPr/>
                    <a:lstStyle/>
                    <a:p>
                      <a:r>
                        <a:rPr lang="en-IN" sz="900" b="1" dirty="0" smtClean="0"/>
                        <a:t>185</a:t>
                      </a:r>
                      <a:endParaRPr lang="en-IN" sz="900" b="1" dirty="0"/>
                    </a:p>
                  </a:txBody>
                  <a:tcPr>
                    <a:solidFill>
                      <a:schemeClr val="accent6">
                        <a:lumMod val="40000"/>
                        <a:lumOff val="60000"/>
                      </a:schemeClr>
                    </a:solidFill>
                  </a:tcPr>
                </a:tc>
                <a:tc>
                  <a:txBody>
                    <a:bodyPr/>
                    <a:lstStyle/>
                    <a:p>
                      <a:r>
                        <a:rPr lang="en-IN" sz="900" b="1" dirty="0" smtClean="0"/>
                        <a:t>200</a:t>
                      </a:r>
                      <a:endParaRPr lang="en-IN" sz="900" b="1" dirty="0"/>
                    </a:p>
                  </a:txBody>
                  <a:tcPr>
                    <a:solidFill>
                      <a:schemeClr val="accent6">
                        <a:lumMod val="40000"/>
                        <a:lumOff val="60000"/>
                      </a:schemeClr>
                    </a:solidFill>
                  </a:tcPr>
                </a:tc>
                <a:extLst>
                  <a:ext uri="{0D108BD9-81ED-4DB2-BD59-A6C34878D82A}">
                    <a16:rowId xmlns:a16="http://schemas.microsoft.com/office/drawing/2014/main" val="1749418105"/>
                  </a:ext>
                </a:extLst>
              </a:tr>
              <a:tr h="293604">
                <a:tc>
                  <a:txBody>
                    <a:bodyPr/>
                    <a:lstStyle/>
                    <a:p>
                      <a:r>
                        <a:rPr lang="en-IN" sz="900" b="1" dirty="0" smtClean="0"/>
                        <a:t>64</a:t>
                      </a:r>
                      <a:endParaRPr lang="en-IN" sz="900" b="1" dirty="0"/>
                    </a:p>
                  </a:txBody>
                  <a:tcPr>
                    <a:solidFill>
                      <a:schemeClr val="accent6">
                        <a:lumMod val="40000"/>
                        <a:lumOff val="60000"/>
                      </a:schemeClr>
                    </a:solidFill>
                  </a:tcPr>
                </a:tc>
                <a:tc>
                  <a:txBody>
                    <a:bodyPr/>
                    <a:lstStyle/>
                    <a:p>
                      <a:r>
                        <a:rPr lang="en-IN" sz="900" b="1" dirty="0"/>
                        <a:t>145</a:t>
                      </a:r>
                    </a:p>
                  </a:txBody>
                  <a:tcPr>
                    <a:solidFill>
                      <a:schemeClr val="accent6">
                        <a:lumMod val="40000"/>
                        <a:lumOff val="60000"/>
                      </a:schemeClr>
                    </a:solidFill>
                  </a:tcPr>
                </a:tc>
                <a:tc>
                  <a:txBody>
                    <a:bodyPr/>
                    <a:lstStyle/>
                    <a:p>
                      <a:r>
                        <a:rPr lang="en-IN" sz="900" b="1" dirty="0"/>
                        <a:t>100</a:t>
                      </a:r>
                    </a:p>
                  </a:txBody>
                  <a:tcPr>
                    <a:solidFill>
                      <a:schemeClr val="accent6">
                        <a:lumMod val="40000"/>
                        <a:lumOff val="60000"/>
                      </a:schemeClr>
                    </a:solidFill>
                  </a:tcPr>
                </a:tc>
                <a:tc>
                  <a:txBody>
                    <a:bodyPr/>
                    <a:lstStyle/>
                    <a:p>
                      <a:r>
                        <a:rPr lang="en-IN" sz="900" b="1" dirty="0"/>
                        <a:t>102</a:t>
                      </a:r>
                    </a:p>
                  </a:txBody>
                  <a:tcPr>
                    <a:solidFill>
                      <a:schemeClr val="accent6">
                        <a:lumMod val="40000"/>
                        <a:lumOff val="60000"/>
                      </a:schemeClr>
                    </a:solidFill>
                  </a:tcPr>
                </a:tc>
                <a:tc>
                  <a:txBody>
                    <a:bodyPr/>
                    <a:lstStyle/>
                    <a:p>
                      <a:r>
                        <a:rPr lang="en-IN" sz="900" b="1" dirty="0"/>
                        <a:t>233</a:t>
                      </a:r>
                    </a:p>
                  </a:txBody>
                  <a:tcPr>
                    <a:solidFill>
                      <a:schemeClr val="accent6">
                        <a:lumMod val="40000"/>
                        <a:lumOff val="60000"/>
                      </a:schemeClr>
                    </a:solidFill>
                  </a:tcPr>
                </a:tc>
                <a:extLst>
                  <a:ext uri="{0D108BD9-81ED-4DB2-BD59-A6C34878D82A}">
                    <a16:rowId xmlns:a16="http://schemas.microsoft.com/office/drawing/2014/main" val="2892384286"/>
                  </a:ext>
                </a:extLst>
              </a:tr>
              <a:tr h="293604">
                <a:tc>
                  <a:txBody>
                    <a:bodyPr/>
                    <a:lstStyle/>
                    <a:p>
                      <a:r>
                        <a:rPr lang="en-IN" sz="900" b="1" dirty="0" smtClean="0"/>
                        <a:t>85</a:t>
                      </a:r>
                      <a:endParaRPr lang="en-IN" sz="900" b="1" dirty="0"/>
                    </a:p>
                  </a:txBody>
                  <a:tcPr>
                    <a:solidFill>
                      <a:schemeClr val="accent6">
                        <a:lumMod val="40000"/>
                        <a:lumOff val="60000"/>
                      </a:schemeClr>
                    </a:solidFill>
                  </a:tcPr>
                </a:tc>
                <a:tc>
                  <a:txBody>
                    <a:bodyPr/>
                    <a:lstStyle/>
                    <a:p>
                      <a:r>
                        <a:rPr lang="en-IN" sz="900" b="1" dirty="0"/>
                        <a:t>152</a:t>
                      </a:r>
                    </a:p>
                  </a:txBody>
                  <a:tcPr>
                    <a:solidFill>
                      <a:schemeClr val="accent6">
                        <a:lumMod val="40000"/>
                        <a:lumOff val="60000"/>
                      </a:schemeClr>
                    </a:solidFill>
                  </a:tcPr>
                </a:tc>
                <a:tc>
                  <a:txBody>
                    <a:bodyPr/>
                    <a:lstStyle/>
                    <a:p>
                      <a:r>
                        <a:rPr lang="en-IN" sz="900" b="1" dirty="0"/>
                        <a:t>80</a:t>
                      </a:r>
                    </a:p>
                  </a:txBody>
                  <a:tcPr>
                    <a:solidFill>
                      <a:schemeClr val="accent6">
                        <a:lumMod val="40000"/>
                        <a:lumOff val="60000"/>
                      </a:schemeClr>
                    </a:solidFill>
                  </a:tcPr>
                </a:tc>
                <a:tc>
                  <a:txBody>
                    <a:bodyPr/>
                    <a:lstStyle/>
                    <a:p>
                      <a:r>
                        <a:rPr lang="en-IN" sz="900" b="1" dirty="0"/>
                        <a:t>107</a:t>
                      </a:r>
                    </a:p>
                  </a:txBody>
                  <a:tcPr>
                    <a:solidFill>
                      <a:schemeClr val="accent6">
                        <a:lumMod val="40000"/>
                        <a:lumOff val="60000"/>
                      </a:schemeClr>
                    </a:solidFill>
                  </a:tcPr>
                </a:tc>
                <a:tc>
                  <a:txBody>
                    <a:bodyPr/>
                    <a:lstStyle/>
                    <a:p>
                      <a:r>
                        <a:rPr lang="en-IN" sz="900" b="1" dirty="0"/>
                        <a:t>100</a:t>
                      </a:r>
                    </a:p>
                  </a:txBody>
                  <a:tcPr>
                    <a:solidFill>
                      <a:schemeClr val="accent6">
                        <a:lumMod val="40000"/>
                        <a:lumOff val="60000"/>
                      </a:schemeClr>
                    </a:solidFill>
                  </a:tcPr>
                </a:tc>
                <a:extLst>
                  <a:ext uri="{0D108BD9-81ED-4DB2-BD59-A6C34878D82A}">
                    <a16:rowId xmlns:a16="http://schemas.microsoft.com/office/drawing/2014/main" val="1662086186"/>
                  </a:ext>
                </a:extLst>
              </a:tr>
              <a:tr h="293604">
                <a:tc>
                  <a:txBody>
                    <a:bodyPr/>
                    <a:lstStyle/>
                    <a:p>
                      <a:r>
                        <a:rPr lang="en-IN" sz="900" b="1" dirty="0" smtClean="0"/>
                        <a:t>71</a:t>
                      </a:r>
                      <a:endParaRPr lang="en-IN" sz="900" b="1" dirty="0"/>
                    </a:p>
                  </a:txBody>
                  <a:tcPr>
                    <a:solidFill>
                      <a:schemeClr val="accent6">
                        <a:lumMod val="40000"/>
                        <a:lumOff val="60000"/>
                      </a:schemeClr>
                    </a:solidFill>
                  </a:tcPr>
                </a:tc>
                <a:tc>
                  <a:txBody>
                    <a:bodyPr/>
                    <a:lstStyle/>
                    <a:p>
                      <a:r>
                        <a:rPr lang="en-IN" sz="900" b="1" dirty="0"/>
                        <a:t>159</a:t>
                      </a:r>
                    </a:p>
                  </a:txBody>
                  <a:tcPr>
                    <a:solidFill>
                      <a:schemeClr val="accent6">
                        <a:lumMod val="40000"/>
                        <a:lumOff val="60000"/>
                      </a:schemeClr>
                    </a:solidFill>
                  </a:tcPr>
                </a:tc>
                <a:tc>
                  <a:txBody>
                    <a:bodyPr/>
                    <a:lstStyle/>
                    <a:p>
                      <a:r>
                        <a:rPr lang="en-IN" sz="900" b="1" dirty="0"/>
                        <a:t>100</a:t>
                      </a:r>
                    </a:p>
                  </a:txBody>
                  <a:tcPr>
                    <a:solidFill>
                      <a:schemeClr val="accent6">
                        <a:lumMod val="40000"/>
                        <a:lumOff val="60000"/>
                      </a:schemeClr>
                    </a:solidFill>
                  </a:tcPr>
                </a:tc>
                <a:tc>
                  <a:txBody>
                    <a:bodyPr/>
                    <a:lstStyle/>
                    <a:p>
                      <a:r>
                        <a:rPr lang="en-IN" sz="900" b="1" dirty="0"/>
                        <a:t>100</a:t>
                      </a:r>
                    </a:p>
                  </a:txBody>
                  <a:tcPr>
                    <a:solidFill>
                      <a:schemeClr val="accent6">
                        <a:lumMod val="40000"/>
                        <a:lumOff val="60000"/>
                      </a:schemeClr>
                    </a:solidFill>
                  </a:tcPr>
                </a:tc>
                <a:tc>
                  <a:txBody>
                    <a:bodyPr/>
                    <a:lstStyle/>
                    <a:p>
                      <a:r>
                        <a:rPr lang="en-IN" sz="900" b="1" dirty="0"/>
                        <a:t>155</a:t>
                      </a:r>
                    </a:p>
                  </a:txBody>
                  <a:tcPr>
                    <a:solidFill>
                      <a:schemeClr val="accent6">
                        <a:lumMod val="40000"/>
                        <a:lumOff val="60000"/>
                      </a:schemeClr>
                    </a:solidFill>
                  </a:tcPr>
                </a:tc>
                <a:extLst>
                  <a:ext uri="{0D108BD9-81ED-4DB2-BD59-A6C34878D82A}">
                    <a16:rowId xmlns:a16="http://schemas.microsoft.com/office/drawing/2014/main" val="1931922367"/>
                  </a:ext>
                </a:extLst>
              </a:tr>
              <a:tr h="293604">
                <a:tc>
                  <a:txBody>
                    <a:bodyPr/>
                    <a:lstStyle/>
                    <a:p>
                      <a:r>
                        <a:rPr lang="en-IN" sz="900" b="1" dirty="0" smtClean="0"/>
                        <a:t>55</a:t>
                      </a:r>
                      <a:endParaRPr lang="en-IN" sz="900" b="1" dirty="0"/>
                    </a:p>
                  </a:txBody>
                  <a:tcPr>
                    <a:solidFill>
                      <a:schemeClr val="accent6">
                        <a:lumMod val="40000"/>
                        <a:lumOff val="60000"/>
                      </a:schemeClr>
                    </a:solidFill>
                  </a:tcPr>
                </a:tc>
                <a:tc>
                  <a:txBody>
                    <a:bodyPr/>
                    <a:lstStyle/>
                    <a:p>
                      <a:r>
                        <a:rPr lang="en-IN" sz="900" b="1" dirty="0"/>
                        <a:t>82</a:t>
                      </a:r>
                    </a:p>
                  </a:txBody>
                  <a:tcPr>
                    <a:solidFill>
                      <a:schemeClr val="accent6">
                        <a:lumMod val="40000"/>
                        <a:lumOff val="60000"/>
                      </a:schemeClr>
                    </a:solidFill>
                  </a:tcPr>
                </a:tc>
                <a:tc>
                  <a:txBody>
                    <a:bodyPr/>
                    <a:lstStyle/>
                    <a:p>
                      <a:r>
                        <a:rPr lang="en-IN" sz="900" b="1" dirty="0"/>
                        <a:t>47</a:t>
                      </a:r>
                    </a:p>
                  </a:txBody>
                  <a:tcPr>
                    <a:solidFill>
                      <a:schemeClr val="accent6">
                        <a:lumMod val="40000"/>
                        <a:lumOff val="60000"/>
                      </a:schemeClr>
                    </a:solidFill>
                  </a:tcPr>
                </a:tc>
                <a:tc>
                  <a:txBody>
                    <a:bodyPr/>
                    <a:lstStyle/>
                    <a:p>
                      <a:r>
                        <a:rPr lang="en-IN" sz="900" b="1" dirty="0"/>
                        <a:t>52</a:t>
                      </a:r>
                    </a:p>
                  </a:txBody>
                  <a:tcPr>
                    <a:solidFill>
                      <a:schemeClr val="accent6">
                        <a:lumMod val="40000"/>
                        <a:lumOff val="60000"/>
                      </a:schemeClr>
                    </a:solidFill>
                  </a:tcPr>
                </a:tc>
                <a:tc>
                  <a:txBody>
                    <a:bodyPr/>
                    <a:lstStyle/>
                    <a:p>
                      <a:r>
                        <a:rPr lang="en-IN" sz="900" b="1" dirty="0"/>
                        <a:t>102</a:t>
                      </a:r>
                    </a:p>
                  </a:txBody>
                  <a:tcPr>
                    <a:solidFill>
                      <a:schemeClr val="accent6">
                        <a:lumMod val="40000"/>
                        <a:lumOff val="60000"/>
                      </a:schemeClr>
                    </a:solidFill>
                  </a:tcPr>
                </a:tc>
                <a:extLst>
                  <a:ext uri="{0D108BD9-81ED-4DB2-BD59-A6C34878D82A}">
                    <a16:rowId xmlns:a16="http://schemas.microsoft.com/office/drawing/2014/main" val="632590776"/>
                  </a:ext>
                </a:extLst>
              </a:tr>
            </a:tbl>
          </a:graphicData>
        </a:graphic>
      </p:graphicFrame>
      <p:graphicFrame>
        <p:nvGraphicFramePr>
          <p:cNvPr id="23" name="Table 22"/>
          <p:cNvGraphicFramePr>
            <a:graphicFrameLocks noGrp="1"/>
          </p:cNvGraphicFramePr>
          <p:nvPr>
            <p:extLst/>
          </p:nvPr>
        </p:nvGraphicFramePr>
        <p:xfrm>
          <a:off x="8730916" y="3887836"/>
          <a:ext cx="1783390" cy="1468020"/>
        </p:xfrm>
        <a:graphic>
          <a:graphicData uri="http://schemas.openxmlformats.org/drawingml/2006/table">
            <a:tbl>
              <a:tblPr firstRow="1" bandRow="1">
                <a:tableStyleId>{5940675A-B579-460E-94D1-54222C63F5DA}</a:tableStyleId>
              </a:tblPr>
              <a:tblGrid>
                <a:gridCol w="356678">
                  <a:extLst>
                    <a:ext uri="{9D8B030D-6E8A-4147-A177-3AD203B41FA5}">
                      <a16:colId xmlns:a16="http://schemas.microsoft.com/office/drawing/2014/main" val="3729901385"/>
                    </a:ext>
                  </a:extLst>
                </a:gridCol>
                <a:gridCol w="356678">
                  <a:extLst>
                    <a:ext uri="{9D8B030D-6E8A-4147-A177-3AD203B41FA5}">
                      <a16:colId xmlns:a16="http://schemas.microsoft.com/office/drawing/2014/main" val="1203107190"/>
                    </a:ext>
                  </a:extLst>
                </a:gridCol>
                <a:gridCol w="356678">
                  <a:extLst>
                    <a:ext uri="{9D8B030D-6E8A-4147-A177-3AD203B41FA5}">
                      <a16:colId xmlns:a16="http://schemas.microsoft.com/office/drawing/2014/main" val="1274298086"/>
                    </a:ext>
                  </a:extLst>
                </a:gridCol>
                <a:gridCol w="356678">
                  <a:extLst>
                    <a:ext uri="{9D8B030D-6E8A-4147-A177-3AD203B41FA5}">
                      <a16:colId xmlns:a16="http://schemas.microsoft.com/office/drawing/2014/main" val="346609768"/>
                    </a:ext>
                  </a:extLst>
                </a:gridCol>
                <a:gridCol w="356678">
                  <a:extLst>
                    <a:ext uri="{9D8B030D-6E8A-4147-A177-3AD203B41FA5}">
                      <a16:colId xmlns:a16="http://schemas.microsoft.com/office/drawing/2014/main" val="3641177828"/>
                    </a:ext>
                  </a:extLst>
                </a:gridCol>
              </a:tblGrid>
              <a:tr h="293604">
                <a:tc>
                  <a:txBody>
                    <a:bodyPr/>
                    <a:lstStyle/>
                    <a:p>
                      <a:r>
                        <a:rPr lang="en-IN" sz="900" b="1" dirty="0"/>
                        <a:t>183</a:t>
                      </a:r>
                    </a:p>
                  </a:txBody>
                  <a:tcPr>
                    <a:solidFill>
                      <a:schemeClr val="accent1">
                        <a:lumMod val="60000"/>
                        <a:lumOff val="40000"/>
                      </a:schemeClr>
                    </a:solidFill>
                  </a:tcPr>
                </a:tc>
                <a:tc>
                  <a:txBody>
                    <a:bodyPr/>
                    <a:lstStyle/>
                    <a:p>
                      <a:r>
                        <a:rPr lang="en-IN" sz="900" b="1" dirty="0"/>
                        <a:t>183</a:t>
                      </a:r>
                    </a:p>
                  </a:txBody>
                  <a:tcPr>
                    <a:solidFill>
                      <a:schemeClr val="accent1">
                        <a:lumMod val="60000"/>
                        <a:lumOff val="40000"/>
                      </a:schemeClr>
                    </a:solidFill>
                  </a:tcPr>
                </a:tc>
                <a:tc>
                  <a:txBody>
                    <a:bodyPr/>
                    <a:lstStyle/>
                    <a:p>
                      <a:r>
                        <a:rPr lang="en-IN" sz="900" b="1" dirty="0"/>
                        <a:t>181</a:t>
                      </a:r>
                    </a:p>
                  </a:txBody>
                  <a:tcPr>
                    <a:solidFill>
                      <a:schemeClr val="accent1">
                        <a:lumMod val="60000"/>
                        <a:lumOff val="40000"/>
                      </a:schemeClr>
                    </a:solidFill>
                  </a:tcPr>
                </a:tc>
                <a:tc>
                  <a:txBody>
                    <a:bodyPr/>
                    <a:lstStyle/>
                    <a:p>
                      <a:r>
                        <a:rPr lang="en-IN" sz="900" b="1" dirty="0"/>
                        <a:t>184</a:t>
                      </a:r>
                    </a:p>
                  </a:txBody>
                  <a:tcPr>
                    <a:solidFill>
                      <a:schemeClr val="accent1">
                        <a:lumMod val="60000"/>
                        <a:lumOff val="40000"/>
                      </a:schemeClr>
                    </a:solidFill>
                  </a:tcPr>
                </a:tc>
                <a:tc>
                  <a:txBody>
                    <a:bodyPr/>
                    <a:lstStyle/>
                    <a:p>
                      <a:r>
                        <a:rPr lang="en-IN" sz="900" b="1" dirty="0"/>
                        <a:t>200</a:t>
                      </a:r>
                    </a:p>
                  </a:txBody>
                  <a:tcPr>
                    <a:solidFill>
                      <a:schemeClr val="accent1">
                        <a:lumMod val="60000"/>
                        <a:lumOff val="40000"/>
                      </a:schemeClr>
                    </a:solidFill>
                  </a:tcPr>
                </a:tc>
                <a:extLst>
                  <a:ext uri="{0D108BD9-81ED-4DB2-BD59-A6C34878D82A}">
                    <a16:rowId xmlns:a16="http://schemas.microsoft.com/office/drawing/2014/main" val="1749418105"/>
                  </a:ext>
                </a:extLst>
              </a:tr>
              <a:tr h="293604">
                <a:tc>
                  <a:txBody>
                    <a:bodyPr/>
                    <a:lstStyle/>
                    <a:p>
                      <a:r>
                        <a:rPr lang="en-IN" sz="900" b="1" dirty="0"/>
                        <a:t>147</a:t>
                      </a:r>
                    </a:p>
                  </a:txBody>
                  <a:tcPr>
                    <a:solidFill>
                      <a:schemeClr val="accent1">
                        <a:lumMod val="60000"/>
                        <a:lumOff val="40000"/>
                      </a:schemeClr>
                    </a:solidFill>
                  </a:tcPr>
                </a:tc>
                <a:tc>
                  <a:txBody>
                    <a:bodyPr/>
                    <a:lstStyle/>
                    <a:p>
                      <a:r>
                        <a:rPr lang="en-IN" sz="900" b="1" dirty="0"/>
                        <a:t>145</a:t>
                      </a:r>
                    </a:p>
                  </a:txBody>
                  <a:tcPr>
                    <a:solidFill>
                      <a:schemeClr val="accent1">
                        <a:lumMod val="60000"/>
                        <a:lumOff val="40000"/>
                      </a:schemeClr>
                    </a:solidFill>
                  </a:tcPr>
                </a:tc>
                <a:tc>
                  <a:txBody>
                    <a:bodyPr/>
                    <a:lstStyle/>
                    <a:p>
                      <a:r>
                        <a:rPr lang="en-IN" sz="900" b="1" dirty="0"/>
                        <a:t>100</a:t>
                      </a:r>
                    </a:p>
                  </a:txBody>
                  <a:tcPr>
                    <a:solidFill>
                      <a:schemeClr val="accent1">
                        <a:lumMod val="60000"/>
                        <a:lumOff val="40000"/>
                      </a:schemeClr>
                    </a:solidFill>
                  </a:tcPr>
                </a:tc>
                <a:tc>
                  <a:txBody>
                    <a:bodyPr/>
                    <a:lstStyle/>
                    <a:p>
                      <a:r>
                        <a:rPr lang="en-IN" sz="900" b="1" dirty="0"/>
                        <a:t>102</a:t>
                      </a:r>
                    </a:p>
                  </a:txBody>
                  <a:tcPr>
                    <a:solidFill>
                      <a:schemeClr val="accent1">
                        <a:lumMod val="60000"/>
                        <a:lumOff val="40000"/>
                      </a:schemeClr>
                    </a:solidFill>
                  </a:tcPr>
                </a:tc>
                <a:tc>
                  <a:txBody>
                    <a:bodyPr/>
                    <a:lstStyle/>
                    <a:p>
                      <a:r>
                        <a:rPr lang="en-IN" sz="900" b="1" dirty="0"/>
                        <a:t>233</a:t>
                      </a:r>
                    </a:p>
                  </a:txBody>
                  <a:tcPr>
                    <a:solidFill>
                      <a:schemeClr val="accent1">
                        <a:lumMod val="60000"/>
                        <a:lumOff val="40000"/>
                      </a:schemeClr>
                    </a:solidFill>
                  </a:tcPr>
                </a:tc>
                <a:extLst>
                  <a:ext uri="{0D108BD9-81ED-4DB2-BD59-A6C34878D82A}">
                    <a16:rowId xmlns:a16="http://schemas.microsoft.com/office/drawing/2014/main" val="2892384286"/>
                  </a:ext>
                </a:extLst>
              </a:tr>
              <a:tr h="293604">
                <a:tc>
                  <a:txBody>
                    <a:bodyPr/>
                    <a:lstStyle/>
                    <a:p>
                      <a:r>
                        <a:rPr lang="en-IN" sz="900" b="1" dirty="0"/>
                        <a:t>155</a:t>
                      </a:r>
                    </a:p>
                  </a:txBody>
                  <a:tcPr>
                    <a:solidFill>
                      <a:schemeClr val="accent1">
                        <a:lumMod val="60000"/>
                        <a:lumOff val="40000"/>
                      </a:schemeClr>
                    </a:solidFill>
                  </a:tcPr>
                </a:tc>
                <a:tc>
                  <a:txBody>
                    <a:bodyPr/>
                    <a:lstStyle/>
                    <a:p>
                      <a:r>
                        <a:rPr lang="en-IN" sz="900" b="1" dirty="0"/>
                        <a:t>152</a:t>
                      </a:r>
                    </a:p>
                  </a:txBody>
                  <a:tcPr>
                    <a:solidFill>
                      <a:schemeClr val="accent1">
                        <a:lumMod val="60000"/>
                        <a:lumOff val="40000"/>
                      </a:schemeClr>
                    </a:solidFill>
                  </a:tcPr>
                </a:tc>
                <a:tc>
                  <a:txBody>
                    <a:bodyPr/>
                    <a:lstStyle/>
                    <a:p>
                      <a:r>
                        <a:rPr lang="en-IN" sz="900" b="1" dirty="0"/>
                        <a:t>80</a:t>
                      </a:r>
                    </a:p>
                  </a:txBody>
                  <a:tcPr>
                    <a:solidFill>
                      <a:schemeClr val="accent1">
                        <a:lumMod val="60000"/>
                        <a:lumOff val="40000"/>
                      </a:schemeClr>
                    </a:solidFill>
                  </a:tcPr>
                </a:tc>
                <a:tc>
                  <a:txBody>
                    <a:bodyPr/>
                    <a:lstStyle/>
                    <a:p>
                      <a:r>
                        <a:rPr lang="en-IN" sz="900" b="1" dirty="0"/>
                        <a:t>107</a:t>
                      </a:r>
                    </a:p>
                  </a:txBody>
                  <a:tcPr>
                    <a:solidFill>
                      <a:schemeClr val="accent1">
                        <a:lumMod val="60000"/>
                        <a:lumOff val="40000"/>
                      </a:schemeClr>
                    </a:solidFill>
                  </a:tcPr>
                </a:tc>
                <a:tc>
                  <a:txBody>
                    <a:bodyPr/>
                    <a:lstStyle/>
                    <a:p>
                      <a:r>
                        <a:rPr lang="en-IN" sz="900" b="1" dirty="0"/>
                        <a:t>100</a:t>
                      </a:r>
                    </a:p>
                  </a:txBody>
                  <a:tcPr>
                    <a:solidFill>
                      <a:schemeClr val="accent1">
                        <a:lumMod val="60000"/>
                        <a:lumOff val="40000"/>
                      </a:schemeClr>
                    </a:solidFill>
                  </a:tcPr>
                </a:tc>
                <a:extLst>
                  <a:ext uri="{0D108BD9-81ED-4DB2-BD59-A6C34878D82A}">
                    <a16:rowId xmlns:a16="http://schemas.microsoft.com/office/drawing/2014/main" val="1662086186"/>
                  </a:ext>
                </a:extLst>
              </a:tr>
              <a:tr h="293604">
                <a:tc>
                  <a:txBody>
                    <a:bodyPr/>
                    <a:lstStyle/>
                    <a:p>
                      <a:r>
                        <a:rPr lang="en-IN" sz="900" b="1" dirty="0"/>
                        <a:t>162</a:t>
                      </a:r>
                    </a:p>
                  </a:txBody>
                  <a:tcPr>
                    <a:solidFill>
                      <a:schemeClr val="accent1">
                        <a:lumMod val="60000"/>
                        <a:lumOff val="40000"/>
                      </a:schemeClr>
                    </a:solidFill>
                  </a:tcPr>
                </a:tc>
                <a:tc>
                  <a:txBody>
                    <a:bodyPr/>
                    <a:lstStyle/>
                    <a:p>
                      <a:r>
                        <a:rPr lang="en-IN" sz="900" b="1" dirty="0"/>
                        <a:t>159</a:t>
                      </a:r>
                    </a:p>
                  </a:txBody>
                  <a:tcPr>
                    <a:solidFill>
                      <a:schemeClr val="accent1">
                        <a:lumMod val="60000"/>
                        <a:lumOff val="40000"/>
                      </a:schemeClr>
                    </a:solidFill>
                  </a:tcPr>
                </a:tc>
                <a:tc>
                  <a:txBody>
                    <a:bodyPr/>
                    <a:lstStyle/>
                    <a:p>
                      <a:r>
                        <a:rPr lang="en-IN" sz="900" b="1" dirty="0"/>
                        <a:t>100</a:t>
                      </a:r>
                    </a:p>
                  </a:txBody>
                  <a:tcPr>
                    <a:solidFill>
                      <a:schemeClr val="accent1">
                        <a:lumMod val="60000"/>
                        <a:lumOff val="40000"/>
                      </a:schemeClr>
                    </a:solidFill>
                  </a:tcPr>
                </a:tc>
                <a:tc>
                  <a:txBody>
                    <a:bodyPr/>
                    <a:lstStyle/>
                    <a:p>
                      <a:r>
                        <a:rPr lang="en-IN" sz="900" b="1" dirty="0"/>
                        <a:t>100</a:t>
                      </a:r>
                    </a:p>
                  </a:txBody>
                  <a:tcPr>
                    <a:solidFill>
                      <a:schemeClr val="accent1">
                        <a:lumMod val="60000"/>
                        <a:lumOff val="40000"/>
                      </a:schemeClr>
                    </a:solidFill>
                  </a:tcPr>
                </a:tc>
                <a:tc>
                  <a:txBody>
                    <a:bodyPr/>
                    <a:lstStyle/>
                    <a:p>
                      <a:r>
                        <a:rPr lang="en-IN" sz="900" b="1" dirty="0"/>
                        <a:t>155</a:t>
                      </a:r>
                    </a:p>
                  </a:txBody>
                  <a:tcPr>
                    <a:solidFill>
                      <a:schemeClr val="accent1">
                        <a:lumMod val="60000"/>
                        <a:lumOff val="40000"/>
                      </a:schemeClr>
                    </a:solidFill>
                  </a:tcPr>
                </a:tc>
                <a:extLst>
                  <a:ext uri="{0D108BD9-81ED-4DB2-BD59-A6C34878D82A}">
                    <a16:rowId xmlns:a16="http://schemas.microsoft.com/office/drawing/2014/main" val="1931922367"/>
                  </a:ext>
                </a:extLst>
              </a:tr>
              <a:tr h="293604">
                <a:tc>
                  <a:txBody>
                    <a:bodyPr/>
                    <a:lstStyle/>
                    <a:p>
                      <a:r>
                        <a:rPr lang="en-IN" sz="900" b="1" dirty="0"/>
                        <a:t>56</a:t>
                      </a:r>
                    </a:p>
                  </a:txBody>
                  <a:tcPr>
                    <a:solidFill>
                      <a:schemeClr val="accent1">
                        <a:lumMod val="60000"/>
                        <a:lumOff val="40000"/>
                      </a:schemeClr>
                    </a:solidFill>
                  </a:tcPr>
                </a:tc>
                <a:tc>
                  <a:txBody>
                    <a:bodyPr/>
                    <a:lstStyle/>
                    <a:p>
                      <a:r>
                        <a:rPr lang="en-IN" sz="900" b="1" dirty="0"/>
                        <a:t>82</a:t>
                      </a:r>
                    </a:p>
                  </a:txBody>
                  <a:tcPr>
                    <a:solidFill>
                      <a:schemeClr val="accent1">
                        <a:lumMod val="60000"/>
                        <a:lumOff val="40000"/>
                      </a:schemeClr>
                    </a:solidFill>
                  </a:tcPr>
                </a:tc>
                <a:tc>
                  <a:txBody>
                    <a:bodyPr/>
                    <a:lstStyle/>
                    <a:p>
                      <a:r>
                        <a:rPr lang="en-IN" sz="900" b="1" dirty="0"/>
                        <a:t>47</a:t>
                      </a:r>
                    </a:p>
                  </a:txBody>
                  <a:tcPr>
                    <a:solidFill>
                      <a:schemeClr val="accent1">
                        <a:lumMod val="60000"/>
                        <a:lumOff val="40000"/>
                      </a:schemeClr>
                    </a:solidFill>
                  </a:tcPr>
                </a:tc>
                <a:tc>
                  <a:txBody>
                    <a:bodyPr/>
                    <a:lstStyle/>
                    <a:p>
                      <a:r>
                        <a:rPr lang="en-IN" sz="900" b="1" dirty="0"/>
                        <a:t>52</a:t>
                      </a:r>
                    </a:p>
                  </a:txBody>
                  <a:tcPr>
                    <a:solidFill>
                      <a:schemeClr val="accent1">
                        <a:lumMod val="60000"/>
                        <a:lumOff val="40000"/>
                      </a:schemeClr>
                    </a:solidFill>
                  </a:tcPr>
                </a:tc>
                <a:tc>
                  <a:txBody>
                    <a:bodyPr/>
                    <a:lstStyle/>
                    <a:p>
                      <a:r>
                        <a:rPr lang="en-IN" sz="900" b="1" dirty="0"/>
                        <a:t>102</a:t>
                      </a:r>
                    </a:p>
                  </a:txBody>
                  <a:tcPr>
                    <a:solidFill>
                      <a:schemeClr val="accent1">
                        <a:lumMod val="60000"/>
                        <a:lumOff val="40000"/>
                      </a:schemeClr>
                    </a:solidFill>
                  </a:tcPr>
                </a:tc>
                <a:extLst>
                  <a:ext uri="{0D108BD9-81ED-4DB2-BD59-A6C34878D82A}">
                    <a16:rowId xmlns:a16="http://schemas.microsoft.com/office/drawing/2014/main" val="632590776"/>
                  </a:ext>
                </a:extLst>
              </a:tr>
            </a:tbl>
          </a:graphicData>
        </a:graphic>
      </p:graphicFrame>
      <p:cxnSp>
        <p:nvCxnSpPr>
          <p:cNvPr id="25" name="Straight Arrow Connector 24"/>
          <p:cNvCxnSpPr/>
          <p:nvPr/>
        </p:nvCxnSpPr>
        <p:spPr>
          <a:xfrm flipV="1">
            <a:off x="7776587" y="5171191"/>
            <a:ext cx="631597" cy="3180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85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Sitka Small Semibold" pitchFamily="2" charset="0"/>
              </a:rPr>
              <a:t>Image Formation</a:t>
            </a:r>
            <a:endParaRPr lang="en-US" dirty="0"/>
          </a:p>
        </p:txBody>
      </p:sp>
      <p:pic>
        <p:nvPicPr>
          <p:cNvPr id="4" name="Picture 3" descr="image_for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932" y="2071756"/>
            <a:ext cx="5974219" cy="388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Box 5"/>
              <p:cNvSpPr txBox="1"/>
              <p:nvPr/>
            </p:nvSpPr>
            <p:spPr>
              <a:xfrm>
                <a:off x="882098" y="3111053"/>
                <a:ext cx="2871616"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𝑓</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𝑦</m:t>
                          </m:r>
                        </m:e>
                      </m:d>
                      <m:r>
                        <a:rPr lang="en-IN" sz="2000" b="0" i="1" smtClean="0">
                          <a:latin typeface="Cambria Math" panose="02040503050406030204" pitchFamily="18" charset="0"/>
                        </a:rPr>
                        <m:t>=</m:t>
                      </m:r>
                      <m:r>
                        <a:rPr lang="en-IN" sz="2000" b="0" i="1" smtClean="0">
                          <a:latin typeface="Cambria Math" panose="02040503050406030204" pitchFamily="18" charset="0"/>
                        </a:rPr>
                        <m:t>𝑖</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𝑦</m:t>
                          </m:r>
                        </m:e>
                      </m:d>
                      <m:r>
                        <a:rPr lang="en-IN" sz="2000" b="0" i="1" smtClean="0">
                          <a:latin typeface="Cambria Math" panose="02040503050406030204" pitchFamily="18" charset="0"/>
                        </a:rPr>
                        <m:t>.</m:t>
                      </m:r>
                      <m:r>
                        <a:rPr lang="en-IN" sz="2000" b="0" i="1" smtClean="0">
                          <a:latin typeface="Cambria Math" panose="02040503050406030204" pitchFamily="18" charset="0"/>
                        </a:rPr>
                        <m:t>𝑟</m:t>
                      </m:r>
                      <m:r>
                        <a:rPr lang="en-IN" sz="2000" b="0" i="1" smtClean="0">
                          <a:latin typeface="Cambria Math" panose="02040503050406030204" pitchFamily="18" charset="0"/>
                        </a:rPr>
                        <m:t>(</m:t>
                      </m:r>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𝑦</m:t>
                      </m:r>
                      <m:r>
                        <a:rPr lang="en-IN" sz="2000" b="0" i="1" smtClean="0">
                          <a:latin typeface="Cambria Math" panose="02040503050406030204" pitchFamily="18" charset="0"/>
                        </a:rPr>
                        <m:t>)</m:t>
                      </m:r>
                    </m:oMath>
                  </m:oMathPara>
                </a14:m>
                <a:endParaRPr lang="en-IN"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882098" y="3111053"/>
                <a:ext cx="2871616" cy="307777"/>
              </a:xfrm>
              <a:prstGeom prst="rect">
                <a:avLst/>
              </a:prstGeom>
              <a:blipFill>
                <a:blip r:embed="rId4"/>
                <a:stretch>
                  <a:fillRect t="-1961"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89547" y="4014460"/>
                <a:ext cx="5009385" cy="1015663"/>
              </a:xfrm>
              <a:prstGeom prst="rect">
                <a:avLst/>
              </a:prstGeom>
              <a:noFill/>
            </p:spPr>
            <p:txBody>
              <a:bodyPr wrap="square" rtlCol="0">
                <a:spAutoFit/>
              </a:bodyPr>
              <a:lstStyle/>
              <a:p>
                <a14:m>
                  <m:oMath xmlns:m="http://schemas.openxmlformats.org/officeDocument/2006/math">
                    <m:r>
                      <a:rPr lang="en-IN" sz="2000" b="0" i="1" dirty="0" smtClean="0">
                        <a:latin typeface="Cambria Math" panose="02040503050406030204" pitchFamily="18" charset="0"/>
                      </a:rPr>
                      <m:t>𝑓</m:t>
                    </m:r>
                    <m:r>
                      <a:rPr lang="en-IN" sz="2000" i="1" dirty="0" smtClean="0">
                        <a:latin typeface="Cambria Math" panose="02040503050406030204" pitchFamily="18" charset="0"/>
                      </a:rPr>
                      <m:t>(</m:t>
                    </m:r>
                    <m:r>
                      <a:rPr lang="en-IN" sz="2000" i="1" dirty="0" err="1" smtClean="0">
                        <a:latin typeface="Cambria Math" panose="02040503050406030204" pitchFamily="18" charset="0"/>
                      </a:rPr>
                      <m:t>𝑥</m:t>
                    </m:r>
                    <m:r>
                      <a:rPr lang="en-IN" sz="2000" i="1" dirty="0" err="1" smtClean="0">
                        <a:latin typeface="Cambria Math" panose="02040503050406030204" pitchFamily="18" charset="0"/>
                      </a:rPr>
                      <m:t>,</m:t>
                    </m:r>
                    <m:r>
                      <a:rPr lang="en-IN" sz="2000" i="1" dirty="0" err="1" smtClean="0">
                        <a:latin typeface="Cambria Math" panose="02040503050406030204" pitchFamily="18" charset="0"/>
                      </a:rPr>
                      <m:t>𝑦</m:t>
                    </m:r>
                    <m:r>
                      <a:rPr lang="en-IN" sz="2000" i="1" dirty="0" smtClean="0">
                        <a:latin typeface="Cambria Math" panose="02040503050406030204" pitchFamily="18" charset="0"/>
                      </a:rPr>
                      <m:t>) </m:t>
                    </m:r>
                  </m:oMath>
                </a14:m>
                <a:r>
                  <a:rPr lang="en-IN" sz="2000" dirty="0">
                    <a:latin typeface="Sitka Text" pitchFamily="2" charset="0"/>
                  </a:rPr>
                  <a:t>– Image formed </a:t>
                </a:r>
                <a14:m>
                  <m:oMath xmlns:m="http://schemas.openxmlformats.org/officeDocument/2006/math">
                    <m:r>
                      <a:rPr lang="en-IN" sz="2000" i="1" dirty="0" smtClean="0">
                        <a:latin typeface="Cambria Math" panose="02040503050406030204" pitchFamily="18" charset="0"/>
                      </a:rPr>
                      <m:t>(0−</m:t>
                    </m:r>
                    <m:r>
                      <a:rPr lang="en-IN" sz="2000" i="1" dirty="0" smtClean="0">
                        <a:latin typeface="Cambria Math" panose="02040503050406030204" pitchFamily="18" charset="0"/>
                        <a:ea typeface="Cambria Math" panose="02040503050406030204" pitchFamily="18" charset="0"/>
                      </a:rPr>
                      <m:t>∞</m:t>
                    </m:r>
                    <m:r>
                      <a:rPr lang="en-IN" sz="2000" i="1" dirty="0" smtClean="0">
                        <a:latin typeface="Cambria Math" panose="02040503050406030204" pitchFamily="18" charset="0"/>
                      </a:rPr>
                      <m:t>)</m:t>
                    </m:r>
                  </m:oMath>
                </a14:m>
                <a:endParaRPr lang="en-IN" sz="2000" dirty="0">
                  <a:latin typeface="Sitka Text" pitchFamily="2" charset="0"/>
                </a:endParaRPr>
              </a:p>
              <a:p>
                <a14:m>
                  <m:oMath xmlns:m="http://schemas.openxmlformats.org/officeDocument/2006/math">
                    <m:r>
                      <a:rPr lang="en-IN" sz="2000" i="1" dirty="0" smtClean="0">
                        <a:latin typeface="Cambria Math" panose="02040503050406030204" pitchFamily="18" charset="0"/>
                      </a:rPr>
                      <m:t>𝑖</m:t>
                    </m:r>
                    <m:r>
                      <a:rPr lang="en-IN" sz="2000" i="1" dirty="0" smtClean="0">
                        <a:latin typeface="Cambria Math" panose="02040503050406030204" pitchFamily="18" charset="0"/>
                      </a:rPr>
                      <m:t>(</m:t>
                    </m:r>
                    <m:r>
                      <a:rPr lang="en-IN" sz="2000" i="1" dirty="0" err="1" smtClean="0">
                        <a:latin typeface="Cambria Math" panose="02040503050406030204" pitchFamily="18" charset="0"/>
                      </a:rPr>
                      <m:t>𝑥</m:t>
                    </m:r>
                    <m:r>
                      <a:rPr lang="en-IN" sz="2000" i="1" dirty="0" err="1" smtClean="0">
                        <a:latin typeface="Cambria Math" panose="02040503050406030204" pitchFamily="18" charset="0"/>
                      </a:rPr>
                      <m:t>,</m:t>
                    </m:r>
                    <m:r>
                      <a:rPr lang="en-IN" sz="2000" i="1" dirty="0" err="1" smtClean="0">
                        <a:latin typeface="Cambria Math" panose="02040503050406030204" pitchFamily="18" charset="0"/>
                      </a:rPr>
                      <m:t>𝑦</m:t>
                    </m:r>
                    <m:r>
                      <a:rPr lang="en-IN" sz="2000" i="1" dirty="0" smtClean="0">
                        <a:latin typeface="Cambria Math" panose="02040503050406030204" pitchFamily="18" charset="0"/>
                      </a:rPr>
                      <m:t>) </m:t>
                    </m:r>
                  </m:oMath>
                </a14:m>
                <a:r>
                  <a:rPr lang="en-IN" sz="2000" dirty="0">
                    <a:latin typeface="Sitka Text" pitchFamily="2" charset="0"/>
                  </a:rPr>
                  <a:t>– Illumination component </a:t>
                </a:r>
                <a14:m>
                  <m:oMath xmlns:m="http://schemas.openxmlformats.org/officeDocument/2006/math">
                    <m:r>
                      <a:rPr lang="en-IN" sz="2000" i="1" dirty="0" smtClean="0">
                        <a:latin typeface="Cambria Math" panose="02040503050406030204" pitchFamily="18" charset="0"/>
                      </a:rPr>
                      <m:t>(0−</m:t>
                    </m:r>
                    <m:r>
                      <a:rPr lang="en-IN" sz="2000" i="1" dirty="0" smtClean="0">
                        <a:latin typeface="Cambria Math" panose="02040503050406030204" pitchFamily="18" charset="0"/>
                        <a:ea typeface="Cambria Math" panose="02040503050406030204" pitchFamily="18" charset="0"/>
                      </a:rPr>
                      <m:t>∞</m:t>
                    </m:r>
                    <m:r>
                      <a:rPr lang="en-IN" sz="2000" i="1" dirty="0" smtClean="0">
                        <a:latin typeface="Cambria Math" panose="02040503050406030204" pitchFamily="18" charset="0"/>
                      </a:rPr>
                      <m:t>)</m:t>
                    </m:r>
                  </m:oMath>
                </a14:m>
                <a:endParaRPr lang="en-IN" sz="2000" dirty="0">
                  <a:latin typeface="Sitka Text" pitchFamily="2" charset="0"/>
                </a:endParaRPr>
              </a:p>
              <a:p>
                <a14:m>
                  <m:oMath xmlns:m="http://schemas.openxmlformats.org/officeDocument/2006/math">
                    <m:r>
                      <a:rPr lang="en-IN" sz="2000" b="0" i="1" dirty="0" smtClean="0">
                        <a:latin typeface="Cambria Math" panose="02040503050406030204" pitchFamily="18" charset="0"/>
                      </a:rPr>
                      <m:t>𝑟</m:t>
                    </m:r>
                    <m:r>
                      <a:rPr lang="en-IN" sz="2000" i="1" dirty="0" smtClean="0">
                        <a:latin typeface="Cambria Math" panose="02040503050406030204" pitchFamily="18" charset="0"/>
                      </a:rPr>
                      <m:t>(</m:t>
                    </m:r>
                    <m:r>
                      <a:rPr lang="en-IN" sz="2000" i="1" dirty="0" err="1" smtClean="0">
                        <a:latin typeface="Cambria Math" panose="02040503050406030204" pitchFamily="18" charset="0"/>
                      </a:rPr>
                      <m:t>𝑥</m:t>
                    </m:r>
                    <m:r>
                      <a:rPr lang="en-IN" sz="2000" i="1" dirty="0" err="1" smtClean="0">
                        <a:latin typeface="Cambria Math" panose="02040503050406030204" pitchFamily="18" charset="0"/>
                      </a:rPr>
                      <m:t>,</m:t>
                    </m:r>
                    <m:r>
                      <a:rPr lang="en-IN" sz="2000" i="1" dirty="0" err="1" smtClean="0">
                        <a:latin typeface="Cambria Math" panose="02040503050406030204" pitchFamily="18" charset="0"/>
                      </a:rPr>
                      <m:t>𝑦</m:t>
                    </m:r>
                    <m:r>
                      <a:rPr lang="en-IN" sz="2000" i="1" dirty="0" smtClean="0">
                        <a:latin typeface="Cambria Math" panose="02040503050406030204" pitchFamily="18" charset="0"/>
                      </a:rPr>
                      <m:t>) </m:t>
                    </m:r>
                  </m:oMath>
                </a14:m>
                <a:r>
                  <a:rPr lang="en-IN" sz="2000" dirty="0">
                    <a:latin typeface="Sitka Text" pitchFamily="2" charset="0"/>
                  </a:rPr>
                  <a:t>– Reflectance component </a:t>
                </a:r>
                <a14:m>
                  <m:oMath xmlns:m="http://schemas.openxmlformats.org/officeDocument/2006/math">
                    <m:r>
                      <a:rPr lang="en-IN" sz="2000" i="1" dirty="0" smtClean="0">
                        <a:latin typeface="Cambria Math" panose="02040503050406030204" pitchFamily="18" charset="0"/>
                      </a:rPr>
                      <m:t>(0−1)</m:t>
                    </m:r>
                  </m:oMath>
                </a14:m>
                <a:endParaRPr lang="en-IN" sz="2000" dirty="0">
                  <a:latin typeface="Sitka Text" pitchFamily="2"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89547" y="4014460"/>
                <a:ext cx="5009385" cy="1015663"/>
              </a:xfrm>
              <a:prstGeom prst="rect">
                <a:avLst/>
              </a:prstGeom>
              <a:blipFill>
                <a:blip r:embed="rId5"/>
                <a:stretch>
                  <a:fillRect l="-609" t="-3614" b="-10241"/>
                </a:stretch>
              </a:blipFill>
            </p:spPr>
            <p:txBody>
              <a:bodyPr/>
              <a:lstStyle/>
              <a:p>
                <a:r>
                  <a:rPr lang="en-US">
                    <a:noFill/>
                  </a:rPr>
                  <a:t> </a:t>
                </a:r>
              </a:p>
            </p:txBody>
          </p:sp>
        </mc:Fallback>
      </mc:AlternateContent>
      <p:sp>
        <p:nvSpPr>
          <p:cNvPr id="8" name="TextBox 7"/>
          <p:cNvSpPr txBox="1"/>
          <p:nvPr/>
        </p:nvSpPr>
        <p:spPr>
          <a:xfrm>
            <a:off x="7592291" y="6641817"/>
            <a:ext cx="45997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p>
        </p:txBody>
      </p:sp>
      <p:sp>
        <p:nvSpPr>
          <p:cNvPr id="3" name="Rectangle 2"/>
          <p:cNvSpPr/>
          <p:nvPr/>
        </p:nvSpPr>
        <p:spPr>
          <a:xfrm>
            <a:off x="7590691" y="6352132"/>
            <a:ext cx="4015843" cy="253916"/>
          </a:xfrm>
          <a:prstGeom prst="rect">
            <a:avLst/>
          </a:prstGeom>
        </p:spPr>
        <p:txBody>
          <a:bodyPr wrap="none">
            <a:spAutoFit/>
          </a:bodyPr>
          <a:lstStyle/>
          <a:p>
            <a:r>
              <a:rPr lang="en-US" sz="1050" i="1" dirty="0">
                <a:latin typeface="Sitka Text" pitchFamily="2" charset="0"/>
              </a:rPr>
              <a:t>https://www.youtube.com/watch?v=_EhY31MSbNM&amp;t=820s</a:t>
            </a:r>
          </a:p>
        </p:txBody>
      </p:sp>
      <p:sp>
        <p:nvSpPr>
          <p:cNvPr id="5" name="Rectangle 4"/>
          <p:cNvSpPr/>
          <p:nvPr/>
        </p:nvSpPr>
        <p:spPr>
          <a:xfrm>
            <a:off x="7590691" y="6501004"/>
            <a:ext cx="3348994" cy="253916"/>
          </a:xfrm>
          <a:prstGeom prst="rect">
            <a:avLst/>
          </a:prstGeom>
        </p:spPr>
        <p:txBody>
          <a:bodyPr wrap="none">
            <a:spAutoFit/>
          </a:bodyPr>
          <a:lstStyle/>
          <a:p>
            <a:r>
              <a:rPr lang="en-US" sz="1050" i="1" dirty="0">
                <a:latin typeface="Sitka Text" pitchFamily="2" charset="0"/>
              </a:rPr>
              <a:t>https://www.youtube.com/watch?v=7LX-19v_9ns</a:t>
            </a:r>
          </a:p>
        </p:txBody>
      </p:sp>
    </p:spTree>
    <p:extLst>
      <p:ext uri="{BB962C8B-B14F-4D97-AF65-F5344CB8AC3E}">
        <p14:creationId xmlns:p14="http://schemas.microsoft.com/office/powerpoint/2010/main" val="405481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Sitka Small Semibold" pitchFamily="2" charset="0"/>
              </a:rPr>
              <a:t>Image </a:t>
            </a:r>
            <a:r>
              <a:rPr lang="en-US" altLang="en-US" dirty="0">
                <a:latin typeface="Sitka Subheading Semibold" pitchFamily="2" charset="0"/>
              </a:rPr>
              <a:t>Digitization</a:t>
            </a:r>
            <a:endParaRPr lang="en-US" dirty="0"/>
          </a:p>
        </p:txBody>
      </p:sp>
      <p:pic>
        <p:nvPicPr>
          <p:cNvPr id="4" name="Content Placeholder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9465"/>
          <a:stretch/>
        </p:blipFill>
        <p:spPr bwMode="auto">
          <a:xfrm>
            <a:off x="2974864" y="2395204"/>
            <a:ext cx="6242271" cy="3504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7287491" y="6604084"/>
            <a:ext cx="49045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p>
        </p:txBody>
      </p:sp>
      <p:sp>
        <p:nvSpPr>
          <p:cNvPr id="3" name="Rectangle 2"/>
          <p:cNvSpPr/>
          <p:nvPr/>
        </p:nvSpPr>
        <p:spPr>
          <a:xfrm>
            <a:off x="1998740" y="1594343"/>
            <a:ext cx="5041765" cy="369332"/>
          </a:xfrm>
          <a:prstGeom prst="rect">
            <a:avLst/>
          </a:prstGeom>
        </p:spPr>
        <p:txBody>
          <a:bodyPr wrap="none">
            <a:spAutoFit/>
          </a:bodyPr>
          <a:lstStyle/>
          <a:p>
            <a:r>
              <a:rPr lang="en-IN" dirty="0" smtClean="0">
                <a:latin typeface="Sitka Text" pitchFamily="2" charset="0"/>
                <a:ea typeface="Calibri" panose="020F0502020204030204" pitchFamily="34" charset="0"/>
                <a:cs typeface="Times New Roman" panose="02020603050405020304" pitchFamily="18" charset="0"/>
              </a:rPr>
              <a:t>Approximation </a:t>
            </a:r>
            <a:r>
              <a:rPr lang="en-IN" dirty="0">
                <a:latin typeface="Sitka Text" pitchFamily="2" charset="0"/>
                <a:ea typeface="Calibri" panose="020F0502020204030204" pitchFamily="34" charset="0"/>
                <a:cs typeface="Times New Roman" panose="02020603050405020304" pitchFamily="18" charset="0"/>
              </a:rPr>
              <a:t>of a real scene into an </a:t>
            </a:r>
            <a:r>
              <a:rPr lang="en-IN" dirty="0" smtClean="0">
                <a:latin typeface="Sitka Text" pitchFamily="2" charset="0"/>
                <a:ea typeface="Calibri" panose="020F0502020204030204" pitchFamily="34" charset="0"/>
                <a:cs typeface="Times New Roman" panose="02020603050405020304" pitchFamily="18" charset="0"/>
              </a:rPr>
              <a:t>image.</a:t>
            </a:r>
            <a:endParaRPr lang="en-US" dirty="0"/>
          </a:p>
        </p:txBody>
      </p:sp>
    </p:spTree>
    <p:extLst>
      <p:ext uri="{BB962C8B-B14F-4D97-AF65-F5344CB8AC3E}">
        <p14:creationId xmlns:p14="http://schemas.microsoft.com/office/powerpoint/2010/main" val="3449277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Sitka Subheading Semibold" pitchFamily="2" charset="0"/>
              </a:rPr>
              <a:t>Image Digitization</a:t>
            </a:r>
            <a:endParaRPr lang="en-US" dirty="0"/>
          </a:p>
        </p:txBody>
      </p:sp>
      <p:sp>
        <p:nvSpPr>
          <p:cNvPr id="4" name="Rectangle 3"/>
          <p:cNvSpPr txBox="1">
            <a:spLocks noChangeArrowheads="1"/>
          </p:cNvSpPr>
          <p:nvPr/>
        </p:nvSpPr>
        <p:spPr>
          <a:xfrm>
            <a:off x="702994" y="2086798"/>
            <a:ext cx="4435934" cy="3089329"/>
          </a:xfrm>
          <a:prstGeom prst="rect">
            <a:avLst/>
          </a:prstGeom>
          <a:noFill/>
        </p:spPr>
        <p:txBody>
          <a:bodyPr vert="horz" lIns="92075" tIns="46038" rIns="92075" bIns="46038"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50000"/>
              </a:lnSpc>
            </a:pPr>
            <a:r>
              <a:rPr lang="en-US" altLang="en-US" b="1" u="sng" dirty="0">
                <a:solidFill>
                  <a:schemeClr val="tx1"/>
                </a:solidFill>
                <a:latin typeface="Sitka Text" pitchFamily="2" charset="0"/>
              </a:rPr>
              <a:t>Sampling:</a:t>
            </a:r>
            <a:r>
              <a:rPr lang="en-US" altLang="en-US" dirty="0">
                <a:solidFill>
                  <a:schemeClr val="tx1"/>
                </a:solidFill>
                <a:latin typeface="Sitka Text" pitchFamily="2" charset="0"/>
              </a:rPr>
              <a:t> measuring the value of an image at a finite number of points.</a:t>
            </a:r>
          </a:p>
          <a:p>
            <a:pPr>
              <a:lnSpc>
                <a:spcPct val="150000"/>
              </a:lnSpc>
            </a:pPr>
            <a:r>
              <a:rPr lang="en-US" altLang="en-US" b="1" u="sng" dirty="0">
                <a:solidFill>
                  <a:schemeClr val="tx1"/>
                </a:solidFill>
                <a:latin typeface="Sitka Text" pitchFamily="2" charset="0"/>
              </a:rPr>
              <a:t>Quantization</a:t>
            </a:r>
            <a:r>
              <a:rPr lang="en-US" altLang="en-US" dirty="0">
                <a:solidFill>
                  <a:schemeClr val="tx1"/>
                </a:solidFill>
                <a:latin typeface="Sitka Text" pitchFamily="2" charset="0"/>
              </a:rPr>
              <a:t>: representing the measured value at the sampled point by an integer.</a:t>
            </a:r>
          </a:p>
        </p:txBody>
      </p:sp>
      <p:pic>
        <p:nvPicPr>
          <p:cNvPr id="5"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547039" y="1538158"/>
            <a:ext cx="5144484" cy="4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7287491" y="6604084"/>
            <a:ext cx="49045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p>
        </p:txBody>
      </p:sp>
    </p:spTree>
    <p:extLst>
      <p:ext uri="{BB962C8B-B14F-4D97-AF65-F5344CB8AC3E}">
        <p14:creationId xmlns:p14="http://schemas.microsoft.com/office/powerpoint/2010/main" val="137210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Subheading Semibold" pitchFamily="2" charset="0"/>
              </a:rPr>
              <a:t>Digital Image: Representation</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140195"/>
            <a:ext cx="1569856" cy="256816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0957" y="1870011"/>
            <a:ext cx="5859463" cy="3838347"/>
          </a:xfrm>
          <a:prstGeom prst="rect">
            <a:avLst/>
          </a:prstGeom>
        </p:spPr>
      </p:pic>
      <p:sp>
        <p:nvSpPr>
          <p:cNvPr id="7" name="TextBox 6"/>
          <p:cNvSpPr txBox="1"/>
          <p:nvPr/>
        </p:nvSpPr>
        <p:spPr>
          <a:xfrm>
            <a:off x="7287491" y="6604084"/>
            <a:ext cx="49045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p>
        </p:txBody>
      </p:sp>
      <mc:AlternateContent xmlns:mc="http://schemas.openxmlformats.org/markup-compatibility/2006" xmlns:a14="http://schemas.microsoft.com/office/drawing/2010/main">
        <mc:Choice Requires="a14">
          <p:sp>
            <p:nvSpPr>
              <p:cNvPr id="6" name="Rectangle 5"/>
              <p:cNvSpPr/>
              <p:nvPr/>
            </p:nvSpPr>
            <p:spPr>
              <a:xfrm>
                <a:off x="6791748" y="5385192"/>
                <a:ext cx="4817344" cy="646331"/>
              </a:xfrm>
              <a:prstGeom prst="rect">
                <a:avLst/>
              </a:prstGeom>
            </p:spPr>
            <p:txBody>
              <a:bodyPr wrap="none">
                <a:spAutoFit/>
              </a:bodyPr>
              <a:lstStyle/>
              <a:p>
                <a:r>
                  <a:rPr lang="en-IN" dirty="0" smtClean="0">
                    <a:latin typeface="Sitka Text" pitchFamily="2" charset="0"/>
                    <a:ea typeface="Calibri" panose="020F0502020204030204" pitchFamily="34" charset="0"/>
                    <a:cs typeface="Times New Roman" panose="02020603050405020304" pitchFamily="18" charset="0"/>
                  </a:rPr>
                  <a:t>Pixel </a:t>
                </a:r>
                <a:r>
                  <a:rPr lang="en-IN" dirty="0">
                    <a:latin typeface="Sitka Text" pitchFamily="2" charset="0"/>
                    <a:ea typeface="Calibri" panose="020F0502020204030204" pitchFamily="34" charset="0"/>
                    <a:cs typeface="Times New Roman" panose="02020603050405020304" pitchFamily="18" charset="0"/>
                  </a:rPr>
                  <a:t>values or intensity levels range from </a:t>
                </a:r>
                <a:endParaRPr lang="en-US" i="1" dirty="0" smtClean="0">
                  <a:latin typeface="Cambria Math" panose="02040503050406030204" pitchFamily="18" charset="0"/>
                  <a:ea typeface="Calibri" panose="020F0502020204030204" pitchFamily="34" charset="0"/>
                  <a:cs typeface="Times New Roman" panose="02020603050405020304" pitchFamily="18" charset="0"/>
                </a:endParaRPr>
              </a:p>
              <a:p>
                <a:pPr algn="ctr"/>
                <a14:m>
                  <m:oMath xmlns:m="http://schemas.openxmlformats.org/officeDocument/2006/math">
                    <m:r>
                      <a:rPr lang="en-IN" i="1">
                        <a:latin typeface="Cambria Math" panose="02040503050406030204" pitchFamily="18" charset="0"/>
                        <a:ea typeface="Calibri" panose="020F0502020204030204" pitchFamily="34" charset="0"/>
                        <a:cs typeface="Times New Roman" panose="02020603050405020304" pitchFamily="18" charset="0"/>
                      </a:rPr>
                      <m:t>0</m:t>
                    </m:r>
                  </m:oMath>
                </a14:m>
                <a:r>
                  <a:rPr lang="en-IN" dirty="0">
                    <a:latin typeface="Sitka Text" pitchFamily="2" charset="0"/>
                    <a:ea typeface="Calibri" panose="020F0502020204030204" pitchFamily="34" charset="0"/>
                    <a:cs typeface="Times New Roman" panose="02020603050405020304" pitchFamily="18" charset="0"/>
                  </a:rPr>
                  <a:t> to </a:t>
                </a:r>
                <a14:m>
                  <m:oMath xmlns:m="http://schemas.openxmlformats.org/officeDocument/2006/math">
                    <m:r>
                      <a:rPr lang="en-IN" i="1">
                        <a:latin typeface="Cambria Math" panose="02040503050406030204" pitchFamily="18" charset="0"/>
                        <a:ea typeface="Calibri" panose="020F0502020204030204" pitchFamily="34" charset="0"/>
                        <a:cs typeface="Times New Roman" panose="02020603050405020304" pitchFamily="18" charset="0"/>
                      </a:rPr>
                      <m:t>𝐿</m:t>
                    </m:r>
                    <m:r>
                      <a:rPr lang="en-IN" i="1">
                        <a:latin typeface="Cambria Math" panose="02040503050406030204" pitchFamily="18" charset="0"/>
                        <a:ea typeface="Calibri" panose="020F0502020204030204" pitchFamily="34" charset="0"/>
                        <a:cs typeface="Times New Roman" panose="02020603050405020304" pitchFamily="18" charset="0"/>
                      </a:rPr>
                      <m:t>−1</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6791748" y="5385192"/>
                <a:ext cx="4817344" cy="646331"/>
              </a:xfrm>
              <a:prstGeom prst="rect">
                <a:avLst/>
              </a:prstGeom>
              <a:blipFill>
                <a:blip r:embed="rId5"/>
                <a:stretch>
                  <a:fillRect l="-1013" t="-4717" r="-127" b="-13208"/>
                </a:stretch>
              </a:blipFill>
            </p:spPr>
            <p:txBody>
              <a:bodyPr/>
              <a:lstStyle/>
              <a:p>
                <a:r>
                  <a:rPr lang="en-US">
                    <a:noFill/>
                  </a:rPr>
                  <a:t> </a:t>
                </a:r>
              </a:p>
            </p:txBody>
          </p:sp>
        </mc:Fallback>
      </mc:AlternateContent>
    </p:spTree>
    <p:extLst>
      <p:ext uri="{BB962C8B-B14F-4D97-AF65-F5344CB8AC3E}">
        <p14:creationId xmlns:p14="http://schemas.microsoft.com/office/powerpoint/2010/main" val="312590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Subheading Semibold" pitchFamily="2" charset="0"/>
              </a:rPr>
              <a:t>Digital Image: Representation</a:t>
            </a:r>
            <a:endParaRPr lang="en-US" dirty="0"/>
          </a:p>
        </p:txBody>
      </p:sp>
      <p:pic>
        <p:nvPicPr>
          <p:cNvPr id="6" name="Picture 3" descr="image"/>
          <p:cNvPicPr>
            <a:picLocks noChangeAspect="1" noChangeArrowheads="1"/>
          </p:cNvPicPr>
          <p:nvPr/>
        </p:nvPicPr>
        <p:blipFill>
          <a:blip r:embed="rId4" cstate="print">
            <a:lum bright="-30000" contrast="-12000"/>
            <a:extLst>
              <a:ext uri="{28A0092B-C50C-407E-A947-70E740481C1C}">
                <a14:useLocalDpi xmlns:a14="http://schemas.microsoft.com/office/drawing/2010/main" val="0"/>
              </a:ext>
            </a:extLst>
          </a:blip>
          <a:srcRect/>
          <a:stretch>
            <a:fillRect/>
          </a:stretch>
        </p:blipFill>
        <p:spPr bwMode="auto">
          <a:xfrm>
            <a:off x="1124468" y="1969201"/>
            <a:ext cx="4453017" cy="4026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7287491" y="6604084"/>
            <a:ext cx="4904509" cy="253916"/>
          </a:xfrm>
          <a:prstGeom prst="rect">
            <a:avLst/>
          </a:prstGeom>
          <a:noFill/>
        </p:spPr>
        <p:txBody>
          <a:bodyPr wrap="square" rtlCol="0">
            <a:spAutoFit/>
          </a:bodyPr>
          <a:lstStyle/>
          <a:p>
            <a:r>
              <a:rPr lang="en-IN" sz="1050" i="1" dirty="0">
                <a:latin typeface="Sitka Text" pitchFamily="2" charset="0"/>
              </a:rPr>
              <a:t>Gonzalez, Rafael C. Digital image processing. Pearson Education India. </a:t>
            </a:r>
            <a:r>
              <a:rPr lang="en-IN" sz="1050" i="1" dirty="0" smtClean="0">
                <a:latin typeface="Sitka Text" pitchFamily="2" charset="0"/>
              </a:rPr>
              <a:t>v</a:t>
            </a:r>
            <a:endParaRPr lang="en-IN" sz="1050" i="1" dirty="0">
              <a:latin typeface="Sitka Text" pitchFamily="2" charset="0"/>
            </a:endParaRPr>
          </a:p>
        </p:txBody>
      </p:sp>
      <p:graphicFrame>
        <p:nvGraphicFramePr>
          <p:cNvPr id="8" name="Object 4"/>
          <p:cNvGraphicFramePr>
            <a:graphicFrameLocks noChangeAspect="1"/>
          </p:cNvGraphicFramePr>
          <p:nvPr>
            <p:extLst/>
          </p:nvPr>
        </p:nvGraphicFramePr>
        <p:xfrm>
          <a:off x="6559254" y="3982454"/>
          <a:ext cx="5087316" cy="2049500"/>
        </p:xfrm>
        <a:graphic>
          <a:graphicData uri="http://schemas.openxmlformats.org/presentationml/2006/ole">
            <mc:AlternateContent xmlns:mc="http://schemas.openxmlformats.org/markup-compatibility/2006">
              <mc:Choice xmlns:v="urn:schemas-microsoft-com:vml" Requires="v">
                <p:oleObj spid="_x0000_s1043" name="Equation" r:id="rId5" imgW="3403600" imgH="1371600" progId="Equation.DSMT4">
                  <p:embed/>
                </p:oleObj>
              </mc:Choice>
              <mc:Fallback>
                <p:oleObj name="Equation" r:id="rId5" imgW="3403600" imgH="1371600" progId="Equation.DSMT4">
                  <p:embed/>
                  <p:pic>
                    <p:nvPicPr>
                      <p:cNvPr id="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9254" y="3982454"/>
                        <a:ext cx="5087316" cy="204950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7578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Subheading Semibold" pitchFamily="2" charset="0"/>
              </a:rPr>
              <a:t>Digital Image: </a:t>
            </a:r>
            <a:r>
              <a:rPr lang="en-US" dirty="0" smtClean="0">
                <a:latin typeface="Sitka Subheading Semibold" pitchFamily="2" charset="0"/>
              </a:rPr>
              <a:t>Types</a:t>
            </a:r>
            <a:endParaRPr lang="en-US" dirty="0"/>
          </a:p>
        </p:txBody>
      </p:sp>
      <p:pic>
        <p:nvPicPr>
          <p:cNvPr id="4" name="Content Placeholder 3"/>
          <p:cNvPicPr>
            <a:picLocks noGrp="1"/>
          </p:cNvPicPr>
          <p:nvPr>
            <p:ph idx="1"/>
          </p:nvPr>
        </p:nvPicPr>
        <p:blipFill rotWithShape="1">
          <a:blip r:embed="rId2" cstate="print">
            <a:extLst>
              <a:ext uri="{28A0092B-C50C-407E-A947-70E740481C1C}">
                <a14:useLocalDpi xmlns:a14="http://schemas.microsoft.com/office/drawing/2010/main" val="0"/>
              </a:ext>
            </a:extLst>
          </a:blip>
          <a:srcRect b="8777"/>
          <a:stretch/>
        </p:blipFill>
        <p:spPr>
          <a:xfrm>
            <a:off x="1028683" y="2368405"/>
            <a:ext cx="10134634" cy="2971691"/>
          </a:xfrm>
          <a:prstGeom prst="rect">
            <a:avLst/>
          </a:prstGeom>
        </p:spPr>
      </p:pic>
    </p:spTree>
    <p:extLst>
      <p:ext uri="{BB962C8B-B14F-4D97-AF65-F5344CB8AC3E}">
        <p14:creationId xmlns:p14="http://schemas.microsoft.com/office/powerpoint/2010/main" val="2077713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rotWithShape="1">
          <a:blip r:embed="rId2"/>
          <a:srcRect l="27560"/>
          <a:stretch/>
        </p:blipFill>
        <p:spPr>
          <a:xfrm>
            <a:off x="3152273" y="1812006"/>
            <a:ext cx="5506803" cy="4449495"/>
          </a:xfrm>
          <a:prstGeom prst="rect">
            <a:avLst/>
          </a:prstGeom>
        </p:spPr>
      </p:pic>
      <p:sp>
        <p:nvSpPr>
          <p:cNvPr id="5" name="Rectangle 4"/>
          <p:cNvSpPr/>
          <p:nvPr/>
        </p:nvSpPr>
        <p:spPr>
          <a:xfrm>
            <a:off x="6253804" y="6544339"/>
            <a:ext cx="5789808" cy="259320"/>
          </a:xfrm>
          <a:prstGeom prst="rect">
            <a:avLst/>
          </a:prstGeom>
        </p:spPr>
        <p:txBody>
          <a:bodyPr wrap="square">
            <a:spAutoFit/>
          </a:bodyPr>
          <a:lstStyle/>
          <a:p>
            <a:r>
              <a:rPr lang="en-IN" sz="1050" dirty="0">
                <a:latin typeface="Sitka Text" pitchFamily="2" charset="0"/>
              </a:rPr>
              <a:t>https://learnopencv.com/understanding-convolutional-neural-networks-cnn/</a:t>
            </a:r>
          </a:p>
        </p:txBody>
      </p:sp>
      <p:sp>
        <p:nvSpPr>
          <p:cNvPr id="6" name="TextBox 5"/>
          <p:cNvSpPr txBox="1"/>
          <p:nvPr/>
        </p:nvSpPr>
        <p:spPr>
          <a:xfrm>
            <a:off x="8770776" y="3760237"/>
            <a:ext cx="3069771" cy="923330"/>
          </a:xfrm>
          <a:prstGeom prst="rect">
            <a:avLst/>
          </a:prstGeom>
          <a:solidFill>
            <a:schemeClr val="accent1">
              <a:lumMod val="40000"/>
              <a:lumOff val="60000"/>
            </a:schemeClr>
          </a:solidFill>
          <a:ln>
            <a:solidFill>
              <a:srgbClr val="00B0F0"/>
            </a:solidFill>
          </a:ln>
        </p:spPr>
        <p:txBody>
          <a:bodyPr wrap="square" rtlCol="0">
            <a:spAutoFit/>
          </a:bodyPr>
          <a:lstStyle/>
          <a:p>
            <a:pPr marL="285750" indent="-285750">
              <a:buFont typeface="Arial" panose="020B0604020202020204" pitchFamily="34" charset="0"/>
              <a:buChar char="•"/>
            </a:pPr>
            <a:r>
              <a:rPr lang="en-IN" dirty="0">
                <a:latin typeface="Sitka Text" pitchFamily="2" charset="0"/>
              </a:rPr>
              <a:t>Convolutional Layer</a:t>
            </a:r>
          </a:p>
          <a:p>
            <a:pPr marL="285750" indent="-285750">
              <a:buFont typeface="Arial" panose="020B0604020202020204" pitchFamily="34" charset="0"/>
              <a:buChar char="•"/>
            </a:pPr>
            <a:r>
              <a:rPr lang="en-IN" dirty="0">
                <a:latin typeface="Sitka Text" pitchFamily="2" charset="0"/>
              </a:rPr>
              <a:t>Pooling Layer</a:t>
            </a:r>
          </a:p>
          <a:p>
            <a:pPr marL="285750" indent="-285750">
              <a:buFont typeface="Arial" panose="020B0604020202020204" pitchFamily="34" charset="0"/>
              <a:buChar char="•"/>
            </a:pPr>
            <a:r>
              <a:rPr lang="en-IN" dirty="0">
                <a:latin typeface="Sitka Text" pitchFamily="2" charset="0"/>
              </a:rPr>
              <a:t>Fully-connected Layer</a:t>
            </a:r>
          </a:p>
        </p:txBody>
      </p:sp>
      <p:pic>
        <p:nvPicPr>
          <p:cNvPr id="7" name="Picture 6"/>
          <p:cNvPicPr>
            <a:picLocks noChangeAspect="1"/>
          </p:cNvPicPr>
          <p:nvPr/>
        </p:nvPicPr>
        <p:blipFill rotWithShape="1">
          <a:blip r:embed="rId3"/>
          <a:srcRect l="594" t="11932" r="75714" b="24087"/>
          <a:stretch/>
        </p:blipFill>
        <p:spPr>
          <a:xfrm>
            <a:off x="1515679" y="2935253"/>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8" name="Picture 7"/>
          <p:cNvPicPr>
            <a:picLocks noChangeAspect="1"/>
          </p:cNvPicPr>
          <p:nvPr/>
        </p:nvPicPr>
        <p:blipFill rotWithShape="1">
          <a:blip r:embed="rId3"/>
          <a:srcRect t="75953" r="74797" b="11409"/>
          <a:stretch/>
        </p:blipFill>
        <p:spPr>
          <a:xfrm>
            <a:off x="1245336" y="6336732"/>
            <a:ext cx="2535252" cy="466927"/>
          </a:xfrm>
          <a:prstGeom prst="rect">
            <a:avLst/>
          </a:prstGeom>
        </p:spPr>
      </p:pic>
    </p:spTree>
    <p:extLst>
      <p:ext uri="{BB962C8B-B14F-4D97-AF65-F5344CB8AC3E}">
        <p14:creationId xmlns:p14="http://schemas.microsoft.com/office/powerpoint/2010/main" val="318087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Convolutional Layer</a:t>
            </a:r>
            <a:endParaRPr lang="en-IN" dirty="0">
              <a:latin typeface="Sitka Text" pitchFamily="2" charset="0"/>
            </a:endParaRPr>
          </a:p>
        </p:txBody>
      </p:sp>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
        <p:nvSpPr>
          <p:cNvPr id="3" name="Content Placeholder 2"/>
          <p:cNvSpPr>
            <a:spLocks noGrp="1"/>
          </p:cNvSpPr>
          <p:nvPr>
            <p:ph idx="1"/>
          </p:nvPr>
        </p:nvSpPr>
        <p:spPr>
          <a:xfrm>
            <a:off x="838200" y="2091465"/>
            <a:ext cx="10515600" cy="4351338"/>
          </a:xfrm>
        </p:spPr>
        <p:txBody>
          <a:bodyPr>
            <a:normAutofit/>
          </a:bodyPr>
          <a:lstStyle/>
          <a:p>
            <a:pPr>
              <a:lnSpc>
                <a:spcPct val="150000"/>
              </a:lnSpc>
            </a:pPr>
            <a:r>
              <a:rPr lang="en-US" sz="2000" dirty="0" smtClean="0">
                <a:latin typeface="Sitka Text" pitchFamily="2" charset="0"/>
              </a:rPr>
              <a:t>a </a:t>
            </a:r>
            <a:r>
              <a:rPr lang="en-US" sz="2000" dirty="0">
                <a:latin typeface="Sitka Text" pitchFamily="2" charset="0"/>
              </a:rPr>
              <a:t>sum of products is formed (convolution operation), </a:t>
            </a:r>
            <a:endParaRPr lang="en-US" sz="2000" dirty="0" smtClean="0">
              <a:latin typeface="Sitka Text" pitchFamily="2" charset="0"/>
            </a:endParaRPr>
          </a:p>
          <a:p>
            <a:pPr>
              <a:lnSpc>
                <a:spcPct val="150000"/>
              </a:lnSpc>
            </a:pPr>
            <a:r>
              <a:rPr lang="en-US" sz="2000" dirty="0" smtClean="0">
                <a:latin typeface="Sitka Text" pitchFamily="2" charset="0"/>
              </a:rPr>
              <a:t>a </a:t>
            </a:r>
            <a:r>
              <a:rPr lang="en-US" sz="2000" dirty="0">
                <a:latin typeface="Sitka Text" pitchFamily="2" charset="0"/>
              </a:rPr>
              <a:t>bias value is added, </a:t>
            </a:r>
            <a:endParaRPr lang="en-US" sz="2000" dirty="0" smtClean="0">
              <a:latin typeface="Sitka Text" pitchFamily="2" charset="0"/>
            </a:endParaRPr>
          </a:p>
          <a:p>
            <a:pPr>
              <a:lnSpc>
                <a:spcPct val="150000"/>
              </a:lnSpc>
            </a:pPr>
            <a:r>
              <a:rPr lang="en-US" sz="2000" dirty="0" smtClean="0">
                <a:latin typeface="Sitka Text" pitchFamily="2" charset="0"/>
              </a:rPr>
              <a:t>the </a:t>
            </a:r>
            <a:r>
              <a:rPr lang="en-US" sz="2000" dirty="0">
                <a:latin typeface="Sitka Text" pitchFamily="2" charset="0"/>
              </a:rPr>
              <a:t>result is passed through a non-linear activation function, and </a:t>
            </a:r>
            <a:endParaRPr lang="en-US" sz="2000" dirty="0" smtClean="0">
              <a:latin typeface="Sitka Text" pitchFamily="2" charset="0"/>
            </a:endParaRPr>
          </a:p>
          <a:p>
            <a:pPr>
              <a:lnSpc>
                <a:spcPct val="150000"/>
              </a:lnSpc>
            </a:pPr>
            <a:r>
              <a:rPr lang="en-US" sz="2000" dirty="0" smtClean="0">
                <a:latin typeface="Sitka Text" pitchFamily="2" charset="0"/>
              </a:rPr>
              <a:t>the </a:t>
            </a:r>
            <a:r>
              <a:rPr lang="en-US" sz="2000" dirty="0">
                <a:latin typeface="Sitka Text" pitchFamily="2" charset="0"/>
              </a:rPr>
              <a:t>activation value becomes a single input to a following layer.</a:t>
            </a:r>
          </a:p>
          <a:p>
            <a:pPr>
              <a:lnSpc>
                <a:spcPct val="150000"/>
              </a:lnSpc>
            </a:pPr>
            <a:endParaRPr lang="en-US" sz="2000" dirty="0">
              <a:latin typeface="Sitka Text" pitchFamily="2" charset="0"/>
            </a:endParaRPr>
          </a:p>
        </p:txBody>
      </p:sp>
    </p:spTree>
    <p:extLst>
      <p:ext uri="{BB962C8B-B14F-4D97-AF65-F5344CB8AC3E}">
        <p14:creationId xmlns:p14="http://schemas.microsoft.com/office/powerpoint/2010/main" val="10439570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33" y="304964"/>
            <a:ext cx="10515600" cy="1325563"/>
          </a:xfrm>
        </p:spPr>
        <p:txBody>
          <a:bodyPr/>
          <a:lstStyle/>
          <a:p>
            <a:r>
              <a:rPr lang="en-IN" dirty="0">
                <a:latin typeface="Sitka Text" pitchFamily="2" charset="0"/>
              </a:rPr>
              <a:t>Convolution </a:t>
            </a:r>
            <a:r>
              <a:rPr lang="en-IN" dirty="0" smtClean="0">
                <a:latin typeface="Sitka Text" pitchFamily="2" charset="0"/>
              </a:rPr>
              <a:t>Operation</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04483" y="434869"/>
            <a:ext cx="5377440" cy="5771104"/>
          </a:xfrm>
          <a:prstGeom prst="rect">
            <a:avLst/>
          </a:prstGeom>
        </p:spPr>
      </p:pic>
      <p:sp>
        <p:nvSpPr>
          <p:cNvPr id="6" name="TextBox 5"/>
          <p:cNvSpPr txBox="1"/>
          <p:nvPr/>
        </p:nvSpPr>
        <p:spPr>
          <a:xfrm>
            <a:off x="7375359" y="6604084"/>
            <a:ext cx="4606564" cy="253916"/>
          </a:xfrm>
          <a:prstGeom prst="rect">
            <a:avLst/>
          </a:prstGeom>
          <a:noFill/>
        </p:spPr>
        <p:txBody>
          <a:bodyPr wrap="square" rtlCol="0">
            <a:spAutoFit/>
          </a:bodyPr>
          <a:lstStyle/>
          <a:p>
            <a:r>
              <a:rPr lang="en-IN" sz="1050" i="1">
                <a:latin typeface="Sitka Text" pitchFamily="2" charset="0"/>
              </a:rPr>
              <a:t>Gonzalez, Rafael C. Digital image processing. Pearson Education India. </a:t>
            </a:r>
          </a:p>
        </p:txBody>
      </p:sp>
      <p:pic>
        <p:nvPicPr>
          <p:cNvPr id="7" name="Picture 6"/>
          <p:cNvPicPr>
            <a:picLocks noChangeAspect="1"/>
          </p:cNvPicPr>
          <p:nvPr/>
        </p:nvPicPr>
        <p:blipFill>
          <a:blip r:embed="rId4"/>
          <a:stretch>
            <a:fillRect/>
          </a:stretch>
        </p:blipFill>
        <p:spPr>
          <a:xfrm>
            <a:off x="1122190" y="3320421"/>
            <a:ext cx="4988891" cy="735436"/>
          </a:xfrm>
          <a:prstGeom prst="rect">
            <a:avLst/>
          </a:prstGeom>
        </p:spPr>
      </p:pic>
      <p:sp>
        <p:nvSpPr>
          <p:cNvPr id="8" name="Rectangle 7"/>
          <p:cNvSpPr/>
          <p:nvPr/>
        </p:nvSpPr>
        <p:spPr>
          <a:xfrm>
            <a:off x="7086601" y="727114"/>
            <a:ext cx="469231" cy="481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227284" y="727114"/>
            <a:ext cx="469231" cy="481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836310" y="727114"/>
            <a:ext cx="469231" cy="481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86600" y="865934"/>
            <a:ext cx="469231" cy="481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92917" y="2651556"/>
            <a:ext cx="2274982" cy="369332"/>
          </a:xfrm>
          <a:prstGeom prst="rect">
            <a:avLst/>
          </a:prstGeom>
        </p:spPr>
        <p:txBody>
          <a:bodyPr wrap="none">
            <a:spAutoFit/>
          </a:bodyPr>
          <a:lstStyle/>
          <a:p>
            <a:r>
              <a:rPr lang="en-IN" dirty="0" smtClean="0">
                <a:latin typeface="Sitka Text" pitchFamily="2" charset="0"/>
                <a:ea typeface="Calibri" panose="020F0502020204030204" pitchFamily="34" charset="0"/>
                <a:cs typeface="Times New Roman" panose="02020603050405020304" pitchFamily="18" charset="0"/>
              </a:rPr>
              <a:t>Spatial </a:t>
            </a:r>
            <a:r>
              <a:rPr lang="en-IN" dirty="0">
                <a:latin typeface="Sitka Text" pitchFamily="2" charset="0"/>
                <a:ea typeface="Calibri" panose="020F0502020204030204" pitchFamily="34" charset="0"/>
                <a:cs typeface="Times New Roman" panose="02020603050405020304" pitchFamily="18" charset="0"/>
              </a:rPr>
              <a:t>convolution</a:t>
            </a:r>
            <a:endParaRPr lang="en-US" dirty="0"/>
          </a:p>
        </p:txBody>
      </p:sp>
      <p:sp>
        <p:nvSpPr>
          <p:cNvPr id="13" name="Rectangle 12"/>
          <p:cNvSpPr/>
          <p:nvPr/>
        </p:nvSpPr>
        <p:spPr>
          <a:xfrm>
            <a:off x="752696" y="5009664"/>
            <a:ext cx="3308919" cy="369332"/>
          </a:xfrm>
          <a:prstGeom prst="rect">
            <a:avLst/>
          </a:prstGeom>
        </p:spPr>
        <p:txBody>
          <a:bodyPr wrap="none">
            <a:spAutoFit/>
          </a:bodyPr>
          <a:lstStyle/>
          <a:p>
            <a:pPr marL="285750" indent="-285750">
              <a:buFont typeface="Arial" panose="020B0604020202020204" pitchFamily="34" charset="0"/>
              <a:buChar char="•"/>
            </a:pPr>
            <a:r>
              <a:rPr lang="en-US" dirty="0" smtClean="0">
                <a:latin typeface="Sitka Text" pitchFamily="2" charset="0"/>
                <a:ea typeface="Calibri" panose="020F0502020204030204" pitchFamily="34" charset="0"/>
                <a:cs typeface="Times New Roman" panose="02020603050405020304" pitchFamily="18" charset="0"/>
              </a:rPr>
              <a:t>Sum </a:t>
            </a:r>
            <a:r>
              <a:rPr lang="en-US" dirty="0">
                <a:latin typeface="Sitka Text" pitchFamily="2" charset="0"/>
                <a:ea typeface="Calibri" panose="020F0502020204030204" pitchFamily="34" charset="0"/>
                <a:cs typeface="Times New Roman" panose="02020603050405020304" pitchFamily="18" charset="0"/>
              </a:rPr>
              <a:t>of product operation </a:t>
            </a:r>
            <a:endParaRPr lang="en-US" dirty="0"/>
          </a:p>
        </p:txBody>
      </p:sp>
    </p:spTree>
    <p:extLst>
      <p:ext uri="{BB962C8B-B14F-4D97-AF65-F5344CB8AC3E}">
        <p14:creationId xmlns:p14="http://schemas.microsoft.com/office/powerpoint/2010/main" val="160508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 Operation</a:t>
            </a:r>
            <a:endParaRPr lang="en-IN" dirty="0"/>
          </a:p>
        </p:txBody>
      </p:sp>
      <p:pic>
        <p:nvPicPr>
          <p:cNvPr id="7" name="Content Placeholder 6"/>
          <p:cNvPicPr>
            <a:picLocks noGrp="1" noChangeAspect="1"/>
          </p:cNvPicPr>
          <p:nvPr>
            <p:ph idx="1"/>
          </p:nvPr>
        </p:nvPicPr>
        <p:blipFill rotWithShape="1">
          <a:blip r:embed="rId2"/>
          <a:srcRect l="18085" r="18050" b="21938"/>
          <a:stretch/>
        </p:blipFill>
        <p:spPr>
          <a:xfrm>
            <a:off x="6699968" y="1690687"/>
            <a:ext cx="5271207" cy="4815589"/>
          </a:xfrm>
          <a:prstGeom prst="rect">
            <a:avLst/>
          </a:prstGeom>
        </p:spPr>
      </p:pic>
      <p:sp>
        <p:nvSpPr>
          <p:cNvPr id="6" name="Rectangle 5"/>
          <p:cNvSpPr/>
          <p:nvPr/>
        </p:nvSpPr>
        <p:spPr>
          <a:xfrm>
            <a:off x="7256106" y="6506277"/>
            <a:ext cx="4715069" cy="261610"/>
          </a:xfrm>
          <a:prstGeom prst="rect">
            <a:avLst/>
          </a:prstGeom>
        </p:spPr>
        <p:txBody>
          <a:bodyPr wrap="square">
            <a:spAutoFit/>
          </a:bodyPr>
          <a:lstStyle/>
          <a:p>
            <a:r>
              <a:rPr lang="en-US" sz="1050" dirty="0">
                <a:latin typeface="Sitka Text" pitchFamily="2" charset="0"/>
              </a:rPr>
              <a:t>“Neural Networks and Deep Learning”, Aggarwal, C. C. , 2018. </a:t>
            </a:r>
            <a:endParaRPr lang="en-IN" sz="1050" dirty="0"/>
          </a:p>
        </p:txBody>
      </p:sp>
      <p:pic>
        <p:nvPicPr>
          <p:cNvPr id="9" name="Picture 8"/>
          <p:cNvPicPr>
            <a:picLocks noChangeAspect="1"/>
          </p:cNvPicPr>
          <p:nvPr/>
        </p:nvPicPr>
        <p:blipFill>
          <a:blip r:embed="rId3"/>
          <a:stretch>
            <a:fillRect/>
          </a:stretch>
        </p:blipFill>
        <p:spPr>
          <a:xfrm>
            <a:off x="752697" y="2597807"/>
            <a:ext cx="4542318" cy="669604"/>
          </a:xfrm>
          <a:prstGeom prst="rect">
            <a:avLst/>
          </a:prstGeom>
        </p:spPr>
      </p:pic>
      <p:sp>
        <p:nvSpPr>
          <p:cNvPr id="3" name="Rectangle 2"/>
          <p:cNvSpPr/>
          <p:nvPr/>
        </p:nvSpPr>
        <p:spPr>
          <a:xfrm>
            <a:off x="135167" y="5168932"/>
            <a:ext cx="5392967" cy="646331"/>
          </a:xfrm>
          <a:prstGeom prst="rect">
            <a:avLst/>
          </a:prstGeom>
        </p:spPr>
        <p:txBody>
          <a:bodyPr wrap="square">
            <a:spAutoFit/>
          </a:bodyPr>
          <a:lstStyle/>
          <a:p>
            <a:pPr marL="285750" indent="-285750">
              <a:buFont typeface="Arial" panose="020B0604020202020204" pitchFamily="34" charset="0"/>
              <a:buChar char="•"/>
            </a:pPr>
            <a:r>
              <a:rPr lang="en-US" dirty="0" smtClean="0">
                <a:latin typeface="Sitka Text" pitchFamily="2" charset="0"/>
                <a:ea typeface="Calibri" panose="020F0502020204030204" pitchFamily="34" charset="0"/>
                <a:cs typeface="Times New Roman" panose="02020603050405020304" pitchFamily="18" charset="0"/>
              </a:rPr>
              <a:t>Decreasing </a:t>
            </a:r>
            <a:r>
              <a:rPr lang="en-US" dirty="0">
                <a:latin typeface="Sitka Text" pitchFamily="2" charset="0"/>
                <a:ea typeface="Calibri" panose="020F0502020204030204" pitchFamily="34" charset="0"/>
                <a:cs typeface="Times New Roman" panose="02020603050405020304" pitchFamily="18" charset="0"/>
              </a:rPr>
              <a:t>the stride length results in </a:t>
            </a:r>
            <a:r>
              <a:rPr lang="en-US" dirty="0" smtClean="0">
                <a:latin typeface="Sitka Text" pitchFamily="2" charset="0"/>
                <a:ea typeface="Calibri" panose="020F0502020204030204" pitchFamily="34" charset="0"/>
                <a:cs typeface="Times New Roman" panose="02020603050405020304" pitchFamily="18" charset="0"/>
              </a:rPr>
              <a:t>larger </a:t>
            </a:r>
            <a:r>
              <a:rPr lang="en-US" dirty="0">
                <a:latin typeface="Sitka Text" pitchFamily="2" charset="0"/>
                <a:ea typeface="Calibri" panose="020F0502020204030204" pitchFamily="34" charset="0"/>
                <a:cs typeface="Times New Roman" panose="02020603050405020304" pitchFamily="18" charset="0"/>
              </a:rPr>
              <a:t>output feature dimension</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976899" y="3887029"/>
                <a:ext cx="2362378" cy="7085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𝑂</m:t>
                      </m:r>
                      <m:r>
                        <a:rPr lang="en-US">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𝑓</m:t>
                              </m:r>
                              <m:r>
                                <a:rPr lang="en-US" b="0" i="1" smtClean="0">
                                  <a:latin typeface="Cambria Math" panose="02040503050406030204" pitchFamily="18" charset="0"/>
                                </a:rPr>
                                <m:t>+2</m:t>
                              </m:r>
                              <m:r>
                                <a:rPr lang="en-US" b="0" i="1" smtClean="0">
                                  <a:latin typeface="Cambria Math" panose="02040503050406030204" pitchFamily="18" charset="0"/>
                                </a:rPr>
                                <m:t>𝑝</m:t>
                              </m:r>
                            </m:num>
                            <m:den>
                              <m:r>
                                <a:rPr lang="en-US" i="1">
                                  <a:latin typeface="Cambria Math" panose="02040503050406030204" pitchFamily="18" charset="0"/>
                                </a:rPr>
                                <m:t>𝑠</m:t>
                              </m:r>
                            </m:den>
                          </m:f>
                        </m:e>
                      </m:d>
                      <m:r>
                        <a:rPr lang="en-US">
                          <a:latin typeface="Cambria Math" panose="02040503050406030204" pitchFamily="18" charset="0"/>
                        </a:rPr>
                        <m:t>+1</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976899" y="3887029"/>
                <a:ext cx="2362378" cy="70859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9174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Small Semibold" pitchFamily="2" charset="0"/>
              </a:rPr>
              <a:t>Convolution Operation: Padding</a:t>
            </a:r>
            <a:endParaRPr lang="en-US" dirty="0"/>
          </a:p>
        </p:txBody>
      </p:sp>
      <p:pic>
        <p:nvPicPr>
          <p:cNvPr id="4" name="Content Placeholder 3"/>
          <p:cNvPicPr>
            <a:picLocks noGrp="1" noChangeAspect="1"/>
          </p:cNvPicPr>
          <p:nvPr>
            <p:ph idx="1"/>
          </p:nvPr>
        </p:nvPicPr>
        <p:blipFill rotWithShape="1">
          <a:blip r:embed="rId2"/>
          <a:srcRect l="57836" t="8131" r="6269" b="9446"/>
          <a:stretch/>
        </p:blipFill>
        <p:spPr>
          <a:xfrm>
            <a:off x="6096000" y="2829702"/>
            <a:ext cx="1786270" cy="1765005"/>
          </a:xfrm>
          <a:prstGeom prst="rect">
            <a:avLst/>
          </a:prstGeom>
        </p:spPr>
      </p:pic>
      <p:sp>
        <p:nvSpPr>
          <p:cNvPr id="5" name="Rectangle 4"/>
          <p:cNvSpPr/>
          <p:nvPr/>
        </p:nvSpPr>
        <p:spPr>
          <a:xfrm>
            <a:off x="5756988" y="6398278"/>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p>
        </p:txBody>
      </p:sp>
      <p:sp>
        <p:nvSpPr>
          <p:cNvPr id="6" name="Rectangle 5"/>
          <p:cNvSpPr/>
          <p:nvPr/>
        </p:nvSpPr>
        <p:spPr>
          <a:xfrm>
            <a:off x="5756988" y="6606161"/>
            <a:ext cx="4715069" cy="261610"/>
          </a:xfrm>
          <a:prstGeom prst="rect">
            <a:avLst/>
          </a:prstGeom>
        </p:spPr>
        <p:txBody>
          <a:bodyPr wrap="square">
            <a:spAutoFit/>
          </a:bodyPr>
          <a:lstStyle/>
          <a:p>
            <a:r>
              <a:rPr lang="en-US" sz="1050" dirty="0">
                <a:latin typeface="Sitka Text" pitchFamily="2" charset="0"/>
              </a:rPr>
              <a:t>“Neural Networks and Deep Learning”, Aggarwal, C. C. , 2018. </a:t>
            </a:r>
            <a:endParaRPr lang="en-IN" sz="1050" dirty="0"/>
          </a:p>
        </p:txBody>
      </p:sp>
      <p:pic>
        <p:nvPicPr>
          <p:cNvPr id="8" name="Content Placeholder 3"/>
          <p:cNvPicPr>
            <a:picLocks noChangeAspect="1"/>
          </p:cNvPicPr>
          <p:nvPr/>
        </p:nvPicPr>
        <p:blipFill rotWithShape="1">
          <a:blip r:embed="rId2"/>
          <a:srcRect r="44373"/>
          <a:stretch/>
        </p:blipFill>
        <p:spPr>
          <a:xfrm>
            <a:off x="3144984" y="2641502"/>
            <a:ext cx="2768136" cy="2141406"/>
          </a:xfrm>
          <a:prstGeom prst="rect">
            <a:avLst/>
          </a:prstGeom>
        </p:spPr>
      </p:pic>
      <p:sp>
        <p:nvSpPr>
          <p:cNvPr id="3" name="Rectangle 2"/>
          <p:cNvSpPr/>
          <p:nvPr/>
        </p:nvSpPr>
        <p:spPr>
          <a:xfrm>
            <a:off x="838200" y="5716285"/>
            <a:ext cx="9348216" cy="369332"/>
          </a:xfrm>
          <a:prstGeom prst="rect">
            <a:avLst/>
          </a:prstGeom>
        </p:spPr>
        <p:txBody>
          <a:bodyPr wrap="square">
            <a:spAutoFit/>
          </a:bodyPr>
          <a:lstStyle/>
          <a:p>
            <a:pPr marL="285750" indent="-285750">
              <a:buFont typeface="Arial" panose="020B0604020202020204" pitchFamily="34" charset="0"/>
              <a:buChar char="•"/>
            </a:pPr>
            <a:r>
              <a:rPr lang="en-US" dirty="0">
                <a:latin typeface="Sitka Text" pitchFamily="2" charset="0"/>
                <a:ea typeface="Calibri" panose="020F0502020204030204" pitchFamily="34" charset="0"/>
                <a:cs typeface="Times New Roman" panose="02020603050405020304" pitchFamily="18" charset="0"/>
              </a:rPr>
              <a:t>If we increase padding, then the dimension of output would increase</a:t>
            </a:r>
            <a:endParaRPr lang="en-US" dirty="0"/>
          </a:p>
        </p:txBody>
      </p:sp>
      <mc:AlternateContent xmlns:mc="http://schemas.openxmlformats.org/markup-compatibility/2006" xmlns:a14="http://schemas.microsoft.com/office/drawing/2010/main">
        <mc:Choice Requires="a14">
          <p:sp>
            <p:nvSpPr>
              <p:cNvPr id="9" name="Rectangle 8"/>
              <p:cNvSpPr/>
              <p:nvPr/>
            </p:nvSpPr>
            <p:spPr>
              <a:xfrm>
                <a:off x="982891" y="4695032"/>
                <a:ext cx="2362377" cy="7085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𝑂</m:t>
                      </m:r>
                      <m:r>
                        <a:rPr lang="en-US">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+2</m:t>
                              </m:r>
                              <m:r>
                                <a:rPr lang="en-US" i="1">
                                  <a:latin typeface="Cambria Math" panose="02040503050406030204" pitchFamily="18" charset="0"/>
                                </a:rPr>
                                <m:t>𝑝</m:t>
                              </m:r>
                            </m:num>
                            <m:den>
                              <m:r>
                                <a:rPr lang="en-US" i="1">
                                  <a:latin typeface="Cambria Math" panose="02040503050406030204" pitchFamily="18" charset="0"/>
                                </a:rPr>
                                <m:t>𝑠</m:t>
                              </m:r>
                            </m:den>
                          </m:f>
                        </m:e>
                      </m:d>
                      <m:r>
                        <a:rPr lang="en-US">
                          <a:latin typeface="Cambria Math" panose="02040503050406030204" pitchFamily="18" charset="0"/>
                        </a:rPr>
                        <m:t>+1</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982891" y="4695032"/>
                <a:ext cx="2362377" cy="70859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46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 Operation: Padding</a:t>
            </a:r>
            <a:endParaRPr lang="en-US" dirty="0"/>
          </a:p>
        </p:txBody>
      </p:sp>
      <p:pic>
        <p:nvPicPr>
          <p:cNvPr id="4" name="Picture 2" descr="https://learnopencv.com/wp-content/uploads/2024/06/Convolutional-neural-networks-padding-exampl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38200" y="1825625"/>
            <a:ext cx="5315600"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756988" y="6398278"/>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p>
        </p:txBody>
      </p:sp>
      <p:sp>
        <p:nvSpPr>
          <p:cNvPr id="6" name="Rectangle 5"/>
          <p:cNvSpPr/>
          <p:nvPr/>
        </p:nvSpPr>
        <p:spPr>
          <a:xfrm>
            <a:off x="5756988" y="6606161"/>
            <a:ext cx="4715069" cy="261610"/>
          </a:xfrm>
          <a:prstGeom prst="rect">
            <a:avLst/>
          </a:prstGeom>
        </p:spPr>
        <p:txBody>
          <a:bodyPr wrap="square">
            <a:spAutoFit/>
          </a:bodyPr>
          <a:lstStyle/>
          <a:p>
            <a:r>
              <a:rPr lang="en-US" sz="1050" dirty="0">
                <a:latin typeface="Sitka Text" pitchFamily="2" charset="0"/>
              </a:rPr>
              <a:t>“Neural Networks and Deep Learning”, Aggarwal, C. C. , 2018. </a:t>
            </a:r>
            <a:endParaRPr lang="en-IN" sz="1050" dirty="0"/>
          </a:p>
        </p:txBody>
      </p:sp>
    </p:spTree>
    <p:extLst>
      <p:ext uri="{BB962C8B-B14F-4D97-AF65-F5344CB8AC3E}">
        <p14:creationId xmlns:p14="http://schemas.microsoft.com/office/powerpoint/2010/main" val="22741897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2823821" y="1943804"/>
            <a:ext cx="6389452" cy="4394090"/>
          </a:xfrm>
          <a:prstGeom prst="rect">
            <a:avLst/>
          </a:prstGeom>
        </p:spPr>
      </p:pic>
      <p:sp>
        <p:nvSpPr>
          <p:cNvPr id="5" name="Rectangle 4"/>
          <p:cNvSpPr/>
          <p:nvPr/>
        </p:nvSpPr>
        <p:spPr>
          <a:xfrm>
            <a:off x="4858139" y="6544339"/>
            <a:ext cx="6553199" cy="261610"/>
          </a:xfrm>
          <a:prstGeom prst="rect">
            <a:avLst/>
          </a:prstGeom>
        </p:spPr>
        <p:txBody>
          <a:bodyPr wrap="square">
            <a:spAutoFit/>
          </a:bodyPr>
          <a:lstStyle/>
          <a:p>
            <a:r>
              <a:rPr lang="en-IN" sz="1050" dirty="0">
                <a:latin typeface="Sitka Small Semibold" pitchFamily="2" charset="0"/>
              </a:rPr>
              <a:t>https://learnopencv.com/understanding-convolutional-neural-networks-cnn/</a:t>
            </a:r>
          </a:p>
        </p:txBody>
      </p:sp>
      <p:sp>
        <p:nvSpPr>
          <p:cNvPr id="3" name="Rectangle 2"/>
          <p:cNvSpPr/>
          <p:nvPr/>
        </p:nvSpPr>
        <p:spPr>
          <a:xfrm>
            <a:off x="8403693" y="5676638"/>
            <a:ext cx="3504486" cy="369332"/>
          </a:xfrm>
          <a:prstGeom prst="rect">
            <a:avLst/>
          </a:prstGeom>
        </p:spPr>
        <p:txBody>
          <a:bodyPr wrap="none">
            <a:spAutoFit/>
          </a:bodyPr>
          <a:lstStyle/>
          <a:p>
            <a:r>
              <a:rPr lang="en-US" dirty="0">
                <a:latin typeface="Sitka Text" pitchFamily="2" charset="0"/>
                <a:ea typeface="Calibri" panose="020F0502020204030204" pitchFamily="34" charset="0"/>
                <a:cs typeface="Times New Roman" panose="02020603050405020304" pitchFamily="18" charset="0"/>
              </a:rPr>
              <a:t>weight (or parameter) sharing</a:t>
            </a:r>
            <a:endParaRPr lang="en-US" dirty="0"/>
          </a:p>
        </p:txBody>
      </p:sp>
    </p:spTree>
    <p:extLst>
      <p:ext uri="{BB962C8B-B14F-4D97-AF65-F5344CB8AC3E}">
        <p14:creationId xmlns:p14="http://schemas.microsoft.com/office/powerpoint/2010/main" val="65807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744" y="190097"/>
            <a:ext cx="10515600" cy="1325563"/>
          </a:xfrm>
        </p:spPr>
        <p:txBody>
          <a:bodyPr/>
          <a:lstStyle/>
          <a:p>
            <a:r>
              <a:rPr lang="en-IN" dirty="0">
                <a:latin typeface="Sitka Small Semibold" pitchFamily="2" charset="0"/>
              </a:rPr>
              <a:t>Convolutional Layer</a:t>
            </a:r>
            <a:endParaRPr lang="en-IN" dirty="0"/>
          </a:p>
        </p:txBody>
      </p:sp>
      <p:pic>
        <p:nvPicPr>
          <p:cNvPr id="3076" name="Picture 4" descr="https://learnopencv.com/wp-content/uploads/2023/01/tensorflow-keras-convolution-two-filter-exampl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6406" y="1692276"/>
            <a:ext cx="7717458" cy="4022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35894" y="6464855"/>
            <a:ext cx="6527696" cy="261610"/>
          </a:xfrm>
          <a:prstGeom prst="rect">
            <a:avLst/>
          </a:prstGeom>
        </p:spPr>
        <p:txBody>
          <a:bodyPr wrap="square">
            <a:spAutoFit/>
          </a:bodyPr>
          <a:lstStyle/>
          <a:p>
            <a:r>
              <a:rPr lang="en-IN" sz="1050" dirty="0">
                <a:latin typeface="Sitka Small Semibold" pitchFamily="2" charset="0"/>
              </a:rPr>
              <a:t>https://learnopencv.com/understanding-convolutional-neural-networks-cnn/c</a:t>
            </a:r>
          </a:p>
        </p:txBody>
      </p:sp>
      <mc:AlternateContent xmlns:mc="http://schemas.openxmlformats.org/markup-compatibility/2006" xmlns:a14="http://schemas.microsoft.com/office/drawing/2010/main">
        <mc:Choice Requires="a14">
          <p:sp>
            <p:nvSpPr>
              <p:cNvPr id="5" name="Rectangle 4"/>
              <p:cNvSpPr/>
              <p:nvPr/>
            </p:nvSpPr>
            <p:spPr>
              <a:xfrm>
                <a:off x="5583400" y="1104329"/>
                <a:ext cx="6187976" cy="411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r>
                            <a:rPr lang="en-US" i="1">
                              <a:latin typeface="Cambria Math" panose="02040503050406030204" pitchFamily="18" charset="0"/>
                            </a:rPr>
                            <m:t>𝑛𝑢</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𝑓𝑖𝑙𝑡𝑒𝑟𝑠</m:t>
                              </m:r>
                            </m:sub>
                          </m:sSub>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en-US" i="0">
                                  <a:latin typeface="Cambria Math" panose="02040503050406030204" pitchFamily="18" charset="0"/>
                                </a:rPr>
                                <m:t>height</m:t>
                              </m:r>
                            </m:e>
                            <m:sub>
                              <m:r>
                                <a:rPr lang="en-US" i="1">
                                  <a:latin typeface="Cambria Math" panose="02040503050406030204" pitchFamily="18" charset="0"/>
                                </a:rPr>
                                <m:t>𝑓𝑖𝑙𝑡𝑒𝑟</m:t>
                              </m:r>
                            </m:sub>
                          </m:sSub>
                          <m:r>
                            <a:rPr lang="en-US" i="0">
                              <a:latin typeface="Cambria Math" panose="02040503050406030204" pitchFamily="18" charset="0"/>
                            </a:rPr>
                            <m:t>×</m:t>
                          </m:r>
                          <m:r>
                            <a:rPr lang="en-US" i="1">
                              <a:latin typeface="Cambria Math" panose="02040503050406030204" pitchFamily="18" charset="0"/>
                            </a:rPr>
                            <m:t>𝑤𝑖𝑑</m:t>
                          </m:r>
                          <m:sSub>
                            <m:sSubPr>
                              <m:ctrlPr>
                                <a:rPr lang="en-US" i="1">
                                  <a:latin typeface="Cambria Math" panose="02040503050406030204" pitchFamily="18" charset="0"/>
                                </a:rPr>
                              </m:ctrlPr>
                            </m:sSubPr>
                            <m:e>
                              <m:r>
                                <m:rPr>
                                  <m:sty m:val="p"/>
                                </m:rPr>
                                <a:rPr lang="en-US" i="0">
                                  <a:latin typeface="Cambria Math" panose="02040503050406030204" pitchFamily="18" charset="0"/>
                                </a:rPr>
                                <m:t>th</m:t>
                              </m:r>
                            </m:e>
                            <m:sub>
                              <m:r>
                                <a:rPr lang="en-US" i="1">
                                  <a:latin typeface="Cambria Math" panose="02040503050406030204" pitchFamily="18" charset="0"/>
                                </a:rPr>
                                <m:t>𝑓𝑖𝑙𝑡𝑒𝑟</m:t>
                              </m:r>
                            </m:sub>
                          </m:sSub>
                          <m:r>
                            <a:rPr lang="en-US" i="0">
                              <a:latin typeface="Cambria Math" panose="02040503050406030204" pitchFamily="18" charset="0"/>
                            </a:rPr>
                            <m:t>×</m:t>
                          </m:r>
                          <m:r>
                            <a:rPr lang="en-US" i="1">
                              <a:latin typeface="Cambria Math" panose="02040503050406030204" pitchFamily="18" charset="0"/>
                            </a:rPr>
                            <m:t>𝑛𝑢</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𝑐h𝑎𝑛𝑛𝑒𝑙</m:t>
                              </m:r>
                            </m:sub>
                          </m:sSub>
                          <m:r>
                            <a:rPr lang="en-US" i="0">
                              <a:latin typeface="Cambria Math" panose="02040503050406030204" pitchFamily="18" charset="0"/>
                            </a:rPr>
                            <m:t>)+1</m:t>
                          </m:r>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5583400" y="1104329"/>
                <a:ext cx="6187976" cy="411331"/>
              </a:xfrm>
              <a:prstGeom prst="rect">
                <a:avLst/>
              </a:prstGeom>
              <a:blipFill>
                <a:blip r:embed="rId3"/>
                <a:stretch>
                  <a:fillRect t="-151471" r="-9754" b="-223529"/>
                </a:stretch>
              </a:blipFill>
            </p:spPr>
            <p:txBody>
              <a:bodyPr/>
              <a:lstStyle/>
              <a:p>
                <a:r>
                  <a:rPr lang="en-US">
                    <a:noFill/>
                  </a:rPr>
                  <a:t> </a:t>
                </a:r>
              </a:p>
            </p:txBody>
          </p:sp>
        </mc:Fallback>
      </mc:AlternateContent>
    </p:spTree>
    <p:extLst>
      <p:ext uri="{BB962C8B-B14F-4D97-AF65-F5344CB8AC3E}">
        <p14:creationId xmlns:p14="http://schemas.microsoft.com/office/powerpoint/2010/main" val="167375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1289596" y="1646851"/>
            <a:ext cx="9722598"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Small Semibold" pitchFamily="2" charset="0"/>
              </a:rPr>
              <a:t>https://learnopencv.com/understanding-convolutional-neural-networks-cnn/c</a:t>
            </a:r>
          </a:p>
        </p:txBody>
      </p:sp>
      <p:sp>
        <p:nvSpPr>
          <p:cNvPr id="6" name="Rectangle 5"/>
          <p:cNvSpPr/>
          <p:nvPr/>
        </p:nvSpPr>
        <p:spPr>
          <a:xfrm>
            <a:off x="838200" y="5744050"/>
            <a:ext cx="10625390" cy="646331"/>
          </a:xfrm>
          <a:prstGeom prst="rect">
            <a:avLst/>
          </a:prstGeom>
        </p:spPr>
        <p:txBody>
          <a:bodyPr wrap="square">
            <a:spAutoFit/>
          </a:bodyPr>
          <a:lstStyle/>
          <a:p>
            <a:pPr marL="285750" indent="-285750">
              <a:buFont typeface="Arial" panose="020B0604020202020204" pitchFamily="34" charset="0"/>
              <a:buChar char="•"/>
            </a:pPr>
            <a:r>
              <a:rPr lang="en-US" dirty="0" smtClean="0">
                <a:latin typeface="Sitka Text" pitchFamily="2" charset="0"/>
                <a:ea typeface="Calibri" panose="020F0502020204030204" pitchFamily="34" charset="0"/>
                <a:cs typeface="Times New Roman" panose="02020603050405020304" pitchFamily="18" charset="0"/>
              </a:rPr>
              <a:t>Each </a:t>
            </a:r>
            <a:r>
              <a:rPr lang="en-US" dirty="0">
                <a:latin typeface="Sitka Text" pitchFamily="2" charset="0"/>
                <a:ea typeface="Calibri" panose="020F0502020204030204" pitchFamily="34" charset="0"/>
                <a:cs typeface="Times New Roman" panose="02020603050405020304" pitchFamily="18" charset="0"/>
              </a:rPr>
              <a:t>set of weights and bias is different, </a:t>
            </a:r>
            <a:r>
              <a:rPr lang="en-US" dirty="0" smtClean="0">
                <a:latin typeface="Sitka Text" pitchFamily="2" charset="0"/>
                <a:ea typeface="Calibri" panose="020F0502020204030204" pitchFamily="34" charset="0"/>
                <a:cs typeface="Times New Roman" panose="02020603050405020304" pitchFamily="18" charset="0"/>
              </a:rPr>
              <a:t>so each </a:t>
            </a:r>
            <a:r>
              <a:rPr lang="en-US" dirty="0">
                <a:latin typeface="Sitka Text" pitchFamily="2" charset="0"/>
                <a:ea typeface="Calibri" panose="020F0502020204030204" pitchFamily="34" charset="0"/>
                <a:cs typeface="Times New Roman" panose="02020603050405020304" pitchFamily="18" charset="0"/>
              </a:rPr>
              <a:t>feature map </a:t>
            </a:r>
            <a:r>
              <a:rPr lang="en-US" dirty="0" smtClean="0">
                <a:latin typeface="Sitka Text" pitchFamily="2" charset="0"/>
                <a:ea typeface="Calibri" panose="020F0502020204030204" pitchFamily="34" charset="0"/>
                <a:cs typeface="Times New Roman" panose="02020603050405020304" pitchFamily="18" charset="0"/>
              </a:rPr>
              <a:t>will </a:t>
            </a:r>
            <a:r>
              <a:rPr lang="en-US" dirty="0">
                <a:latin typeface="Sitka Text" pitchFamily="2" charset="0"/>
                <a:ea typeface="Calibri" panose="020F0502020204030204" pitchFamily="34" charset="0"/>
                <a:cs typeface="Times New Roman" panose="02020603050405020304" pitchFamily="18" charset="0"/>
              </a:rPr>
              <a:t>contain a different set of features, all extracted from the same input image.</a:t>
            </a:r>
            <a:endParaRPr lang="en-US" dirty="0"/>
          </a:p>
        </p:txBody>
      </p:sp>
    </p:spTree>
    <p:extLst>
      <p:ext uri="{BB962C8B-B14F-4D97-AF65-F5344CB8AC3E}">
        <p14:creationId xmlns:p14="http://schemas.microsoft.com/office/powerpoint/2010/main" val="394396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1939048" y="2296436"/>
            <a:ext cx="8374864" cy="3510805"/>
          </a:xfrm>
          <a:prstGeom prst="rect">
            <a:avLst/>
          </a:prstGeom>
        </p:spPr>
      </p:pic>
      <p:sp>
        <p:nvSpPr>
          <p:cNvPr id="3" name="Rectangle 2"/>
          <p:cNvSpPr/>
          <p:nvPr/>
        </p:nvSpPr>
        <p:spPr>
          <a:xfrm>
            <a:off x="7256106" y="6506277"/>
            <a:ext cx="4715069" cy="261610"/>
          </a:xfrm>
          <a:prstGeom prst="rect">
            <a:avLst/>
          </a:prstGeom>
        </p:spPr>
        <p:txBody>
          <a:bodyPr wrap="square">
            <a:spAutoFit/>
          </a:bodyPr>
          <a:lstStyle/>
          <a:p>
            <a:r>
              <a:rPr lang="en-US" sz="1050" dirty="0">
                <a:latin typeface="Sitka Text" pitchFamily="2" charset="0"/>
              </a:rPr>
              <a:t>“Neural Networks and Deep Learning”, Aggarwal, C. C. , 2018. </a:t>
            </a:r>
            <a:endParaRPr lang="en-IN" sz="1050" dirty="0"/>
          </a:p>
        </p:txBody>
      </p:sp>
    </p:spTree>
    <p:extLst>
      <p:ext uri="{BB962C8B-B14F-4D97-AF65-F5344CB8AC3E}">
        <p14:creationId xmlns:p14="http://schemas.microsoft.com/office/powerpoint/2010/main" val="21686756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Pooling Layer</a:t>
            </a:r>
          </a:p>
        </p:txBody>
      </p:sp>
      <p:pic>
        <p:nvPicPr>
          <p:cNvPr id="4" name="Content Placeholder 3"/>
          <p:cNvPicPr>
            <a:picLocks noGrp="1" noChangeAspect="1"/>
          </p:cNvPicPr>
          <p:nvPr>
            <p:ph idx="1"/>
          </p:nvPr>
        </p:nvPicPr>
        <p:blipFill>
          <a:blip r:embed="rId2"/>
          <a:stretch>
            <a:fillRect/>
          </a:stretch>
        </p:blipFill>
        <p:spPr>
          <a:xfrm>
            <a:off x="1742265" y="1846263"/>
            <a:ext cx="8767796"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https://learnopencv.com/understanding-convolutional-neural-networks-cnn/c</a:t>
            </a:r>
          </a:p>
        </p:txBody>
      </p:sp>
    </p:spTree>
    <p:extLst>
      <p:ext uri="{BB962C8B-B14F-4D97-AF65-F5344CB8AC3E}">
        <p14:creationId xmlns:p14="http://schemas.microsoft.com/office/powerpoint/2010/main" val="13276917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Pooling Layer</a:t>
            </a:r>
            <a:endParaRPr lang="en-IN" dirty="0"/>
          </a:p>
        </p:txBody>
      </p:sp>
      <p:pic>
        <p:nvPicPr>
          <p:cNvPr id="4" name="Content Placeholder 3"/>
          <p:cNvPicPr>
            <a:picLocks noGrp="1" noChangeAspect="1"/>
          </p:cNvPicPr>
          <p:nvPr>
            <p:ph idx="1"/>
          </p:nvPr>
        </p:nvPicPr>
        <p:blipFill rotWithShape="1">
          <a:blip r:embed="rId2"/>
          <a:srcRect l="17381" r="19019" b="25735"/>
          <a:stretch/>
        </p:blipFill>
        <p:spPr>
          <a:xfrm>
            <a:off x="6096000" y="946976"/>
            <a:ext cx="5668068" cy="5167312"/>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500657" y="2822040"/>
                <a:ext cx="1827359" cy="7085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𝑂</m:t>
                      </m:r>
                      <m:r>
                        <a:rPr lang="en-US" i="0">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r>
                                <a:rPr lang="en-US" i="0">
                                  <a:latin typeface="Cambria Math" panose="02040503050406030204" pitchFamily="18" charset="0"/>
                                </a:rPr>
                                <m:t>−</m:t>
                              </m:r>
                              <m:r>
                                <a:rPr lang="en-US" i="1">
                                  <a:latin typeface="Cambria Math" panose="02040503050406030204" pitchFamily="18" charset="0"/>
                                </a:rPr>
                                <m:t>𝑓</m:t>
                              </m:r>
                            </m:num>
                            <m:den>
                              <m:r>
                                <a:rPr lang="en-US" i="1">
                                  <a:latin typeface="Cambria Math" panose="02040503050406030204" pitchFamily="18" charset="0"/>
                                </a:rPr>
                                <m:t>𝑠</m:t>
                              </m:r>
                            </m:den>
                          </m:f>
                        </m:e>
                      </m:d>
                      <m:r>
                        <a:rPr lang="en-US" i="0">
                          <a:latin typeface="Cambria Math" panose="02040503050406030204" pitchFamily="18" charset="0"/>
                        </a:rPr>
                        <m:t>+1</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500657" y="2822040"/>
                <a:ext cx="1827359" cy="708592"/>
              </a:xfrm>
              <a:prstGeom prst="rect">
                <a:avLst/>
              </a:prstGeom>
              <a:blipFill>
                <a:blip r:embed="rId3"/>
                <a:stretch>
                  <a:fillRect/>
                </a:stretch>
              </a:blipFill>
            </p:spPr>
            <p:txBody>
              <a:bodyPr/>
              <a:lstStyle/>
              <a:p>
                <a:r>
                  <a:rPr lang="en-US">
                    <a:noFill/>
                  </a:rPr>
                  <a:t> </a:t>
                </a:r>
              </a:p>
            </p:txBody>
          </p:sp>
        </mc:Fallback>
      </mc:AlternateContent>
      <p:sp>
        <p:nvSpPr>
          <p:cNvPr id="5" name="Rectangle 4"/>
          <p:cNvSpPr/>
          <p:nvPr/>
        </p:nvSpPr>
        <p:spPr>
          <a:xfrm>
            <a:off x="280016" y="5611949"/>
            <a:ext cx="6096000" cy="646331"/>
          </a:xfrm>
          <a:prstGeom prst="rect">
            <a:avLst/>
          </a:prstGeom>
        </p:spPr>
        <p:txBody>
          <a:bodyPr>
            <a:spAutoFit/>
          </a:bodyPr>
          <a:lstStyle/>
          <a:p>
            <a:pPr marL="285750" indent="-285750">
              <a:buFont typeface="Arial" panose="020B0604020202020204" pitchFamily="34" charset="0"/>
              <a:buChar char="•"/>
            </a:pPr>
            <a:r>
              <a:rPr lang="en-US" dirty="0" smtClean="0">
                <a:latin typeface="Sitka Text" pitchFamily="2" charset="0"/>
                <a:ea typeface="Calibri" panose="020F0502020204030204" pitchFamily="34" charset="0"/>
                <a:cs typeface="Times New Roman" panose="02020603050405020304" pitchFamily="18" charset="0"/>
              </a:rPr>
              <a:t>Increasing </a:t>
            </a:r>
            <a:r>
              <a:rPr lang="en-US" dirty="0">
                <a:latin typeface="Sitka Text" pitchFamily="2" charset="0"/>
                <a:ea typeface="Calibri" panose="020F0502020204030204" pitchFamily="34" charset="0"/>
                <a:cs typeface="Times New Roman" panose="02020603050405020304" pitchFamily="18" charset="0"/>
              </a:rPr>
              <a:t>the stride results in reduced output dimension of the pooled feature maps</a:t>
            </a:r>
            <a:endParaRPr lang="en-US" dirty="0"/>
          </a:p>
        </p:txBody>
      </p:sp>
      <p:sp>
        <p:nvSpPr>
          <p:cNvPr id="6" name="Rectangle 5"/>
          <p:cNvSpPr/>
          <p:nvPr/>
        </p:nvSpPr>
        <p:spPr>
          <a:xfrm>
            <a:off x="7256106" y="6506277"/>
            <a:ext cx="4715069" cy="261610"/>
          </a:xfrm>
          <a:prstGeom prst="rect">
            <a:avLst/>
          </a:prstGeom>
        </p:spPr>
        <p:txBody>
          <a:bodyPr wrap="square">
            <a:spAutoFit/>
          </a:bodyPr>
          <a:lstStyle/>
          <a:p>
            <a:r>
              <a:rPr lang="en-US" sz="1050" dirty="0">
                <a:latin typeface="Sitka Text" pitchFamily="2" charset="0"/>
              </a:rPr>
              <a:t>“Neural Networks and Deep Learning”, Aggarwal, C. C. , 2018. </a:t>
            </a:r>
            <a:endParaRPr lang="en-IN" sz="1050" dirty="0"/>
          </a:p>
        </p:txBody>
      </p:sp>
    </p:spTree>
    <p:extLst>
      <p:ext uri="{BB962C8B-B14F-4D97-AF65-F5344CB8AC3E}">
        <p14:creationId xmlns:p14="http://schemas.microsoft.com/office/powerpoint/2010/main" val="386113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Fully-connected Layer</a:t>
            </a:r>
            <a:endParaRPr lang="en-IN" dirty="0"/>
          </a:p>
        </p:txBody>
      </p:sp>
      <p:pic>
        <p:nvPicPr>
          <p:cNvPr id="4" name="Content Placeholder 3"/>
          <p:cNvPicPr>
            <a:picLocks noGrp="1" noChangeAspect="1"/>
          </p:cNvPicPr>
          <p:nvPr>
            <p:ph idx="1"/>
          </p:nvPr>
        </p:nvPicPr>
        <p:blipFill>
          <a:blip r:embed="rId2"/>
          <a:stretch>
            <a:fillRect/>
          </a:stretch>
        </p:blipFill>
        <p:spPr>
          <a:xfrm>
            <a:off x="2593583" y="1846263"/>
            <a:ext cx="7065159"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p>
        </p:txBody>
      </p:sp>
    </p:spTree>
    <p:extLst>
      <p:ext uri="{BB962C8B-B14F-4D97-AF65-F5344CB8AC3E}">
        <p14:creationId xmlns:p14="http://schemas.microsoft.com/office/powerpoint/2010/main" val="40578430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a:blip r:embed="rId2"/>
          <a:srcRect l="1" r="-228"/>
          <a:stretch/>
        </p:blipFill>
        <p:spPr>
          <a:xfrm>
            <a:off x="2949282" y="1846263"/>
            <a:ext cx="6368243" cy="4022725"/>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latin typeface="Sitka Small Semibold" pitchFamily="2" charset="0"/>
              </a:rPr>
              <a:t>https://learnopencv.com/understanding-convolutional-neural-networks-cnn/c</a:t>
            </a:r>
          </a:p>
        </p:txBody>
      </p:sp>
    </p:spTree>
    <p:extLst>
      <p:ext uri="{BB962C8B-B14F-4D97-AF65-F5344CB8AC3E}">
        <p14:creationId xmlns:p14="http://schemas.microsoft.com/office/powerpoint/2010/main" val="3905610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a:blip r:embed="rId2"/>
          <a:stretch>
            <a:fillRect/>
          </a:stretch>
        </p:blipFill>
        <p:spPr>
          <a:xfrm>
            <a:off x="2635729" y="1846263"/>
            <a:ext cx="6980867" cy="4022725"/>
          </a:xfrm>
          <a:prstGeom prst="rect">
            <a:avLst/>
          </a:prstGeom>
        </p:spPr>
      </p:pic>
      <p:sp>
        <p:nvSpPr>
          <p:cNvPr id="3" name="Rectangle 2"/>
          <p:cNvSpPr/>
          <p:nvPr/>
        </p:nvSpPr>
        <p:spPr>
          <a:xfrm>
            <a:off x="2282889" y="6351142"/>
            <a:ext cx="9367935" cy="430887"/>
          </a:xfrm>
          <a:prstGeom prst="rect">
            <a:avLst/>
          </a:prstGeom>
        </p:spPr>
        <p:txBody>
          <a:bodyPr wrap="square">
            <a:spAutoFit/>
          </a:bodyPr>
          <a:lstStyle/>
          <a:p>
            <a:r>
              <a:rPr lang="en-IN" sz="1050" dirty="0" err="1">
                <a:latin typeface="Sitka Text" pitchFamily="2" charset="0"/>
              </a:rPr>
              <a:t>Zeiler</a:t>
            </a:r>
            <a:r>
              <a:rPr lang="en-IN" sz="1050" dirty="0">
                <a:latin typeface="Sitka Text" pitchFamily="2" charset="0"/>
              </a:rPr>
              <a:t>, M. D., &amp; Fergus, R. (2014). Visualizing and understanding convolutional networks. In </a:t>
            </a:r>
            <a:r>
              <a:rPr lang="en-IN" sz="1050" i="1" dirty="0">
                <a:latin typeface="Sitka Text" pitchFamily="2" charset="0"/>
              </a:rPr>
              <a:t>Computer Vision–ECCV 2014: 13th European Conference, Zurich, Switzerland, September 6-12, 2014, Proceedings, Part I 13</a:t>
            </a:r>
            <a:r>
              <a:rPr lang="en-IN" sz="1050" dirty="0">
                <a:latin typeface="Sitka Text" pitchFamily="2" charset="0"/>
              </a:rPr>
              <a:t> (pp. 818-833). Springer International Publishing.</a:t>
            </a:r>
          </a:p>
        </p:txBody>
      </p:sp>
    </p:spTree>
    <p:extLst>
      <p:ext uri="{BB962C8B-B14F-4D97-AF65-F5344CB8AC3E}">
        <p14:creationId xmlns:p14="http://schemas.microsoft.com/office/powerpoint/2010/main" val="21793258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rotWithShape="1">
          <a:blip r:embed="rId3"/>
          <a:srcRect l="14652"/>
          <a:stretch/>
        </p:blipFill>
        <p:spPr>
          <a:xfrm>
            <a:off x="2267337" y="1840785"/>
            <a:ext cx="5982940" cy="4022725"/>
          </a:xfrm>
          <a:prstGeom prst="rect">
            <a:avLst/>
          </a:prstGeom>
        </p:spPr>
      </p:pic>
      <p:pic>
        <p:nvPicPr>
          <p:cNvPr id="6" name="Picture 5"/>
          <p:cNvPicPr>
            <a:picLocks noChangeAspect="1"/>
          </p:cNvPicPr>
          <p:nvPr/>
        </p:nvPicPr>
        <p:blipFill rotWithShape="1">
          <a:blip r:embed="rId4"/>
          <a:srcRect l="594" t="11932" r="75714" b="24087"/>
          <a:stretch/>
        </p:blipFill>
        <p:spPr>
          <a:xfrm>
            <a:off x="608673" y="241837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7" name="Picture 6"/>
          <p:cNvPicPr>
            <a:picLocks noChangeAspect="1"/>
          </p:cNvPicPr>
          <p:nvPr/>
        </p:nvPicPr>
        <p:blipFill rotWithShape="1">
          <a:blip r:embed="rId4"/>
          <a:srcRect t="75953" r="74797" b="11409"/>
          <a:stretch/>
        </p:blipFill>
        <p:spPr>
          <a:xfrm>
            <a:off x="338330" y="5819855"/>
            <a:ext cx="2535252" cy="466927"/>
          </a:xfrm>
          <a:prstGeom prst="rect">
            <a:avLst/>
          </a:prstGeom>
        </p:spPr>
      </p:pic>
      <p:sp>
        <p:nvSpPr>
          <p:cNvPr id="8" name="Rectangle 7"/>
          <p:cNvSpPr/>
          <p:nvPr/>
        </p:nvSpPr>
        <p:spPr>
          <a:xfrm>
            <a:off x="4935894" y="6418200"/>
            <a:ext cx="6527696" cy="430887"/>
          </a:xfrm>
          <a:prstGeom prst="rect">
            <a:avLst/>
          </a:prstGeom>
        </p:spPr>
        <p:txBody>
          <a:bodyPr wrap="square">
            <a:spAutoFit/>
          </a:bodyPr>
          <a:lstStyle/>
          <a:p>
            <a:r>
              <a:rPr lang="en-IN" sz="1050" dirty="0">
                <a:latin typeface="Sitka Text" pitchFamily="2" charset="0"/>
              </a:rPr>
              <a:t>https://learnopencv.com/understanding-convolutional-neural-networks-cnn/</a:t>
            </a:r>
          </a:p>
          <a:p>
            <a:r>
              <a:rPr lang="en-IN" sz="1050" dirty="0">
                <a:latin typeface="Sitka Text" pitchFamily="2" charset="0"/>
              </a:rPr>
              <a:t>https://cs231n.github.io/convolutional-networks/#conv</a:t>
            </a:r>
          </a:p>
        </p:txBody>
      </p:sp>
      <p:sp>
        <p:nvSpPr>
          <p:cNvPr id="9" name="Rectangle 8"/>
          <p:cNvSpPr/>
          <p:nvPr/>
        </p:nvSpPr>
        <p:spPr>
          <a:xfrm>
            <a:off x="8401802" y="1746128"/>
            <a:ext cx="3704253" cy="4616648"/>
          </a:xfrm>
          <a:prstGeom prst="rect">
            <a:avLst/>
          </a:prstGeom>
        </p:spPr>
        <p:txBody>
          <a:bodyPr wrap="square">
            <a:spAutoFit/>
          </a:bodyPr>
          <a:lstStyle/>
          <a:p>
            <a:r>
              <a:rPr lang="en-IN" sz="1400" dirty="0">
                <a:latin typeface="Sitka Text" pitchFamily="2" charset="0"/>
              </a:rPr>
              <a:t>Conv1-1: (3*3*3)*64 = 1,728</a:t>
            </a:r>
          </a:p>
          <a:p>
            <a:r>
              <a:rPr lang="en-IN" sz="1400" dirty="0">
                <a:latin typeface="Sitka Text" pitchFamily="2" charset="0"/>
              </a:rPr>
              <a:t>Conv1-2: (3*3*64)*64 = 36,864</a:t>
            </a:r>
          </a:p>
          <a:p>
            <a:endParaRPr lang="en-IN" sz="1400" dirty="0">
              <a:latin typeface="Sitka Text" pitchFamily="2" charset="0"/>
            </a:endParaRPr>
          </a:p>
          <a:p>
            <a:r>
              <a:rPr lang="en-IN" sz="1400" dirty="0">
                <a:latin typeface="Sitka Text" pitchFamily="2" charset="0"/>
              </a:rPr>
              <a:t>Conv2-1: (3*3*64)*128 = 73,728</a:t>
            </a:r>
          </a:p>
          <a:p>
            <a:r>
              <a:rPr lang="en-IN" sz="1400" dirty="0">
                <a:latin typeface="Sitka Text" pitchFamily="2" charset="0"/>
              </a:rPr>
              <a:t>Conv2-2: (3*3*128)*128 = 147,456</a:t>
            </a:r>
          </a:p>
          <a:p>
            <a:endParaRPr lang="en-IN" sz="1400" dirty="0">
              <a:latin typeface="Sitka Text" pitchFamily="2" charset="0"/>
            </a:endParaRPr>
          </a:p>
          <a:p>
            <a:r>
              <a:rPr lang="en-IN" sz="1400" dirty="0">
                <a:latin typeface="Sitka Text" pitchFamily="2" charset="0"/>
              </a:rPr>
              <a:t>Conv3-1: (3*3*128)*256 = 294,912</a:t>
            </a:r>
          </a:p>
          <a:p>
            <a:r>
              <a:rPr lang="en-IN" sz="1400" dirty="0">
                <a:latin typeface="Sitka Text" pitchFamily="2" charset="0"/>
              </a:rPr>
              <a:t>Conv3-2: (3*3*256)*256 = 589,824</a:t>
            </a:r>
          </a:p>
          <a:p>
            <a:r>
              <a:rPr lang="en-IN" sz="1400" dirty="0">
                <a:latin typeface="Sitka Text" pitchFamily="2" charset="0"/>
              </a:rPr>
              <a:t>Conv3-3: (3*3*256)*256 = 589,824</a:t>
            </a:r>
          </a:p>
          <a:p>
            <a:endParaRPr lang="en-IN" sz="1400" dirty="0">
              <a:latin typeface="Sitka Text" pitchFamily="2" charset="0"/>
            </a:endParaRPr>
          </a:p>
          <a:p>
            <a:r>
              <a:rPr lang="en-IN" sz="1400" dirty="0">
                <a:latin typeface="Sitka Text" pitchFamily="2" charset="0"/>
              </a:rPr>
              <a:t>Conv4-1: (3*3*256)*512 = 1,179,648</a:t>
            </a:r>
          </a:p>
          <a:p>
            <a:r>
              <a:rPr lang="en-IN" sz="1400" dirty="0">
                <a:latin typeface="Sitka Text" pitchFamily="2" charset="0"/>
              </a:rPr>
              <a:t>Conv4-2: (3*3*512)*512 = 2,359,296</a:t>
            </a:r>
          </a:p>
          <a:p>
            <a:r>
              <a:rPr lang="en-IN" sz="1400" dirty="0">
                <a:latin typeface="Sitka Text" pitchFamily="2" charset="0"/>
              </a:rPr>
              <a:t>Conv4-3: (3*3*512)*512 = 2,359,296</a:t>
            </a:r>
          </a:p>
          <a:p>
            <a:endParaRPr lang="en-IN" sz="1400" dirty="0">
              <a:latin typeface="Sitka Text" pitchFamily="2" charset="0"/>
            </a:endParaRPr>
          </a:p>
          <a:p>
            <a:r>
              <a:rPr lang="en-IN" sz="1400" dirty="0">
                <a:latin typeface="Sitka Text" pitchFamily="2" charset="0"/>
              </a:rPr>
              <a:t>Conv5-1: (3*3*512)*512 = 2,359,296</a:t>
            </a:r>
          </a:p>
          <a:p>
            <a:r>
              <a:rPr lang="en-IN" sz="1400" dirty="0">
                <a:latin typeface="Sitka Text" pitchFamily="2" charset="0"/>
              </a:rPr>
              <a:t>Conv5-2: (3*3*512)*512 = 2,359,296</a:t>
            </a:r>
          </a:p>
          <a:p>
            <a:r>
              <a:rPr lang="en-IN" sz="1400" dirty="0">
                <a:latin typeface="Sitka Text" pitchFamily="2" charset="0"/>
              </a:rPr>
              <a:t>Conv5-3: (3*3*512)*512 = 2,359,296</a:t>
            </a:r>
          </a:p>
          <a:p>
            <a:endParaRPr lang="en-IN" sz="1400" dirty="0">
              <a:latin typeface="Sitka Text" pitchFamily="2" charset="0"/>
            </a:endParaRPr>
          </a:p>
          <a:p>
            <a:r>
              <a:rPr lang="en-IN" sz="1400" dirty="0">
                <a:latin typeface="Sitka Text" pitchFamily="2" charset="0"/>
              </a:rPr>
              <a:t>FC-6: 7*7*512*4096 = 102,760,448</a:t>
            </a:r>
          </a:p>
          <a:p>
            <a:r>
              <a:rPr lang="en-IN" sz="1400" dirty="0">
                <a:latin typeface="Sitka Text" pitchFamily="2" charset="0"/>
              </a:rPr>
              <a:t>FC-7: 4096*4096 = 16,777,216</a:t>
            </a:r>
          </a:p>
          <a:p>
            <a:r>
              <a:rPr lang="en-IN" sz="1400" dirty="0">
                <a:latin typeface="Sitka Text" pitchFamily="2" charset="0"/>
              </a:rPr>
              <a:t>FC-8: 4096*1000 = 4,096,000</a:t>
            </a:r>
          </a:p>
        </p:txBody>
      </p:sp>
      <p:sp>
        <p:nvSpPr>
          <p:cNvPr id="16" name="Rectangle 15"/>
          <p:cNvSpPr/>
          <p:nvPr/>
        </p:nvSpPr>
        <p:spPr>
          <a:xfrm>
            <a:off x="4532246" y="5794850"/>
            <a:ext cx="2784737" cy="369332"/>
          </a:xfrm>
          <a:prstGeom prst="rect">
            <a:avLst/>
          </a:prstGeom>
        </p:spPr>
        <p:txBody>
          <a:bodyPr wrap="none">
            <a:spAutoFit/>
          </a:bodyPr>
          <a:lstStyle/>
          <a:p>
            <a:r>
              <a:rPr lang="en-IN" dirty="0">
                <a:latin typeface="Sitka Text" pitchFamily="2" charset="0"/>
              </a:rPr>
              <a:t>Total: 138M parameters</a:t>
            </a:r>
          </a:p>
        </p:txBody>
      </p:sp>
      <p:sp>
        <p:nvSpPr>
          <p:cNvPr id="10" name="Rectangle 9"/>
          <p:cNvSpPr/>
          <p:nvPr/>
        </p:nvSpPr>
        <p:spPr>
          <a:xfrm>
            <a:off x="4310229" y="1592866"/>
            <a:ext cx="3228769" cy="307777"/>
          </a:xfrm>
          <a:prstGeom prst="rect">
            <a:avLst/>
          </a:prstGeom>
        </p:spPr>
        <p:txBody>
          <a:bodyPr wrap="none">
            <a:spAutoFit/>
          </a:bodyPr>
          <a:lstStyle/>
          <a:p>
            <a:r>
              <a:rPr lang="en-IN" sz="1400" b="1" dirty="0" err="1" smtClean="0">
                <a:solidFill>
                  <a:srgbClr val="0070C0"/>
                </a:solidFill>
                <a:latin typeface="Sitka Text" pitchFamily="2" charset="0"/>
              </a:rPr>
              <a:t>Dim_filter</a:t>
            </a:r>
            <a:r>
              <a:rPr lang="en-IN" sz="1400" b="1" dirty="0" smtClean="0">
                <a:solidFill>
                  <a:srgbClr val="0070C0"/>
                </a:solidFill>
                <a:latin typeface="Sitka Text" pitchFamily="2" charset="0"/>
              </a:rPr>
              <a:t> </a:t>
            </a:r>
            <a:r>
              <a:rPr lang="en-IN" sz="1400" b="1" dirty="0">
                <a:solidFill>
                  <a:srgbClr val="0070C0"/>
                </a:solidFill>
                <a:latin typeface="Sitka Text" pitchFamily="2" charset="0"/>
              </a:rPr>
              <a:t>* </a:t>
            </a:r>
            <a:r>
              <a:rPr lang="en-IN" sz="1400" b="1" dirty="0" err="1" smtClean="0">
                <a:solidFill>
                  <a:srgbClr val="0070C0"/>
                </a:solidFill>
                <a:latin typeface="Sitka Text" pitchFamily="2" charset="0"/>
              </a:rPr>
              <a:t>n_channel</a:t>
            </a:r>
            <a:r>
              <a:rPr lang="en-IN" sz="1400" b="1" dirty="0" smtClean="0">
                <a:solidFill>
                  <a:srgbClr val="0070C0"/>
                </a:solidFill>
                <a:latin typeface="Sitka Text" pitchFamily="2" charset="0"/>
              </a:rPr>
              <a:t> * </a:t>
            </a:r>
            <a:r>
              <a:rPr lang="en-IN" sz="1400" b="1" dirty="0" err="1" smtClean="0">
                <a:solidFill>
                  <a:srgbClr val="0070C0"/>
                </a:solidFill>
                <a:latin typeface="Sitka Text" pitchFamily="2" charset="0"/>
              </a:rPr>
              <a:t>n_filters</a:t>
            </a:r>
            <a:endParaRPr lang="en-IN" sz="1400" b="1" dirty="0">
              <a:solidFill>
                <a:srgbClr val="0070C0"/>
              </a:solidFill>
              <a:latin typeface="Sitka Text" pitchFamily="2" charset="0"/>
            </a:endParaRPr>
          </a:p>
        </p:txBody>
      </p:sp>
    </p:spTree>
    <p:extLst>
      <p:ext uri="{BB962C8B-B14F-4D97-AF65-F5344CB8AC3E}">
        <p14:creationId xmlns:p14="http://schemas.microsoft.com/office/powerpoint/2010/main" val="407224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20" end="2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Pre-trained CNNs and Transfer Learning</a:t>
            </a:r>
          </a:p>
        </p:txBody>
      </p:sp>
      <p:pic>
        <p:nvPicPr>
          <p:cNvPr id="4" name="Content Placeholder 3"/>
          <p:cNvPicPr>
            <a:picLocks noGrp="1" noChangeAspect="1"/>
          </p:cNvPicPr>
          <p:nvPr>
            <p:ph idx="1"/>
          </p:nvPr>
        </p:nvPicPr>
        <p:blipFill>
          <a:blip r:embed="rId2"/>
          <a:stretch>
            <a:fillRect/>
          </a:stretch>
        </p:blipFill>
        <p:spPr>
          <a:xfrm>
            <a:off x="3358575" y="1846263"/>
            <a:ext cx="553517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
        <p:nvSpPr>
          <p:cNvPr id="3" name="Rectangle 2"/>
          <p:cNvSpPr/>
          <p:nvPr/>
        </p:nvSpPr>
        <p:spPr>
          <a:xfrm>
            <a:off x="1200912" y="5837331"/>
            <a:ext cx="10152888" cy="369332"/>
          </a:xfrm>
          <a:prstGeom prst="rect">
            <a:avLst/>
          </a:prstGeom>
        </p:spPr>
        <p:txBody>
          <a:bodyPr wrap="square">
            <a:spAutoFit/>
          </a:bodyPr>
          <a:lstStyle/>
          <a:p>
            <a:pPr marL="285750" indent="-285750">
              <a:buFont typeface="Arial" panose="020B0604020202020204" pitchFamily="34" charset="0"/>
              <a:buChar char="•"/>
            </a:pPr>
            <a:r>
              <a:rPr lang="en-US" dirty="0" smtClean="0">
                <a:latin typeface="Sitka Text" pitchFamily="2" charset="0"/>
                <a:ea typeface="Calibri" panose="020F0502020204030204" pitchFamily="34" charset="0"/>
                <a:cs typeface="Times New Roman" panose="02020603050405020304" pitchFamily="18" charset="0"/>
              </a:rPr>
              <a:t>Approach </a:t>
            </a:r>
            <a:r>
              <a:rPr lang="en-US" dirty="0">
                <a:latin typeface="Sitka Text" pitchFamily="2" charset="0"/>
                <a:ea typeface="Calibri" panose="020F0502020204030204" pitchFamily="34" charset="0"/>
                <a:cs typeface="Times New Roman" panose="02020603050405020304" pitchFamily="18" charset="0"/>
              </a:rPr>
              <a:t>for re-purposing a pre-trained model to make predictions on a new dataset</a:t>
            </a:r>
            <a:endParaRPr lang="en-US" dirty="0"/>
          </a:p>
        </p:txBody>
      </p:sp>
    </p:spTree>
    <p:extLst>
      <p:ext uri="{BB962C8B-B14F-4D97-AF65-F5344CB8AC3E}">
        <p14:creationId xmlns:p14="http://schemas.microsoft.com/office/powerpoint/2010/main" val="136473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Pre-trained CNNs and Fine-tuning</a:t>
            </a:r>
            <a:endParaRPr lang="en-IN" dirty="0"/>
          </a:p>
        </p:txBody>
      </p:sp>
      <p:pic>
        <p:nvPicPr>
          <p:cNvPr id="4" name="Content Placeholder 3"/>
          <p:cNvPicPr>
            <a:picLocks noGrp="1" noChangeAspect="1"/>
          </p:cNvPicPr>
          <p:nvPr>
            <p:ph idx="1"/>
          </p:nvPr>
        </p:nvPicPr>
        <p:blipFill>
          <a:blip r:embed="rId2"/>
          <a:stretch>
            <a:fillRect/>
          </a:stretch>
        </p:blipFill>
        <p:spPr>
          <a:xfrm>
            <a:off x="3321255" y="1846263"/>
            <a:ext cx="560981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42151485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50000"/>
              </a:lnSpc>
            </a:pPr>
            <a:r>
              <a:rPr lang="en-US" sz="4000" dirty="0">
                <a:latin typeface="Sitka Small Semibold" pitchFamily="2" charset="0"/>
              </a:rPr>
              <a:t>ImageNet Dataset</a:t>
            </a:r>
          </a:p>
        </p:txBody>
      </p:sp>
      <p:pic>
        <p:nvPicPr>
          <p:cNvPr id="4" name="Content Placeholder 3"/>
          <p:cNvPicPr>
            <a:picLocks noGrp="1" noChangeAspect="1"/>
          </p:cNvPicPr>
          <p:nvPr>
            <p:ph idx="1"/>
          </p:nvPr>
        </p:nvPicPr>
        <p:blipFill rotWithShape="1">
          <a:blip r:embed="rId2"/>
          <a:srcRect b="3665"/>
          <a:stretch/>
        </p:blipFill>
        <p:spPr>
          <a:xfrm>
            <a:off x="5927478" y="180071"/>
            <a:ext cx="6152225" cy="6112477"/>
          </a:xfrm>
          <a:prstGeom prst="rect">
            <a:avLst/>
          </a:prstGeom>
        </p:spPr>
      </p:pic>
      <p:sp>
        <p:nvSpPr>
          <p:cNvPr id="6" name="TextBox 5"/>
          <p:cNvSpPr txBox="1"/>
          <p:nvPr/>
        </p:nvSpPr>
        <p:spPr>
          <a:xfrm>
            <a:off x="1139006" y="2743408"/>
            <a:ext cx="467077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smtClean="0">
                <a:latin typeface="Sitka Text" pitchFamily="2" charset="0"/>
              </a:rPr>
              <a:t>1000 </a:t>
            </a:r>
            <a:r>
              <a:rPr lang="en-US" dirty="0">
                <a:latin typeface="Sitka Text" pitchFamily="2" charset="0"/>
              </a:rPr>
              <a:t>Classes</a:t>
            </a:r>
          </a:p>
          <a:p>
            <a:pPr marL="285750" indent="-285750">
              <a:lnSpc>
                <a:spcPct val="150000"/>
              </a:lnSpc>
              <a:buFont typeface="Arial" panose="020B0604020202020204" pitchFamily="34" charset="0"/>
              <a:buChar char="•"/>
            </a:pPr>
            <a:r>
              <a:rPr lang="en-US" dirty="0">
                <a:latin typeface="Sitka Text" pitchFamily="2" charset="0"/>
              </a:rPr>
              <a:t>1,431,167 </a:t>
            </a:r>
            <a:r>
              <a:rPr lang="en-US" dirty="0" smtClean="0">
                <a:latin typeface="Sitka Text" pitchFamily="2" charset="0"/>
              </a:rPr>
              <a:t>or 1.4 million images</a:t>
            </a:r>
            <a:endParaRPr lang="en-US" dirty="0">
              <a:latin typeface="Sitka Text" pitchFamily="2" charset="0"/>
            </a:endParaRPr>
          </a:p>
        </p:txBody>
      </p:sp>
      <p:sp>
        <p:nvSpPr>
          <p:cNvPr id="7" name="Rectangle 6"/>
          <p:cNvSpPr/>
          <p:nvPr/>
        </p:nvSpPr>
        <p:spPr>
          <a:xfrm>
            <a:off x="399495" y="6427113"/>
            <a:ext cx="11566345" cy="261610"/>
          </a:xfrm>
          <a:prstGeom prst="rect">
            <a:avLst/>
          </a:prstGeom>
        </p:spPr>
        <p:txBody>
          <a:bodyPr wrap="square">
            <a:spAutoFit/>
          </a:bodyPr>
          <a:lstStyle/>
          <a:p>
            <a:r>
              <a:rPr lang="en-US" sz="1100" dirty="0">
                <a:latin typeface="Sitka Text" pitchFamily="2" charset="0"/>
              </a:rPr>
              <a:t>J. Deng, W. Dong, R. </a:t>
            </a:r>
            <a:r>
              <a:rPr lang="en-US" sz="1100" dirty="0" err="1">
                <a:latin typeface="Sitka Text" pitchFamily="2" charset="0"/>
              </a:rPr>
              <a:t>Socher</a:t>
            </a:r>
            <a:r>
              <a:rPr lang="en-US" sz="1100" dirty="0">
                <a:latin typeface="Sitka Text" pitchFamily="2" charset="0"/>
              </a:rPr>
              <a:t>, L.-J. Li, K. Li and L. </a:t>
            </a:r>
            <a:r>
              <a:rPr lang="en-US" sz="1100" dirty="0" err="1">
                <a:latin typeface="Sitka Text" pitchFamily="2" charset="0"/>
              </a:rPr>
              <a:t>Fei-Fei</a:t>
            </a:r>
            <a:r>
              <a:rPr lang="en-US" sz="1100" dirty="0">
                <a:latin typeface="Sitka Text" pitchFamily="2" charset="0"/>
              </a:rPr>
              <a:t>, ImageNet: A Large-Scale Hierarchical Image Database. IEEE Computer Vision and Pattern Recognition (CVPR), 2009.</a:t>
            </a:r>
          </a:p>
        </p:txBody>
      </p:sp>
      <p:sp>
        <p:nvSpPr>
          <p:cNvPr id="3" name="Rectangle 2"/>
          <p:cNvSpPr/>
          <p:nvPr/>
        </p:nvSpPr>
        <p:spPr>
          <a:xfrm>
            <a:off x="806604" y="1871925"/>
            <a:ext cx="5003181" cy="646331"/>
          </a:xfrm>
          <a:prstGeom prst="rect">
            <a:avLst/>
          </a:prstGeom>
        </p:spPr>
        <p:txBody>
          <a:bodyPr wrap="square">
            <a:spAutoFit/>
          </a:bodyPr>
          <a:lstStyle/>
          <a:p>
            <a:r>
              <a:rPr lang="en-US" dirty="0">
                <a:solidFill>
                  <a:srgbClr val="333333"/>
                </a:solidFill>
                <a:latin typeface="Sitka Text" pitchFamily="2" charset="0"/>
              </a:rPr>
              <a:t>ImageNet Large Scale Visual Recognition </a:t>
            </a:r>
            <a:endParaRPr lang="en-US" dirty="0" smtClean="0">
              <a:solidFill>
                <a:srgbClr val="333333"/>
              </a:solidFill>
              <a:latin typeface="Sitka Text" pitchFamily="2" charset="0"/>
            </a:endParaRPr>
          </a:p>
          <a:p>
            <a:r>
              <a:rPr lang="en-US" dirty="0" smtClean="0">
                <a:solidFill>
                  <a:srgbClr val="333333"/>
                </a:solidFill>
                <a:latin typeface="Sitka Text" pitchFamily="2" charset="0"/>
              </a:rPr>
              <a:t>Challenge </a:t>
            </a:r>
            <a:r>
              <a:rPr lang="en-US" dirty="0">
                <a:solidFill>
                  <a:srgbClr val="333333"/>
                </a:solidFill>
                <a:latin typeface="Sitka Text" pitchFamily="2" charset="0"/>
              </a:rPr>
              <a:t>(ILSVRC</a:t>
            </a:r>
            <a:r>
              <a:rPr lang="en-US" dirty="0" smtClean="0">
                <a:solidFill>
                  <a:srgbClr val="333333"/>
                </a:solidFill>
                <a:latin typeface="Sitka Text" pitchFamily="2" charset="0"/>
              </a:rPr>
              <a:t>): 2010</a:t>
            </a:r>
            <a:endParaRPr lang="en-US" i="0" dirty="0">
              <a:solidFill>
                <a:srgbClr val="333333"/>
              </a:solidFill>
              <a:effectLst/>
              <a:latin typeface="Sitka Text" pitchFamily="2" charset="0"/>
            </a:endParaRPr>
          </a:p>
        </p:txBody>
      </p:sp>
      <p:sp>
        <p:nvSpPr>
          <p:cNvPr id="5" name="Rectangle 4"/>
          <p:cNvSpPr/>
          <p:nvPr/>
        </p:nvSpPr>
        <p:spPr>
          <a:xfrm>
            <a:off x="2842033" y="6596390"/>
            <a:ext cx="9237670" cy="261610"/>
          </a:xfrm>
          <a:prstGeom prst="rect">
            <a:avLst/>
          </a:prstGeom>
        </p:spPr>
        <p:txBody>
          <a:bodyPr wrap="square">
            <a:spAutoFit/>
          </a:bodyPr>
          <a:lstStyle/>
          <a:p>
            <a:r>
              <a:rPr lang="en-US" sz="1100" dirty="0" err="1">
                <a:latin typeface="Sitka Text" pitchFamily="2" charset="0"/>
              </a:rPr>
              <a:t>Russakovsky</a:t>
            </a:r>
            <a:r>
              <a:rPr lang="en-US" sz="1100" dirty="0">
                <a:latin typeface="Sitka Text" pitchFamily="2" charset="0"/>
              </a:rPr>
              <a:t>, Olga, et al. "</a:t>
            </a:r>
            <a:r>
              <a:rPr lang="en-US" sz="1100" dirty="0" err="1">
                <a:latin typeface="Sitka Text" pitchFamily="2" charset="0"/>
              </a:rPr>
              <a:t>Imagenet</a:t>
            </a:r>
            <a:r>
              <a:rPr lang="en-US" sz="1100" dirty="0">
                <a:latin typeface="Sitka Text" pitchFamily="2" charset="0"/>
              </a:rPr>
              <a:t> large scale visual recognition challenge." </a:t>
            </a:r>
            <a:r>
              <a:rPr lang="en-US" sz="1100" i="1" dirty="0">
                <a:latin typeface="Sitka Text" pitchFamily="2" charset="0"/>
              </a:rPr>
              <a:t>International journal of computer vision</a:t>
            </a:r>
            <a:r>
              <a:rPr lang="en-US" sz="1100" dirty="0">
                <a:latin typeface="Sitka Text" pitchFamily="2" charset="0"/>
              </a:rPr>
              <a:t> 115 (2015): 211-252.</a:t>
            </a:r>
          </a:p>
        </p:txBody>
      </p:sp>
    </p:spTree>
    <p:extLst>
      <p:ext uri="{BB962C8B-B14F-4D97-AF65-F5344CB8AC3E}">
        <p14:creationId xmlns:p14="http://schemas.microsoft.com/office/powerpoint/2010/main" val="162885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Back Propagation in a CNN</a:t>
            </a:r>
            <a:endParaRPr lang="en-US" dirty="0">
              <a:latin typeface="Sitka Text" pitchFamily="2" charset="0"/>
            </a:endParaRPr>
          </a:p>
        </p:txBody>
      </p:sp>
      <p:sp>
        <p:nvSpPr>
          <p:cNvPr id="3" name="Content Placeholder 2"/>
          <p:cNvSpPr>
            <a:spLocks noGrp="1"/>
          </p:cNvSpPr>
          <p:nvPr>
            <p:ph idx="1"/>
          </p:nvPr>
        </p:nvSpPr>
        <p:spPr/>
        <p:txBody>
          <a:bodyPr>
            <a:normAutofit/>
          </a:bodyPr>
          <a:lstStyle/>
          <a:p>
            <a:pPr>
              <a:lnSpc>
                <a:spcPct val="150000"/>
              </a:lnSpc>
            </a:pPr>
            <a:r>
              <a:rPr lang="en-US" sz="2000" dirty="0" smtClean="0">
                <a:latin typeface="Sitka Text" pitchFamily="2" charset="0"/>
              </a:rPr>
              <a:t>Forward Pass</a:t>
            </a:r>
          </a:p>
          <a:p>
            <a:pPr>
              <a:lnSpc>
                <a:spcPct val="150000"/>
              </a:lnSpc>
            </a:pPr>
            <a:r>
              <a:rPr lang="en-US" sz="2000" dirty="0" smtClean="0">
                <a:latin typeface="Sitka Text" pitchFamily="2" charset="0"/>
              </a:rPr>
              <a:t>Loss Computation</a:t>
            </a:r>
          </a:p>
          <a:p>
            <a:pPr>
              <a:lnSpc>
                <a:spcPct val="150000"/>
              </a:lnSpc>
            </a:pPr>
            <a:r>
              <a:rPr lang="en-US" sz="2000" dirty="0" smtClean="0">
                <a:latin typeface="Sitka Text" pitchFamily="2" charset="0"/>
              </a:rPr>
              <a:t>Gradient Computation</a:t>
            </a:r>
          </a:p>
          <a:p>
            <a:pPr>
              <a:lnSpc>
                <a:spcPct val="150000"/>
              </a:lnSpc>
            </a:pPr>
            <a:r>
              <a:rPr lang="en-US" sz="2000" dirty="0" smtClean="0">
                <a:latin typeface="Sitka Text" pitchFamily="2" charset="0"/>
              </a:rPr>
              <a:t>Backward Pass</a:t>
            </a:r>
            <a:endParaRPr lang="en-US" sz="2000" dirty="0">
              <a:latin typeface="Sitka Text" pitchFamily="2" charset="0"/>
            </a:endParaRPr>
          </a:p>
        </p:txBody>
      </p:sp>
      <p:pic>
        <p:nvPicPr>
          <p:cNvPr id="4" name="Content Placeholder 3"/>
          <p:cNvPicPr>
            <a:picLocks noChangeAspect="1"/>
          </p:cNvPicPr>
          <p:nvPr/>
        </p:nvPicPr>
        <p:blipFill rotWithShape="1">
          <a:blip r:embed="rId3"/>
          <a:srcRect l="14652"/>
          <a:stretch/>
        </p:blipFill>
        <p:spPr>
          <a:xfrm>
            <a:off x="5824270" y="1825625"/>
            <a:ext cx="5982940" cy="4022725"/>
          </a:xfrm>
          <a:prstGeom prst="rect">
            <a:avLst/>
          </a:prstGeom>
        </p:spPr>
      </p:pic>
      <p:pic>
        <p:nvPicPr>
          <p:cNvPr id="5" name="Picture 4"/>
          <p:cNvPicPr>
            <a:picLocks noChangeAspect="1"/>
          </p:cNvPicPr>
          <p:nvPr/>
        </p:nvPicPr>
        <p:blipFill rotWithShape="1">
          <a:blip r:embed="rId4"/>
          <a:srcRect l="594" t="11932" r="75714" b="24087"/>
          <a:stretch/>
        </p:blipFill>
        <p:spPr>
          <a:xfrm>
            <a:off x="4165606" y="240321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6" name="Picture 5"/>
          <p:cNvPicPr>
            <a:picLocks noChangeAspect="1"/>
          </p:cNvPicPr>
          <p:nvPr/>
        </p:nvPicPr>
        <p:blipFill rotWithShape="1">
          <a:blip r:embed="rId4"/>
          <a:srcRect t="75953" r="74797" b="11409"/>
          <a:stretch/>
        </p:blipFill>
        <p:spPr>
          <a:xfrm>
            <a:off x="3895263" y="5804695"/>
            <a:ext cx="2535252" cy="466927"/>
          </a:xfrm>
          <a:prstGeom prst="rect">
            <a:avLst/>
          </a:prstGeom>
        </p:spPr>
      </p:pic>
      <p:sp>
        <p:nvSpPr>
          <p:cNvPr id="8" name="Rectangle 7"/>
          <p:cNvSpPr/>
          <p:nvPr/>
        </p:nvSpPr>
        <p:spPr>
          <a:xfrm>
            <a:off x="8182714" y="1946016"/>
            <a:ext cx="3171085"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40676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Forward Pass</a:t>
            </a:r>
            <a:endParaRPr lang="en-US" dirty="0"/>
          </a:p>
        </p:txBody>
      </p:sp>
      <p:sp>
        <p:nvSpPr>
          <p:cNvPr id="8" name="TextBox 7"/>
          <p:cNvSpPr txBox="1"/>
          <p:nvPr/>
        </p:nvSpPr>
        <p:spPr>
          <a:xfrm>
            <a:off x="1097280" y="2301587"/>
            <a:ext cx="2366353" cy="369332"/>
          </a:xfrm>
          <a:prstGeom prst="rect">
            <a:avLst/>
          </a:prstGeom>
          <a:noFill/>
        </p:spPr>
        <p:txBody>
          <a:bodyPr wrap="none" rtlCol="0">
            <a:spAutoFit/>
          </a:bodyPr>
          <a:lstStyle/>
          <a:p>
            <a:r>
              <a:rPr lang="en-US" dirty="0" smtClean="0">
                <a:latin typeface="Sitka Text" pitchFamily="2" charset="0"/>
              </a:rPr>
              <a:t>Convolutional Layer</a:t>
            </a:r>
            <a:endParaRPr lang="en-US" dirty="0">
              <a:latin typeface="Sitka Text" pitchFamily="2" charset="0"/>
            </a:endParaRPr>
          </a:p>
        </p:txBody>
      </p:sp>
      <p:sp>
        <p:nvSpPr>
          <p:cNvPr id="9" name="TextBox 8"/>
          <p:cNvSpPr txBox="1"/>
          <p:nvPr/>
        </p:nvSpPr>
        <p:spPr>
          <a:xfrm>
            <a:off x="1097280" y="3745025"/>
            <a:ext cx="1665841" cy="369332"/>
          </a:xfrm>
          <a:prstGeom prst="rect">
            <a:avLst/>
          </a:prstGeom>
          <a:noFill/>
        </p:spPr>
        <p:txBody>
          <a:bodyPr wrap="none" rtlCol="0">
            <a:spAutoFit/>
          </a:bodyPr>
          <a:lstStyle/>
          <a:p>
            <a:r>
              <a:rPr lang="en-US" dirty="0" smtClean="0">
                <a:latin typeface="Sitka Text" pitchFamily="2" charset="0"/>
              </a:rPr>
              <a:t>Pooling Layer</a:t>
            </a:r>
            <a:endParaRPr lang="en-US" dirty="0">
              <a:latin typeface="Sitka Text" pitchFamily="2" charset="0"/>
            </a:endParaRPr>
          </a:p>
        </p:txBody>
      </p:sp>
      <mc:AlternateContent xmlns:mc="http://schemas.openxmlformats.org/markup-compatibility/2006" xmlns:a14="http://schemas.microsoft.com/office/drawing/2010/main">
        <mc:Choice Requires="a14">
          <p:sp>
            <p:nvSpPr>
              <p:cNvPr id="10" name="Rectangle 9"/>
              <p:cNvSpPr/>
              <p:nvPr/>
            </p:nvSpPr>
            <p:spPr>
              <a:xfrm>
                <a:off x="3845228" y="3789144"/>
                <a:ext cx="4531240" cy="475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𝑚𝑎𝑥𝑝𝑜𝑜𝑙</m:t>
                      </m:r>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lim>
                          </m:limLow>
                        </m:fName>
                        <m:e>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e>
                          </m:d>
                        </m:e>
                      </m:func>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3845228" y="3789144"/>
                <a:ext cx="4531240" cy="475964"/>
              </a:xfrm>
              <a:prstGeom prst="rect">
                <a:avLst/>
              </a:prstGeom>
              <a:blipFill>
                <a:blip r:embed="rId3"/>
                <a:stretch>
                  <a:fillRect/>
                </a:stretch>
              </a:blipFill>
            </p:spPr>
            <p:txBody>
              <a:bodyPr/>
              <a:lstStyle/>
              <a:p>
                <a:r>
                  <a:rPr lang="en-IN">
                    <a:noFill/>
                  </a:rPr>
                  <a:t> </a:t>
                </a:r>
              </a:p>
            </p:txBody>
          </p:sp>
        </mc:Fallback>
      </mc:AlternateContent>
      <p:sp>
        <p:nvSpPr>
          <p:cNvPr id="11" name="TextBox 10"/>
          <p:cNvSpPr txBox="1"/>
          <p:nvPr/>
        </p:nvSpPr>
        <p:spPr>
          <a:xfrm>
            <a:off x="1097280" y="5110454"/>
            <a:ext cx="2592376" cy="369332"/>
          </a:xfrm>
          <a:prstGeom prst="rect">
            <a:avLst/>
          </a:prstGeom>
          <a:noFill/>
        </p:spPr>
        <p:txBody>
          <a:bodyPr wrap="none" rtlCol="0">
            <a:spAutoFit/>
          </a:bodyPr>
          <a:lstStyle/>
          <a:p>
            <a:r>
              <a:rPr lang="en-US" dirty="0" smtClean="0">
                <a:latin typeface="Sitka Text" pitchFamily="2" charset="0"/>
              </a:rPr>
              <a:t>Fully Connected Layer</a:t>
            </a:r>
            <a:endParaRPr lang="en-US" dirty="0">
              <a:latin typeface="Sitka Text" pitchFamily="2" charset="0"/>
            </a:endParaRPr>
          </a:p>
        </p:txBody>
      </p:sp>
      <p:pic>
        <p:nvPicPr>
          <p:cNvPr id="14" name="Picture 13"/>
          <p:cNvPicPr>
            <a:picLocks noChangeAspect="1"/>
          </p:cNvPicPr>
          <p:nvPr/>
        </p:nvPicPr>
        <p:blipFill>
          <a:blip r:embed="rId4"/>
          <a:stretch>
            <a:fillRect/>
          </a:stretch>
        </p:blipFill>
        <p:spPr>
          <a:xfrm>
            <a:off x="3872565" y="2205735"/>
            <a:ext cx="5861380" cy="727079"/>
          </a:xfrm>
          <a:prstGeom prst="rect">
            <a:avLst/>
          </a:prstGeom>
        </p:spPr>
      </p:pic>
      <p:pic>
        <p:nvPicPr>
          <p:cNvPr id="15" name="Picture 14"/>
          <p:cNvPicPr>
            <a:picLocks noChangeAspect="1"/>
          </p:cNvPicPr>
          <p:nvPr/>
        </p:nvPicPr>
        <p:blipFill>
          <a:blip r:embed="rId5"/>
          <a:stretch>
            <a:fillRect/>
          </a:stretch>
        </p:blipFill>
        <p:spPr>
          <a:xfrm>
            <a:off x="3937879" y="5121438"/>
            <a:ext cx="3133157" cy="481024"/>
          </a:xfrm>
          <a:prstGeom prst="rect">
            <a:avLst/>
          </a:prstGeom>
        </p:spPr>
      </p:pic>
      <p:sp>
        <p:nvSpPr>
          <p:cNvPr id="3" name="Rectangle 2"/>
          <p:cNvSpPr/>
          <p:nvPr/>
        </p:nvSpPr>
        <p:spPr>
          <a:xfrm>
            <a:off x="5971542" y="6458792"/>
            <a:ext cx="6096000" cy="261610"/>
          </a:xfrm>
          <a:prstGeom prst="rect">
            <a:avLst/>
          </a:prstGeom>
        </p:spPr>
        <p:txBody>
          <a:bodyPr>
            <a:spAutoFit/>
          </a:bodyPr>
          <a:lstStyle/>
          <a:p>
            <a:r>
              <a:rPr lang="en-IN" sz="1100" dirty="0">
                <a:solidFill>
                  <a:schemeClr val="bg1"/>
                </a:solidFill>
              </a:rPr>
              <a:t>https://www.quarkml.com/2023/07/backward-pass-in-convolutional-neural-network-explained.html</a:t>
            </a:r>
          </a:p>
        </p:txBody>
      </p:sp>
    </p:spTree>
    <p:extLst>
      <p:ext uri="{BB962C8B-B14F-4D97-AF65-F5344CB8AC3E}">
        <p14:creationId xmlns:p14="http://schemas.microsoft.com/office/powerpoint/2010/main" val="32798690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Loss Computation</a:t>
            </a:r>
            <a:endParaRPr lang="en-US" dirty="0">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2153198" y="1957111"/>
            <a:ext cx="7468509" cy="3417999"/>
          </a:xfrm>
          <a:prstGeom prst="rect">
            <a:avLst/>
          </a:prstGeom>
        </p:spPr>
      </p:pic>
      <p:sp>
        <p:nvSpPr>
          <p:cNvPr id="5" name="Rectangle 4"/>
          <p:cNvSpPr/>
          <p:nvPr/>
        </p:nvSpPr>
        <p:spPr>
          <a:xfrm>
            <a:off x="1411705" y="5594861"/>
            <a:ext cx="9942095" cy="646331"/>
          </a:xfrm>
          <a:prstGeom prst="rect">
            <a:avLst/>
          </a:prstGeom>
        </p:spPr>
        <p:txBody>
          <a:bodyPr wrap="square">
            <a:spAutoFit/>
          </a:bodyPr>
          <a:lstStyle/>
          <a:p>
            <a:r>
              <a:rPr lang="en-US" b="0" i="0" dirty="0" smtClean="0">
                <a:solidFill>
                  <a:srgbClr val="0070C0"/>
                </a:solidFill>
                <a:effectLst/>
                <a:latin typeface="Sitka Text" pitchFamily="2" charset="0"/>
              </a:rPr>
              <a:t>Binary cross-entropy loss function: finds the dissimilarity between the predicted probability and the true binary label</a:t>
            </a:r>
            <a:endParaRPr lang="en-US" dirty="0">
              <a:solidFill>
                <a:srgbClr val="0070C0"/>
              </a:solidFill>
              <a:latin typeface="Sitka Text" pitchFamily="2" charset="0"/>
            </a:endParaRPr>
          </a:p>
        </p:txBody>
      </p:sp>
    </p:spTree>
    <p:extLst>
      <p:ext uri="{BB962C8B-B14F-4D97-AF65-F5344CB8AC3E}">
        <p14:creationId xmlns:p14="http://schemas.microsoft.com/office/powerpoint/2010/main" val="21456376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Gradient Computation</a:t>
            </a:r>
            <a:endParaRPr lang="en-US" dirty="0">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1434943" y="4129922"/>
            <a:ext cx="5758959" cy="734682"/>
          </a:xfrm>
          <a:prstGeom prst="rect">
            <a:avLst/>
          </a:prstGeom>
        </p:spPr>
      </p:pic>
      <p:pic>
        <p:nvPicPr>
          <p:cNvPr id="5" name="Picture 4"/>
          <p:cNvPicPr>
            <a:picLocks noChangeAspect="1"/>
          </p:cNvPicPr>
          <p:nvPr/>
        </p:nvPicPr>
        <p:blipFill>
          <a:blip r:embed="rId4"/>
          <a:stretch>
            <a:fillRect/>
          </a:stretch>
        </p:blipFill>
        <p:spPr>
          <a:xfrm>
            <a:off x="1555281" y="2251896"/>
            <a:ext cx="6553021" cy="909340"/>
          </a:xfrm>
          <a:prstGeom prst="rect">
            <a:avLst/>
          </a:prstGeom>
        </p:spPr>
      </p:pic>
      <p:pic>
        <p:nvPicPr>
          <p:cNvPr id="6" name="Picture 5"/>
          <p:cNvPicPr>
            <a:picLocks noChangeAspect="1"/>
          </p:cNvPicPr>
          <p:nvPr/>
        </p:nvPicPr>
        <p:blipFill>
          <a:blip r:embed="rId5"/>
          <a:stretch>
            <a:fillRect/>
          </a:stretch>
        </p:blipFill>
        <p:spPr>
          <a:xfrm>
            <a:off x="7099784" y="4204568"/>
            <a:ext cx="2661717" cy="734682"/>
          </a:xfrm>
          <a:prstGeom prst="rect">
            <a:avLst/>
          </a:prstGeom>
        </p:spPr>
      </p:pic>
      <p:sp>
        <p:nvSpPr>
          <p:cNvPr id="3" name="TextBox 2"/>
          <p:cNvSpPr txBox="1"/>
          <p:nvPr/>
        </p:nvSpPr>
        <p:spPr>
          <a:xfrm>
            <a:off x="1323474" y="3585411"/>
            <a:ext cx="1354858" cy="369332"/>
          </a:xfrm>
          <a:prstGeom prst="rect">
            <a:avLst/>
          </a:prstGeom>
          <a:noFill/>
        </p:spPr>
        <p:txBody>
          <a:bodyPr wrap="none" rtlCol="0">
            <a:spAutoFit/>
          </a:bodyPr>
          <a:lstStyle/>
          <a:p>
            <a:r>
              <a:rPr lang="en-US" dirty="0" smtClean="0">
                <a:latin typeface="Sitka Text" pitchFamily="2" charset="0"/>
              </a:rPr>
              <a:t>Chain Rule</a:t>
            </a:r>
            <a:endParaRPr lang="en-US" dirty="0">
              <a:latin typeface="Sitka Text" pitchFamily="2" charset="0"/>
            </a:endParaRPr>
          </a:p>
        </p:txBody>
      </p:sp>
    </p:spTree>
    <p:extLst>
      <p:ext uri="{BB962C8B-B14F-4D97-AF65-F5344CB8AC3E}">
        <p14:creationId xmlns:p14="http://schemas.microsoft.com/office/powerpoint/2010/main" val="19636757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Backpropagation through FC Layer</a:t>
            </a:r>
            <a:endParaRPr lang="en-US" dirty="0">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3802783" y="2581160"/>
            <a:ext cx="3307144" cy="884806"/>
          </a:xfrm>
          <a:prstGeom prst="rect">
            <a:avLst/>
          </a:prstGeom>
        </p:spPr>
      </p:pic>
      <p:pic>
        <p:nvPicPr>
          <p:cNvPr id="5" name="Picture 4"/>
          <p:cNvPicPr>
            <a:picLocks noChangeAspect="1"/>
          </p:cNvPicPr>
          <p:nvPr/>
        </p:nvPicPr>
        <p:blipFill>
          <a:blip r:embed="rId4"/>
          <a:stretch>
            <a:fillRect/>
          </a:stretch>
        </p:blipFill>
        <p:spPr>
          <a:xfrm>
            <a:off x="3604269" y="3871228"/>
            <a:ext cx="3431014" cy="1068146"/>
          </a:xfrm>
          <a:prstGeom prst="rect">
            <a:avLst/>
          </a:prstGeom>
        </p:spPr>
      </p:pic>
      <p:sp>
        <p:nvSpPr>
          <p:cNvPr id="3" name="TextBox 2"/>
          <p:cNvSpPr txBox="1"/>
          <p:nvPr/>
        </p:nvSpPr>
        <p:spPr>
          <a:xfrm>
            <a:off x="998290" y="1963024"/>
            <a:ext cx="3693640" cy="369332"/>
          </a:xfrm>
          <a:prstGeom prst="rect">
            <a:avLst/>
          </a:prstGeom>
          <a:noFill/>
        </p:spPr>
        <p:txBody>
          <a:bodyPr wrap="none" rtlCol="0">
            <a:spAutoFit/>
          </a:bodyPr>
          <a:lstStyle/>
          <a:p>
            <a:r>
              <a:rPr lang="en-US" dirty="0" smtClean="0">
                <a:latin typeface="Sitka Text" pitchFamily="2" charset="0"/>
              </a:rPr>
              <a:t>Weights and bias are updated as</a:t>
            </a:r>
            <a:endParaRPr lang="en-US" dirty="0">
              <a:latin typeface="Sitka Text" pitchFamily="2" charset="0"/>
            </a:endParaRPr>
          </a:p>
        </p:txBody>
      </p:sp>
    </p:spTree>
    <p:extLst>
      <p:ext uri="{BB962C8B-B14F-4D97-AF65-F5344CB8AC3E}">
        <p14:creationId xmlns:p14="http://schemas.microsoft.com/office/powerpoint/2010/main" val="32880174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8973655" y="3691291"/>
            <a:ext cx="973943" cy="471753"/>
          </a:xfrm>
          <a:prstGeom prst="rect">
            <a:avLst/>
          </a:prstGeom>
        </p:spPr>
      </p:pic>
      <p:sp>
        <p:nvSpPr>
          <p:cNvPr id="2" name="Title 1"/>
          <p:cNvSpPr>
            <a:spLocks noGrp="1"/>
          </p:cNvSpPr>
          <p:nvPr>
            <p:ph type="title"/>
          </p:nvPr>
        </p:nvSpPr>
        <p:spPr/>
        <p:txBody>
          <a:bodyPr/>
          <a:lstStyle/>
          <a:p>
            <a:r>
              <a:rPr lang="en-US" dirty="0" smtClean="0">
                <a:latin typeface="Sitka Text" pitchFamily="2" charset="0"/>
              </a:rPr>
              <a:t>Backward Pass</a:t>
            </a:r>
            <a:endParaRPr lang="en-US" dirty="0"/>
          </a:p>
        </p:txBody>
      </p:sp>
      <p:pic>
        <p:nvPicPr>
          <p:cNvPr id="4" name="Content Placeholder 3"/>
          <p:cNvPicPr>
            <a:picLocks noGrp="1" noChangeAspect="1"/>
          </p:cNvPicPr>
          <p:nvPr>
            <p:ph idx="1"/>
          </p:nvPr>
        </p:nvPicPr>
        <p:blipFill>
          <a:blip r:embed="rId4"/>
          <a:stretch>
            <a:fillRect/>
          </a:stretch>
        </p:blipFill>
        <p:spPr>
          <a:xfrm>
            <a:off x="1097280" y="2442470"/>
            <a:ext cx="3677163" cy="3639058"/>
          </a:xfrm>
          <a:prstGeom prst="rect">
            <a:avLst/>
          </a:prstGeom>
        </p:spPr>
      </p:pic>
      <p:pic>
        <p:nvPicPr>
          <p:cNvPr id="5" name="Picture 4"/>
          <p:cNvPicPr>
            <a:picLocks noChangeAspect="1"/>
          </p:cNvPicPr>
          <p:nvPr/>
        </p:nvPicPr>
        <p:blipFill>
          <a:blip r:embed="rId5"/>
          <a:stretch>
            <a:fillRect/>
          </a:stretch>
        </p:blipFill>
        <p:spPr>
          <a:xfrm>
            <a:off x="6218044" y="2188545"/>
            <a:ext cx="2039548" cy="915965"/>
          </a:xfrm>
          <a:prstGeom prst="rect">
            <a:avLst/>
          </a:prstGeom>
        </p:spPr>
      </p:pic>
      <p:pic>
        <p:nvPicPr>
          <p:cNvPr id="6" name="Picture 5"/>
          <p:cNvPicPr>
            <a:picLocks noChangeAspect="1"/>
          </p:cNvPicPr>
          <p:nvPr/>
        </p:nvPicPr>
        <p:blipFill>
          <a:blip r:embed="rId6"/>
          <a:stretch>
            <a:fillRect/>
          </a:stretch>
        </p:blipFill>
        <p:spPr>
          <a:xfrm>
            <a:off x="6162841" y="1225355"/>
            <a:ext cx="2092451" cy="560723"/>
          </a:xfrm>
          <a:prstGeom prst="rect">
            <a:avLst/>
          </a:prstGeom>
        </p:spPr>
      </p:pic>
      <p:pic>
        <p:nvPicPr>
          <p:cNvPr id="7" name="Picture 6"/>
          <p:cNvPicPr>
            <a:picLocks noChangeAspect="1"/>
          </p:cNvPicPr>
          <p:nvPr/>
        </p:nvPicPr>
        <p:blipFill>
          <a:blip r:embed="rId7"/>
          <a:stretch>
            <a:fillRect/>
          </a:stretch>
        </p:blipFill>
        <p:spPr>
          <a:xfrm>
            <a:off x="5986351" y="3506977"/>
            <a:ext cx="3095589" cy="755022"/>
          </a:xfrm>
          <a:prstGeom prst="rect">
            <a:avLst/>
          </a:prstGeom>
        </p:spPr>
      </p:pic>
      <p:pic>
        <p:nvPicPr>
          <p:cNvPr id="9" name="Picture 8"/>
          <p:cNvPicPr>
            <a:picLocks noChangeAspect="1"/>
          </p:cNvPicPr>
          <p:nvPr/>
        </p:nvPicPr>
        <p:blipFill>
          <a:blip r:embed="rId8"/>
          <a:stretch>
            <a:fillRect/>
          </a:stretch>
        </p:blipFill>
        <p:spPr>
          <a:xfrm>
            <a:off x="5986351" y="4713185"/>
            <a:ext cx="1705839" cy="649319"/>
          </a:xfrm>
          <a:prstGeom prst="rect">
            <a:avLst/>
          </a:prstGeom>
        </p:spPr>
      </p:pic>
      <p:pic>
        <p:nvPicPr>
          <p:cNvPr id="10" name="Picture 9"/>
          <p:cNvPicPr>
            <a:picLocks noChangeAspect="1"/>
          </p:cNvPicPr>
          <p:nvPr/>
        </p:nvPicPr>
        <p:blipFill>
          <a:blip r:embed="rId9"/>
          <a:stretch>
            <a:fillRect/>
          </a:stretch>
        </p:blipFill>
        <p:spPr>
          <a:xfrm>
            <a:off x="7671135" y="4759250"/>
            <a:ext cx="2921546" cy="691631"/>
          </a:xfrm>
          <a:prstGeom prst="rect">
            <a:avLst/>
          </a:prstGeom>
        </p:spPr>
      </p:pic>
      <p:sp>
        <p:nvSpPr>
          <p:cNvPr id="11" name="Rectangle 10"/>
          <p:cNvSpPr/>
          <p:nvPr/>
        </p:nvSpPr>
        <p:spPr>
          <a:xfrm>
            <a:off x="931220" y="1690688"/>
            <a:ext cx="4684296" cy="369332"/>
          </a:xfrm>
          <a:prstGeom prst="rect">
            <a:avLst/>
          </a:prstGeom>
        </p:spPr>
        <p:txBody>
          <a:bodyPr wrap="none">
            <a:spAutoFit/>
          </a:bodyPr>
          <a:lstStyle/>
          <a:p>
            <a:r>
              <a:rPr lang="en-US" i="0" dirty="0" smtClean="0">
                <a:solidFill>
                  <a:srgbClr val="0070C0"/>
                </a:solidFill>
                <a:effectLst/>
                <a:latin typeface="Sitka Text" pitchFamily="2" charset="0"/>
              </a:rPr>
              <a:t>Derivative of loss with respect to weights</a:t>
            </a:r>
            <a:endParaRPr lang="en-US" i="0" dirty="0">
              <a:solidFill>
                <a:srgbClr val="0070C0"/>
              </a:solidFill>
              <a:effectLst/>
              <a:latin typeface="Sitka Text" pitchFamily="2" charset="0"/>
            </a:endParaRPr>
          </a:p>
        </p:txBody>
      </p:sp>
    </p:spTree>
    <p:extLst>
      <p:ext uri="{BB962C8B-B14F-4D97-AF65-F5344CB8AC3E}">
        <p14:creationId xmlns:p14="http://schemas.microsoft.com/office/powerpoint/2010/main" val="36083864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Backward Pass</a:t>
            </a:r>
            <a:endParaRPr lang="en-US" dirty="0"/>
          </a:p>
        </p:txBody>
      </p:sp>
      <p:sp>
        <p:nvSpPr>
          <p:cNvPr id="4" name="Rectangle 3"/>
          <p:cNvSpPr/>
          <p:nvPr/>
        </p:nvSpPr>
        <p:spPr>
          <a:xfrm>
            <a:off x="1068351" y="1825625"/>
            <a:ext cx="4517583" cy="369332"/>
          </a:xfrm>
          <a:prstGeom prst="rect">
            <a:avLst/>
          </a:prstGeom>
        </p:spPr>
        <p:txBody>
          <a:bodyPr wrap="none">
            <a:spAutoFit/>
          </a:bodyPr>
          <a:lstStyle/>
          <a:p>
            <a:r>
              <a:rPr lang="en-US" i="0" dirty="0" smtClean="0">
                <a:solidFill>
                  <a:srgbClr val="0070C0"/>
                </a:solidFill>
                <a:effectLst/>
                <a:latin typeface="Sitka Text" pitchFamily="2" charset="0"/>
              </a:rPr>
              <a:t>Derivative of loss with respect to inputs</a:t>
            </a:r>
            <a:endParaRPr lang="en-US" i="0" dirty="0">
              <a:solidFill>
                <a:srgbClr val="0070C0"/>
              </a:solidFill>
              <a:effectLst/>
              <a:latin typeface="Sitka Text" pitchFamily="2" charset="0"/>
            </a:endParaRPr>
          </a:p>
        </p:txBody>
      </p:sp>
      <p:pic>
        <p:nvPicPr>
          <p:cNvPr id="5" name="Picture 4"/>
          <p:cNvPicPr>
            <a:picLocks noChangeAspect="1"/>
          </p:cNvPicPr>
          <p:nvPr/>
        </p:nvPicPr>
        <p:blipFill>
          <a:blip r:embed="rId3"/>
          <a:stretch>
            <a:fillRect/>
          </a:stretch>
        </p:blipFill>
        <p:spPr>
          <a:xfrm>
            <a:off x="1068351" y="2513354"/>
            <a:ext cx="3744281" cy="3646813"/>
          </a:xfrm>
          <a:prstGeom prst="rect">
            <a:avLst/>
          </a:prstGeom>
        </p:spPr>
      </p:pic>
      <p:pic>
        <p:nvPicPr>
          <p:cNvPr id="6" name="Picture 5"/>
          <p:cNvPicPr>
            <a:picLocks noChangeAspect="1"/>
          </p:cNvPicPr>
          <p:nvPr/>
        </p:nvPicPr>
        <p:blipFill>
          <a:blip r:embed="rId4"/>
          <a:stretch>
            <a:fillRect/>
          </a:stretch>
        </p:blipFill>
        <p:spPr>
          <a:xfrm>
            <a:off x="6211576" y="2194957"/>
            <a:ext cx="2367329" cy="823923"/>
          </a:xfrm>
          <a:prstGeom prst="rect">
            <a:avLst/>
          </a:prstGeom>
        </p:spPr>
      </p:pic>
      <p:pic>
        <p:nvPicPr>
          <p:cNvPr id="7" name="Picture 6"/>
          <p:cNvPicPr>
            <a:picLocks noChangeAspect="1"/>
          </p:cNvPicPr>
          <p:nvPr/>
        </p:nvPicPr>
        <p:blipFill>
          <a:blip r:embed="rId5"/>
          <a:stretch>
            <a:fillRect/>
          </a:stretch>
        </p:blipFill>
        <p:spPr>
          <a:xfrm>
            <a:off x="7052093" y="3293525"/>
            <a:ext cx="3360870" cy="797286"/>
          </a:xfrm>
          <a:prstGeom prst="rect">
            <a:avLst/>
          </a:prstGeom>
        </p:spPr>
      </p:pic>
      <p:pic>
        <p:nvPicPr>
          <p:cNvPr id="8" name="Picture 7"/>
          <p:cNvPicPr>
            <a:picLocks noChangeAspect="1"/>
          </p:cNvPicPr>
          <p:nvPr/>
        </p:nvPicPr>
        <p:blipFill rotWithShape="1">
          <a:blip r:embed="rId4"/>
          <a:srcRect r="60287"/>
          <a:stretch/>
        </p:blipFill>
        <p:spPr>
          <a:xfrm>
            <a:off x="6211576" y="3280207"/>
            <a:ext cx="940149" cy="823923"/>
          </a:xfrm>
          <a:prstGeom prst="rect">
            <a:avLst/>
          </a:prstGeom>
        </p:spPr>
      </p:pic>
    </p:spTree>
    <p:extLst>
      <p:ext uri="{BB962C8B-B14F-4D97-AF65-F5344CB8AC3E}">
        <p14:creationId xmlns:p14="http://schemas.microsoft.com/office/powerpoint/2010/main" val="1097516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Backward Pass</a:t>
            </a:r>
            <a:endParaRPr lang="en-US" dirty="0"/>
          </a:p>
        </p:txBody>
      </p:sp>
      <p:sp>
        <p:nvSpPr>
          <p:cNvPr id="4" name="Rectangle 3"/>
          <p:cNvSpPr/>
          <p:nvPr/>
        </p:nvSpPr>
        <p:spPr>
          <a:xfrm>
            <a:off x="931104" y="1788513"/>
            <a:ext cx="4273927" cy="369332"/>
          </a:xfrm>
          <a:prstGeom prst="rect">
            <a:avLst/>
          </a:prstGeom>
        </p:spPr>
        <p:txBody>
          <a:bodyPr wrap="none">
            <a:spAutoFit/>
          </a:bodyPr>
          <a:lstStyle/>
          <a:p>
            <a:r>
              <a:rPr lang="en-US" i="0" dirty="0" smtClean="0">
                <a:solidFill>
                  <a:srgbClr val="0070C0"/>
                </a:solidFill>
                <a:effectLst/>
                <a:latin typeface="Sitka Text" pitchFamily="2" charset="0"/>
              </a:rPr>
              <a:t>Derivative of loss with respect to bias</a:t>
            </a:r>
            <a:endParaRPr lang="en-US" i="0" dirty="0">
              <a:solidFill>
                <a:srgbClr val="0070C0"/>
              </a:solidFill>
              <a:effectLst/>
              <a:latin typeface="Sitka Text" pitchFamily="2" charset="0"/>
            </a:endParaRPr>
          </a:p>
        </p:txBody>
      </p:sp>
      <p:pic>
        <p:nvPicPr>
          <p:cNvPr id="5" name="Picture 4"/>
          <p:cNvPicPr>
            <a:picLocks noChangeAspect="1"/>
          </p:cNvPicPr>
          <p:nvPr/>
        </p:nvPicPr>
        <p:blipFill>
          <a:blip r:embed="rId3"/>
          <a:stretch>
            <a:fillRect/>
          </a:stretch>
        </p:blipFill>
        <p:spPr>
          <a:xfrm>
            <a:off x="2759980" y="3781944"/>
            <a:ext cx="1926721" cy="829221"/>
          </a:xfrm>
          <a:prstGeom prst="rect">
            <a:avLst/>
          </a:prstGeom>
        </p:spPr>
      </p:pic>
      <p:pic>
        <p:nvPicPr>
          <p:cNvPr id="6" name="Picture 5"/>
          <p:cNvPicPr>
            <a:picLocks noChangeAspect="1"/>
          </p:cNvPicPr>
          <p:nvPr/>
        </p:nvPicPr>
        <p:blipFill>
          <a:blip r:embed="rId4"/>
          <a:stretch>
            <a:fillRect/>
          </a:stretch>
        </p:blipFill>
        <p:spPr>
          <a:xfrm>
            <a:off x="2759980" y="2415100"/>
            <a:ext cx="5562482" cy="754451"/>
          </a:xfrm>
          <a:prstGeom prst="rect">
            <a:avLst/>
          </a:prstGeom>
        </p:spPr>
      </p:pic>
      <p:pic>
        <p:nvPicPr>
          <p:cNvPr id="7" name="Picture 6"/>
          <p:cNvPicPr>
            <a:picLocks noChangeAspect="1"/>
          </p:cNvPicPr>
          <p:nvPr/>
        </p:nvPicPr>
        <p:blipFill>
          <a:blip r:embed="rId5"/>
          <a:stretch>
            <a:fillRect/>
          </a:stretch>
        </p:blipFill>
        <p:spPr>
          <a:xfrm>
            <a:off x="8840533" y="3428318"/>
            <a:ext cx="1137473" cy="918201"/>
          </a:xfrm>
          <a:prstGeom prst="rect">
            <a:avLst/>
          </a:prstGeom>
        </p:spPr>
      </p:pic>
      <p:pic>
        <p:nvPicPr>
          <p:cNvPr id="8" name="Picture 7"/>
          <p:cNvPicPr>
            <a:picLocks noChangeAspect="1"/>
          </p:cNvPicPr>
          <p:nvPr/>
        </p:nvPicPr>
        <p:blipFill>
          <a:blip r:embed="rId6"/>
          <a:stretch>
            <a:fillRect/>
          </a:stretch>
        </p:blipFill>
        <p:spPr>
          <a:xfrm>
            <a:off x="2759980" y="5245646"/>
            <a:ext cx="1406264" cy="869326"/>
          </a:xfrm>
          <a:prstGeom prst="rect">
            <a:avLst/>
          </a:prstGeom>
        </p:spPr>
      </p:pic>
      <p:pic>
        <p:nvPicPr>
          <p:cNvPr id="9" name="Picture 8"/>
          <p:cNvPicPr>
            <a:picLocks noChangeAspect="1"/>
          </p:cNvPicPr>
          <p:nvPr/>
        </p:nvPicPr>
        <p:blipFill>
          <a:blip r:embed="rId7"/>
          <a:stretch>
            <a:fillRect/>
          </a:stretch>
        </p:blipFill>
        <p:spPr>
          <a:xfrm>
            <a:off x="4116910" y="5326574"/>
            <a:ext cx="2627423" cy="725216"/>
          </a:xfrm>
          <a:prstGeom prst="rect">
            <a:avLst/>
          </a:prstGeom>
        </p:spPr>
      </p:pic>
    </p:spTree>
    <p:extLst>
      <p:ext uri="{BB962C8B-B14F-4D97-AF65-F5344CB8AC3E}">
        <p14:creationId xmlns:p14="http://schemas.microsoft.com/office/powerpoint/2010/main" val="8388799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Backpropagation through Pooling Layer</a:t>
            </a:r>
            <a:endParaRPr lang="en-US" dirty="0"/>
          </a:p>
        </p:txBody>
      </p:sp>
      <p:pic>
        <p:nvPicPr>
          <p:cNvPr id="4" name="Content Placeholder 3"/>
          <p:cNvPicPr>
            <a:picLocks noGrp="1" noChangeAspect="1"/>
          </p:cNvPicPr>
          <p:nvPr>
            <p:ph idx="1"/>
          </p:nvPr>
        </p:nvPicPr>
        <p:blipFill>
          <a:blip r:embed="rId3"/>
          <a:stretch>
            <a:fillRect/>
          </a:stretch>
        </p:blipFill>
        <p:spPr>
          <a:xfrm>
            <a:off x="763555" y="2215153"/>
            <a:ext cx="5165558" cy="2883685"/>
          </a:xfrm>
          <a:prstGeom prst="rect">
            <a:avLst/>
          </a:prstGeom>
        </p:spPr>
      </p:pic>
      <p:sp>
        <p:nvSpPr>
          <p:cNvPr id="5" name="Rectangle 4"/>
          <p:cNvSpPr/>
          <p:nvPr/>
        </p:nvSpPr>
        <p:spPr>
          <a:xfrm>
            <a:off x="469232" y="5349587"/>
            <a:ext cx="8915399" cy="646331"/>
          </a:xfrm>
          <a:prstGeom prst="rect">
            <a:avLst/>
          </a:prstGeom>
        </p:spPr>
        <p:txBody>
          <a:bodyPr wrap="square">
            <a:spAutoFit/>
          </a:bodyPr>
          <a:lstStyle/>
          <a:p>
            <a:pPr marL="285750" indent="-285750">
              <a:buFont typeface="Arial" panose="020B0604020202020204" pitchFamily="34" charset="0"/>
              <a:buChar char="•"/>
            </a:pPr>
            <a:r>
              <a:rPr lang="en-US" b="0" i="0" dirty="0" smtClean="0">
                <a:solidFill>
                  <a:srgbClr val="0070C0"/>
                </a:solidFill>
                <a:effectLst/>
                <a:latin typeface="Sitka Text" pitchFamily="2" charset="0"/>
              </a:rPr>
              <a:t>There is no actual gradient calculation done</a:t>
            </a:r>
          </a:p>
          <a:p>
            <a:pPr marL="285750" indent="-285750">
              <a:buFont typeface="Arial" panose="020B0604020202020204" pitchFamily="34" charset="0"/>
              <a:buChar char="•"/>
            </a:pPr>
            <a:r>
              <a:rPr lang="en-US" b="0" i="0" dirty="0" smtClean="0">
                <a:solidFill>
                  <a:srgbClr val="0070C0"/>
                </a:solidFill>
                <a:effectLst/>
                <a:latin typeface="Sitka Text" pitchFamily="2" charset="0"/>
              </a:rPr>
              <a:t>Instead, passing the gradient backward according to the Pooling function used</a:t>
            </a:r>
            <a:endParaRPr lang="en-US" dirty="0">
              <a:solidFill>
                <a:srgbClr val="0070C0"/>
              </a:solidFill>
              <a:latin typeface="Sitka Text" pitchFamily="2" charset="0"/>
            </a:endParaRPr>
          </a:p>
        </p:txBody>
      </p:sp>
      <mc:AlternateContent xmlns:mc="http://schemas.openxmlformats.org/markup-compatibility/2006" xmlns:a14="http://schemas.microsoft.com/office/drawing/2010/main">
        <mc:Choice Requires="a14">
          <p:sp>
            <p:nvSpPr>
              <p:cNvPr id="6" name="Rectangle 5"/>
              <p:cNvSpPr/>
              <p:nvPr/>
            </p:nvSpPr>
            <p:spPr>
              <a:xfrm>
                <a:off x="6095999" y="2215498"/>
                <a:ext cx="5809861" cy="923330"/>
              </a:xfrm>
              <a:prstGeom prst="rect">
                <a:avLst/>
              </a:prstGeom>
            </p:spPr>
            <p:txBody>
              <a:bodyPr wrap="square">
                <a:spAutoFit/>
              </a:bodyPr>
              <a:lstStyle/>
              <a:p>
                <a:pPr marL="285750" indent="-285750">
                  <a:buFont typeface="Arial" panose="020B0604020202020204" pitchFamily="34" charset="0"/>
                  <a:buChar char="•"/>
                </a:pPr>
                <a:r>
                  <a:rPr lang="en-US" b="0" i="0" dirty="0" smtClean="0">
                    <a:solidFill>
                      <a:srgbClr val="0070C0"/>
                    </a:solidFill>
                    <a:effectLst/>
                    <a:latin typeface="Sitka Text" pitchFamily="2" charset="0"/>
                  </a:rPr>
                  <a:t>the gradient corresponding to the maximum values is sent backward</a:t>
                </a:r>
              </a:p>
              <a:p>
                <a:pPr marL="285750" indent="-285750">
                  <a:buFont typeface="Arial" panose="020B0604020202020204" pitchFamily="34" charset="0"/>
                  <a:buChar char="•"/>
                </a:pPr>
                <a:r>
                  <a:rPr lang="en-US" b="0" i="0" dirty="0" smtClean="0">
                    <a:solidFill>
                      <a:srgbClr val="0070C0"/>
                    </a:solidFill>
                    <a:effectLst/>
                    <a:latin typeface="Sitka Text" pitchFamily="2" charset="0"/>
                  </a:rPr>
                  <a:t>the rest is considered as </a:t>
                </a:r>
                <a14:m>
                  <m:oMath xmlns:m="http://schemas.openxmlformats.org/officeDocument/2006/math">
                    <m:r>
                      <a:rPr lang="en-US" b="0" i="1" dirty="0" smtClean="0">
                        <a:solidFill>
                          <a:srgbClr val="0070C0"/>
                        </a:solidFill>
                        <a:effectLst/>
                        <a:latin typeface="Cambria Math" panose="02040503050406030204" pitchFamily="18" charset="0"/>
                      </a:rPr>
                      <m:t>0</m:t>
                    </m:r>
                  </m:oMath>
                </a14:m>
                <a:endParaRPr lang="en-US" dirty="0">
                  <a:solidFill>
                    <a:srgbClr val="0070C0"/>
                  </a:solidFill>
                  <a:latin typeface="Sitka Text" pitchFamily="2"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6095999" y="2215498"/>
                <a:ext cx="5809861" cy="923330"/>
              </a:xfrm>
              <a:prstGeom prst="rect">
                <a:avLst/>
              </a:prstGeom>
              <a:blipFill>
                <a:blip r:embed="rId4"/>
                <a:stretch>
                  <a:fillRect l="-630" t="-3289" b="-9211"/>
                </a:stretch>
              </a:blipFill>
            </p:spPr>
            <p:txBody>
              <a:bodyPr/>
              <a:lstStyle/>
              <a:p>
                <a:r>
                  <a:rPr lang="en-IN">
                    <a:noFill/>
                  </a:rPr>
                  <a:t> </a:t>
                </a:r>
              </a:p>
            </p:txBody>
          </p:sp>
        </mc:Fallback>
      </mc:AlternateContent>
      <p:pic>
        <p:nvPicPr>
          <p:cNvPr id="7" name="Picture 6"/>
          <p:cNvPicPr>
            <a:picLocks noChangeAspect="1"/>
          </p:cNvPicPr>
          <p:nvPr/>
        </p:nvPicPr>
        <p:blipFill>
          <a:blip r:embed="rId5"/>
          <a:stretch>
            <a:fillRect/>
          </a:stretch>
        </p:blipFill>
        <p:spPr>
          <a:xfrm>
            <a:off x="7371498" y="3368321"/>
            <a:ext cx="1669865" cy="694843"/>
          </a:xfrm>
          <a:prstGeom prst="rect">
            <a:avLst/>
          </a:prstGeom>
        </p:spPr>
      </p:pic>
      <p:pic>
        <p:nvPicPr>
          <p:cNvPr id="8" name="Picture 7"/>
          <p:cNvPicPr>
            <a:picLocks noChangeAspect="1"/>
          </p:cNvPicPr>
          <p:nvPr/>
        </p:nvPicPr>
        <p:blipFill>
          <a:blip r:embed="rId6"/>
          <a:stretch>
            <a:fillRect/>
          </a:stretch>
        </p:blipFill>
        <p:spPr>
          <a:xfrm>
            <a:off x="8040570" y="4529461"/>
            <a:ext cx="3324116" cy="640426"/>
          </a:xfrm>
          <a:prstGeom prst="rect">
            <a:avLst/>
          </a:prstGeom>
        </p:spPr>
      </p:pic>
    </p:spTree>
    <p:extLst>
      <p:ext uri="{BB962C8B-B14F-4D97-AF65-F5344CB8AC3E}">
        <p14:creationId xmlns:p14="http://schemas.microsoft.com/office/powerpoint/2010/main" val="3605321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Backpropagation through Conv Layer</a:t>
            </a:r>
            <a:endParaRPr lang="en-US" dirty="0"/>
          </a:p>
        </p:txBody>
      </p:sp>
      <p:pic>
        <p:nvPicPr>
          <p:cNvPr id="4" name="Picture 3"/>
          <p:cNvPicPr>
            <a:picLocks noChangeAspect="1"/>
          </p:cNvPicPr>
          <p:nvPr/>
        </p:nvPicPr>
        <p:blipFill>
          <a:blip r:embed="rId3"/>
          <a:stretch>
            <a:fillRect/>
          </a:stretch>
        </p:blipFill>
        <p:spPr>
          <a:xfrm>
            <a:off x="1037243" y="1870218"/>
            <a:ext cx="5466194" cy="678058"/>
          </a:xfrm>
          <a:prstGeom prst="rect">
            <a:avLst/>
          </a:prstGeom>
        </p:spPr>
      </p:pic>
      <p:pic>
        <p:nvPicPr>
          <p:cNvPr id="5" name="Picture 4"/>
          <p:cNvPicPr>
            <a:picLocks noChangeAspect="1"/>
          </p:cNvPicPr>
          <p:nvPr/>
        </p:nvPicPr>
        <p:blipFill>
          <a:blip r:embed="rId4"/>
          <a:stretch>
            <a:fillRect/>
          </a:stretch>
        </p:blipFill>
        <p:spPr>
          <a:xfrm>
            <a:off x="1037242" y="3215199"/>
            <a:ext cx="3340143" cy="656511"/>
          </a:xfrm>
          <a:prstGeom prst="rect">
            <a:avLst/>
          </a:prstGeom>
        </p:spPr>
      </p:pic>
      <p:pic>
        <p:nvPicPr>
          <p:cNvPr id="6" name="Picture 5"/>
          <p:cNvPicPr>
            <a:picLocks noChangeAspect="1"/>
          </p:cNvPicPr>
          <p:nvPr/>
        </p:nvPicPr>
        <p:blipFill>
          <a:blip r:embed="rId5"/>
          <a:stretch>
            <a:fillRect/>
          </a:stretch>
        </p:blipFill>
        <p:spPr>
          <a:xfrm>
            <a:off x="4490198" y="3215199"/>
            <a:ext cx="1549654" cy="691384"/>
          </a:xfrm>
          <a:prstGeom prst="rect">
            <a:avLst/>
          </a:prstGeom>
        </p:spPr>
      </p:pic>
      <p:pic>
        <p:nvPicPr>
          <p:cNvPr id="7" name="Picture 6"/>
          <p:cNvPicPr>
            <a:picLocks noChangeAspect="1"/>
          </p:cNvPicPr>
          <p:nvPr/>
        </p:nvPicPr>
        <p:blipFill>
          <a:blip r:embed="rId6"/>
          <a:stretch>
            <a:fillRect/>
          </a:stretch>
        </p:blipFill>
        <p:spPr>
          <a:xfrm>
            <a:off x="1037241" y="4221312"/>
            <a:ext cx="4326897" cy="949807"/>
          </a:xfrm>
          <a:prstGeom prst="rect">
            <a:avLst/>
          </a:prstGeom>
        </p:spPr>
      </p:pic>
      <p:pic>
        <p:nvPicPr>
          <p:cNvPr id="8" name="Picture 7"/>
          <p:cNvPicPr>
            <a:picLocks noChangeAspect="1"/>
          </p:cNvPicPr>
          <p:nvPr/>
        </p:nvPicPr>
        <p:blipFill>
          <a:blip r:embed="rId7"/>
          <a:stretch>
            <a:fillRect/>
          </a:stretch>
        </p:blipFill>
        <p:spPr>
          <a:xfrm>
            <a:off x="1153677" y="5470869"/>
            <a:ext cx="1902344" cy="806291"/>
          </a:xfrm>
          <a:prstGeom prst="rect">
            <a:avLst/>
          </a:prstGeom>
        </p:spPr>
      </p:pic>
    </p:spTree>
    <p:extLst>
      <p:ext uri="{BB962C8B-B14F-4D97-AF65-F5344CB8AC3E}">
        <p14:creationId xmlns:p14="http://schemas.microsoft.com/office/powerpoint/2010/main" val="19476451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Backpropagation through Conv Layer</a:t>
            </a:r>
            <a:endParaRPr lang="en-US" dirty="0"/>
          </a:p>
        </p:txBody>
      </p:sp>
      <p:pic>
        <p:nvPicPr>
          <p:cNvPr id="4" name="Content Placeholder 3"/>
          <p:cNvPicPr>
            <a:picLocks noGrp="1" noChangeAspect="1"/>
          </p:cNvPicPr>
          <p:nvPr>
            <p:ph idx="1"/>
          </p:nvPr>
        </p:nvPicPr>
        <p:blipFill>
          <a:blip r:embed="rId3"/>
          <a:stretch>
            <a:fillRect/>
          </a:stretch>
        </p:blipFill>
        <p:spPr>
          <a:xfrm>
            <a:off x="3829949" y="2831195"/>
            <a:ext cx="3317471" cy="892652"/>
          </a:xfrm>
          <a:prstGeom prst="rect">
            <a:avLst/>
          </a:prstGeom>
        </p:spPr>
      </p:pic>
      <p:pic>
        <p:nvPicPr>
          <p:cNvPr id="5" name="Picture 4"/>
          <p:cNvPicPr>
            <a:picLocks noChangeAspect="1"/>
          </p:cNvPicPr>
          <p:nvPr/>
        </p:nvPicPr>
        <p:blipFill>
          <a:blip r:embed="rId4"/>
          <a:stretch>
            <a:fillRect/>
          </a:stretch>
        </p:blipFill>
        <p:spPr>
          <a:xfrm>
            <a:off x="3771226" y="4091612"/>
            <a:ext cx="3300693" cy="994946"/>
          </a:xfrm>
          <a:prstGeom prst="rect">
            <a:avLst/>
          </a:prstGeom>
        </p:spPr>
      </p:pic>
      <p:sp>
        <p:nvSpPr>
          <p:cNvPr id="6" name="TextBox 5"/>
          <p:cNvSpPr txBox="1"/>
          <p:nvPr/>
        </p:nvSpPr>
        <p:spPr>
          <a:xfrm>
            <a:off x="998290" y="1963024"/>
            <a:ext cx="4868640" cy="369332"/>
          </a:xfrm>
          <a:prstGeom prst="rect">
            <a:avLst/>
          </a:prstGeom>
          <a:noFill/>
        </p:spPr>
        <p:txBody>
          <a:bodyPr wrap="none" rtlCol="0">
            <a:spAutoFit/>
          </a:bodyPr>
          <a:lstStyle/>
          <a:p>
            <a:r>
              <a:rPr lang="en-US" dirty="0" smtClean="0">
                <a:latin typeface="Sitka Text" pitchFamily="2" charset="0"/>
              </a:rPr>
              <a:t>Kernel Coefficients and bias are updated as</a:t>
            </a:r>
            <a:endParaRPr lang="en-US" dirty="0">
              <a:latin typeface="Sitka Text" pitchFamily="2" charset="0"/>
            </a:endParaRPr>
          </a:p>
        </p:txBody>
      </p:sp>
    </p:spTree>
    <p:extLst>
      <p:ext uri="{BB962C8B-B14F-4D97-AF65-F5344CB8AC3E}">
        <p14:creationId xmlns:p14="http://schemas.microsoft.com/office/powerpoint/2010/main" val="28381791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Sitka Subheading Semibold" pitchFamily="2" charset="0"/>
              </a:rPr>
              <a:t>LeNet5 (1990 - 1998)</a:t>
            </a:r>
            <a:endParaRPr lang="en-IN"/>
          </a:p>
        </p:txBody>
      </p:sp>
      <p:pic>
        <p:nvPicPr>
          <p:cNvPr id="4" name="Content Placeholder 3"/>
          <p:cNvPicPr>
            <a:picLocks noGrp="1" noChangeAspect="1"/>
          </p:cNvPicPr>
          <p:nvPr>
            <p:ph idx="1"/>
          </p:nvPr>
        </p:nvPicPr>
        <p:blipFill>
          <a:blip r:embed="rId3"/>
          <a:stretch>
            <a:fillRect/>
          </a:stretch>
        </p:blipFill>
        <p:spPr>
          <a:xfrm>
            <a:off x="1023811" y="2307578"/>
            <a:ext cx="10506000" cy="3139724"/>
          </a:xfrm>
          <a:prstGeom prst="rect">
            <a:avLst/>
          </a:prstGeom>
        </p:spPr>
      </p:pic>
      <p:sp>
        <p:nvSpPr>
          <p:cNvPr id="5" name="Rectangle 4"/>
          <p:cNvSpPr/>
          <p:nvPr/>
        </p:nvSpPr>
        <p:spPr>
          <a:xfrm>
            <a:off x="3272292" y="6389058"/>
            <a:ext cx="8713076" cy="261610"/>
          </a:xfrm>
          <a:prstGeom prst="rect">
            <a:avLst/>
          </a:prstGeom>
        </p:spPr>
        <p:txBody>
          <a:bodyPr wrap="square">
            <a:spAutoFit/>
          </a:bodyPr>
          <a:lstStyle/>
          <a:p>
            <a:r>
              <a:rPr lang="en-US" sz="1100" err="1">
                <a:latin typeface="Sitka Text" pitchFamily="2" charset="0"/>
              </a:rPr>
              <a:t>LeCun</a:t>
            </a:r>
            <a:r>
              <a:rPr lang="en-US" sz="1100">
                <a:latin typeface="Sitka Text" pitchFamily="2" charset="0"/>
              </a:rPr>
              <a:t>, Yann, et al. "Gradient-based learning applied to document recognition." </a:t>
            </a:r>
            <a:r>
              <a:rPr lang="en-US" sz="1100" i="1">
                <a:latin typeface="Sitka Text" pitchFamily="2" charset="0"/>
              </a:rPr>
              <a:t>Proceedings of the IEEE</a:t>
            </a:r>
            <a:r>
              <a:rPr lang="en-US" sz="1100">
                <a:latin typeface="Sitka Text" pitchFamily="2" charset="0"/>
              </a:rPr>
              <a:t> 86.11 (1998): 2278-2324.</a:t>
            </a:r>
            <a:endParaRPr lang="en-IN" sz="1100">
              <a:latin typeface="Sitka Text" pitchFamily="2" charset="0"/>
            </a:endParaRPr>
          </a:p>
        </p:txBody>
      </p:sp>
    </p:spTree>
    <p:extLst>
      <p:ext uri="{BB962C8B-B14F-4D97-AF65-F5344CB8AC3E}">
        <p14:creationId xmlns:p14="http://schemas.microsoft.com/office/powerpoint/2010/main" val="1696714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latin typeface="Sitka Subheading Semibold" pitchFamily="2" charset="0"/>
              </a:rPr>
              <a:t>AlexNet</a:t>
            </a:r>
            <a:endParaRPr lang="en-US"/>
          </a:p>
        </p:txBody>
      </p:sp>
      <p:sp>
        <p:nvSpPr>
          <p:cNvPr id="3" name="Rectangle 2"/>
          <p:cNvSpPr/>
          <p:nvPr/>
        </p:nvSpPr>
        <p:spPr>
          <a:xfrm>
            <a:off x="381001" y="6427113"/>
            <a:ext cx="11810999" cy="430887"/>
          </a:xfrm>
          <a:prstGeom prst="rect">
            <a:avLst/>
          </a:prstGeom>
        </p:spPr>
        <p:txBody>
          <a:bodyPr wrap="square">
            <a:spAutoFit/>
          </a:bodyPr>
          <a:lstStyle/>
          <a:p>
            <a:r>
              <a:rPr lang="en-US" sz="1100" err="1">
                <a:latin typeface="Sitka Text" pitchFamily="2" charset="0"/>
              </a:rPr>
              <a:t>Krizhevsky</a:t>
            </a:r>
            <a:r>
              <a:rPr lang="en-US" sz="1100">
                <a:latin typeface="Sitka Text" pitchFamily="2" charset="0"/>
              </a:rPr>
              <a:t>, Alex, Ilya </a:t>
            </a:r>
            <a:r>
              <a:rPr lang="en-US" sz="1100" err="1">
                <a:latin typeface="Sitka Text" pitchFamily="2" charset="0"/>
              </a:rPr>
              <a:t>Sutskever</a:t>
            </a:r>
            <a:r>
              <a:rPr lang="en-US" sz="1100">
                <a:latin typeface="Sitka Text" pitchFamily="2" charset="0"/>
              </a:rPr>
              <a:t>, and Geoffrey E. Hinton. "</a:t>
            </a:r>
            <a:r>
              <a:rPr lang="en-US" sz="1100" err="1">
                <a:latin typeface="Sitka Text" pitchFamily="2" charset="0"/>
              </a:rPr>
              <a:t>Imagenet</a:t>
            </a:r>
            <a:r>
              <a:rPr lang="en-US" sz="1100">
                <a:latin typeface="Sitka Text" pitchFamily="2" charset="0"/>
              </a:rPr>
              <a:t> classification with deep convolutional neural networks." </a:t>
            </a:r>
            <a:r>
              <a:rPr lang="en-US" sz="1100" i="1">
                <a:latin typeface="Sitka Text" pitchFamily="2" charset="0"/>
              </a:rPr>
              <a:t>Advances in neural information processing systems</a:t>
            </a:r>
            <a:r>
              <a:rPr lang="en-US" sz="1100">
                <a:latin typeface="Sitka Text" pitchFamily="2" charset="0"/>
              </a:rPr>
              <a:t> 25 (2012).</a:t>
            </a:r>
          </a:p>
        </p:txBody>
      </p:sp>
      <p:pic>
        <p:nvPicPr>
          <p:cNvPr id="4" name="Picture 3"/>
          <p:cNvPicPr>
            <a:picLocks noChangeAspect="1"/>
          </p:cNvPicPr>
          <p:nvPr/>
        </p:nvPicPr>
        <p:blipFill>
          <a:blip r:embed="rId3"/>
          <a:stretch>
            <a:fillRect/>
          </a:stretch>
        </p:blipFill>
        <p:spPr>
          <a:xfrm>
            <a:off x="1487904" y="2007730"/>
            <a:ext cx="9228221" cy="3609373"/>
          </a:xfrm>
          <a:prstGeom prst="rect">
            <a:avLst/>
          </a:prstGeom>
        </p:spPr>
      </p:pic>
    </p:spTree>
    <p:extLst>
      <p:ext uri="{BB962C8B-B14F-4D97-AF65-F5344CB8AC3E}">
        <p14:creationId xmlns:p14="http://schemas.microsoft.com/office/powerpoint/2010/main" val="37511701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latin typeface="Sitka Text" pitchFamily="2" charset="0"/>
              </a:rPr>
              <a:t>GoogLeNet</a:t>
            </a:r>
            <a:endParaRPr lang="en-US">
              <a:latin typeface="Sitka Text" pitchFamily="2" charset="0"/>
            </a:endParaRPr>
          </a:p>
        </p:txBody>
      </p:sp>
      <p:sp>
        <p:nvSpPr>
          <p:cNvPr id="4" name="Rectangle 3"/>
          <p:cNvSpPr/>
          <p:nvPr/>
        </p:nvSpPr>
        <p:spPr>
          <a:xfrm>
            <a:off x="2057400" y="6460981"/>
            <a:ext cx="9829800" cy="261610"/>
          </a:xfrm>
          <a:prstGeom prst="rect">
            <a:avLst/>
          </a:prstGeom>
        </p:spPr>
        <p:txBody>
          <a:bodyPr wrap="square">
            <a:spAutoFit/>
          </a:bodyPr>
          <a:lstStyle/>
          <a:p>
            <a:r>
              <a:rPr lang="en-US" sz="1100" err="1">
                <a:latin typeface="Sitka Text" pitchFamily="2" charset="0"/>
              </a:rPr>
              <a:t>Szegedy</a:t>
            </a:r>
            <a:r>
              <a:rPr lang="en-US" sz="1100">
                <a:latin typeface="Sitka Text" pitchFamily="2" charset="0"/>
              </a:rPr>
              <a:t>, Christian, et al. "Going deeper with convolutions." </a:t>
            </a:r>
            <a:r>
              <a:rPr lang="en-US" sz="1100" i="1">
                <a:latin typeface="Sitka Text" pitchFamily="2" charset="0"/>
              </a:rPr>
              <a:t>Proceedings of the IEEE conference on computer vision and pattern recognition</a:t>
            </a:r>
            <a:r>
              <a:rPr lang="en-US" sz="1100">
                <a:latin typeface="Sitka Text" pitchFamily="2" charset="0"/>
              </a:rPr>
              <a:t>. 2015.</a:t>
            </a:r>
          </a:p>
        </p:txBody>
      </p:sp>
      <p:pic>
        <p:nvPicPr>
          <p:cNvPr id="6" name="Picture 5"/>
          <p:cNvPicPr>
            <a:picLocks noChangeAspect="1"/>
          </p:cNvPicPr>
          <p:nvPr/>
        </p:nvPicPr>
        <p:blipFill>
          <a:blip r:embed="rId3"/>
          <a:stretch>
            <a:fillRect/>
          </a:stretch>
        </p:blipFill>
        <p:spPr>
          <a:xfrm>
            <a:off x="1216134" y="2303544"/>
            <a:ext cx="4744112" cy="2667372"/>
          </a:xfrm>
          <a:prstGeom prst="rect">
            <a:avLst/>
          </a:prstGeom>
        </p:spPr>
      </p:pic>
      <p:pic>
        <p:nvPicPr>
          <p:cNvPr id="7" name="Picture 6"/>
          <p:cNvPicPr>
            <a:picLocks noChangeAspect="1"/>
          </p:cNvPicPr>
          <p:nvPr/>
        </p:nvPicPr>
        <p:blipFill>
          <a:blip r:embed="rId4"/>
          <a:stretch>
            <a:fillRect/>
          </a:stretch>
        </p:blipFill>
        <p:spPr>
          <a:xfrm>
            <a:off x="6286074" y="2303544"/>
            <a:ext cx="4744112" cy="2581635"/>
          </a:xfrm>
          <a:prstGeom prst="rect">
            <a:avLst/>
          </a:prstGeom>
        </p:spPr>
      </p:pic>
    </p:spTree>
    <p:extLst>
      <p:ext uri="{BB962C8B-B14F-4D97-AF65-F5344CB8AC3E}">
        <p14:creationId xmlns:p14="http://schemas.microsoft.com/office/powerpoint/2010/main" val="9411949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latin typeface="Sitka Text" pitchFamily="2" charset="0"/>
              </a:rPr>
              <a:t>GoogLeNet</a:t>
            </a:r>
            <a:endParaRPr lang="en-US"/>
          </a:p>
        </p:txBody>
      </p:sp>
      <p:pic>
        <p:nvPicPr>
          <p:cNvPr id="4" name="Content Placeholder 3"/>
          <p:cNvPicPr>
            <a:picLocks noGrp="1" noChangeAspect="1"/>
          </p:cNvPicPr>
          <p:nvPr>
            <p:ph idx="1"/>
          </p:nvPr>
        </p:nvPicPr>
        <p:blipFill>
          <a:blip r:embed="rId3"/>
          <a:stretch>
            <a:fillRect/>
          </a:stretch>
        </p:blipFill>
        <p:spPr>
          <a:xfrm rot="5400000">
            <a:off x="4591403" y="-1882410"/>
            <a:ext cx="3070154" cy="11332488"/>
          </a:xfrm>
          <a:prstGeom prst="rect">
            <a:avLst/>
          </a:prstGeom>
        </p:spPr>
      </p:pic>
      <p:sp>
        <p:nvSpPr>
          <p:cNvPr id="5" name="Rectangle 4"/>
          <p:cNvSpPr/>
          <p:nvPr/>
        </p:nvSpPr>
        <p:spPr>
          <a:xfrm>
            <a:off x="2057400" y="6460981"/>
            <a:ext cx="9829800" cy="261610"/>
          </a:xfrm>
          <a:prstGeom prst="rect">
            <a:avLst/>
          </a:prstGeom>
        </p:spPr>
        <p:txBody>
          <a:bodyPr wrap="square">
            <a:spAutoFit/>
          </a:bodyPr>
          <a:lstStyle/>
          <a:p>
            <a:r>
              <a:rPr lang="en-US" sz="1100" err="1">
                <a:latin typeface="Sitka Text" pitchFamily="2" charset="0"/>
              </a:rPr>
              <a:t>Szegedy</a:t>
            </a:r>
            <a:r>
              <a:rPr lang="en-US" sz="1100">
                <a:latin typeface="Sitka Text" pitchFamily="2" charset="0"/>
              </a:rPr>
              <a:t>, Christian, et al. "Going deeper with convolutions." </a:t>
            </a:r>
            <a:r>
              <a:rPr lang="en-US" sz="1100" i="1">
                <a:latin typeface="Sitka Text" pitchFamily="2" charset="0"/>
              </a:rPr>
              <a:t>Proceedings of the IEEE conference on computer vision and pattern recognition</a:t>
            </a:r>
            <a:r>
              <a:rPr lang="en-US" sz="1100">
                <a:latin typeface="Sitka Text" pitchFamily="2" charset="0"/>
              </a:rPr>
              <a:t>. 2015.</a:t>
            </a:r>
          </a:p>
        </p:txBody>
      </p:sp>
    </p:spTree>
    <p:extLst>
      <p:ext uri="{BB962C8B-B14F-4D97-AF65-F5344CB8AC3E}">
        <p14:creationId xmlns:p14="http://schemas.microsoft.com/office/powerpoint/2010/main" val="32816121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latin typeface="Sitka Text" pitchFamily="2" charset="0"/>
              </a:rPr>
              <a:t>VGGNet</a:t>
            </a:r>
            <a:endParaRPr lang="en-US">
              <a:latin typeface="Sitka Text" pitchFamily="2" charset="0"/>
            </a:endParaRPr>
          </a:p>
        </p:txBody>
      </p:sp>
      <p:pic>
        <p:nvPicPr>
          <p:cNvPr id="5" name="Content Placeholder 4"/>
          <p:cNvPicPr>
            <a:picLocks noGrp="1" noChangeAspect="1"/>
          </p:cNvPicPr>
          <p:nvPr>
            <p:ph idx="1"/>
          </p:nvPr>
        </p:nvPicPr>
        <p:blipFill>
          <a:blip r:embed="rId3"/>
          <a:stretch>
            <a:fillRect/>
          </a:stretch>
        </p:blipFill>
        <p:spPr>
          <a:xfrm>
            <a:off x="5052534" y="436563"/>
            <a:ext cx="6510815" cy="5857556"/>
          </a:xfrm>
          <a:prstGeom prst="rect">
            <a:avLst/>
          </a:prstGeom>
        </p:spPr>
      </p:pic>
      <p:sp>
        <p:nvSpPr>
          <p:cNvPr id="4" name="Rectangle 3"/>
          <p:cNvSpPr/>
          <p:nvPr/>
        </p:nvSpPr>
        <p:spPr>
          <a:xfrm>
            <a:off x="2324100" y="6463040"/>
            <a:ext cx="9448800" cy="261610"/>
          </a:xfrm>
          <a:prstGeom prst="rect">
            <a:avLst/>
          </a:prstGeom>
        </p:spPr>
        <p:txBody>
          <a:bodyPr wrap="square">
            <a:spAutoFit/>
          </a:bodyPr>
          <a:lstStyle/>
          <a:p>
            <a:r>
              <a:rPr lang="en-US" sz="1100" err="1">
                <a:latin typeface="Sitka Text" pitchFamily="2" charset="0"/>
              </a:rPr>
              <a:t>Simonyan</a:t>
            </a:r>
            <a:r>
              <a:rPr lang="en-US" sz="1100">
                <a:latin typeface="Sitka Text" pitchFamily="2" charset="0"/>
              </a:rPr>
              <a:t>, Karen. "Very deep convolutional networks for large-scale image recognition." </a:t>
            </a:r>
            <a:r>
              <a:rPr lang="en-US" sz="1100" i="1" err="1">
                <a:latin typeface="Sitka Text" pitchFamily="2" charset="0"/>
              </a:rPr>
              <a:t>arXiv</a:t>
            </a:r>
            <a:r>
              <a:rPr lang="en-US" sz="1100" i="1">
                <a:latin typeface="Sitka Text" pitchFamily="2" charset="0"/>
              </a:rPr>
              <a:t> preprint arXiv:1409.1556</a:t>
            </a:r>
            <a:r>
              <a:rPr lang="en-US" sz="1100">
                <a:latin typeface="Sitka Text" pitchFamily="2" charset="0"/>
              </a:rPr>
              <a:t> (2014).</a:t>
            </a:r>
          </a:p>
        </p:txBody>
      </p:sp>
    </p:spTree>
    <p:extLst>
      <p:ext uri="{BB962C8B-B14F-4D97-AF65-F5344CB8AC3E}">
        <p14:creationId xmlns:p14="http://schemas.microsoft.com/office/powerpoint/2010/main" val="39357460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Sitka Text" pitchFamily="2" charset="0"/>
              </a:rPr>
              <a:t>ResNet</a:t>
            </a:r>
            <a:endParaRPr lang="en-US">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8173898" y="286603"/>
            <a:ext cx="3376628" cy="1881265"/>
          </a:xfrm>
          <a:prstGeom prst="rect">
            <a:avLst/>
          </a:prstGeom>
        </p:spPr>
      </p:pic>
      <p:pic>
        <p:nvPicPr>
          <p:cNvPr id="5" name="Picture 4"/>
          <p:cNvPicPr>
            <a:picLocks noChangeAspect="1"/>
          </p:cNvPicPr>
          <p:nvPr/>
        </p:nvPicPr>
        <p:blipFill>
          <a:blip r:embed="rId4"/>
          <a:stretch>
            <a:fillRect/>
          </a:stretch>
        </p:blipFill>
        <p:spPr>
          <a:xfrm rot="16200000">
            <a:off x="4445985" y="-450952"/>
            <a:ext cx="3668143" cy="9255946"/>
          </a:xfrm>
          <a:prstGeom prst="rect">
            <a:avLst/>
          </a:prstGeom>
        </p:spPr>
      </p:pic>
    </p:spTree>
    <p:extLst>
      <p:ext uri="{BB962C8B-B14F-4D97-AF65-F5344CB8AC3E}">
        <p14:creationId xmlns:p14="http://schemas.microsoft.com/office/powerpoint/2010/main" val="10128293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References</a:t>
            </a:r>
          </a:p>
        </p:txBody>
      </p:sp>
      <p:sp>
        <p:nvSpPr>
          <p:cNvPr id="3" name="Content Placeholder 2"/>
          <p:cNvSpPr>
            <a:spLocks noGrp="1"/>
          </p:cNvSpPr>
          <p:nvPr>
            <p:ph idx="1"/>
          </p:nvPr>
        </p:nvSpPr>
        <p:spPr/>
        <p:txBody>
          <a:bodyPr>
            <a:normAutofit/>
          </a:bodyPr>
          <a:lstStyle/>
          <a:p>
            <a:pPr algn="just">
              <a:lnSpc>
                <a:spcPct val="150000"/>
              </a:lnSpc>
              <a:buFont typeface="Wingdings" panose="05000000000000000000" pitchFamily="2" charset="2"/>
              <a:buChar char="q"/>
            </a:pPr>
            <a:r>
              <a:rPr lang="en-IN" sz="1800" dirty="0">
                <a:latin typeface="Sitka Text" pitchFamily="2" charset="0"/>
              </a:rPr>
              <a:t> “</a:t>
            </a:r>
            <a:r>
              <a:rPr lang="en-US" sz="1800" dirty="0">
                <a:latin typeface="Sitka Text" pitchFamily="2" charset="0"/>
              </a:rPr>
              <a:t>Deep Learning”, An MIT Press book, Ian </a:t>
            </a:r>
            <a:r>
              <a:rPr lang="en-US" sz="1800" dirty="0" err="1">
                <a:latin typeface="Sitka Text" pitchFamily="2" charset="0"/>
              </a:rPr>
              <a:t>Goodfellow</a:t>
            </a:r>
            <a:r>
              <a:rPr lang="en-US" sz="1800" dirty="0">
                <a:latin typeface="Sitka Text" pitchFamily="2" charset="0"/>
              </a:rPr>
              <a:t> and </a:t>
            </a:r>
            <a:r>
              <a:rPr lang="en-US" sz="1800" dirty="0" err="1">
                <a:latin typeface="Sitka Text" pitchFamily="2" charset="0"/>
              </a:rPr>
              <a:t>Yoshua</a:t>
            </a:r>
            <a:r>
              <a:rPr lang="en-US" sz="1800" dirty="0">
                <a:latin typeface="Sitka Text" pitchFamily="2" charset="0"/>
              </a:rPr>
              <a:t> </a:t>
            </a:r>
            <a:r>
              <a:rPr lang="en-US" sz="1800" dirty="0" err="1">
                <a:latin typeface="Sitka Text" pitchFamily="2" charset="0"/>
              </a:rPr>
              <a:t>Bengio</a:t>
            </a:r>
            <a:r>
              <a:rPr lang="en-US" sz="1800" dirty="0">
                <a:latin typeface="Sitka Text" pitchFamily="2" charset="0"/>
              </a:rPr>
              <a:t> and Aaron </a:t>
            </a:r>
            <a:r>
              <a:rPr lang="en-US" sz="1800" dirty="0" err="1">
                <a:latin typeface="Sitka Text" pitchFamily="2" charset="0"/>
              </a:rPr>
              <a:t>Courville</a:t>
            </a:r>
            <a:r>
              <a:rPr lang="en-US" sz="1800" dirty="0">
                <a:latin typeface="Sitka Text" pitchFamily="2" charset="0"/>
              </a:rPr>
              <a:t>, </a:t>
            </a:r>
            <a:r>
              <a:rPr lang="en-US" sz="1800" dirty="0">
                <a:latin typeface="Sitka Text" pitchFamily="2" charset="0"/>
                <a:hlinkClick r:id="rId2"/>
              </a:rPr>
              <a:t>http://www.deeplearningbook.org</a:t>
            </a:r>
            <a:endParaRPr lang="en-US" sz="1800" dirty="0">
              <a:latin typeface="Sitka Text" pitchFamily="2" charset="0"/>
            </a:endParaRPr>
          </a:p>
          <a:p>
            <a:pPr algn="just">
              <a:lnSpc>
                <a:spcPct val="150000"/>
              </a:lnSpc>
              <a:buFont typeface="Wingdings" panose="05000000000000000000" pitchFamily="2" charset="2"/>
              <a:buChar char="q"/>
            </a:pPr>
            <a:r>
              <a:rPr lang="en-IN" sz="1800" dirty="0">
                <a:latin typeface="Sitka Text" pitchFamily="2" charset="0"/>
              </a:rPr>
              <a:t> </a:t>
            </a:r>
            <a:r>
              <a:rPr lang="en-IN" sz="1800" dirty="0">
                <a:latin typeface="Sitka Text" pitchFamily="2" charset="0"/>
                <a:hlinkClick r:id="rId3"/>
              </a:rPr>
              <a:t>https://onlinecourses.nptel.ac.in/noc22_cs124/preview</a:t>
            </a:r>
            <a:endParaRPr lang="en-IN" sz="1800" dirty="0">
              <a:latin typeface="Sitka Text" pitchFamily="2" charset="0"/>
            </a:endParaRPr>
          </a:p>
          <a:p>
            <a:pPr algn="just">
              <a:lnSpc>
                <a:spcPct val="150000"/>
              </a:lnSpc>
              <a:buFont typeface="Wingdings" panose="05000000000000000000" pitchFamily="2" charset="2"/>
              <a:buChar char="q"/>
            </a:pPr>
            <a:r>
              <a:rPr lang="en-US" sz="1800" dirty="0">
                <a:latin typeface="Sitka Text" pitchFamily="2" charset="0"/>
              </a:rPr>
              <a:t> “Neural Networks and Deep Learning”, Aggarwal, C. C. , 2018. </a:t>
            </a:r>
            <a:endParaRPr lang="en-IN" sz="1800" dirty="0">
              <a:latin typeface="Sitka Text" pitchFamily="2" charset="0"/>
            </a:endParaRPr>
          </a:p>
          <a:p>
            <a:pPr algn="just">
              <a:lnSpc>
                <a:spcPct val="150000"/>
              </a:lnSpc>
              <a:buFont typeface="Wingdings" panose="05000000000000000000" pitchFamily="2" charset="2"/>
              <a:buChar char="q"/>
            </a:pPr>
            <a:r>
              <a:rPr lang="en-US" sz="1800" dirty="0">
                <a:latin typeface="Sitka Text" pitchFamily="2" charset="0"/>
              </a:rPr>
              <a:t> </a:t>
            </a:r>
            <a:r>
              <a:rPr lang="en-US" sz="1800" dirty="0" smtClean="0">
                <a:latin typeface="Sitka Text" pitchFamily="2" charset="0"/>
              </a:rPr>
              <a:t>"Gradient-Based </a:t>
            </a:r>
            <a:r>
              <a:rPr lang="en-US" sz="1800" dirty="0">
                <a:latin typeface="Sitka Text" pitchFamily="2" charset="0"/>
              </a:rPr>
              <a:t>Learning Applied to Document Recognition" by Yann </a:t>
            </a:r>
            <a:r>
              <a:rPr lang="en-US" sz="1800" dirty="0" err="1">
                <a:latin typeface="Sitka Text" pitchFamily="2" charset="0"/>
              </a:rPr>
              <a:t>LeCun</a:t>
            </a:r>
            <a:r>
              <a:rPr lang="en-US" sz="1800" dirty="0">
                <a:latin typeface="Sitka Text" pitchFamily="2" charset="0"/>
              </a:rPr>
              <a:t>, Léon </a:t>
            </a:r>
            <a:r>
              <a:rPr lang="en-US" sz="1800" dirty="0" err="1">
                <a:latin typeface="Sitka Text" pitchFamily="2" charset="0"/>
              </a:rPr>
              <a:t>Bottou</a:t>
            </a:r>
            <a:r>
              <a:rPr lang="en-US" sz="1800" dirty="0">
                <a:latin typeface="Sitka Text" pitchFamily="2" charset="0"/>
              </a:rPr>
              <a:t>, </a:t>
            </a:r>
            <a:r>
              <a:rPr lang="en-US" sz="1800" dirty="0" err="1">
                <a:latin typeface="Sitka Text" pitchFamily="2" charset="0"/>
              </a:rPr>
              <a:t>Yoshua</a:t>
            </a:r>
            <a:r>
              <a:rPr lang="en-US" sz="1800" dirty="0">
                <a:latin typeface="Sitka Text" pitchFamily="2" charset="0"/>
              </a:rPr>
              <a:t> </a:t>
            </a:r>
            <a:r>
              <a:rPr lang="en-US" sz="1800" dirty="0" err="1">
                <a:latin typeface="Sitka Text" pitchFamily="2" charset="0"/>
              </a:rPr>
              <a:t>Bengio</a:t>
            </a:r>
            <a:r>
              <a:rPr lang="en-US" sz="1800" dirty="0">
                <a:latin typeface="Sitka Text" pitchFamily="2" charset="0"/>
              </a:rPr>
              <a:t>, and Patrick </a:t>
            </a:r>
            <a:r>
              <a:rPr lang="en-US" sz="1800" dirty="0" err="1">
                <a:latin typeface="Sitka Text" pitchFamily="2" charset="0"/>
              </a:rPr>
              <a:t>Haffner</a:t>
            </a:r>
            <a:r>
              <a:rPr lang="en-US" sz="1800" dirty="0" smtClean="0">
                <a:latin typeface="Sitka Text" pitchFamily="2" charset="0"/>
              </a:rPr>
              <a:t>.</a:t>
            </a:r>
          </a:p>
          <a:p>
            <a:pPr algn="just">
              <a:lnSpc>
                <a:spcPct val="150000"/>
              </a:lnSpc>
              <a:buFont typeface="Wingdings" panose="05000000000000000000" pitchFamily="2" charset="2"/>
              <a:buChar char="q"/>
            </a:pPr>
            <a:r>
              <a:rPr lang="en-IN" sz="1800" dirty="0">
                <a:latin typeface="Sitka Text" pitchFamily="2" charset="0"/>
              </a:rPr>
              <a:t> </a:t>
            </a:r>
            <a:r>
              <a:rPr lang="en-IN" sz="1800" dirty="0" err="1" smtClean="0">
                <a:latin typeface="Sitka Text" pitchFamily="2" charset="0"/>
              </a:rPr>
              <a:t>Zeiler</a:t>
            </a:r>
            <a:r>
              <a:rPr lang="en-IN" sz="1800" dirty="0">
                <a:latin typeface="Sitka Text" pitchFamily="2" charset="0"/>
              </a:rPr>
              <a:t>, M. D., &amp; Fergus, R. (2014). Visualizing and understanding convolutional networks. In Computer Vision–ECCV 2014: 13th European Conference, Zurich, Switzerland, September 6-12, 2014, Proceedings, Part I 13 (pp. 818-833). Springer International Publishing.</a:t>
            </a:r>
          </a:p>
        </p:txBody>
      </p:sp>
    </p:spTree>
    <p:extLst>
      <p:ext uri="{BB962C8B-B14F-4D97-AF65-F5344CB8AC3E}">
        <p14:creationId xmlns:p14="http://schemas.microsoft.com/office/powerpoint/2010/main" val="31453017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153" y="1549919"/>
            <a:ext cx="10058400" cy="3594932"/>
          </a:xfrm>
          <a:solidFill>
            <a:schemeClr val="bg1"/>
          </a:solidFill>
        </p:spPr>
        <p:txBody>
          <a:bodyPr>
            <a:normAutofit/>
          </a:bodyPr>
          <a:lstStyle/>
          <a:p>
            <a:pPr algn="ctr"/>
            <a:r>
              <a:rPr lang="en-IN" sz="8000" dirty="0">
                <a:latin typeface="Sitka Small Semibold" pitchFamily="2" charset="0"/>
              </a:rPr>
              <a:t>Thank You</a:t>
            </a:r>
          </a:p>
        </p:txBody>
      </p:sp>
    </p:spTree>
    <p:extLst>
      <p:ext uri="{BB962C8B-B14F-4D97-AF65-F5344CB8AC3E}">
        <p14:creationId xmlns:p14="http://schemas.microsoft.com/office/powerpoint/2010/main" val="41003041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TotalTime>
  <Words>2885</Words>
  <Application>Microsoft Office PowerPoint</Application>
  <PresentationFormat>Widescreen</PresentationFormat>
  <Paragraphs>449</Paragraphs>
  <Slides>53</Slides>
  <Notes>28</Notes>
  <HiddenSlides>1</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64" baseType="lpstr">
      <vt:lpstr>Arial</vt:lpstr>
      <vt:lpstr>Calibri</vt:lpstr>
      <vt:lpstr>Calibri Light</vt:lpstr>
      <vt:lpstr>Cambria Math</vt:lpstr>
      <vt:lpstr>Sitka Small Semibold</vt:lpstr>
      <vt:lpstr>Sitka Subheading Semibold</vt:lpstr>
      <vt:lpstr>Sitka Text</vt:lpstr>
      <vt:lpstr>Times New Roman</vt:lpstr>
      <vt:lpstr>Wingdings</vt:lpstr>
      <vt:lpstr>Office Theme</vt:lpstr>
      <vt:lpstr>Equation</vt:lpstr>
      <vt:lpstr>Image Processing with CNNs</vt:lpstr>
      <vt:lpstr>Agenda</vt:lpstr>
      <vt:lpstr>Convolutional Neural Networks</vt:lpstr>
      <vt:lpstr>Convolutional Neural Networks</vt:lpstr>
      <vt:lpstr>Convolutional Neural Networks</vt:lpstr>
      <vt:lpstr>Convolutional Neural Networks</vt:lpstr>
      <vt:lpstr>Digital Image</vt:lpstr>
      <vt:lpstr>Digital Image</vt:lpstr>
      <vt:lpstr>Digital Image</vt:lpstr>
      <vt:lpstr>Image Formation</vt:lpstr>
      <vt:lpstr>Image Digitization</vt:lpstr>
      <vt:lpstr>Image Digitization</vt:lpstr>
      <vt:lpstr>Digital Image: Representation</vt:lpstr>
      <vt:lpstr>Digital Image: Representation</vt:lpstr>
      <vt:lpstr>Digital Image: Types</vt:lpstr>
      <vt:lpstr>Convolutional Neural Networks</vt:lpstr>
      <vt:lpstr>Convolutional Layer</vt:lpstr>
      <vt:lpstr>Convolution Operation</vt:lpstr>
      <vt:lpstr>Convolution Operation</vt:lpstr>
      <vt:lpstr>Convolution Operation: Padding</vt:lpstr>
      <vt:lpstr>Convolution Operation: Padding</vt:lpstr>
      <vt:lpstr>Convolutional Layer</vt:lpstr>
      <vt:lpstr>Convolutional Layer</vt:lpstr>
      <vt:lpstr>Convolutional Layer</vt:lpstr>
      <vt:lpstr>Convolutional Layer</vt:lpstr>
      <vt:lpstr>Pooling Layer</vt:lpstr>
      <vt:lpstr>Pooling Layer</vt:lpstr>
      <vt:lpstr>Fully-connected Layer</vt:lpstr>
      <vt:lpstr>Convolutional Neural Networks</vt:lpstr>
      <vt:lpstr>Convolutional Neural Networks</vt:lpstr>
      <vt:lpstr>Convolutional Neural Networks</vt:lpstr>
      <vt:lpstr>Pre-trained CNNs and Transfer Learning</vt:lpstr>
      <vt:lpstr>Pre-trained CNNs and Fine-tuning</vt:lpstr>
      <vt:lpstr>ImageNet Dataset</vt:lpstr>
      <vt:lpstr>Back Propagation in a CNN</vt:lpstr>
      <vt:lpstr>Forward Pass</vt:lpstr>
      <vt:lpstr>Loss Computation</vt:lpstr>
      <vt:lpstr>Gradient Computation</vt:lpstr>
      <vt:lpstr>Backpropagation through FC Layer</vt:lpstr>
      <vt:lpstr>Backward Pass</vt:lpstr>
      <vt:lpstr>Backward Pass</vt:lpstr>
      <vt:lpstr>Backward Pass</vt:lpstr>
      <vt:lpstr>Backpropagation through Pooling Layer</vt:lpstr>
      <vt:lpstr>Backpropagation through Conv Layer</vt:lpstr>
      <vt:lpstr>Backpropagation through Conv Layer</vt:lpstr>
      <vt:lpstr>LeNet5 (1990 - 1998)</vt:lpstr>
      <vt:lpstr>AlexNet</vt:lpstr>
      <vt:lpstr>GoogLeNet</vt:lpstr>
      <vt:lpstr>GoogLeNet</vt:lpstr>
      <vt:lpstr>VGGNet</vt:lpstr>
      <vt:lpstr>ResNet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Processing with CNNs</dc:title>
  <dc:creator>user</dc:creator>
  <cp:lastModifiedBy>Sushree</cp:lastModifiedBy>
  <cp:revision>33</cp:revision>
  <dcterms:created xsi:type="dcterms:W3CDTF">2026-01-23T11:20:52Z</dcterms:created>
  <dcterms:modified xsi:type="dcterms:W3CDTF">2026-01-30T15:45:01Z</dcterms:modified>
</cp:coreProperties>
</file>