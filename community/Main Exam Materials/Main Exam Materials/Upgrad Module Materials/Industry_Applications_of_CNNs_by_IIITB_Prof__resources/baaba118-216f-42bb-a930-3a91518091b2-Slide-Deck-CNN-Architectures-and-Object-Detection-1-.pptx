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2.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3.xml" ContentType="application/inkml+xml"/>
  <Override PartName="/ppt/notesSlides/notesSlide32.xml" ContentType="application/vnd.openxmlformats-officedocument.presentationml.notesSlide+xml"/>
  <Override PartName="/ppt/ink/ink4.xml" ContentType="application/inkml+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ink/ink5.xml" ContentType="application/inkml+xml"/>
  <Override PartName="/ppt/ink/ink6.xml" ContentType="application/inkml+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1"/>
  </p:notesMasterIdLst>
  <p:sldIdLst>
    <p:sldId id="256" r:id="rId2"/>
    <p:sldId id="343" r:id="rId3"/>
    <p:sldId id="280" r:id="rId4"/>
    <p:sldId id="281" r:id="rId5"/>
    <p:sldId id="283" r:id="rId6"/>
    <p:sldId id="284" r:id="rId7"/>
    <p:sldId id="285" r:id="rId8"/>
    <p:sldId id="286" r:id="rId9"/>
    <p:sldId id="288" r:id="rId10"/>
    <p:sldId id="289" r:id="rId11"/>
    <p:sldId id="342" r:id="rId12"/>
    <p:sldId id="258" r:id="rId13"/>
    <p:sldId id="259" r:id="rId14"/>
    <p:sldId id="257" r:id="rId15"/>
    <p:sldId id="260" r:id="rId16"/>
    <p:sldId id="261" r:id="rId17"/>
    <p:sldId id="262" r:id="rId18"/>
    <p:sldId id="344" r:id="rId19"/>
    <p:sldId id="263" r:id="rId20"/>
    <p:sldId id="264" r:id="rId21"/>
    <p:sldId id="265" r:id="rId22"/>
    <p:sldId id="266" r:id="rId23"/>
    <p:sldId id="267" r:id="rId24"/>
    <p:sldId id="268" r:id="rId25"/>
    <p:sldId id="269" r:id="rId26"/>
    <p:sldId id="270" r:id="rId27"/>
    <p:sldId id="271" r:id="rId28"/>
    <p:sldId id="272" r:id="rId29"/>
    <p:sldId id="273" r:id="rId30"/>
    <p:sldId id="275" r:id="rId31"/>
    <p:sldId id="276" r:id="rId32"/>
    <p:sldId id="274" r:id="rId33"/>
    <p:sldId id="290" r:id="rId34"/>
    <p:sldId id="291" r:id="rId35"/>
    <p:sldId id="292" r:id="rId36"/>
    <p:sldId id="293" r:id="rId37"/>
    <p:sldId id="294" r:id="rId38"/>
    <p:sldId id="295" r:id="rId39"/>
    <p:sldId id="296" r:id="rId40"/>
    <p:sldId id="297" r:id="rId41"/>
    <p:sldId id="298" r:id="rId42"/>
    <p:sldId id="301" r:id="rId43"/>
    <p:sldId id="304" r:id="rId44"/>
    <p:sldId id="305" r:id="rId45"/>
    <p:sldId id="306" r:id="rId46"/>
    <p:sldId id="307" r:id="rId47"/>
    <p:sldId id="308" r:id="rId48"/>
    <p:sldId id="309" r:id="rId49"/>
    <p:sldId id="310" r:id="rId50"/>
    <p:sldId id="311" r:id="rId51"/>
    <p:sldId id="312" r:id="rId52"/>
    <p:sldId id="313" r:id="rId53"/>
    <p:sldId id="314" r:id="rId54"/>
    <p:sldId id="316" r:id="rId55"/>
    <p:sldId id="317" r:id="rId56"/>
    <p:sldId id="318" r:id="rId57"/>
    <p:sldId id="319" r:id="rId58"/>
    <p:sldId id="321" r:id="rId59"/>
    <p:sldId id="322" r:id="rId60"/>
    <p:sldId id="323" r:id="rId61"/>
    <p:sldId id="324" r:id="rId62"/>
    <p:sldId id="325" r:id="rId63"/>
    <p:sldId id="326" r:id="rId64"/>
    <p:sldId id="327" r:id="rId65"/>
    <p:sldId id="328" r:id="rId66"/>
    <p:sldId id="330" r:id="rId67"/>
    <p:sldId id="331" r:id="rId68"/>
    <p:sldId id="329" r:id="rId69"/>
    <p:sldId id="332" r:id="rId70"/>
    <p:sldId id="333" r:id="rId71"/>
    <p:sldId id="334" r:id="rId72"/>
    <p:sldId id="335" r:id="rId73"/>
    <p:sldId id="336" r:id="rId74"/>
    <p:sldId id="337" r:id="rId75"/>
    <p:sldId id="338" r:id="rId76"/>
    <p:sldId id="340" r:id="rId77"/>
    <p:sldId id="341" r:id="rId78"/>
    <p:sldId id="277" r:id="rId79"/>
    <p:sldId id="278"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461" autoAdjust="0"/>
  </p:normalViewPr>
  <p:slideViewPr>
    <p:cSldViewPr snapToGrid="0">
      <p:cViewPr varScale="1">
        <p:scale>
          <a:sx n="102" d="100"/>
          <a:sy n="102" d="100"/>
        </p:scale>
        <p:origin x="253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5-02-13T08:53:49.360"/>
    </inkml:context>
    <inkml:brush xml:id="br0">
      <inkml:brushProperty name="width" value="0.06667" units="cm"/>
      <inkml:brushProperty name="height" value="0.06667" units="cm"/>
      <inkml:brushProperty name="color" value="#3165BB"/>
      <inkml:brushProperty name="fitToCurve" value="1"/>
    </inkml:brush>
  </inkml:definitions>
  <inkml:trace contextRef="#ctx0" brushRef="#br0">0 0 22 0,'0'0'5'0,"0"0"-3"0,0 0-2 0,0 0-3 0,0 0-1 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5-02-18T09:24:39.840"/>
    </inkml:context>
    <inkml:brush xml:id="br0">
      <inkml:brushProperty name="width" value="0.06667" units="cm"/>
      <inkml:brushProperty name="height" value="0.06667" units="cm"/>
      <inkml:brushProperty name="color" value="#ED1C24"/>
      <inkml:brushProperty name="fitToCurve" value="1"/>
    </inkml:brush>
  </inkml:definitions>
  <inkml:trace contextRef="#ctx0" brushRef="#br0">1645 1253 31 0,'-6'2'17'0,"2"2"-6"0,-3-1-6 16,1 1-2-16,2-1-2 0,-2 3 0 0,2 0-1 0,1 0 0 0,-1 1-1 15,0 0-2-15,0 1-14 0,-1 2-10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5-02-18T09:40:37.792"/>
    </inkml:context>
    <inkml:brush xml:id="br0">
      <inkml:brushProperty name="width" value="0.06667" units="cm"/>
      <inkml:brushProperty name="height" value="0.06667" units="cm"/>
      <inkml:brushProperty name="color" value="#3165BB"/>
      <inkml:brushProperty name="fitToCurve" value="1"/>
    </inkml:brush>
  </inkml:definitions>
  <inkml:trace contextRef="#ctx0" brushRef="#br0">31 47 24 0,'-6'-3'23'0,"2"0"3"0,-2-2 4 16,0 2 2-16,5-2 1 0,-1 2 2 0,0-1-2 0,0 1-1 16,2-1-4-16,-3 2 0 0,3 2-23 0,3-2-35 0,-1 0-4 0,-2 2 9 0,2-2 5 15,1 2 3-15,0-2 0 0,1 2 0 0,2 0-1 16,-2 0 2-16,1-1-3 0,1 1 0 0,-1 0 0 0,0 0 1 0,1 0 2 0,1-3 3 0,-3 3 3 15</inkml:trace>
</inkml:ink>
</file>

<file path=ppt/ink/ink4.xml><?xml version="1.0" encoding="utf-8"?>
<inkml:ink xmlns:inkml="http://www.w3.org/2003/InkML">
  <inkml:definitions>
    <inkml:context xml:id="ctx0">
      <inkml:inkSource xml:id="inkSrc0">
        <inkml:traceFormat>
          <inkml:channel name="X" type="integer" max="2560" units="cm"/>
          <inkml:channel name="Y" type="integer" max="1080" units="cm"/>
          <inkml:channel name="T" type="integer" max="2.14748E9" units="dev"/>
        </inkml:traceFormat>
        <inkml:channelProperties>
          <inkml:channelProperty channel="X" name="resolution" value="32.0802" units="1/cm"/>
          <inkml:channelProperty channel="Y" name="resolution" value="32.33533" units="1/cm"/>
          <inkml:channelProperty channel="T" name="resolution" value="1" units="1/dev"/>
        </inkml:channelProperties>
      </inkml:inkSource>
      <inkml:timestamp xml:id="ts0" timeString="2025-09-03T11:54:51.264"/>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404F4C54-73F8-4BE8-AE2C-50DCEA1F6A83}" emma:medium="tactile" emma:mode="ink">
          <msink:context xmlns:msink="http://schemas.microsoft.com/ink/2010/main" type="writingRegion" rotatedBoundingBox="26518,-2590 26533,-2590 26533,-2575 26518,-2575"/>
        </emma:interpretation>
      </emma:emma>
    </inkml:annotationXML>
    <inkml:traceGroup>
      <inkml:annotationXML>
        <emma:emma xmlns:emma="http://www.w3.org/2003/04/emma" version="1.0">
          <emma:interpretation id="{404A793A-D59A-4C89-8A39-741DEAC6AC12}" emma:medium="tactile" emma:mode="ink">
            <msink:context xmlns:msink="http://schemas.microsoft.com/ink/2010/main" type="paragraph" rotatedBoundingBox="26518,-2590 26533,-2590 26533,-2575 26518,-2575" alignmentLevel="1"/>
          </emma:interpretation>
        </emma:emma>
      </inkml:annotationXML>
      <inkml:traceGroup>
        <inkml:annotationXML>
          <emma:emma xmlns:emma="http://www.w3.org/2003/04/emma" version="1.0">
            <emma:interpretation id="{B5DC5785-DBD3-43AD-9FF3-B7C739A460BE}" emma:medium="tactile" emma:mode="ink">
              <msink:context xmlns:msink="http://schemas.microsoft.com/ink/2010/main" type="line" rotatedBoundingBox="26518,-2590 26533,-2590 26533,-2575 26518,-2575"/>
            </emma:interpretation>
          </emma:emma>
        </inkml:annotationXML>
        <inkml:traceGroup>
          <inkml:annotationXML>
            <emma:emma xmlns:emma="http://www.w3.org/2003/04/emma" version="1.0">
              <emma:interpretation id="{66EC73EE-E89D-4392-A9CC-BD55D6209DBE}" emma:medium="tactile" emma:mode="ink">
                <msink:context xmlns:msink="http://schemas.microsoft.com/ink/2010/main" type="inkWord" rotatedBoundingBox="26518,-2590 26533,-2590 26533,-2575 26518,-2575"/>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.M</emma:literal>
                </emma:interpretation>
              </emma:one-of>
            </emma:emma>
          </inkml:annotationXML>
          <inkml:trace contextRef="#ctx0" brushRef="#br0">0 0 0</inkml:trace>
        </inkml:traceGroup>
      </inkml:traceGroup>
    </inkml:traceGroup>
  </inkml:traceGroup>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5-02-20T09:47:04.352"/>
    </inkml:context>
    <inkml:brush xml:id="br0">
      <inkml:brushProperty name="width" value="0.04667" units="cm"/>
      <inkml:brushProperty name="height" value="0.04667" units="cm"/>
      <inkml:brushProperty name="color" value="#3165BB"/>
      <inkml:brushProperty name="fitToCurve" value="1"/>
    </inkml:brush>
  </inkml:definitions>
  <inkml:trace contextRef="#ctx0" brushRef="#br0">0 169 34 0,'0'0'43'0,"0"0"11"16,0 0 10-16,0 0 10 0,0 0 13 0,0 0 11 0,3-1 14 0,-1 1 14 15,-2-3 18-15,2 3 17 0,-2-1-11 0,2-2-29 0,0 3-5 0,0-1 8 16,1 1 9-16,-2 0 7 0,2-2 4 0,-1 0 0 0,0 0-1 15,0 2-4-15,-1-2-5 0,5 2-7 0,-5-2-8 0,3 2-11 0,-2-2-10 16,1 0-11-16,1 2-9 0,-2-1-11 0,2 1-8 0,0-3-7 0,0 3-3 16,0 0-6-16,1-1-5 0,-1 1-2 0,3 0-4 0,-4-1-3 15,4 1-2-15,-1 0-3 0,-2 0-1 0,3 0-1 0,0-3-1 16,3 3-3-16,-3 0 1 0,1-2-1 0,4 2 0 0,-1-2-1 0,0 2 1 16,4 0-2-16,-3-2 0 0,3 0-2 0,1 0-1 0,0 2-1 0,0 0-3 15,1-1-2-15,-1-2 1 0,3 3-2 0,-2-2-1 0,1 1-2 0,-1-1 2 16,2 2-2-16,-2-1-1 0,0-1-1 0,1 2 0 0,1-2 0 15,-3 2 0-15,1-2-1 0,4 2 2 0,-5-2-2 0,1 2 1 16,3-2-1-16,-2 2 1 0,-1-2-1 0,2 2 1 0,-2-2-1 0,0 2-1 16,-2 0 1-16,2-1-1 0,0 1 0 0,-2 0-1 0,1 0 1 0,-1 0 0 15,-3-3 0-15,4 3-1 0,-5 0-1 0,5 0 1 0,-6 0-2 0,2 0 3 16,-2 0 0-16,2 0-1 0,-2 0 0 0,0 0 0 0,1 0-1 0,-1 3 1 16,-2-3 0-16,2 0 0 0,-1 0 0 0,2 1-1 0,-5-1 1 15,4 0 0-15,-3 0 0 0,3 2-1 0,-5-2 1 0,6 0-1 16,-2 2 1-16,-1-2-1 0,1 0 1 0,-2 2 0 0,4-2-1 0,-2 2 2 15,-1-2 1-15,1 0 1 0,-2 2 4 0,3-2 0 0,0 0 3 0,-2 2 2 16,1-2 3-16,-2 0 1 0,1 0 4 0,4 0 1 0,-4 0 3 0,-1 0 1 16,4 0 1-16,0 0 2 0,-3 0 3 0,3 0-2 0,-1 0 0 15,0 0-1-15,1 0-1 0,-1 0-2 0,0 0-2 0,1 0-1 16,2 0-3-16,0 0-2 0,-3-2-1 0,3 2-2 0,-1 0-1 0,0 0-3 16,1 0 0-16,-1-2-1 0,1 2-1 0,0 0 0 0,-3 0-1 0,2-2 2 15,1 2 0-15,0 0 1 0,-3-2 1 0,1 2 0 0,0 0 2 0,1 0 0 16,-1 0 0-16,0-2 3 0,-1 2 0 0,3 0 0 0,-3 0 2 15,3-2-1-15,-2 2 2 0,0 0 0 0,1 0 1 0,0 0 0 0,-2 0 1 16,3 0-1-16,0-1 0 0,-1 1-1 0,-2 0 1 0,5 0-1 16,-3-3 0-16,1 3-2 0,0 0-1 0,-1-2-1 0,1 2-2 0,0-1-2 15,-2 1 0-15,5-3-1 0,-5 3-4 0,2-1 1 0,0 1 0 0,-1 0-3 16,3 0 0-16,-4-2-1 0,0 2 0 0,2-3-1 0,0 3 0 0,-1 0 2 16,-2 0-2-16,3 0 1 0,-2 0-1 0,2 0 1 0,-1 0 0 15,-1 0 0-15,-1 0 0 0,2 0 0 0,-2 0 1 0,2 0-1 16,-2 0 0-16,-2 0 1 0,2 0 0 0,-1 0 0 0,2-1 0 0,-4 1 0 15,1 0 3-15,4 0-1 0,-7 0 2 0,5 0 1 0,-3 0 1 0,2 0-1 16,-1-2 1-16,1 2 1 0,-4 0 0 0,1 0-1 0,3 0 1 16,-2 0 2-16,1 0-2 0,-2 0-1 0,1 0 0 0,-1 0 0 0,2 0-1 15,-2 0-1-15,1 0 0 0,-1 0 1 0,0 0 0 0,3 0-1 16,-3 0 1-16,-1 0 0 0,2 0 1 0,-1 0 0 0,1 0 1 0,0 0-1 16,0 0 0-16,-1 0 0 0,1-1 0 0,1 1 0 0,-2 0-1 0,1 0-1 15,2 0 0-15,-4 0-1 0,1 0-1 0,3 0-1 0,-2 0 0 0,-2 0-2 16,4 0 0-16,-1 0-1 0,1-2 0 0,-3 2-1 0,2 0 1 0,0 0-1 15,1 0 0-15,-1 0-1 0,1-2 0 0,-3 2 1 0,2 0-1 16,1 0 0-16,-4 0 1 0,4 0 0 0,-2 0 0 0,-2-2 0 16,4 2 0-16,-1 0-1 0,-2 0 0 0,3 0 1 0,-2 0 0 0,-2 0 0 15,4 0-1-15,-3 0 1 0,0 0 0 0,0 0 0 0,3 0 0 0,-2-2 0 16,-2 2 0-16,1 0-1 0,-1 0 2 0,1 0-1 0,3 0 0 16,-3 0 0-16,-1 0 0 0,0 0 0 0,2 0-1 0,-2 0 1 0,4-2-1 15,-2 2 1-15,-3 0-2 0,2 0 1 0,0 0 1 0,0 0 0 16,-1 0 0-16,0 0-2 0,1 0 2 0,1 0 0 0,-3 0 0 0,5 0 0 15,-5 0 0-15,2 0-1 0,1 0 1 0,-1 0 1 0,-1 0 0 0,2 0 0 16,-1 0 0-16,1 0 0 0,-1 0 0 0,1 0 1 0,-2 0-1 16,1 0 2-16,3 0-1 0,-2 0 0 0,-2 2 0 0,4-2-1 0,-2 0 1 15,-2 0 0-15,1 0 1 0,3 0-2 0,-2-2 1 0,-2 2 0 16,1 0 0-16,3 0-1 0,-2 0 1 0,-2 0 0 0,2 0 0 0,2 0 3 16,-3-3 2-16,-1 3 2 0,2 0 2 0,2 0 2 0,-3 0-1 0,-1 0 2 15,5 0 0-15,-4 0-1 0,-1 0 2 0,4 0 1 0,-2 0-1 0,0 0 1 16,3 0-2-16,-4 0 1 0,2 0-3 0,0 0-1 0,1 0-1 0,-2 0-1 15,2 0 0-15,-1 0 1 0,1 0-2 0,-1 0 1 16,1 0 1-16,-4 0 2 0,6 0-1 0,-5-3 4 0,4 3 2 0,-1 0 1 16,-1 0 1-16,3 0-2 0,-1-1 1 0,0 1-3 0,2 0 2 0,-2 0-1 15,2-2 1-15,1 2 1 0,0 0-1 0,-3 0 2 0,2 0-4 0,1-2-1 16,0 2-3-16,-2 0-2 0,2 0-1 0,0-2 2 0,-1 2 5 0,1 0-3 16,0-2 2-16,-2 2 1 0,2 0-1 0,0 0-2 0,-1 0 0 15,-2 0 0-15,3-1 4 0,0 1 1 0,0 0 1 0,-2 0-1 16,0 0-1-16,0 0-2 0,-1 0-4 0,0 0 0 0,2 0 0 0,-2 0 1 15,-2 0-3-15,0 0-1 0,1 0 0 0,-1 0-2 0,-2 0-4 0,1 0-2 16,-1 0 1-16,0 0-1 0,-2 0 1 0,0 0-1 0,-1 1 1 16,1-1 1-16,-2 0-1 0,0 0 1 0,-2 0 1 0,0 0-1 0,0 0-1 15,0 0 2-15,0 0-1 0,0 0 0 0,0 0-2 0,0 0-9 16,0 0-16-16,3 0-22 0,-3 0-29 0,0 0-31 0,6 0-33 0,-5 0-63 16,2 0-73-16,-3 0-79 0,6 2-78 0,0-2-32 0,0 0-6 0,0 0 7 15,1-2 16-15,-1 1 25 0,1-4 32 0,-1 2 41 0,4-3 41 0,-2-2 47 16,5-3 49-16,-1 0 64 0,3-2 69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5-02-20T09:47:09.173"/>
    </inkml:context>
    <inkml:brush xml:id="br0">
      <inkml:brushProperty name="width" value="0.04667" units="cm"/>
      <inkml:brushProperty name="height" value="0.04667" units="cm"/>
      <inkml:brushProperty name="color" value="#3165BB"/>
      <inkml:brushProperty name="fitToCurve" value="1"/>
    </inkml:brush>
  </inkml:definitions>
  <inkml:trace contextRef="#ctx0" brushRef="#br0">36 0 64 0,'-5'3'96'0,"1"-3"24"0,3 0 18 0,-4 0 17 0,1 0 18 15,0 0 20-15,0 0 19 0,-1 0 19 0,4 0 19 0,-2 0 11 0,3 0 6 16,-1 0-46-16,1 0-78 0,0 0-33 0,0 0-9 0,0 0 1 16,0 0 4-16,0 0-1 0,0 1-6 0,1 1-4 0,-1 0-8 0,3 0-8 15,-2 0-9-15,4 0-4 0,-4 0-4 0,5 2 1 0,-1-3 1 0,0 0-3 16,0 2-4-16,2 0-4 0,2-1-9 0,-2 3-3 0,2-4-6 0,2 1-4 16,0 1-3-16,0-2-4 0,2 1-2 0,0-2-3 0,-2 2-1 15,5-1-2-15,-2 1-4 0,0-2-2 0,2 2-1 0,1 0-5 16,-3-2 1-16,3 2-3 0,0-2 1 0,-1 2-1 0,0-2 1 0,1 0-1 15,0 2-1-15,2-2 2 0,-2 2 1 0,1-2 1 0,1 0 0 0,-1 0 3 16,2 0-1-16,-2 0 2 0,3 0 0 0,-1 0-2 0,2 0 2 0,0 0 0 16,-1 0 0-16,2 2 0 0,-2-2 0 0,5 0 0 0,-4 2-1 15,1-2-2-15,-2 1 0 0,5 2-2 0,-4-2 1 0,1-1-2 16,0 2 1-16,1 1-1 0,-2-2 0 0,-2 1 0 0,4-1-1 0,-4 1 5 16,1 0 7-16,1 0 4 0,-1 0 8 0,0 0 4 0,-1 0 4 0,1-1 3 15,-2-1 3-15,2 3 2 0,0-1 1 0,0-2 3 0,-1 1 0 16,1 1 0-16,0 0-2 0,-1 0-3 0,2-1-7 0,0 4-7 0,-1-4-5 15,2 1-6-15,-2 0-5 0,0 2-3 0,2 0-5 0,-2-3 0 16,0 3-1-16,1 0-2 0,-2-2-1 0,1 1 0 0,-3 1-1 0,3-2 1 16,-2 2 0-16,-1 0-1 0,4 0 2 0,-6 0-1 0,6-3 1 0,-7 3 0 15,5-2 0-15,-1 2 1 0,-1-1 0 0,2-1-1 0,-5 2 1 16,7-2 0-16,-6 2-1 0,3-3 1 0,-1 4 2 0,-1-4-2 0,3 1 1 16,-2 0-1-16,-2 2 2 0,1-2-1 0,0 0 0 0,0-2 0 15,-3 3-2-15,6-1 1 0,-6-1 0 0,0 2 1 0,3-3 1 0,0 3 0 16,0-1-1-16,-3-2 1 0,3 2-1 0,-2 1 0 0,1-3-1 0,0 1 2 15,0 1-1-15,1-2 0 0,-2 2 2 0,1 0-1 0,1-2 1 0,-3 1-2 16,0-1 2-16,3 3-2 0,-3-2 0 0,2-1 1 0,1 2-1 16,-6-2 0-16,5 2-2 0,-5-2 3 0,5 0-2 0,-2 0 0 15,-2 2 0-15,3-2-1 0,-3 0 0 0,1 2 0 0,0-2 0 0,-1 0 0 16,-1 0-1-16,1 0 1 0,1 0-1 0,0 0 1 0,-3 1-1 0,2-1 0 16,-2 0 1-16,6 0-2 0,-6 0 2 0,2 3-1 0,1-3 0 0,0 0 0 15,-2 0 0-15,2 2-2 0,0-2 2 0,-1 0 0 0,-1 2-1 16,1-2 1-16,-2 0 1 0,3 0-2 0,-2 2 1 0,2-2 0 15,-3 0 2-15,0 0-1 0,1 1-1 0,2-1 1 0,-3 0 0 0,0 0 0 16,1 0 0-16,-1 0 0 0,0 0 1 0,3 0 0 0,-2 0 1 0,-1 0-2 16,0 0 1-16,1 0 0 0,-4 0-1 0,4 0 1 0,-2 0 0 0,1 0 0 15,-2 0 1-15,2 0 0 0,-1 0-1 0,-1 0-1 0,1 0 1 16,2 0-1-16,-4-1 1 0,2 1-1 0,-1 0 0 0,1 0-1 16,2 0 0-16,-6 0 0 0,5 0 1 0,-1 0 0 0,-1 0 0 0,1 0-1 15,-1 0 1-15,1 0-1 0,1-2 1 0,-2 2-2 0,1 0 1 0,-1 0 0 16,1-2 1-16,-1 2-1 0,-1 0 1 0,2 0-1 0,-1-2-2 0,1 2 2 15,-1 0-1-15,1 0 0 0,-2 2 0 0,0-2 1 0,1 0 1 16,-1 0 3-16,2-2 4 0,-3 2 2 0,2 0 1 0,1 0 6 0,-4 0-1 16,4 0 2-16,-2 0 3 0,0 0 2 0,0-3 2 0,1 3 1 15,1 0 6-15,-3 0-1 0,-1 0 2 0,2 0 0 0,2 0-1 0,-3 0-3 16,0 0 2-16,0 0-3 0,3 0 0 0,-2 0-2 0,-2 0 1 0,1 0-3 16,1 0-1-16,-1 0-2 0,1-1 0 0,-1 1-3 0,-1 0 0 15,2 0-3-15,-1 0 2 0,1-2-4 0,-1 2 1 0,1-2 0 16,-4 2-2-16,4 0 2 0,-1 0-1 0,0-2 0 0,-1 2 0 0,0-2 0 0,1 2-2 15,1 0-1-15,-3 0 1 0,5-1-2 0,-5 1 1 0,2 0-3 16,1-3 0-16,-1 3 1 0,-1 0 2 0,0 0-1 0,1-1-1 0,0 1 3 16,3 0 1-16,-5 0 0 0,3-2 1 0,-1 2 2 0,-2-2-1 15,2 2 3-15,1 0 0 0,-3 0-2 0,2 0 3 0,-2-2-2 0,0 2 1 16,0 0-2-16,2-1-2 0,-2 1 2 0,3 0-2 0,-3 0-2 16,1 0-1-16,-1-3 0 0,2 3-2 0,-5 0-1 0,6 0 0 0,-3 0-1 15,1-2 0-15,-1 2-1 0,0 0-3 0,0 0 0 0,-1 0 0 0,3-2 0 16,-3 2-2-16,1 0 0 0,0 0 0 0,1 0 0 0,-1 0-1 0,-2 0 1 15,3 0 0-15,-1 0 1 0,-3 0 1 0,4 0 4 0,-4 0 2 16,5-1 4-16,-5 1 5 0,1 0 4 0,0-2 3 0,0 2 5 16,1 0 5-16,-2 0 4 0,2-3 3 0,-3 3 3 0,0 0 2 0,1-1 0 15,2 1 1-15,-1-2-3 0,-2 2-2 0,0 0-4 0,2 0-2 0,-2-3-8 16,2 3-3-16,1 0-5 0,-2 0-6 0,2-2-4 0,-2 2-5 0,-1-2-4 16,5 2-3-16,-4-2-1 0,2 2-1 0,-2 0-2 0,2-2 1 15,-1 2-3-15,0 0 0 0,-2-2-1 0,4 2 2 0,-4 0-4 16,0 0 3-16,0 0-3 0,2 0 1 0,-2 0-2 0,0 0-2 0,0 0-8 0,0 0-8 15,0 0-8-15,0 0-11 0,0 0-11 0,0 0-16 0,0 0-24 16,0 2-26-16,-2 0-38 0,2 0-42 0,-4 2-89 0,4-1-108 0,-2-1-70 16,-3 2-43-16,4 1-10 0,-3 0 14 0,-1-4 19 0,1 1 25 0,0 2 32 15,4-4 34-15,0 0 45 0,-4-4 45 0,4 1 55 0,0-4 60 0,2 0 78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FEC323-4911-4C4B-90A2-B98E852939A4}" type="datetimeFigureOut">
              <a:rPr lang="en-US" smtClean="0"/>
              <a:t>10/4/2025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D5471D-97DB-4115-9773-F8B3DCA466C3}" type="slidenum">
              <a:rPr lang="en-US" smtClean="0"/>
              <a:t>‹#›</a:t>
            </a:fld>
            <a:endParaRPr lang="en-US"/>
          </a:p>
        </p:txBody>
      </p:sp>
    </p:spTree>
    <p:extLst>
      <p:ext uri="{BB962C8B-B14F-4D97-AF65-F5344CB8AC3E}">
        <p14:creationId xmlns:p14="http://schemas.microsoft.com/office/powerpoint/2010/main" val="3697087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2</a:t>
            </a:fld>
            <a:endParaRPr lang="en-US"/>
          </a:p>
        </p:txBody>
      </p:sp>
    </p:spTree>
    <p:extLst>
      <p:ext uri="{BB962C8B-B14F-4D97-AF65-F5344CB8AC3E}">
        <p14:creationId xmlns:p14="http://schemas.microsoft.com/office/powerpoint/2010/main" val="1788732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Object detection involves identifying and locating objects within an image or video. It</a:t>
            </a:r>
            <a:r>
              <a:rPr lang="en-IN" sz="1200" kern="1200" dirty="0" smtClean="0">
                <a:solidFill>
                  <a:schemeClr val="tx1"/>
                </a:solidFill>
                <a:effectLst/>
                <a:latin typeface="+mn-lt"/>
                <a:ea typeface="+mn-ea"/>
                <a:cs typeface="+mn-cs"/>
              </a:rPr>
              <a:t> has applications in many areas of computer vision, such as face detection, image retrieval, object tracking, and video surveillance. </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3</a:t>
            </a:fld>
            <a:endParaRPr lang="en-US"/>
          </a:p>
        </p:txBody>
      </p:sp>
    </p:spTree>
    <p:extLst>
      <p:ext uri="{BB962C8B-B14F-4D97-AF65-F5344CB8AC3E}">
        <p14:creationId xmlns:p14="http://schemas.microsoft.com/office/powerpoint/2010/main" val="3072264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Object detection primarily aims to answer two critical questions about any image: "</a:t>
            </a:r>
            <a:r>
              <a:rPr lang="en-US" b="1" dirty="0" smtClean="0"/>
              <a:t>Which objects are present</a:t>
            </a:r>
            <a:r>
              <a:rPr lang="en-US" dirty="0" smtClean="0"/>
              <a:t>?" and "</a:t>
            </a:r>
            <a:r>
              <a:rPr lang="en-US" b="1" dirty="0" smtClean="0"/>
              <a:t>Where are these objects situated</a:t>
            </a:r>
            <a:r>
              <a:rPr lang="en-US" dirty="0" smtClean="0"/>
              <a:t>?" The output from an object detector is in the form of annotated images with bounding boxes around detected objects and labels indicating the identified objects. </a:t>
            </a:r>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4</a:t>
            </a:fld>
            <a:endParaRPr lang="en-US"/>
          </a:p>
        </p:txBody>
      </p:sp>
    </p:spTree>
    <p:extLst>
      <p:ext uri="{BB962C8B-B14F-4D97-AF65-F5344CB8AC3E}">
        <p14:creationId xmlns:p14="http://schemas.microsoft.com/office/powerpoint/2010/main" val="1551576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Object detection </a:t>
            </a:r>
            <a:r>
              <a:rPr lang="en-US" b="1" dirty="0" smtClean="0"/>
              <a:t>involves both object classification and localization</a:t>
            </a:r>
            <a:r>
              <a:rPr lang="en-US" dirty="0" smtClean="0"/>
              <a:t>. Image classification assigns a label to an entire image based on its content. While it's a crucial step in understanding visual data, </a:t>
            </a:r>
            <a:r>
              <a:rPr lang="en-US" u="sng" dirty="0" smtClean="0"/>
              <a:t>it doesn't provide information about the object's location </a:t>
            </a:r>
            <a:r>
              <a:rPr lang="en-US" dirty="0" smtClean="0"/>
              <a:t>within the image. The process of identifying the object and determining the exact location of each identified object within the image by drawing bounding boxes around them is called image localization. </a:t>
            </a: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5</a:t>
            </a:fld>
            <a:endParaRPr lang="en-US"/>
          </a:p>
        </p:txBody>
      </p:sp>
    </p:spTree>
    <p:extLst>
      <p:ext uri="{BB962C8B-B14F-4D97-AF65-F5344CB8AC3E}">
        <p14:creationId xmlns:p14="http://schemas.microsoft.com/office/powerpoint/2010/main" val="2975761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Object detection merges image classification and localization.</a:t>
            </a:r>
            <a:r>
              <a:rPr lang="en-US" sz="1200" b="1" kern="1200" dirty="0" smtClean="0">
                <a:solidFill>
                  <a:schemeClr val="tx1"/>
                </a:solidFill>
                <a:effectLst/>
                <a:latin typeface="+mn-lt"/>
                <a:ea typeface="+mn-ea"/>
                <a:cs typeface="+mn-cs"/>
              </a:rPr>
              <a:t> It detects multiple objects in an image, assigns labels to them, and provides their locations through bounding boxes. </a:t>
            </a:r>
            <a:r>
              <a:rPr lang="en-US" sz="1200" kern="1200" dirty="0" smtClean="0">
                <a:solidFill>
                  <a:schemeClr val="tx1"/>
                </a:solidFill>
                <a:effectLst/>
                <a:latin typeface="+mn-lt"/>
                <a:ea typeface="+mn-ea"/>
                <a:cs typeface="+mn-cs"/>
              </a:rPr>
              <a:t>In general, object detection can be thought as a problem in which a model performs </a:t>
            </a:r>
            <a:r>
              <a:rPr lang="en-US" sz="1200" b="1" kern="1200" dirty="0" smtClean="0">
                <a:solidFill>
                  <a:schemeClr val="tx1"/>
                </a:solidFill>
                <a:effectLst/>
                <a:latin typeface="+mn-lt"/>
                <a:ea typeface="+mn-ea"/>
                <a:cs typeface="+mn-cs"/>
              </a:rPr>
              <a:t>image classification along with a regression task </a:t>
            </a:r>
            <a:r>
              <a:rPr lang="en-US" sz="1200" kern="1200" dirty="0" smtClean="0">
                <a:solidFill>
                  <a:schemeClr val="tx1"/>
                </a:solidFill>
                <a:effectLst/>
                <a:latin typeface="+mn-lt"/>
                <a:ea typeface="+mn-ea"/>
                <a:cs typeface="+mn-cs"/>
              </a:rPr>
              <a:t>that predicts the position of an object using a bounding box.</a:t>
            </a: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6</a:t>
            </a:fld>
            <a:endParaRPr lang="en-US"/>
          </a:p>
        </p:txBody>
      </p:sp>
    </p:spTree>
    <p:extLst>
      <p:ext uri="{BB962C8B-B14F-4D97-AF65-F5344CB8AC3E}">
        <p14:creationId xmlns:p14="http://schemas.microsoft.com/office/powerpoint/2010/main" val="3678871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metric intersection over union (IoU) </a:t>
            </a:r>
            <a:r>
              <a:rPr lang="en-US" u="sng" dirty="0" smtClean="0"/>
              <a:t>measures the overlap between the predicted bounding box and the ground truth bounding box</a:t>
            </a:r>
            <a:r>
              <a:rPr lang="en-US" dirty="0" smtClean="0"/>
              <a:t>. It is calculated as the area of overlap or intersection divided by the area of union. The value of IoU range from 0 to 1. An object detector has detected the traffic sign (a true positive) at a threshold of 0.5 if and only if it has drawn a bounding box whose </a:t>
            </a:r>
            <a:r>
              <a:rPr lang="en-US" dirty="0" err="1" smtClean="0"/>
              <a:t>IoU</a:t>
            </a:r>
            <a:r>
              <a:rPr lang="en-US" dirty="0" smtClean="0"/>
              <a:t> with the ground truth is above 0.5</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7</a:t>
            </a:fld>
            <a:endParaRPr lang="en-US"/>
          </a:p>
        </p:txBody>
      </p:sp>
    </p:spTree>
    <p:extLst>
      <p:ext uri="{BB962C8B-B14F-4D97-AF65-F5344CB8AC3E}">
        <p14:creationId xmlns:p14="http://schemas.microsoft.com/office/powerpoint/2010/main" val="1757351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True Positive (TP) is correct detection made by the model, False Positive (FP) is Incorrect detection made by the detector, False Negative (FN) is when a Ground-truth missed (not detected) by the object detector. </a:t>
            </a:r>
            <a:r>
              <a:rPr lang="en-US" sz="1200" kern="1200" dirty="0" smtClean="0">
                <a:solidFill>
                  <a:schemeClr val="tx1"/>
                </a:solidFill>
                <a:effectLst/>
                <a:latin typeface="+mn-lt"/>
                <a:ea typeface="+mn-ea"/>
                <a:cs typeface="+mn-cs"/>
              </a:rPr>
              <a:t>For simultaneous object localization and classification (i.e. object detection), a true positive is one where the class label is correct, and the bounding box has an </a:t>
            </a:r>
            <a:r>
              <a:rPr lang="en-US" sz="1200" kern="1200" dirty="0" err="1" smtClean="0">
                <a:solidFill>
                  <a:schemeClr val="tx1"/>
                </a:solidFill>
                <a:effectLst/>
                <a:latin typeface="+mn-lt"/>
                <a:ea typeface="+mn-ea"/>
                <a:cs typeface="+mn-cs"/>
              </a:rPr>
              <a:t>IoU</a:t>
            </a:r>
            <a:r>
              <a:rPr lang="en-US" sz="1200" kern="1200" dirty="0" smtClean="0">
                <a:solidFill>
                  <a:schemeClr val="tx1"/>
                </a:solidFill>
                <a:effectLst/>
                <a:latin typeface="+mn-lt"/>
                <a:ea typeface="+mn-ea"/>
                <a:cs typeface="+mn-cs"/>
              </a:rPr>
              <a:t> exceeding the threshold.</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8</a:t>
            </a:fld>
            <a:endParaRPr lang="en-US"/>
          </a:p>
        </p:txBody>
      </p:sp>
    </p:spTree>
    <p:extLst>
      <p:ext uri="{BB962C8B-B14F-4D97-AF65-F5344CB8AC3E}">
        <p14:creationId xmlns:p14="http://schemas.microsoft.com/office/powerpoint/2010/main" val="2258419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Simultaneous object localization and classification is benchmarked by the mean average precision (</a:t>
            </a:r>
            <a:r>
              <a:rPr lang="en-IN" sz="1200" kern="1200" dirty="0" err="1" smtClean="0">
                <a:solidFill>
                  <a:schemeClr val="tx1"/>
                </a:solidFill>
                <a:effectLst/>
                <a:latin typeface="+mn-lt"/>
                <a:ea typeface="+mn-ea"/>
                <a:cs typeface="+mn-cs"/>
              </a:rPr>
              <a:t>mAP</a:t>
            </a:r>
            <a:r>
              <a:rPr lang="en-IN" sz="1200" kern="1200" dirty="0" smtClean="0">
                <a:solidFill>
                  <a:schemeClr val="tx1"/>
                </a:solidFill>
                <a:effectLst/>
                <a:latin typeface="+mn-lt"/>
                <a:ea typeface="+mn-ea"/>
                <a:cs typeface="+mn-cs"/>
              </a:rPr>
              <a:t>). This metric evaluates the average precision across all classes and IoU thresholds. The average precision (AP) of the network for a class of objects is the area under the precision-recall curve as the IoU threshold is varied. The </a:t>
            </a:r>
            <a:r>
              <a:rPr lang="en-IN" sz="1200" kern="1200" dirty="0" err="1" smtClean="0">
                <a:solidFill>
                  <a:schemeClr val="tx1"/>
                </a:solidFill>
                <a:effectLst/>
                <a:latin typeface="+mn-lt"/>
                <a:ea typeface="+mn-ea"/>
                <a:cs typeface="+mn-cs"/>
              </a:rPr>
              <a:t>mAP</a:t>
            </a:r>
            <a:r>
              <a:rPr lang="en-IN" sz="1200" kern="1200" dirty="0" smtClean="0">
                <a:solidFill>
                  <a:schemeClr val="tx1"/>
                </a:solidFill>
                <a:effectLst/>
                <a:latin typeface="+mn-lt"/>
                <a:ea typeface="+mn-ea"/>
                <a:cs typeface="+mn-cs"/>
              </a:rPr>
              <a:t> is the average of AP over all classes.</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9</a:t>
            </a:fld>
            <a:endParaRPr lang="en-US"/>
          </a:p>
        </p:txBody>
      </p:sp>
    </p:spTree>
    <p:extLst>
      <p:ext uri="{BB962C8B-B14F-4D97-AF65-F5344CB8AC3E}">
        <p14:creationId xmlns:p14="http://schemas.microsoft.com/office/powerpoint/2010/main" val="3889432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Methods for object detection can be categorized into traditional (or machine learning-based) and deep learning-based approaches. </a:t>
            </a:r>
            <a:r>
              <a:rPr lang="en-US" sz="1200" kern="1200" dirty="0" smtClean="0">
                <a:solidFill>
                  <a:schemeClr val="tx1"/>
                </a:solidFill>
                <a:effectLst/>
                <a:latin typeface="+mn-lt"/>
                <a:ea typeface="+mn-ea"/>
                <a:cs typeface="+mn-cs"/>
              </a:rPr>
              <a:t>Similar to image classification problem, for machine learning-based approaches, it becomes necessary to first extract features. </a:t>
            </a:r>
            <a:r>
              <a:rPr lang="en-US" sz="1200" u="sng" kern="1200" dirty="0" smtClean="0">
                <a:solidFill>
                  <a:schemeClr val="tx1"/>
                </a:solidFill>
                <a:effectLst/>
                <a:latin typeface="+mn-lt"/>
                <a:ea typeface="+mn-ea"/>
                <a:cs typeface="+mn-cs"/>
              </a:rPr>
              <a:t>The relevant features are extracted manually </a:t>
            </a:r>
            <a:r>
              <a:rPr lang="en-US" sz="1200" kern="1200" dirty="0" smtClean="0">
                <a:solidFill>
                  <a:schemeClr val="tx1"/>
                </a:solidFill>
                <a:effectLst/>
                <a:latin typeface="+mn-lt"/>
                <a:ea typeface="+mn-ea"/>
                <a:cs typeface="+mn-cs"/>
              </a:rPr>
              <a:t>from images using techniques like SIFT, or HOG. Out of those features, the most informative features are selected based on </a:t>
            </a:r>
            <a:r>
              <a:rPr lang="en-US" sz="1200" u="sng" kern="1200" dirty="0" smtClean="0">
                <a:solidFill>
                  <a:schemeClr val="tx1"/>
                </a:solidFill>
                <a:effectLst/>
                <a:latin typeface="+mn-lt"/>
                <a:ea typeface="+mn-ea"/>
                <a:cs typeface="+mn-cs"/>
              </a:rPr>
              <a:t>feature selection techniques</a:t>
            </a:r>
            <a:r>
              <a:rPr lang="en-US" sz="1200" kern="1200" dirty="0" smtClean="0">
                <a:solidFill>
                  <a:schemeClr val="tx1"/>
                </a:solidFill>
                <a:effectLst/>
                <a:latin typeface="+mn-lt"/>
                <a:ea typeface="+mn-ea"/>
                <a:cs typeface="+mn-cs"/>
              </a:rPr>
              <a:t>.  Then techniques such as support vector machine (SVM) for predictive modeling. On the other hand, in deep learning-based approaches, suitable features are </a:t>
            </a:r>
            <a:r>
              <a:rPr lang="en-US" sz="1200" u="sng" kern="1200" dirty="0" smtClean="0">
                <a:solidFill>
                  <a:schemeClr val="tx1"/>
                </a:solidFill>
                <a:effectLst/>
                <a:latin typeface="+mn-lt"/>
                <a:ea typeface="+mn-ea"/>
                <a:cs typeface="+mn-cs"/>
              </a:rPr>
              <a:t>automatically learned by the CNN during training</a:t>
            </a:r>
            <a:r>
              <a:rPr lang="en-US" sz="1200" kern="1200" dirty="0" smtClean="0">
                <a:solidFill>
                  <a:schemeClr val="tx1"/>
                </a:solidFill>
                <a:effectLst/>
                <a:latin typeface="+mn-lt"/>
                <a:ea typeface="+mn-ea"/>
                <a:cs typeface="+mn-cs"/>
              </a:rPr>
              <a:t>. These techniques are able to do end-to-end object detection without specifically defining features, and are typically based on convolutional neural networks (CNNs). </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10</a:t>
            </a:fld>
            <a:endParaRPr lang="en-US"/>
          </a:p>
        </p:txBody>
      </p:sp>
    </p:spTree>
    <p:extLst>
      <p:ext uri="{BB962C8B-B14F-4D97-AF65-F5344CB8AC3E}">
        <p14:creationId xmlns:p14="http://schemas.microsoft.com/office/powerpoint/2010/main" val="37462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Object detection frameworks based on deep learning techniques</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can involve, </a:t>
            </a:r>
            <a:r>
              <a:rPr lang="en-US" sz="1200" u="sng" kern="1200" dirty="0" smtClean="0">
                <a:solidFill>
                  <a:schemeClr val="tx1"/>
                </a:solidFill>
                <a:effectLst/>
                <a:latin typeface="+mn-lt"/>
                <a:ea typeface="+mn-ea"/>
                <a:cs typeface="+mn-cs"/>
              </a:rPr>
              <a:t>feature extraction followed by predictive modelling and end-to-end training</a:t>
            </a:r>
            <a:r>
              <a:rPr lang="en-US" sz="1200" kern="1200" dirty="0" smtClean="0">
                <a:solidFill>
                  <a:schemeClr val="tx1"/>
                </a:solidFill>
                <a:effectLst/>
                <a:latin typeface="+mn-lt"/>
                <a:ea typeface="+mn-ea"/>
                <a:cs typeface="+mn-cs"/>
              </a:rPr>
              <a:t>. Features can be extracted by a pre-trained CNNs, typically termed as </a:t>
            </a:r>
            <a:r>
              <a:rPr lang="en-US" sz="1200" u="sng" kern="1200" dirty="0" smtClean="0">
                <a:solidFill>
                  <a:schemeClr val="tx1"/>
                </a:solidFill>
                <a:effectLst/>
                <a:latin typeface="+mn-lt"/>
                <a:ea typeface="+mn-ea"/>
                <a:cs typeface="+mn-cs"/>
              </a:rPr>
              <a:t>transfer learning</a:t>
            </a:r>
            <a:r>
              <a:rPr lang="en-US" sz="1200" kern="1200" dirty="0" smtClean="0">
                <a:solidFill>
                  <a:schemeClr val="tx1"/>
                </a:solidFill>
                <a:effectLst/>
                <a:latin typeface="+mn-lt"/>
                <a:ea typeface="+mn-ea"/>
                <a:cs typeface="+mn-cs"/>
              </a:rPr>
              <a:t>, a technique that we will discuss in detail in later slides. For predictive modelling, we can use machine learning models like SVM or feed forward neural networks with classifiers or regressors.</a:t>
            </a:r>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11</a:t>
            </a:fld>
            <a:endParaRPr lang="en-US"/>
          </a:p>
        </p:txBody>
      </p:sp>
    </p:spTree>
    <p:extLst>
      <p:ext uri="{BB962C8B-B14F-4D97-AF65-F5344CB8AC3E}">
        <p14:creationId xmlns:p14="http://schemas.microsoft.com/office/powerpoint/2010/main" val="3584165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Another major difference is that in a fully connected neural net, the output of every neuron in a layer is directly fed into the input of every neuron in the next layer. By contrast, in a CNN the input to every layer is a single value, determined by the convolution over a spatial neighborhood in the output of the previous layer. </a:t>
            </a:r>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12</a:t>
            </a:fld>
            <a:endParaRPr lang="en-US"/>
          </a:p>
        </p:txBody>
      </p:sp>
    </p:spTree>
    <p:extLst>
      <p:ext uri="{BB962C8B-B14F-4D97-AF65-F5344CB8AC3E}">
        <p14:creationId xmlns:p14="http://schemas.microsoft.com/office/powerpoint/2010/main" val="24544870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basic difference between a CNN and the multi-layer FFNs is that inputs to CNNs are 2-D arrays (images), while inputs to our fully connected neural networks are vectors. </a:t>
            </a:r>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13</a:t>
            </a:fld>
            <a:endParaRPr lang="en-US"/>
          </a:p>
        </p:txBody>
      </p:sp>
    </p:spTree>
    <p:extLst>
      <p:ext uri="{BB962C8B-B14F-4D97-AF65-F5344CB8AC3E}">
        <p14:creationId xmlns:p14="http://schemas.microsoft.com/office/powerpoint/2010/main" val="1897153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crucial advantage of CNN is that it can learn its own image features from raw image data in a hierarchical manner. </a:t>
            </a:r>
            <a:endParaRPr lang="en-US" dirty="0" smtClean="0"/>
          </a:p>
          <a:p>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14</a:t>
            </a:fld>
            <a:endParaRPr lang="en-US"/>
          </a:p>
        </p:txBody>
      </p:sp>
    </p:spTree>
    <p:extLst>
      <p:ext uri="{BB962C8B-B14F-4D97-AF65-F5344CB8AC3E}">
        <p14:creationId xmlns:p14="http://schemas.microsoft.com/office/powerpoint/2010/main" val="110146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F14E17-D95E-4A43-8B51-C372B177DB37}" type="slidenum">
              <a:rPr lang="en-IN" smtClean="0"/>
              <a:t>15</a:t>
            </a:fld>
            <a:endParaRPr lang="en-IN"/>
          </a:p>
        </p:txBody>
      </p:sp>
    </p:spTree>
    <p:extLst>
      <p:ext uri="{BB962C8B-B14F-4D97-AF65-F5344CB8AC3E}">
        <p14:creationId xmlns:p14="http://schemas.microsoft.com/office/powerpoint/2010/main" val="4127911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EF14E17-D95E-4A43-8B51-C372B177DB37}" type="slidenum">
              <a:rPr lang="en-IN" smtClean="0"/>
              <a:t>16</a:t>
            </a:fld>
            <a:endParaRPr lang="en-IN"/>
          </a:p>
        </p:txBody>
      </p:sp>
    </p:spTree>
    <p:extLst>
      <p:ext uri="{BB962C8B-B14F-4D97-AF65-F5344CB8AC3E}">
        <p14:creationId xmlns:p14="http://schemas.microsoft.com/office/powerpoint/2010/main" val="2105211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At a high level, CNN architectures contain an upstream feature extractor followed by a downstream classifier. </a:t>
            </a:r>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17</a:t>
            </a:fld>
            <a:endParaRPr lang="en-US"/>
          </a:p>
        </p:txBody>
      </p:sp>
    </p:spTree>
    <p:extLst>
      <p:ext uri="{BB962C8B-B14F-4D97-AF65-F5344CB8AC3E}">
        <p14:creationId xmlns:p14="http://schemas.microsoft.com/office/powerpoint/2010/main" val="3834135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18</a:t>
            </a:fld>
            <a:endParaRPr lang="en-US"/>
          </a:p>
        </p:txBody>
      </p:sp>
    </p:spTree>
    <p:extLst>
      <p:ext uri="{BB962C8B-B14F-4D97-AF65-F5344CB8AC3E}">
        <p14:creationId xmlns:p14="http://schemas.microsoft.com/office/powerpoint/2010/main" val="30788506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21</a:t>
            </a:fld>
            <a:endParaRPr lang="en-US"/>
          </a:p>
        </p:txBody>
      </p:sp>
    </p:spTree>
    <p:extLst>
      <p:ext uri="{BB962C8B-B14F-4D97-AF65-F5344CB8AC3E}">
        <p14:creationId xmlns:p14="http://schemas.microsoft.com/office/powerpoint/2010/main" val="32373267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Object detection not only classifies the image but also finds </a:t>
            </a:r>
            <a:r>
              <a:rPr lang="en-US" sz="1200" kern="1200" dirty="0" smtClean="0">
                <a:solidFill>
                  <a:schemeClr val="tx1"/>
                </a:solidFill>
                <a:effectLst/>
                <a:latin typeface="+mn-lt"/>
                <a:ea typeface="+mn-ea"/>
                <a:cs typeface="+mn-cs"/>
              </a:rPr>
              <a:t>the bounding boxes around the objects. </a:t>
            </a:r>
            <a:r>
              <a:rPr lang="en-IN" sz="1200" kern="1200" dirty="0" smtClean="0">
                <a:solidFill>
                  <a:schemeClr val="tx1"/>
                </a:solidFill>
                <a:effectLst/>
                <a:latin typeface="+mn-lt"/>
                <a:ea typeface="+mn-ea"/>
                <a:cs typeface="+mn-cs"/>
              </a:rPr>
              <a:t>This method helps us understand what happens in a complex image, where multiple objects of interest are </a:t>
            </a:r>
            <a:r>
              <a:rPr lang="en-IN" sz="1200" kern="1200" dirty="0" err="1" smtClean="0">
                <a:solidFill>
                  <a:schemeClr val="tx1"/>
                </a:solidFill>
                <a:effectLst/>
                <a:latin typeface="+mn-lt"/>
                <a:ea typeface="+mn-ea"/>
                <a:cs typeface="+mn-cs"/>
              </a:rPr>
              <a:t>present.s</a:t>
            </a:r>
            <a:r>
              <a:rPr lang="en-IN" sz="1200" kern="1200" dirty="0" smtClean="0">
                <a:solidFill>
                  <a:schemeClr val="tx1"/>
                </a:solidFill>
                <a:effectLst/>
                <a:latin typeface="+mn-lt"/>
                <a:ea typeface="+mn-ea"/>
                <a:cs typeface="+mn-cs"/>
              </a:rPr>
              <a:t> the bounding boxes around the objects.</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33</a:t>
            </a:fld>
            <a:endParaRPr lang="en-US"/>
          </a:p>
        </p:txBody>
      </p:sp>
    </p:spTree>
    <p:extLst>
      <p:ext uri="{BB962C8B-B14F-4D97-AF65-F5344CB8AC3E}">
        <p14:creationId xmlns:p14="http://schemas.microsoft.com/office/powerpoint/2010/main" val="1176112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Sliding window approach generates a lot of windows. This method is computationally expensive and time consuming because the classification model has to run through each of them to predict whether or not the object is present.</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34</a:t>
            </a:fld>
            <a:endParaRPr lang="en-US"/>
          </a:p>
        </p:txBody>
      </p:sp>
    </p:spTree>
    <p:extLst>
      <p:ext uri="{BB962C8B-B14F-4D97-AF65-F5344CB8AC3E}">
        <p14:creationId xmlns:p14="http://schemas.microsoft.com/office/powerpoint/2010/main" val="1633215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If the objects are too small or too big for the sliding window, it becomes difficult for the method to capture the relevant objects. In the presence of multiple objects of interest, one bounding box may contain multiple objects, confusing the classification model.</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35</a:t>
            </a:fld>
            <a:endParaRPr lang="en-US"/>
          </a:p>
        </p:txBody>
      </p:sp>
    </p:spTree>
    <p:extLst>
      <p:ext uri="{BB962C8B-B14F-4D97-AF65-F5344CB8AC3E}">
        <p14:creationId xmlns:p14="http://schemas.microsoft.com/office/powerpoint/2010/main" val="22364005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One solution could be to use multiple sliding windows of different sizes that lead to more classifications, leading to more computations. </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36</a:t>
            </a:fld>
            <a:endParaRPr lang="en-US"/>
          </a:p>
        </p:txBody>
      </p:sp>
    </p:spTree>
    <p:extLst>
      <p:ext uri="{BB962C8B-B14F-4D97-AF65-F5344CB8AC3E}">
        <p14:creationId xmlns:p14="http://schemas.microsoft.com/office/powerpoint/2010/main" val="2156950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Two-Stage Detectors perform the detection in two stages. In the first stage, the detectors propose candidate region and in the next stage, they classify the regions into categories. On the other hand, Single-stage detectors accurately forecast the bounding boxes and class probabilities for every area of the picture in a single pass.</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37</a:t>
            </a:fld>
            <a:endParaRPr lang="en-US"/>
          </a:p>
        </p:txBody>
      </p:sp>
    </p:spTree>
    <p:extLst>
      <p:ext uri="{BB962C8B-B14F-4D97-AF65-F5344CB8AC3E}">
        <p14:creationId xmlns:p14="http://schemas.microsoft.com/office/powerpoint/2010/main" val="1711565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RCNN uses selective search algorithm to generate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2000</m:t>
                    </m:r>
                  </m:oMath>
                </a14:m>
                <a:r>
                  <a:rPr lang="en-IN" sz="1200" kern="1200" dirty="0">
                    <a:solidFill>
                      <a:schemeClr val="tx1"/>
                    </a:solidFill>
                    <a:effectLst/>
                    <a:latin typeface="+mn-lt"/>
                    <a:ea typeface="+mn-ea"/>
                    <a:cs typeface="+mn-cs"/>
                  </a:rPr>
                  <a:t> region proposals from an image, then the proposed region is resized and passed through pre-trained CNN based models to extract feature vectors. Then, these feature vectors are fed to the classifier for classifying object within the region</a:t>
                </a:r>
                <a:r>
                  <a:rPr lang="en-IN" sz="1200" kern="1200" dirty="0" smtClean="0">
                    <a:solidFill>
                      <a:schemeClr val="tx1"/>
                    </a:solidFill>
                    <a:effectLst/>
                    <a:latin typeface="+mn-lt"/>
                    <a:ea typeface="+mn-ea"/>
                    <a:cs typeface="+mn-cs"/>
                  </a:rPr>
                  <a:t>. This pioneering method for object detection combines region proposals with CNNs thereby bridging the gap between image classification and object detection. This work is the first to show that a CNN can lead to dramatically higher object detection performance. </a:t>
                </a:r>
              </a:p>
              <a:p>
                <a:r>
                  <a:rPr lang="en-IN" sz="1200" kern="1200" dirty="0" smtClean="0">
                    <a:solidFill>
                      <a:schemeClr val="tx1"/>
                    </a:solidFill>
                    <a:effectLst/>
                    <a:latin typeface="+mn-lt"/>
                    <a:ea typeface="+mn-ea"/>
                    <a:cs typeface="+mn-cs"/>
                  </a:rPr>
                  <a:t>R-CNN starts by generating region proposals using a method called selective search. These proposals are potential areas that might contain objects. This process identifies a set of candidate regions (or bounding boxes) in the image that are likely to contain objects. Typically, around 2000 category-independent region proposals are generated per image. Each region proposal is then resized to a fixed size and fed into a pre-trained CNN (such as AlexNet) to extract a fixed-length feature vector. A simple technique called affine image warping is used to compute a fixed-size CNN input from each region proposal, regardless of the region’s shape. The extracted feature vectors are then passed through a set of class-specific or category-specific linear SVMs to classify each region proposal into one of the object categories or as background. To refine the bounding box coordinates, a bounding box regression model is trained to predict the offset between the proposed region and the ground truth bounding box. </a:t>
                </a:r>
                <a:endParaRPr lang="en-US" dirty="0"/>
              </a:p>
            </p:txBody>
          </p:sp>
        </mc:Choice>
        <mc:Fallback xmlns="">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RCNN uses selective search algorithm to generate </a:t>
                </a:r>
                <a:r>
                  <a:rPr lang="en-IN" sz="1200" i="0" kern="1200">
                    <a:solidFill>
                      <a:schemeClr val="tx1"/>
                    </a:solidFill>
                    <a:effectLst/>
                    <a:latin typeface="+mn-lt"/>
                    <a:ea typeface="+mn-ea"/>
                    <a:cs typeface="+mn-cs"/>
                  </a:rPr>
                  <a:t>2000</a:t>
                </a:r>
                <a:r>
                  <a:rPr lang="en-IN" sz="1200" kern="1200" dirty="0">
                    <a:solidFill>
                      <a:schemeClr val="tx1"/>
                    </a:solidFill>
                    <a:effectLst/>
                    <a:latin typeface="+mn-lt"/>
                    <a:ea typeface="+mn-ea"/>
                    <a:cs typeface="+mn-cs"/>
                  </a:rPr>
                  <a:t> region proposals from an image, then the proposed region is resized and passed through pre-trained CNN based models to extract feature vectors. Then, these feature vectors are fed to the classifier for classifying object within the region</a:t>
                </a:r>
                <a:r>
                  <a:rPr lang="en-IN" sz="1200" kern="1200" dirty="0" smtClean="0">
                    <a:solidFill>
                      <a:schemeClr val="tx1"/>
                    </a:solidFill>
                    <a:effectLst/>
                    <a:latin typeface="+mn-lt"/>
                    <a:ea typeface="+mn-ea"/>
                    <a:cs typeface="+mn-cs"/>
                  </a:rPr>
                  <a:t>. This pioneering method for object detection combines region proposals with CNNs thereby bridging the gap between image classification and object detection. This work is the first to show that a CNN can lead to dramatically higher object detection performance. </a:t>
                </a:r>
              </a:p>
              <a:p>
                <a:r>
                  <a:rPr lang="en-IN" sz="1200" kern="1200" dirty="0" smtClean="0">
                    <a:solidFill>
                      <a:schemeClr val="tx1"/>
                    </a:solidFill>
                    <a:effectLst/>
                    <a:latin typeface="+mn-lt"/>
                    <a:ea typeface="+mn-ea"/>
                    <a:cs typeface="+mn-cs"/>
                  </a:rPr>
                  <a:t>R-CNN starts by generating region proposals using a method called selective search. These proposals are potential areas that might contain objects. This process identifies a set of candidate regions (or bounding boxes) in the image that are likely to contain objects. Typically, around 2000 category-independent region proposals are generated per image. Each region proposal is then resized to a fixed size and fed into a pre-trained CNN (such as AlexNet) to extract a fixed-length feature vector. A simple technique called affine image warping is used to compute a fixed-size CNN input from each region proposal, regardless of the region’s shape. The extracted feature vectors are then passed through a set of class-specific or category-specific linear SVMs to classify each region proposal into one of the object categories or as background. To refine the bounding box coordinates, a bounding box regression model is trained to predict the offset between the proposed region and the ground truth bounding box. </a:t>
                </a:r>
                <a:endParaRPr lang="en-US" dirty="0"/>
              </a:p>
            </p:txBody>
          </p:sp>
        </mc:Fallback>
      </mc:AlternateContent>
      <p:sp>
        <p:nvSpPr>
          <p:cNvPr id="4" name="Slide Number Placeholder 3"/>
          <p:cNvSpPr>
            <a:spLocks noGrp="1"/>
          </p:cNvSpPr>
          <p:nvPr>
            <p:ph type="sldNum" sz="quarter" idx="10"/>
          </p:nvPr>
        </p:nvSpPr>
        <p:spPr/>
        <p:txBody>
          <a:bodyPr/>
          <a:lstStyle/>
          <a:p>
            <a:fld id="{4F2FDBBD-6E13-4EA6-B217-DA6C04D0A047}" type="slidenum">
              <a:rPr lang="en-US" smtClean="0"/>
              <a:t>38</a:t>
            </a:fld>
            <a:endParaRPr lang="en-US"/>
          </a:p>
        </p:txBody>
      </p:sp>
    </p:spTree>
    <p:extLst>
      <p:ext uri="{BB962C8B-B14F-4D97-AF65-F5344CB8AC3E}">
        <p14:creationId xmlns:p14="http://schemas.microsoft.com/office/powerpoint/2010/main" val="3548457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The selective search algorithm starts by segmenting the image into many small regions to produce a set of initial regions, each representing a potential object part. These initial regions are then iteratively merged based on similarity measures, such as color, texture, size, and shape compatibility. The merging process continues until the entire image is represented by a single region. At each step, the most similar regions are merged, and the process is repeated at multiple scales to capture objects of different sizes. The algorithm performs hierarchical grouping t0 generate region proposals at different levels of granularity, from small parts to larger objects. The final output of selective search is a set of region proposals, each represented by a bounding box.</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39</a:t>
            </a:fld>
            <a:endParaRPr lang="en-US"/>
          </a:p>
        </p:txBody>
      </p:sp>
    </p:spTree>
    <p:extLst>
      <p:ext uri="{BB962C8B-B14F-4D97-AF65-F5344CB8AC3E}">
        <p14:creationId xmlns:p14="http://schemas.microsoft.com/office/powerpoint/2010/main" val="2476100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A 4096-dimensional feature vector is extracted from each region proposal using AlexNet CNN. Features are computed by forward propagating a mean-subtracted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227 × 227</m:t>
                    </m:r>
                  </m:oMath>
                </a14:m>
                <a:r>
                  <a:rPr lang="en-IN" sz="1200" kern="1200" dirty="0">
                    <a:solidFill>
                      <a:schemeClr val="tx1"/>
                    </a:solidFill>
                    <a:effectLst/>
                    <a:latin typeface="+mn-lt"/>
                    <a:ea typeface="+mn-ea"/>
                    <a:cs typeface="+mn-cs"/>
                  </a:rPr>
                  <a:t> RGB image through the CNN. Regardless of the size or aspect ratio of the candidate region, all pixels are wrapped in a tight bounding box around it to the required size. Prior to </a:t>
                </a:r>
                <a:r>
                  <a:rPr lang="en-IN" sz="1200" kern="1200" dirty="0" smtClean="0">
                    <a:solidFill>
                      <a:schemeClr val="tx1"/>
                    </a:solidFill>
                    <a:effectLst/>
                    <a:latin typeface="+mn-lt"/>
                    <a:ea typeface="+mn-ea"/>
                    <a:cs typeface="+mn-cs"/>
                  </a:rPr>
                  <a:t>warping, </a:t>
                </a:r>
                <a:r>
                  <a:rPr lang="en-IN" sz="1200" kern="1200" dirty="0">
                    <a:solidFill>
                      <a:schemeClr val="tx1"/>
                    </a:solidFill>
                    <a:effectLst/>
                    <a:latin typeface="+mn-lt"/>
                    <a:ea typeface="+mn-ea"/>
                    <a:cs typeface="+mn-cs"/>
                  </a:rPr>
                  <a:t>the size of each region proposal is expanded slightly to include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𝑝</m:t>
                    </m:r>
                    <m:r>
                      <a:rPr lang="en-IN" sz="1200" i="1" kern="1200">
                        <a:solidFill>
                          <a:schemeClr val="tx1"/>
                        </a:solidFill>
                        <a:effectLst/>
                        <a:latin typeface="Cambria Math" panose="02040503050406030204" pitchFamily="18" charset="0"/>
                        <a:ea typeface="+mn-ea"/>
                        <a:cs typeface="+mn-cs"/>
                      </a:rPr>
                      <m:t>=16</m:t>
                    </m:r>
                  </m:oMath>
                </a14:m>
                <a:r>
                  <a:rPr lang="en-IN" sz="1200" kern="1200" dirty="0">
                    <a:solidFill>
                      <a:schemeClr val="tx1"/>
                    </a:solidFill>
                    <a:effectLst/>
                    <a:latin typeface="+mn-lt"/>
                    <a:ea typeface="+mn-ea"/>
                    <a:cs typeface="+mn-cs"/>
                  </a:rPr>
                  <a:t> pixels of additional context around the region to provide more surrounding information for better feature extraction.</a:t>
                </a:r>
                <a:endParaRPr lang="en-US" dirty="0"/>
              </a:p>
            </p:txBody>
          </p:sp>
        </mc:Choice>
        <mc:Fallback xmlns="">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A 4096-dimensional feature vector is extracted from each region proposal using AlexNet CNN. Features are computed by forward propagating a mean-subtracted </a:t>
                </a:r>
                <a:r>
                  <a:rPr lang="en-IN" sz="1200" i="0" kern="1200">
                    <a:solidFill>
                      <a:schemeClr val="tx1"/>
                    </a:solidFill>
                    <a:effectLst/>
                    <a:latin typeface="+mn-lt"/>
                    <a:ea typeface="+mn-ea"/>
                    <a:cs typeface="+mn-cs"/>
                  </a:rPr>
                  <a:t>227 × 227</a:t>
                </a:r>
                <a:r>
                  <a:rPr lang="en-IN" sz="1200" kern="1200" dirty="0">
                    <a:solidFill>
                      <a:schemeClr val="tx1"/>
                    </a:solidFill>
                    <a:effectLst/>
                    <a:latin typeface="+mn-lt"/>
                    <a:ea typeface="+mn-ea"/>
                    <a:cs typeface="+mn-cs"/>
                  </a:rPr>
                  <a:t> RGB image through the CNN. Regardless of the size or aspect ratio of the candidate region, all pixels are wrapped in a tight bounding box around it to the required size. Prior to </a:t>
                </a:r>
                <a:r>
                  <a:rPr lang="en-IN" sz="1200" kern="1200" dirty="0" smtClean="0">
                    <a:solidFill>
                      <a:schemeClr val="tx1"/>
                    </a:solidFill>
                    <a:effectLst/>
                    <a:latin typeface="+mn-lt"/>
                    <a:ea typeface="+mn-ea"/>
                    <a:cs typeface="+mn-cs"/>
                  </a:rPr>
                  <a:t>warping, </a:t>
                </a:r>
                <a:r>
                  <a:rPr lang="en-IN" sz="1200" kern="1200" dirty="0">
                    <a:solidFill>
                      <a:schemeClr val="tx1"/>
                    </a:solidFill>
                    <a:effectLst/>
                    <a:latin typeface="+mn-lt"/>
                    <a:ea typeface="+mn-ea"/>
                    <a:cs typeface="+mn-cs"/>
                  </a:rPr>
                  <a:t>the size of each region proposal is expanded slightly to include </a:t>
                </a:r>
                <a:r>
                  <a:rPr lang="en-IN" sz="1200" i="0" kern="1200">
                    <a:solidFill>
                      <a:schemeClr val="tx1"/>
                    </a:solidFill>
                    <a:effectLst/>
                    <a:latin typeface="+mn-lt"/>
                    <a:ea typeface="+mn-ea"/>
                    <a:cs typeface="+mn-cs"/>
                  </a:rPr>
                  <a:t>𝑝=16</a:t>
                </a:r>
                <a:r>
                  <a:rPr lang="en-IN" sz="1200" kern="1200" dirty="0">
                    <a:solidFill>
                      <a:schemeClr val="tx1"/>
                    </a:solidFill>
                    <a:effectLst/>
                    <a:latin typeface="+mn-lt"/>
                    <a:ea typeface="+mn-ea"/>
                    <a:cs typeface="+mn-cs"/>
                  </a:rPr>
                  <a:t> pixels of additional context around the region to provide more surrounding information for better feature extraction.</a:t>
                </a:r>
                <a:endParaRPr lang="en-US" dirty="0"/>
              </a:p>
            </p:txBody>
          </p:sp>
        </mc:Fallback>
      </mc:AlternateContent>
      <p:sp>
        <p:nvSpPr>
          <p:cNvPr id="4" name="Slide Number Placeholder 3"/>
          <p:cNvSpPr>
            <a:spLocks noGrp="1"/>
          </p:cNvSpPr>
          <p:nvPr>
            <p:ph type="sldNum" sz="quarter" idx="10"/>
          </p:nvPr>
        </p:nvSpPr>
        <p:spPr/>
        <p:txBody>
          <a:bodyPr/>
          <a:lstStyle/>
          <a:p>
            <a:fld id="{4F2FDBBD-6E13-4EA6-B217-DA6C04D0A047}" type="slidenum">
              <a:rPr lang="en-US" smtClean="0"/>
              <a:t>41</a:t>
            </a:fld>
            <a:endParaRPr lang="en-US"/>
          </a:p>
        </p:txBody>
      </p:sp>
    </p:spTree>
    <p:extLst>
      <p:ext uri="{BB962C8B-B14F-4D97-AF65-F5344CB8AC3E}">
        <p14:creationId xmlns:p14="http://schemas.microsoft.com/office/powerpoint/2010/main" val="27393158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First, the CNN is pre-trained on a large auxiliary dataset (ILSVRC2012 classification) using image-level annotations only (bounding box labels are not available for this data). To adapt the CNN to the new task (detection) and the new domain (warped proposal windows), domain-specific fine-tuning is performed. Aside from replacing the CNN’s ImageNet specific 1000-way classification layer with a randomly initialized (N + 1)-way classification layer (where N is the number of object classes, plus 1 for background), the CNN architecture is unchanged.</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42</a:t>
            </a:fld>
            <a:endParaRPr lang="en-US"/>
          </a:p>
        </p:txBody>
      </p:sp>
    </p:spTree>
    <p:extLst>
      <p:ext uri="{BB962C8B-B14F-4D97-AF65-F5344CB8AC3E}">
        <p14:creationId xmlns:p14="http://schemas.microsoft.com/office/powerpoint/2010/main" val="39662663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Two properties make detection efficient. First, all CNN parameters are shared across all categories. Second, the feature vectors computed by the CNN are low-dimensional when compared to other common approaches, such as bag-of-visual-word encodings. But R-CNN is computationally expensive and not very practical for real-time applications.</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43</a:t>
            </a:fld>
            <a:endParaRPr lang="en-US"/>
          </a:p>
        </p:txBody>
      </p:sp>
    </p:spTree>
    <p:extLst>
      <p:ext uri="{BB962C8B-B14F-4D97-AF65-F5344CB8AC3E}">
        <p14:creationId xmlns:p14="http://schemas.microsoft.com/office/powerpoint/2010/main" val="37672433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Fast R-CNN is built on the R-CNN to efficiently classify object proposals using deep convolutional networks. It is an improvement over the original R-CNN method for object detection both in terms of training and testing speed and detection accuracy. This technique processes the complete image with the CNN to produce a feature map. Region of Interest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layers are used to extract the feature vector from the feature map. The technique utilizes an integrated classification and regression approach, it uses a single fully connected network to provide the output for both the class probabilities and bounding box coordinates.</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44</a:t>
            </a:fld>
            <a:endParaRPr lang="en-US"/>
          </a:p>
        </p:txBody>
      </p:sp>
    </p:spTree>
    <p:extLst>
      <p:ext uri="{BB962C8B-B14F-4D97-AF65-F5344CB8AC3E}">
        <p14:creationId xmlns:p14="http://schemas.microsoft.com/office/powerpoint/2010/main" val="1887058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R-CNN first fine-tunes a </a:t>
            </a:r>
            <a:r>
              <a:rPr lang="en-IN" sz="1200" kern="1200" dirty="0" err="1" smtClean="0">
                <a:solidFill>
                  <a:schemeClr val="tx1"/>
                </a:solidFill>
                <a:effectLst/>
                <a:latin typeface="+mn-lt"/>
                <a:ea typeface="+mn-ea"/>
                <a:cs typeface="+mn-cs"/>
              </a:rPr>
              <a:t>ConvNet</a:t>
            </a:r>
            <a:r>
              <a:rPr lang="en-IN" sz="1200" kern="1200" dirty="0" smtClean="0">
                <a:solidFill>
                  <a:schemeClr val="tx1"/>
                </a:solidFill>
                <a:effectLst/>
                <a:latin typeface="+mn-lt"/>
                <a:ea typeface="+mn-ea"/>
                <a:cs typeface="+mn-cs"/>
              </a:rPr>
              <a:t> on object proposals using log loss. Then, it fits SVMs to </a:t>
            </a:r>
            <a:r>
              <a:rPr lang="en-IN" sz="1200" kern="1200" dirty="0" err="1" smtClean="0">
                <a:solidFill>
                  <a:schemeClr val="tx1"/>
                </a:solidFill>
                <a:effectLst/>
                <a:latin typeface="+mn-lt"/>
                <a:ea typeface="+mn-ea"/>
                <a:cs typeface="+mn-cs"/>
              </a:rPr>
              <a:t>ConvNet</a:t>
            </a:r>
            <a:r>
              <a:rPr lang="en-IN" sz="1200" kern="1200" dirty="0" smtClean="0">
                <a:solidFill>
                  <a:schemeClr val="tx1"/>
                </a:solidFill>
                <a:effectLst/>
                <a:latin typeface="+mn-lt"/>
                <a:ea typeface="+mn-ea"/>
                <a:cs typeface="+mn-cs"/>
              </a:rPr>
              <a:t> features. These SVMs act as object detectors, replacing the </a:t>
            </a:r>
            <a:r>
              <a:rPr lang="en-IN" sz="1200" kern="1200" dirty="0" err="1" smtClean="0">
                <a:solidFill>
                  <a:schemeClr val="tx1"/>
                </a:solidFill>
                <a:effectLst/>
                <a:latin typeface="+mn-lt"/>
                <a:ea typeface="+mn-ea"/>
                <a:cs typeface="+mn-cs"/>
              </a:rPr>
              <a:t>softmax</a:t>
            </a:r>
            <a:r>
              <a:rPr lang="en-IN" sz="1200" kern="1200" dirty="0" smtClean="0">
                <a:solidFill>
                  <a:schemeClr val="tx1"/>
                </a:solidFill>
                <a:effectLst/>
                <a:latin typeface="+mn-lt"/>
                <a:ea typeface="+mn-ea"/>
                <a:cs typeface="+mn-cs"/>
              </a:rPr>
              <a:t> classifier learned by fine-tuning. In the third training stage, bounding-box </a:t>
            </a:r>
            <a:r>
              <a:rPr lang="en-IN" sz="1200" kern="1200" dirty="0" err="1" smtClean="0">
                <a:solidFill>
                  <a:schemeClr val="tx1"/>
                </a:solidFill>
                <a:effectLst/>
                <a:latin typeface="+mn-lt"/>
                <a:ea typeface="+mn-ea"/>
                <a:cs typeface="+mn-cs"/>
              </a:rPr>
              <a:t>regressors</a:t>
            </a:r>
            <a:r>
              <a:rPr lang="en-IN" sz="1200" kern="1200" dirty="0" smtClean="0">
                <a:solidFill>
                  <a:schemeClr val="tx1"/>
                </a:solidFill>
                <a:effectLst/>
                <a:latin typeface="+mn-lt"/>
                <a:ea typeface="+mn-ea"/>
                <a:cs typeface="+mn-cs"/>
              </a:rPr>
              <a:t> are learned. R-CNN is slow because it performs a </a:t>
            </a:r>
            <a:r>
              <a:rPr lang="en-IN" sz="1200" kern="1200" dirty="0" err="1" smtClean="0">
                <a:solidFill>
                  <a:schemeClr val="tx1"/>
                </a:solidFill>
                <a:effectLst/>
                <a:latin typeface="+mn-lt"/>
                <a:ea typeface="+mn-ea"/>
                <a:cs typeface="+mn-cs"/>
              </a:rPr>
              <a:t>ConvNet</a:t>
            </a:r>
            <a:r>
              <a:rPr lang="en-IN" sz="1200" kern="1200" dirty="0" smtClean="0">
                <a:solidFill>
                  <a:schemeClr val="tx1"/>
                </a:solidFill>
                <a:effectLst/>
                <a:latin typeface="+mn-lt"/>
                <a:ea typeface="+mn-ea"/>
                <a:cs typeface="+mn-cs"/>
              </a:rPr>
              <a:t> forward pass for each object proposal, without sharing computation.</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45</a:t>
            </a:fld>
            <a:endParaRPr lang="en-US"/>
          </a:p>
        </p:txBody>
      </p:sp>
    </p:spTree>
    <p:extLst>
      <p:ext uri="{BB962C8B-B14F-4D97-AF65-F5344CB8AC3E}">
        <p14:creationId xmlns:p14="http://schemas.microsoft.com/office/powerpoint/2010/main" val="20452411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Unlike R-CNN, which processes each region proposal independently through the CNN, Fast R-CNN processes the whole image with several convolutional (</a:t>
            </a:r>
            <a:r>
              <a:rPr lang="en-IN" sz="1200" kern="1200" dirty="0" err="1" smtClean="0">
                <a:solidFill>
                  <a:schemeClr val="tx1"/>
                </a:solidFill>
                <a:effectLst/>
                <a:latin typeface="+mn-lt"/>
                <a:ea typeface="+mn-ea"/>
                <a:cs typeface="+mn-cs"/>
              </a:rPr>
              <a:t>conv</a:t>
            </a:r>
            <a:r>
              <a:rPr lang="en-IN" sz="1200" kern="1200" dirty="0" smtClean="0">
                <a:solidFill>
                  <a:schemeClr val="tx1"/>
                </a:solidFill>
                <a:effectLst/>
                <a:latin typeface="+mn-lt"/>
                <a:ea typeface="+mn-ea"/>
                <a:cs typeface="+mn-cs"/>
              </a:rPr>
              <a:t>) and max pooling layers to produce a </a:t>
            </a:r>
            <a:r>
              <a:rPr lang="en-IN" sz="1200" kern="1200" dirty="0" err="1" smtClean="0">
                <a:solidFill>
                  <a:schemeClr val="tx1"/>
                </a:solidFill>
                <a:effectLst/>
                <a:latin typeface="+mn-lt"/>
                <a:ea typeface="+mn-ea"/>
                <a:cs typeface="+mn-cs"/>
              </a:rPr>
              <a:t>conv</a:t>
            </a:r>
            <a:r>
              <a:rPr lang="en-IN" sz="1200" kern="1200" dirty="0" smtClean="0">
                <a:solidFill>
                  <a:schemeClr val="tx1"/>
                </a:solidFill>
                <a:effectLst/>
                <a:latin typeface="+mn-lt"/>
                <a:ea typeface="+mn-ea"/>
                <a:cs typeface="+mn-cs"/>
              </a:rPr>
              <a:t> feature map.</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46</a:t>
            </a:fld>
            <a:endParaRPr lang="en-US"/>
          </a:p>
        </p:txBody>
      </p:sp>
    </p:spTree>
    <p:extLst>
      <p:ext uri="{BB962C8B-B14F-4D97-AF65-F5344CB8AC3E}">
        <p14:creationId xmlns:p14="http://schemas.microsoft.com/office/powerpoint/2010/main" val="32361437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For each object proposal, a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layer extracts a fixed-length feature vector from the feature map.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ensures that each region proposal is mapped to a fixed-size feature map, regardless of its original size. The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layer uses max pooling to convert the features inside any valid region of interest into a small feature map with a fixed spatial extent of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𝐻</m:t>
                    </m:r>
                    <m:r>
                      <a:rPr lang="en-IN" sz="1200" i="1" kern="1200">
                        <a:solidFill>
                          <a:schemeClr val="tx1"/>
                        </a:solidFill>
                        <a:effectLst/>
                        <a:latin typeface="Cambria Math" panose="02040503050406030204" pitchFamily="18" charset="0"/>
                        <a:ea typeface="+mn-ea"/>
                        <a:cs typeface="+mn-cs"/>
                      </a:rPr>
                      <m:t> × </m:t>
                    </m:r>
                    <m:r>
                      <a:rPr lang="en-IN" sz="1200" i="1" kern="1200">
                        <a:solidFill>
                          <a:schemeClr val="tx1"/>
                        </a:solidFill>
                        <a:effectLst/>
                        <a:latin typeface="Cambria Math" panose="02040503050406030204" pitchFamily="18" charset="0"/>
                        <a:ea typeface="+mn-ea"/>
                        <a:cs typeface="+mn-cs"/>
                      </a:rPr>
                      <m:t>𝑊</m:t>
                    </m:r>
                  </m:oMath>
                </a14:m>
                <a:r>
                  <a:rPr lang="en-IN" sz="1200" kern="1200" dirty="0">
                    <a:solidFill>
                      <a:schemeClr val="tx1"/>
                    </a:solidFill>
                    <a:effectLst/>
                    <a:latin typeface="+mn-lt"/>
                    <a:ea typeface="+mn-ea"/>
                    <a:cs typeface="+mn-cs"/>
                  </a:rPr>
                  <a:t> (e.g.,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7 × 7</m:t>
                    </m:r>
                  </m:oMath>
                </a14:m>
                <a:r>
                  <a:rPr lang="en-IN" sz="1200" kern="1200" dirty="0">
                    <a:solidFill>
                      <a:schemeClr val="tx1"/>
                    </a:solidFill>
                    <a:effectLst/>
                    <a:latin typeface="+mn-lt"/>
                    <a:ea typeface="+mn-ea"/>
                    <a:cs typeface="+mn-cs"/>
                  </a:rPr>
                  <a:t>), where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𝐻</m:t>
                    </m:r>
                  </m:oMath>
                </a14:m>
                <a:r>
                  <a:rPr lang="en-IN" sz="1200" kern="1200" dirty="0">
                    <a:solidFill>
                      <a:schemeClr val="tx1"/>
                    </a:solidFill>
                    <a:effectLst/>
                    <a:latin typeface="+mn-lt"/>
                    <a:ea typeface="+mn-ea"/>
                    <a:cs typeface="+mn-cs"/>
                  </a:rPr>
                  <a:t> and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𝑊</m:t>
                    </m:r>
                  </m:oMath>
                </a14:m>
                <a:r>
                  <a:rPr lang="en-IN" sz="1200" kern="1200" dirty="0">
                    <a:solidFill>
                      <a:schemeClr val="tx1"/>
                    </a:solidFill>
                    <a:effectLst/>
                    <a:latin typeface="+mn-lt"/>
                    <a:ea typeface="+mn-ea"/>
                    <a:cs typeface="+mn-cs"/>
                  </a:rPr>
                  <a:t> are layer hyper-parameters that are independent of any particular </a:t>
                </a:r>
                <a:r>
                  <a:rPr lang="en-IN" sz="1200" kern="1200" dirty="0" err="1">
                    <a:solidFill>
                      <a:schemeClr val="tx1"/>
                    </a:solidFill>
                    <a:effectLst/>
                    <a:latin typeface="+mn-lt"/>
                    <a:ea typeface="+mn-ea"/>
                    <a:cs typeface="+mn-cs"/>
                  </a:rPr>
                  <a:t>RoI</a:t>
                </a:r>
                <a:r>
                  <a:rPr lang="en-IN" sz="1200" kern="1200" dirty="0">
                    <a:solidFill>
                      <a:schemeClr val="tx1"/>
                    </a:solidFill>
                    <a:effectLst/>
                    <a:latin typeface="+mn-lt"/>
                    <a:ea typeface="+mn-ea"/>
                    <a:cs typeface="+mn-cs"/>
                  </a:rPr>
                  <a:t>. </a:t>
                </a:r>
                <a:endParaRPr lang="en-US" dirty="0"/>
              </a:p>
            </p:txBody>
          </p:sp>
        </mc:Choice>
        <mc:Fallback xmlns="">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For each object proposal, a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layer extracts a fixed-length feature vector from the feature map.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ensures that each region proposal is mapped to a fixed-size feature map, regardless of its original size. The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layer uses max pooling to convert the features inside any valid region of interest into a small feature map with a fixed spatial extent of </a:t>
                </a:r>
                <a:r>
                  <a:rPr lang="en-IN" sz="1200" i="0" kern="1200">
                    <a:solidFill>
                      <a:schemeClr val="tx1"/>
                    </a:solidFill>
                    <a:effectLst/>
                    <a:latin typeface="+mn-lt"/>
                    <a:ea typeface="+mn-ea"/>
                    <a:cs typeface="+mn-cs"/>
                  </a:rPr>
                  <a:t>𝐻 × 𝑊</a:t>
                </a:r>
                <a:r>
                  <a:rPr lang="en-IN" sz="1200" kern="1200" dirty="0">
                    <a:solidFill>
                      <a:schemeClr val="tx1"/>
                    </a:solidFill>
                    <a:effectLst/>
                    <a:latin typeface="+mn-lt"/>
                    <a:ea typeface="+mn-ea"/>
                    <a:cs typeface="+mn-cs"/>
                  </a:rPr>
                  <a:t> (e.g., </a:t>
                </a:r>
                <a:r>
                  <a:rPr lang="en-IN" sz="1200" i="0" kern="1200">
                    <a:solidFill>
                      <a:schemeClr val="tx1"/>
                    </a:solidFill>
                    <a:effectLst/>
                    <a:latin typeface="+mn-lt"/>
                    <a:ea typeface="+mn-ea"/>
                    <a:cs typeface="+mn-cs"/>
                  </a:rPr>
                  <a:t>7 × 7</a:t>
                </a:r>
                <a:r>
                  <a:rPr lang="en-IN" sz="1200" kern="1200" dirty="0">
                    <a:solidFill>
                      <a:schemeClr val="tx1"/>
                    </a:solidFill>
                    <a:effectLst/>
                    <a:latin typeface="+mn-lt"/>
                    <a:ea typeface="+mn-ea"/>
                    <a:cs typeface="+mn-cs"/>
                  </a:rPr>
                  <a:t>), where </a:t>
                </a:r>
                <a:r>
                  <a:rPr lang="en-IN" sz="1200" i="0" kern="1200">
                    <a:solidFill>
                      <a:schemeClr val="tx1"/>
                    </a:solidFill>
                    <a:effectLst/>
                    <a:latin typeface="+mn-lt"/>
                    <a:ea typeface="+mn-ea"/>
                    <a:cs typeface="+mn-cs"/>
                  </a:rPr>
                  <a:t>𝐻</a:t>
                </a:r>
                <a:r>
                  <a:rPr lang="en-IN" sz="1200" kern="1200" dirty="0">
                    <a:solidFill>
                      <a:schemeClr val="tx1"/>
                    </a:solidFill>
                    <a:effectLst/>
                    <a:latin typeface="+mn-lt"/>
                    <a:ea typeface="+mn-ea"/>
                    <a:cs typeface="+mn-cs"/>
                  </a:rPr>
                  <a:t> and </a:t>
                </a:r>
                <a:r>
                  <a:rPr lang="en-IN" sz="1200" i="0" kern="1200">
                    <a:solidFill>
                      <a:schemeClr val="tx1"/>
                    </a:solidFill>
                    <a:effectLst/>
                    <a:latin typeface="+mn-lt"/>
                    <a:ea typeface="+mn-ea"/>
                    <a:cs typeface="+mn-cs"/>
                  </a:rPr>
                  <a:t>𝑊</a:t>
                </a:r>
                <a:r>
                  <a:rPr lang="en-IN" sz="1200" kern="1200" dirty="0">
                    <a:solidFill>
                      <a:schemeClr val="tx1"/>
                    </a:solidFill>
                    <a:effectLst/>
                    <a:latin typeface="+mn-lt"/>
                    <a:ea typeface="+mn-ea"/>
                    <a:cs typeface="+mn-cs"/>
                  </a:rPr>
                  <a:t> are layer hyper-parameters that are independent of any particular </a:t>
                </a:r>
                <a:r>
                  <a:rPr lang="en-IN" sz="1200" kern="1200" dirty="0" err="1">
                    <a:solidFill>
                      <a:schemeClr val="tx1"/>
                    </a:solidFill>
                    <a:effectLst/>
                    <a:latin typeface="+mn-lt"/>
                    <a:ea typeface="+mn-ea"/>
                    <a:cs typeface="+mn-cs"/>
                  </a:rPr>
                  <a:t>RoI</a:t>
                </a:r>
                <a:r>
                  <a:rPr lang="en-IN" sz="1200" kern="1200" dirty="0">
                    <a:solidFill>
                      <a:schemeClr val="tx1"/>
                    </a:solidFill>
                    <a:effectLst/>
                    <a:latin typeface="+mn-lt"/>
                    <a:ea typeface="+mn-ea"/>
                    <a:cs typeface="+mn-cs"/>
                  </a:rPr>
                  <a:t>. </a:t>
                </a:r>
                <a:endParaRPr lang="en-US" dirty="0"/>
              </a:p>
            </p:txBody>
          </p:sp>
        </mc:Fallback>
      </mc:AlternateContent>
      <p:sp>
        <p:nvSpPr>
          <p:cNvPr id="4" name="Slide Number Placeholder 3"/>
          <p:cNvSpPr>
            <a:spLocks noGrp="1"/>
          </p:cNvSpPr>
          <p:nvPr>
            <p:ph type="sldNum" sz="quarter" idx="10"/>
          </p:nvPr>
        </p:nvSpPr>
        <p:spPr/>
        <p:txBody>
          <a:bodyPr/>
          <a:lstStyle/>
          <a:p>
            <a:fld id="{4F2FDBBD-6E13-4EA6-B217-DA6C04D0A047}" type="slidenum">
              <a:rPr lang="en-US" smtClean="0"/>
              <a:t>47</a:t>
            </a:fld>
            <a:endParaRPr lang="en-US"/>
          </a:p>
        </p:txBody>
      </p:sp>
    </p:spTree>
    <p:extLst>
      <p:ext uri="{BB962C8B-B14F-4D97-AF65-F5344CB8AC3E}">
        <p14:creationId xmlns:p14="http://schemas.microsoft.com/office/powerpoint/2010/main" val="24750417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The authors have used three different pre-trained CNNs: AlexNet, VGG16, and a variant of </a:t>
                </a:r>
                <a:r>
                  <a:rPr lang="en-IN" sz="1200" kern="1200" dirty="0" err="1" smtClean="0">
                    <a:solidFill>
                      <a:schemeClr val="tx1"/>
                    </a:solidFill>
                    <a:effectLst/>
                    <a:latin typeface="+mn-lt"/>
                    <a:ea typeface="+mn-ea"/>
                    <a:cs typeface="+mn-cs"/>
                  </a:rPr>
                  <a:t>VGGNet</a:t>
                </a:r>
                <a:r>
                  <a:rPr lang="en-IN" sz="1200" kern="1200" dirty="0" smtClean="0">
                    <a:solidFill>
                      <a:schemeClr val="tx1"/>
                    </a:solidFill>
                    <a:effectLst/>
                    <a:latin typeface="+mn-lt"/>
                    <a:ea typeface="+mn-ea"/>
                    <a:cs typeface="+mn-cs"/>
                  </a:rPr>
                  <a:t> called VGG_CNN_M_1024 and fine-tuned them. </a:t>
                </a:r>
                <a:endParaRPr lang="en-US" dirty="0"/>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The authors have used three different pre-trained CNNs: AlexNet, VGG16, and a variant of </a:t>
                </a:r>
                <a:r>
                  <a:rPr lang="en-IN" sz="1200" kern="1200" dirty="0" err="1" smtClean="0">
                    <a:solidFill>
                      <a:schemeClr val="tx1"/>
                    </a:solidFill>
                    <a:effectLst/>
                    <a:latin typeface="+mn-lt"/>
                    <a:ea typeface="+mn-ea"/>
                    <a:cs typeface="+mn-cs"/>
                  </a:rPr>
                  <a:t>VGGNet</a:t>
                </a:r>
                <a:r>
                  <a:rPr lang="en-IN" sz="1200" kern="1200" dirty="0" smtClean="0">
                    <a:solidFill>
                      <a:schemeClr val="tx1"/>
                    </a:solidFill>
                    <a:effectLst/>
                    <a:latin typeface="+mn-lt"/>
                    <a:ea typeface="+mn-ea"/>
                    <a:cs typeface="+mn-cs"/>
                  </a:rPr>
                  <a:t> called VGG_CNN_M_1024 and fine-tuned them. When a pre-trained network initializes a Fast R-CNN network, it undergoes three transformations. First, the last max pooling layer is replaced by a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layer. Second, the network’s last fully connected layer and </a:t>
                </a:r>
                <a:r>
                  <a:rPr lang="en-IN" sz="1200" kern="1200" dirty="0" err="1" smtClean="0">
                    <a:solidFill>
                      <a:schemeClr val="tx1"/>
                    </a:solidFill>
                    <a:effectLst/>
                    <a:latin typeface="+mn-lt"/>
                    <a:ea typeface="+mn-ea"/>
                    <a:cs typeface="+mn-cs"/>
                  </a:rPr>
                  <a:t>softmax</a:t>
                </a:r>
                <a:r>
                  <a:rPr lang="en-IN" sz="1200" kern="1200" dirty="0" smtClean="0">
                    <a:solidFill>
                      <a:schemeClr val="tx1"/>
                    </a:solidFill>
                    <a:effectLst/>
                    <a:latin typeface="+mn-lt"/>
                    <a:ea typeface="+mn-ea"/>
                    <a:cs typeface="+mn-cs"/>
                  </a:rPr>
                  <a:t> (which were trained for 1000-way ImageNet classification) are replaced with the two sibling layers (a fully connected layer and </a:t>
                </a:r>
                <a:r>
                  <a:rPr lang="en-IN" sz="1200" kern="1200" dirty="0" err="1" smtClean="0">
                    <a:solidFill>
                      <a:schemeClr val="tx1"/>
                    </a:solidFill>
                    <a:effectLst/>
                    <a:latin typeface="+mn-lt"/>
                    <a:ea typeface="+mn-ea"/>
                    <a:cs typeface="+mn-cs"/>
                  </a:rPr>
                  <a:t>softmax</a:t>
                </a:r>
                <a:r>
                  <a:rPr lang="en-IN" sz="1200" kern="1200" dirty="0" smtClean="0">
                    <a:solidFill>
                      <a:schemeClr val="tx1"/>
                    </a:solidFill>
                    <a:effectLst/>
                    <a:latin typeface="+mn-lt"/>
                    <a:ea typeface="+mn-ea"/>
                    <a:cs typeface="+mn-cs"/>
                  </a:rPr>
                  <a:t> over </a:t>
                </a:r>
                <a:r>
                  <a:rPr lang="en-IN" sz="1200" i="0" kern="1200">
                    <a:solidFill>
                      <a:schemeClr val="tx1"/>
                    </a:solidFill>
                    <a:effectLst/>
                    <a:latin typeface="+mn-lt"/>
                    <a:ea typeface="+mn-ea"/>
                    <a:cs typeface="+mn-cs"/>
                  </a:rPr>
                  <a:t>𝐾 + 1</a:t>
                </a:r>
                <a:r>
                  <a:rPr lang="en-IN" sz="1200" kern="1200" dirty="0">
                    <a:solidFill>
                      <a:schemeClr val="tx1"/>
                    </a:solidFill>
                    <a:effectLst/>
                    <a:latin typeface="+mn-lt"/>
                    <a:ea typeface="+mn-ea"/>
                    <a:cs typeface="+mn-cs"/>
                  </a:rPr>
                  <a:t> categories and category-specific bounding-box </a:t>
                </a:r>
                <a:r>
                  <a:rPr lang="en-IN" sz="1200" kern="1200" dirty="0" err="1">
                    <a:solidFill>
                      <a:schemeClr val="tx1"/>
                    </a:solidFill>
                    <a:effectLst/>
                    <a:latin typeface="+mn-lt"/>
                    <a:ea typeface="+mn-ea"/>
                    <a:cs typeface="+mn-cs"/>
                  </a:rPr>
                  <a:t>regressors</a:t>
                </a:r>
                <a:r>
                  <a:rPr lang="en-IN" sz="1200" kern="1200" dirty="0">
                    <a:solidFill>
                      <a:schemeClr val="tx1"/>
                    </a:solidFill>
                    <a:effectLst/>
                    <a:latin typeface="+mn-lt"/>
                    <a:ea typeface="+mn-ea"/>
                    <a:cs typeface="+mn-cs"/>
                  </a:rPr>
                  <a:t>). Third, the network is modified to take two data inputs: a list of images and a list of </a:t>
                </a:r>
                <a:r>
                  <a:rPr lang="en-IN" sz="1200" kern="1200" dirty="0" err="1">
                    <a:solidFill>
                      <a:schemeClr val="tx1"/>
                    </a:solidFill>
                    <a:effectLst/>
                    <a:latin typeface="+mn-lt"/>
                    <a:ea typeface="+mn-ea"/>
                    <a:cs typeface="+mn-cs"/>
                  </a:rPr>
                  <a:t>RoIs</a:t>
                </a:r>
                <a:r>
                  <a:rPr lang="en-IN" sz="1200" kern="1200" dirty="0">
                    <a:solidFill>
                      <a:schemeClr val="tx1"/>
                    </a:solidFill>
                    <a:effectLst/>
                    <a:latin typeface="+mn-lt"/>
                    <a:ea typeface="+mn-ea"/>
                    <a:cs typeface="+mn-cs"/>
                  </a:rPr>
                  <a:t> in those images.</a:t>
                </a:r>
                <a:r>
                  <a:rPr lang="en-US" dirty="0">
                    <a:effectLst/>
                  </a:rPr>
                  <a:t> </a:t>
                </a: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mc:Fallback>
      </mc:AlternateContent>
      <p:sp>
        <p:nvSpPr>
          <p:cNvPr id="4" name="Slide Number Placeholder 3"/>
          <p:cNvSpPr>
            <a:spLocks noGrp="1"/>
          </p:cNvSpPr>
          <p:nvPr>
            <p:ph type="sldNum" sz="quarter" idx="10"/>
          </p:nvPr>
        </p:nvSpPr>
        <p:spPr/>
        <p:txBody>
          <a:bodyPr/>
          <a:lstStyle/>
          <a:p>
            <a:fld id="{4F2FDBBD-6E13-4EA6-B217-DA6C04D0A047}" type="slidenum">
              <a:rPr lang="en-US" smtClean="0"/>
              <a:t>50</a:t>
            </a:fld>
            <a:endParaRPr lang="en-US"/>
          </a:p>
        </p:txBody>
      </p:sp>
    </p:spTree>
    <p:extLst>
      <p:ext uri="{BB962C8B-B14F-4D97-AF65-F5344CB8AC3E}">
        <p14:creationId xmlns:p14="http://schemas.microsoft.com/office/powerpoint/2010/main" val="5511220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When a pre-trained network initializes a Fast R-CNN network, it undergoes three transformations. First, the last max pooling layer is replaced by a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layer. Second, the network’s last fully connected layer and </a:t>
                </a:r>
                <a:r>
                  <a:rPr lang="en-IN" sz="1200" kern="1200" dirty="0" err="1" smtClean="0">
                    <a:solidFill>
                      <a:schemeClr val="tx1"/>
                    </a:solidFill>
                    <a:effectLst/>
                    <a:latin typeface="+mn-lt"/>
                    <a:ea typeface="+mn-ea"/>
                    <a:cs typeface="+mn-cs"/>
                  </a:rPr>
                  <a:t>softmax</a:t>
                </a:r>
                <a:r>
                  <a:rPr lang="en-IN" sz="1200" kern="1200" dirty="0" smtClean="0">
                    <a:solidFill>
                      <a:schemeClr val="tx1"/>
                    </a:solidFill>
                    <a:effectLst/>
                    <a:latin typeface="+mn-lt"/>
                    <a:ea typeface="+mn-ea"/>
                    <a:cs typeface="+mn-cs"/>
                  </a:rPr>
                  <a:t> (which were trained for 1000-way ImageNet classification) are replaced with the two sibling layers (a fully connected layer and </a:t>
                </a:r>
                <a:r>
                  <a:rPr lang="en-IN" sz="1200" kern="1200" dirty="0" err="1" smtClean="0">
                    <a:solidFill>
                      <a:schemeClr val="tx1"/>
                    </a:solidFill>
                    <a:effectLst/>
                    <a:latin typeface="+mn-lt"/>
                    <a:ea typeface="+mn-ea"/>
                    <a:cs typeface="+mn-cs"/>
                  </a:rPr>
                  <a:t>softmax</a:t>
                </a:r>
                <a:r>
                  <a:rPr lang="en-IN" sz="1200" kern="1200" dirty="0" smtClean="0">
                    <a:solidFill>
                      <a:schemeClr val="tx1"/>
                    </a:solidFill>
                    <a:effectLst/>
                    <a:latin typeface="+mn-lt"/>
                    <a:ea typeface="+mn-ea"/>
                    <a:cs typeface="+mn-cs"/>
                  </a:rPr>
                  <a:t> over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𝐾</m:t>
                    </m:r>
                    <m:r>
                      <a:rPr lang="en-IN" sz="1200" i="1" kern="1200">
                        <a:solidFill>
                          <a:schemeClr val="tx1"/>
                        </a:solidFill>
                        <a:effectLst/>
                        <a:latin typeface="Cambria Math" panose="02040503050406030204" pitchFamily="18" charset="0"/>
                        <a:ea typeface="+mn-ea"/>
                        <a:cs typeface="+mn-cs"/>
                      </a:rPr>
                      <m:t> + 1</m:t>
                    </m:r>
                  </m:oMath>
                </a14:m>
                <a:r>
                  <a:rPr lang="en-IN" sz="1200" kern="1200" dirty="0">
                    <a:solidFill>
                      <a:schemeClr val="tx1"/>
                    </a:solidFill>
                    <a:effectLst/>
                    <a:latin typeface="+mn-lt"/>
                    <a:ea typeface="+mn-ea"/>
                    <a:cs typeface="+mn-cs"/>
                  </a:rPr>
                  <a:t> categories and category-specific bounding-box </a:t>
                </a:r>
                <a:r>
                  <a:rPr lang="en-IN" sz="1200" kern="1200" dirty="0" err="1">
                    <a:solidFill>
                      <a:schemeClr val="tx1"/>
                    </a:solidFill>
                    <a:effectLst/>
                    <a:latin typeface="+mn-lt"/>
                    <a:ea typeface="+mn-ea"/>
                    <a:cs typeface="+mn-cs"/>
                  </a:rPr>
                  <a:t>regressors</a:t>
                </a:r>
                <a:r>
                  <a:rPr lang="en-IN" sz="1200" kern="1200" dirty="0">
                    <a:solidFill>
                      <a:schemeClr val="tx1"/>
                    </a:solidFill>
                    <a:effectLst/>
                    <a:latin typeface="+mn-lt"/>
                    <a:ea typeface="+mn-ea"/>
                    <a:cs typeface="+mn-cs"/>
                  </a:rPr>
                  <a:t>). Third, the network is modified to take two data inputs: a list of images and a list of </a:t>
                </a:r>
                <a:r>
                  <a:rPr lang="en-IN" sz="1200" kern="1200" dirty="0" err="1">
                    <a:solidFill>
                      <a:schemeClr val="tx1"/>
                    </a:solidFill>
                    <a:effectLst/>
                    <a:latin typeface="+mn-lt"/>
                    <a:ea typeface="+mn-ea"/>
                    <a:cs typeface="+mn-cs"/>
                  </a:rPr>
                  <a:t>RoIs</a:t>
                </a:r>
                <a:r>
                  <a:rPr lang="en-IN" sz="1200" kern="1200" dirty="0">
                    <a:solidFill>
                      <a:schemeClr val="tx1"/>
                    </a:solidFill>
                    <a:effectLst/>
                    <a:latin typeface="+mn-lt"/>
                    <a:ea typeface="+mn-ea"/>
                    <a:cs typeface="+mn-cs"/>
                  </a:rPr>
                  <a:t> in those images.</a:t>
                </a:r>
                <a:r>
                  <a:rPr lang="en-US" dirty="0">
                    <a:effectLst/>
                  </a:rPr>
                  <a:t> </a:t>
                </a: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When a pre-trained network initializes a Fast R-CNN network, it undergoes three transformations. First, the last max pooling layer is replaced by a </a:t>
                </a:r>
                <a:r>
                  <a:rPr lang="en-IN" sz="1200" kern="1200" dirty="0" err="1" smtClean="0">
                    <a:solidFill>
                      <a:schemeClr val="tx1"/>
                    </a:solidFill>
                    <a:effectLst/>
                    <a:latin typeface="+mn-lt"/>
                    <a:ea typeface="+mn-ea"/>
                    <a:cs typeface="+mn-cs"/>
                  </a:rPr>
                  <a:t>RoI</a:t>
                </a:r>
                <a:r>
                  <a:rPr lang="en-IN" sz="1200" kern="1200" dirty="0" smtClean="0">
                    <a:solidFill>
                      <a:schemeClr val="tx1"/>
                    </a:solidFill>
                    <a:effectLst/>
                    <a:latin typeface="+mn-lt"/>
                    <a:ea typeface="+mn-ea"/>
                    <a:cs typeface="+mn-cs"/>
                  </a:rPr>
                  <a:t> pooling layer. Second, the network’s last fully connected layer and </a:t>
                </a:r>
                <a:r>
                  <a:rPr lang="en-IN" sz="1200" kern="1200" dirty="0" err="1" smtClean="0">
                    <a:solidFill>
                      <a:schemeClr val="tx1"/>
                    </a:solidFill>
                    <a:effectLst/>
                    <a:latin typeface="+mn-lt"/>
                    <a:ea typeface="+mn-ea"/>
                    <a:cs typeface="+mn-cs"/>
                  </a:rPr>
                  <a:t>softmax</a:t>
                </a:r>
                <a:r>
                  <a:rPr lang="en-IN" sz="1200" kern="1200" dirty="0" smtClean="0">
                    <a:solidFill>
                      <a:schemeClr val="tx1"/>
                    </a:solidFill>
                    <a:effectLst/>
                    <a:latin typeface="+mn-lt"/>
                    <a:ea typeface="+mn-ea"/>
                    <a:cs typeface="+mn-cs"/>
                  </a:rPr>
                  <a:t> (which were trained for 1000-way ImageNet classification) are replaced with the two sibling layers (a fully connected layer and </a:t>
                </a:r>
                <a:r>
                  <a:rPr lang="en-IN" sz="1200" kern="1200" dirty="0" err="1" smtClean="0">
                    <a:solidFill>
                      <a:schemeClr val="tx1"/>
                    </a:solidFill>
                    <a:effectLst/>
                    <a:latin typeface="+mn-lt"/>
                    <a:ea typeface="+mn-ea"/>
                    <a:cs typeface="+mn-cs"/>
                  </a:rPr>
                  <a:t>softmax</a:t>
                </a:r>
                <a:r>
                  <a:rPr lang="en-IN" sz="1200" kern="1200" dirty="0" smtClean="0">
                    <a:solidFill>
                      <a:schemeClr val="tx1"/>
                    </a:solidFill>
                    <a:effectLst/>
                    <a:latin typeface="+mn-lt"/>
                    <a:ea typeface="+mn-ea"/>
                    <a:cs typeface="+mn-cs"/>
                  </a:rPr>
                  <a:t> over </a:t>
                </a:r>
                <a:r>
                  <a:rPr lang="en-IN" sz="1200" i="0" kern="1200">
                    <a:solidFill>
                      <a:schemeClr val="tx1"/>
                    </a:solidFill>
                    <a:effectLst/>
                    <a:latin typeface="Cambria Math" panose="02040503050406030204" pitchFamily="18" charset="0"/>
                    <a:ea typeface="+mn-ea"/>
                    <a:cs typeface="+mn-cs"/>
                  </a:rPr>
                  <a:t>𝐾 + 1</a:t>
                </a:r>
                <a:r>
                  <a:rPr lang="en-IN" sz="1200" kern="1200" dirty="0">
                    <a:solidFill>
                      <a:schemeClr val="tx1"/>
                    </a:solidFill>
                    <a:effectLst/>
                    <a:latin typeface="+mn-lt"/>
                    <a:ea typeface="+mn-ea"/>
                    <a:cs typeface="+mn-cs"/>
                  </a:rPr>
                  <a:t> categories and category-specific bounding-box </a:t>
                </a:r>
                <a:r>
                  <a:rPr lang="en-IN" sz="1200" kern="1200" dirty="0" err="1">
                    <a:solidFill>
                      <a:schemeClr val="tx1"/>
                    </a:solidFill>
                    <a:effectLst/>
                    <a:latin typeface="+mn-lt"/>
                    <a:ea typeface="+mn-ea"/>
                    <a:cs typeface="+mn-cs"/>
                  </a:rPr>
                  <a:t>regressors</a:t>
                </a:r>
                <a:r>
                  <a:rPr lang="en-IN" sz="1200" kern="1200" dirty="0">
                    <a:solidFill>
                      <a:schemeClr val="tx1"/>
                    </a:solidFill>
                    <a:effectLst/>
                    <a:latin typeface="+mn-lt"/>
                    <a:ea typeface="+mn-ea"/>
                    <a:cs typeface="+mn-cs"/>
                  </a:rPr>
                  <a:t>). Third, the network is modified to take two data inputs: a list of images and a list of </a:t>
                </a:r>
                <a:r>
                  <a:rPr lang="en-IN" sz="1200" kern="1200" dirty="0" err="1">
                    <a:solidFill>
                      <a:schemeClr val="tx1"/>
                    </a:solidFill>
                    <a:effectLst/>
                    <a:latin typeface="+mn-lt"/>
                    <a:ea typeface="+mn-ea"/>
                    <a:cs typeface="+mn-cs"/>
                  </a:rPr>
                  <a:t>RoIs</a:t>
                </a:r>
                <a:r>
                  <a:rPr lang="en-IN" sz="1200" kern="1200" dirty="0">
                    <a:solidFill>
                      <a:schemeClr val="tx1"/>
                    </a:solidFill>
                    <a:effectLst/>
                    <a:latin typeface="+mn-lt"/>
                    <a:ea typeface="+mn-ea"/>
                    <a:cs typeface="+mn-cs"/>
                  </a:rPr>
                  <a:t> in those images.</a:t>
                </a:r>
                <a:r>
                  <a:rPr lang="en-US" dirty="0">
                    <a:effectLst/>
                  </a:rPr>
                  <a:t> </a:t>
                </a:r>
                <a:r>
                  <a:rPr lang="en-IN" sz="1200"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endParaRPr lang="en-US" dirty="0"/>
              </a:p>
            </p:txBody>
          </p:sp>
        </mc:Fallback>
      </mc:AlternateContent>
      <p:sp>
        <p:nvSpPr>
          <p:cNvPr id="4" name="Slide Number Placeholder 3"/>
          <p:cNvSpPr>
            <a:spLocks noGrp="1"/>
          </p:cNvSpPr>
          <p:nvPr>
            <p:ph type="sldNum" sz="quarter" idx="10"/>
          </p:nvPr>
        </p:nvSpPr>
        <p:spPr/>
        <p:txBody>
          <a:bodyPr/>
          <a:lstStyle/>
          <a:p>
            <a:fld id="{4F2FDBBD-6E13-4EA6-B217-DA6C04D0A047}" type="slidenum">
              <a:rPr lang="en-US" smtClean="0"/>
              <a:t>51</a:t>
            </a:fld>
            <a:endParaRPr lang="en-US"/>
          </a:p>
        </p:txBody>
      </p:sp>
    </p:spTree>
    <p:extLst>
      <p:ext uri="{BB962C8B-B14F-4D97-AF65-F5344CB8AC3E}">
        <p14:creationId xmlns:p14="http://schemas.microsoft.com/office/powerpoint/2010/main" val="10670277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Fast R-CNN uses a multi-task loss function that combines classification loss and bounding box regression loss to simultaneously optimize for both tasks and improve overall performance.</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52</a:t>
            </a:fld>
            <a:endParaRPr lang="en-US"/>
          </a:p>
        </p:txBody>
      </p:sp>
    </p:spTree>
    <p:extLst>
      <p:ext uri="{BB962C8B-B14F-4D97-AF65-F5344CB8AC3E}">
        <p14:creationId xmlns:p14="http://schemas.microsoft.com/office/powerpoint/2010/main" val="19494000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u="none" kern="1200" dirty="0" smtClean="0">
                <a:solidFill>
                  <a:schemeClr val="tx1"/>
                </a:solidFill>
                <a:effectLst/>
                <a:latin typeface="+mn-lt"/>
                <a:ea typeface="+mn-ea"/>
                <a:cs typeface="+mn-cs"/>
              </a:rPr>
              <a:t>Faster R-CNN, introduced by </a:t>
            </a:r>
            <a:r>
              <a:rPr lang="en-IN" sz="1200" u="none" kern="1200" dirty="0" err="1" smtClean="0">
                <a:solidFill>
                  <a:schemeClr val="tx1"/>
                </a:solidFill>
                <a:effectLst/>
                <a:latin typeface="+mn-lt"/>
                <a:ea typeface="+mn-ea"/>
                <a:cs typeface="+mn-cs"/>
              </a:rPr>
              <a:t>Shaoqing</a:t>
            </a:r>
            <a:r>
              <a:rPr lang="en-IN" sz="1200" u="none" kern="1200" dirty="0" smtClean="0">
                <a:solidFill>
                  <a:schemeClr val="tx1"/>
                </a:solidFill>
                <a:effectLst/>
                <a:latin typeface="+mn-lt"/>
                <a:ea typeface="+mn-ea"/>
                <a:cs typeface="+mn-cs"/>
              </a:rPr>
              <a:t> Ren, </a:t>
            </a:r>
            <a:r>
              <a:rPr lang="en-IN" sz="1200" u="none" kern="1200" dirty="0" err="1" smtClean="0">
                <a:solidFill>
                  <a:schemeClr val="tx1"/>
                </a:solidFill>
                <a:effectLst/>
                <a:latin typeface="+mn-lt"/>
                <a:ea typeface="+mn-ea"/>
                <a:cs typeface="+mn-cs"/>
              </a:rPr>
              <a:t>Kaiming</a:t>
            </a:r>
            <a:r>
              <a:rPr lang="en-IN" sz="1200" u="none" kern="1200" dirty="0" smtClean="0">
                <a:solidFill>
                  <a:schemeClr val="tx1"/>
                </a:solidFill>
                <a:effectLst/>
                <a:latin typeface="+mn-lt"/>
                <a:ea typeface="+mn-ea"/>
                <a:cs typeface="+mn-cs"/>
              </a:rPr>
              <a:t> He, Ross </a:t>
            </a:r>
            <a:r>
              <a:rPr lang="en-IN" sz="1200" u="none" kern="1200" dirty="0" err="1" smtClean="0">
                <a:solidFill>
                  <a:schemeClr val="tx1"/>
                </a:solidFill>
                <a:effectLst/>
                <a:latin typeface="+mn-lt"/>
                <a:ea typeface="+mn-ea"/>
                <a:cs typeface="+mn-cs"/>
              </a:rPr>
              <a:t>Girshick</a:t>
            </a:r>
            <a:r>
              <a:rPr lang="en-IN" sz="1200" u="none" kern="1200" dirty="0" smtClean="0">
                <a:solidFill>
                  <a:schemeClr val="tx1"/>
                </a:solidFill>
                <a:effectLst/>
                <a:latin typeface="+mn-lt"/>
                <a:ea typeface="+mn-ea"/>
                <a:cs typeface="+mn-cs"/>
              </a:rPr>
              <a:t>, and Jian Sun in 2015, is composed of two modules; a fully convolutional network that proposes regions, and the Fast R-CNN detector that uses the proposed regions. The RPN predicts the object bounds from the feature maps created by the convolutional layers. Then, the features of the proposed region generated by RPN are pooled using ROI Pooling and fed into a network that predicts the class and bounding box. </a:t>
            </a:r>
            <a:endParaRPr lang="en-US" u="none" dirty="0"/>
          </a:p>
        </p:txBody>
      </p:sp>
      <p:sp>
        <p:nvSpPr>
          <p:cNvPr id="4" name="Slide Number Placeholder 3"/>
          <p:cNvSpPr>
            <a:spLocks noGrp="1"/>
          </p:cNvSpPr>
          <p:nvPr>
            <p:ph type="sldNum" sz="quarter" idx="10"/>
          </p:nvPr>
        </p:nvSpPr>
        <p:spPr/>
        <p:txBody>
          <a:bodyPr/>
          <a:lstStyle/>
          <a:p>
            <a:fld id="{4F2FDBBD-6E13-4EA6-B217-DA6C04D0A047}" type="slidenum">
              <a:rPr lang="en-US" smtClean="0"/>
              <a:t>54</a:t>
            </a:fld>
            <a:endParaRPr lang="en-US"/>
          </a:p>
        </p:txBody>
      </p:sp>
    </p:spTree>
    <p:extLst>
      <p:ext uri="{BB962C8B-B14F-4D97-AF65-F5344CB8AC3E}">
        <p14:creationId xmlns:p14="http://schemas.microsoft.com/office/powerpoint/2010/main" val="36557251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The two-stage approach allows for more efficient object detection than other R-CNNs as the RPN reduces the number of regions that need to be processed by the CNN classifier.</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55</a:t>
            </a:fld>
            <a:endParaRPr lang="en-US"/>
          </a:p>
        </p:txBody>
      </p:sp>
    </p:spTree>
    <p:extLst>
      <p:ext uri="{BB962C8B-B14F-4D97-AF65-F5344CB8AC3E}">
        <p14:creationId xmlns:p14="http://schemas.microsoft.com/office/powerpoint/2010/main" val="16555673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RPN takes an image (of any size) as input and outputs a set of rectangular object proposals, each with an </a:t>
            </a:r>
            <a:r>
              <a:rPr lang="en-US" dirty="0" err="1" smtClean="0"/>
              <a:t>objectness</a:t>
            </a:r>
            <a:r>
              <a:rPr lang="en-US" dirty="0" smtClean="0"/>
              <a:t> score. The RPN is a fully convolutional network that generates region proposals directly from the feature maps produced by the </a:t>
            </a:r>
            <a:r>
              <a:rPr lang="en-US" dirty="0" err="1" smtClean="0"/>
              <a:t>Conv</a:t>
            </a:r>
            <a:r>
              <a:rPr lang="en-US" dirty="0" smtClean="0"/>
              <a:t> layers. </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56</a:t>
            </a:fld>
            <a:endParaRPr lang="en-US"/>
          </a:p>
        </p:txBody>
      </p:sp>
    </p:spTree>
    <p:extLst>
      <p:ext uri="{BB962C8B-B14F-4D97-AF65-F5344CB8AC3E}">
        <p14:creationId xmlns:p14="http://schemas.microsoft.com/office/powerpoint/2010/main" val="14576633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To generate region proposals, a small network is slid over the convolutional feature map output by the last shared convolutional layer. This small network takes as input an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𝑛</m:t>
                    </m:r>
                    <m:r>
                      <a:rPr lang="en-IN" sz="1200" i="1" kern="1200">
                        <a:solidFill>
                          <a:schemeClr val="tx1"/>
                        </a:solidFill>
                        <a:effectLst/>
                        <a:latin typeface="Cambria Math" panose="02040503050406030204" pitchFamily="18" charset="0"/>
                        <a:ea typeface="+mn-ea"/>
                        <a:cs typeface="+mn-cs"/>
                      </a:rPr>
                      <m:t> × </m:t>
                    </m:r>
                    <m:r>
                      <a:rPr lang="en-IN" sz="1200" i="1" kern="1200">
                        <a:solidFill>
                          <a:schemeClr val="tx1"/>
                        </a:solidFill>
                        <a:effectLst/>
                        <a:latin typeface="Cambria Math" panose="02040503050406030204" pitchFamily="18" charset="0"/>
                        <a:ea typeface="+mn-ea"/>
                        <a:cs typeface="+mn-cs"/>
                      </a:rPr>
                      <m:t>𝑛</m:t>
                    </m:r>
                  </m:oMath>
                </a14:m>
                <a:r>
                  <a:rPr lang="en-IN" sz="1200" kern="1200" dirty="0">
                    <a:solidFill>
                      <a:schemeClr val="tx1"/>
                    </a:solidFill>
                    <a:effectLst/>
                    <a:latin typeface="+mn-lt"/>
                    <a:ea typeface="+mn-ea"/>
                    <a:cs typeface="+mn-cs"/>
                  </a:rPr>
                  <a:t> spatial window of the input convolutional feature map. Each sliding window is mapped to a lower-dimensional feature (256-d for ZF and 512-d for VGG, followed by </a:t>
                </a:r>
                <a:r>
                  <a:rPr lang="en-IN" sz="1200" kern="1200" dirty="0" err="1">
                    <a:solidFill>
                      <a:schemeClr val="tx1"/>
                    </a:solidFill>
                    <a:effectLst/>
                    <a:latin typeface="+mn-lt"/>
                    <a:ea typeface="+mn-ea"/>
                    <a:cs typeface="+mn-cs"/>
                  </a:rPr>
                  <a:t>ReLU</a:t>
                </a:r>
                <a:r>
                  <a:rPr lang="en-IN" sz="1200" kern="1200" dirty="0">
                    <a:solidFill>
                      <a:schemeClr val="tx1"/>
                    </a:solidFill>
                    <a:effectLst/>
                    <a:latin typeface="+mn-lt"/>
                    <a:ea typeface="+mn-ea"/>
                    <a:cs typeface="+mn-cs"/>
                  </a:rPr>
                  <a:t> activation function). This feature is fed into two sibling fully-connected layers—a box-regression layer (</a:t>
                </a:r>
                <a:r>
                  <a:rPr lang="en-IN" sz="1200" kern="1200" dirty="0" err="1">
                    <a:solidFill>
                      <a:schemeClr val="tx1"/>
                    </a:solidFill>
                    <a:effectLst/>
                    <a:latin typeface="+mn-lt"/>
                    <a:ea typeface="+mn-ea"/>
                    <a:cs typeface="+mn-cs"/>
                  </a:rPr>
                  <a:t>reg</a:t>
                </a:r>
                <a:r>
                  <a:rPr lang="en-IN" sz="1200" kern="1200" dirty="0">
                    <a:solidFill>
                      <a:schemeClr val="tx1"/>
                    </a:solidFill>
                    <a:effectLst/>
                    <a:latin typeface="+mn-lt"/>
                    <a:ea typeface="+mn-ea"/>
                    <a:cs typeface="+mn-cs"/>
                  </a:rPr>
                  <a:t>) and a box-classification layer (</a:t>
                </a:r>
                <a:r>
                  <a:rPr lang="en-IN" sz="1200" kern="1200" dirty="0" err="1">
                    <a:solidFill>
                      <a:schemeClr val="tx1"/>
                    </a:solidFill>
                    <a:effectLst/>
                    <a:latin typeface="+mn-lt"/>
                    <a:ea typeface="+mn-ea"/>
                    <a:cs typeface="+mn-cs"/>
                  </a:rPr>
                  <a:t>cls</a:t>
                </a:r>
                <a:r>
                  <a:rPr lang="en-IN" sz="1200" kern="1200" dirty="0">
                    <a:solidFill>
                      <a:schemeClr val="tx1"/>
                    </a:solidFill>
                    <a:effectLst/>
                    <a:latin typeface="+mn-lt"/>
                    <a:ea typeface="+mn-ea"/>
                    <a:cs typeface="+mn-cs"/>
                  </a:rPr>
                  <a:t>). </a:t>
                </a:r>
                <a:r>
                  <a:rPr lang="en-IN" sz="1200" kern="1200" dirty="0" smtClean="0">
                    <a:solidFill>
                      <a:schemeClr val="tx1"/>
                    </a:solidFill>
                    <a:effectLst/>
                    <a:latin typeface="+mn-lt"/>
                    <a:ea typeface="+mn-ea"/>
                    <a:cs typeface="+mn-cs"/>
                  </a:rPr>
                  <a:t>B</a:t>
                </a:r>
                <a:r>
                  <a:rPr lang="en-US" sz="1200" kern="1200" dirty="0" err="1" smtClean="0">
                    <a:solidFill>
                      <a:schemeClr val="tx1"/>
                    </a:solidFill>
                    <a:effectLst/>
                    <a:latin typeface="+mn-lt"/>
                    <a:ea typeface="+mn-ea"/>
                    <a:cs typeface="+mn-cs"/>
                  </a:rPr>
                  <a:t>ecause</a:t>
                </a:r>
                <a:r>
                  <a:rPr lang="en-US" sz="1200" kern="1200" dirty="0" smtClean="0">
                    <a:solidFill>
                      <a:schemeClr val="tx1"/>
                    </a:solidFill>
                    <a:effectLst/>
                    <a:latin typeface="+mn-lt"/>
                    <a:ea typeface="+mn-ea"/>
                    <a:cs typeface="+mn-cs"/>
                  </a:rPr>
                  <a:t> the network operates in a sliding-window fashion, the intermediate layer, </a:t>
                </a:r>
                <a:r>
                  <a:rPr lang="en-US" sz="1200" kern="1200" dirty="0" err="1" smtClean="0">
                    <a:solidFill>
                      <a:schemeClr val="tx1"/>
                    </a:solidFill>
                    <a:effectLst/>
                    <a:latin typeface="+mn-lt"/>
                    <a:ea typeface="+mn-ea"/>
                    <a:cs typeface="+mn-cs"/>
                  </a:rPr>
                  <a:t>cls</a:t>
                </a:r>
                <a:r>
                  <a:rPr lang="en-US" sz="1200" kern="1200" dirty="0" smtClean="0">
                    <a:solidFill>
                      <a:schemeClr val="tx1"/>
                    </a:solidFill>
                    <a:effectLst/>
                    <a:latin typeface="+mn-lt"/>
                    <a:ea typeface="+mn-ea"/>
                    <a:cs typeface="+mn-cs"/>
                  </a:rPr>
                  <a:t> layer and </a:t>
                </a:r>
                <a:r>
                  <a:rPr lang="en-US" sz="1200" kern="1200" dirty="0" err="1" smtClean="0">
                    <a:solidFill>
                      <a:schemeClr val="tx1"/>
                    </a:solidFill>
                    <a:effectLst/>
                    <a:latin typeface="+mn-lt"/>
                    <a:ea typeface="+mn-ea"/>
                    <a:cs typeface="+mn-cs"/>
                  </a:rPr>
                  <a:t>reg</a:t>
                </a:r>
                <a:r>
                  <a:rPr lang="en-US" sz="1200" kern="1200" dirty="0" smtClean="0">
                    <a:solidFill>
                      <a:schemeClr val="tx1"/>
                    </a:solidFill>
                    <a:effectLst/>
                    <a:latin typeface="+mn-lt"/>
                    <a:ea typeface="+mn-ea"/>
                    <a:cs typeface="+mn-cs"/>
                  </a:rPr>
                  <a:t> layer are shared across all spatial locations. This architecture is naturally implemented with an </a:t>
                </a:r>
                <a:r>
                  <a:rPr lang="en-US" sz="1200" kern="1200" dirty="0" err="1" smtClean="0">
                    <a:solidFill>
                      <a:schemeClr val="tx1"/>
                    </a:solidFill>
                    <a:effectLst/>
                    <a:latin typeface="+mn-lt"/>
                    <a:ea typeface="+mn-ea"/>
                    <a:cs typeface="+mn-cs"/>
                  </a:rPr>
                  <a:t>n×n</a:t>
                </a:r>
                <a:r>
                  <a:rPr lang="en-US" sz="1200" kern="1200" dirty="0" smtClean="0">
                    <a:solidFill>
                      <a:schemeClr val="tx1"/>
                    </a:solidFill>
                    <a:effectLst/>
                    <a:latin typeface="+mn-lt"/>
                    <a:ea typeface="+mn-ea"/>
                    <a:cs typeface="+mn-cs"/>
                  </a:rPr>
                  <a:t> convolutional layer followed by two sibling 1 × 1 convolutional layers (for </a:t>
                </a:r>
                <a:r>
                  <a:rPr lang="en-US" sz="1200" kern="1200" dirty="0" err="1" smtClean="0">
                    <a:solidFill>
                      <a:schemeClr val="tx1"/>
                    </a:solidFill>
                    <a:effectLst/>
                    <a:latin typeface="+mn-lt"/>
                    <a:ea typeface="+mn-ea"/>
                    <a:cs typeface="+mn-cs"/>
                  </a:rPr>
                  <a:t>reg</a:t>
                </a:r>
                <a:r>
                  <a:rPr lang="en-US" sz="1200" kern="1200" dirty="0" smtClean="0">
                    <a:solidFill>
                      <a:schemeClr val="tx1"/>
                    </a:solidFill>
                    <a:effectLst/>
                    <a:latin typeface="+mn-lt"/>
                    <a:ea typeface="+mn-ea"/>
                    <a:cs typeface="+mn-cs"/>
                  </a:rPr>
                  <a:t> and </a:t>
                </a:r>
                <a:r>
                  <a:rPr lang="en-US" sz="1200" kern="1200" dirty="0" err="1" smtClean="0">
                    <a:solidFill>
                      <a:schemeClr val="tx1"/>
                    </a:solidFill>
                    <a:effectLst/>
                    <a:latin typeface="+mn-lt"/>
                    <a:ea typeface="+mn-ea"/>
                    <a:cs typeface="+mn-cs"/>
                  </a:rPr>
                  <a:t>cls</a:t>
                </a:r>
                <a:r>
                  <a:rPr lang="en-US" sz="1200" kern="1200" dirty="0" smtClean="0">
                    <a:solidFill>
                      <a:schemeClr val="tx1"/>
                    </a:solidFill>
                    <a:effectLst/>
                    <a:latin typeface="+mn-lt"/>
                    <a:ea typeface="+mn-ea"/>
                    <a:cs typeface="+mn-cs"/>
                  </a:rPr>
                  <a:t>, respectively).</a:t>
                </a:r>
              </a:p>
              <a:p>
                <a:r>
                  <a:rPr lang="en-US" dirty="0" smtClean="0"/>
                  <a:t>At each sliding-window location, we simultaneously predict multiple region proposals, where the number of maximum possible proposals for each location is denoted as k. So the </a:t>
                </a:r>
                <a:r>
                  <a:rPr lang="en-US" dirty="0" err="1" smtClean="0"/>
                  <a:t>reg</a:t>
                </a:r>
                <a:r>
                  <a:rPr lang="en-US" dirty="0" smtClean="0"/>
                  <a:t> layer has 4k outputs encoding the coordinates of k boxes, and the </a:t>
                </a:r>
                <a:r>
                  <a:rPr lang="en-US" dirty="0" err="1" smtClean="0"/>
                  <a:t>cls</a:t>
                </a:r>
                <a:r>
                  <a:rPr lang="en-US" dirty="0" smtClean="0"/>
                  <a:t> layer outputs 2k scores that estimate probability of object or not object for each proposal. The k proposals are called anchors. An anchor is centered at the sliding window in question, and is associated with a scale and aspect ratio. By default, we use 3 scales and 3 aspect ratios, yielding k = 9 anchors at each sliding position. For a convolutional feature map of a size W × H, there are </a:t>
                </a:r>
                <a:r>
                  <a:rPr lang="en-US" dirty="0" err="1" smtClean="0"/>
                  <a:t>WHk</a:t>
                </a:r>
                <a:r>
                  <a:rPr lang="en-US" dirty="0" smtClean="0"/>
                  <a:t> anchors in total.</a:t>
                </a:r>
                <a:endParaRPr lang="en-US" dirty="0"/>
              </a:p>
            </p:txBody>
          </p:sp>
        </mc:Choice>
        <mc:Fallback xmlns="">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To generate region proposals, a small network is slid over the convolutional feature map output by the last shared convolutional layer. This small network takes as input an </a:t>
                </a:r>
                <a:r>
                  <a:rPr lang="en-IN" sz="1200" i="0" kern="1200">
                    <a:solidFill>
                      <a:schemeClr val="tx1"/>
                    </a:solidFill>
                    <a:effectLst/>
                    <a:latin typeface="+mn-lt"/>
                    <a:ea typeface="+mn-ea"/>
                    <a:cs typeface="+mn-cs"/>
                  </a:rPr>
                  <a:t>𝑛 × 𝑛</a:t>
                </a:r>
                <a:r>
                  <a:rPr lang="en-IN" sz="1200" kern="1200" dirty="0">
                    <a:solidFill>
                      <a:schemeClr val="tx1"/>
                    </a:solidFill>
                    <a:effectLst/>
                    <a:latin typeface="+mn-lt"/>
                    <a:ea typeface="+mn-ea"/>
                    <a:cs typeface="+mn-cs"/>
                  </a:rPr>
                  <a:t> spatial window of the input convolutional feature map. Each sliding window is mapped to a lower-dimensional feature (256-d for ZF and 512-d for VGG, followed by </a:t>
                </a:r>
                <a:r>
                  <a:rPr lang="en-IN" sz="1200" kern="1200" dirty="0" err="1">
                    <a:solidFill>
                      <a:schemeClr val="tx1"/>
                    </a:solidFill>
                    <a:effectLst/>
                    <a:latin typeface="+mn-lt"/>
                    <a:ea typeface="+mn-ea"/>
                    <a:cs typeface="+mn-cs"/>
                  </a:rPr>
                  <a:t>ReLU</a:t>
                </a:r>
                <a:r>
                  <a:rPr lang="en-IN" sz="1200" kern="1200" dirty="0">
                    <a:solidFill>
                      <a:schemeClr val="tx1"/>
                    </a:solidFill>
                    <a:effectLst/>
                    <a:latin typeface="+mn-lt"/>
                    <a:ea typeface="+mn-ea"/>
                    <a:cs typeface="+mn-cs"/>
                  </a:rPr>
                  <a:t> activation function). This feature is fed into two sibling fully-connected layers—a box-regression layer (</a:t>
                </a:r>
                <a:r>
                  <a:rPr lang="en-IN" sz="1200" kern="1200" dirty="0" err="1">
                    <a:solidFill>
                      <a:schemeClr val="tx1"/>
                    </a:solidFill>
                    <a:effectLst/>
                    <a:latin typeface="+mn-lt"/>
                    <a:ea typeface="+mn-ea"/>
                    <a:cs typeface="+mn-cs"/>
                  </a:rPr>
                  <a:t>reg</a:t>
                </a:r>
                <a:r>
                  <a:rPr lang="en-IN" sz="1200" kern="1200" dirty="0">
                    <a:solidFill>
                      <a:schemeClr val="tx1"/>
                    </a:solidFill>
                    <a:effectLst/>
                    <a:latin typeface="+mn-lt"/>
                    <a:ea typeface="+mn-ea"/>
                    <a:cs typeface="+mn-cs"/>
                  </a:rPr>
                  <a:t>) and a box-classification layer (</a:t>
                </a:r>
                <a:r>
                  <a:rPr lang="en-IN" sz="1200" kern="1200" dirty="0" err="1">
                    <a:solidFill>
                      <a:schemeClr val="tx1"/>
                    </a:solidFill>
                    <a:effectLst/>
                    <a:latin typeface="+mn-lt"/>
                    <a:ea typeface="+mn-ea"/>
                    <a:cs typeface="+mn-cs"/>
                  </a:rPr>
                  <a:t>cls</a:t>
                </a:r>
                <a:r>
                  <a:rPr lang="en-IN" sz="1200" kern="1200" dirty="0">
                    <a:solidFill>
                      <a:schemeClr val="tx1"/>
                    </a:solidFill>
                    <a:effectLst/>
                    <a:latin typeface="+mn-lt"/>
                    <a:ea typeface="+mn-ea"/>
                    <a:cs typeface="+mn-cs"/>
                  </a:rPr>
                  <a:t>). </a:t>
                </a:r>
                <a:r>
                  <a:rPr lang="en-IN" sz="1200" kern="1200" dirty="0" smtClean="0">
                    <a:solidFill>
                      <a:schemeClr val="tx1"/>
                    </a:solidFill>
                    <a:effectLst/>
                    <a:latin typeface="+mn-lt"/>
                    <a:ea typeface="+mn-ea"/>
                    <a:cs typeface="+mn-cs"/>
                  </a:rPr>
                  <a:t>B</a:t>
                </a:r>
                <a:r>
                  <a:rPr lang="en-US" sz="1200" kern="1200" dirty="0" err="1" smtClean="0">
                    <a:solidFill>
                      <a:schemeClr val="tx1"/>
                    </a:solidFill>
                    <a:effectLst/>
                    <a:latin typeface="+mn-lt"/>
                    <a:ea typeface="+mn-ea"/>
                    <a:cs typeface="+mn-cs"/>
                  </a:rPr>
                  <a:t>ecause</a:t>
                </a:r>
                <a:r>
                  <a:rPr lang="en-US" sz="1200" kern="1200" dirty="0" smtClean="0">
                    <a:solidFill>
                      <a:schemeClr val="tx1"/>
                    </a:solidFill>
                    <a:effectLst/>
                    <a:latin typeface="+mn-lt"/>
                    <a:ea typeface="+mn-ea"/>
                    <a:cs typeface="+mn-cs"/>
                  </a:rPr>
                  <a:t> the network operates in a sliding-window fashion, the intermediate layer, </a:t>
                </a:r>
                <a:r>
                  <a:rPr lang="en-US" sz="1200" kern="1200" dirty="0" err="1" smtClean="0">
                    <a:solidFill>
                      <a:schemeClr val="tx1"/>
                    </a:solidFill>
                    <a:effectLst/>
                    <a:latin typeface="+mn-lt"/>
                    <a:ea typeface="+mn-ea"/>
                    <a:cs typeface="+mn-cs"/>
                  </a:rPr>
                  <a:t>cls</a:t>
                </a:r>
                <a:r>
                  <a:rPr lang="en-US" sz="1200" kern="1200" dirty="0" smtClean="0">
                    <a:solidFill>
                      <a:schemeClr val="tx1"/>
                    </a:solidFill>
                    <a:effectLst/>
                    <a:latin typeface="+mn-lt"/>
                    <a:ea typeface="+mn-ea"/>
                    <a:cs typeface="+mn-cs"/>
                  </a:rPr>
                  <a:t> layer and </a:t>
                </a:r>
                <a:r>
                  <a:rPr lang="en-US" sz="1200" kern="1200" dirty="0" err="1" smtClean="0">
                    <a:solidFill>
                      <a:schemeClr val="tx1"/>
                    </a:solidFill>
                    <a:effectLst/>
                    <a:latin typeface="+mn-lt"/>
                    <a:ea typeface="+mn-ea"/>
                    <a:cs typeface="+mn-cs"/>
                  </a:rPr>
                  <a:t>reg</a:t>
                </a:r>
                <a:r>
                  <a:rPr lang="en-US" sz="1200" kern="1200" dirty="0" smtClean="0">
                    <a:solidFill>
                      <a:schemeClr val="tx1"/>
                    </a:solidFill>
                    <a:effectLst/>
                    <a:latin typeface="+mn-lt"/>
                    <a:ea typeface="+mn-ea"/>
                    <a:cs typeface="+mn-cs"/>
                  </a:rPr>
                  <a:t> layer are shared across all spatial locations. This architecture is naturally implemented with an </a:t>
                </a:r>
                <a:r>
                  <a:rPr lang="en-US" sz="1200" kern="1200" dirty="0" err="1" smtClean="0">
                    <a:solidFill>
                      <a:schemeClr val="tx1"/>
                    </a:solidFill>
                    <a:effectLst/>
                    <a:latin typeface="+mn-lt"/>
                    <a:ea typeface="+mn-ea"/>
                    <a:cs typeface="+mn-cs"/>
                  </a:rPr>
                  <a:t>n×n</a:t>
                </a:r>
                <a:r>
                  <a:rPr lang="en-US" sz="1200" kern="1200" dirty="0" smtClean="0">
                    <a:solidFill>
                      <a:schemeClr val="tx1"/>
                    </a:solidFill>
                    <a:effectLst/>
                    <a:latin typeface="+mn-lt"/>
                    <a:ea typeface="+mn-ea"/>
                    <a:cs typeface="+mn-cs"/>
                  </a:rPr>
                  <a:t> convolutional layer followed by two sibling 1 × 1 convolutional layers (for </a:t>
                </a:r>
                <a:r>
                  <a:rPr lang="en-US" sz="1200" kern="1200" dirty="0" err="1" smtClean="0">
                    <a:solidFill>
                      <a:schemeClr val="tx1"/>
                    </a:solidFill>
                    <a:effectLst/>
                    <a:latin typeface="+mn-lt"/>
                    <a:ea typeface="+mn-ea"/>
                    <a:cs typeface="+mn-cs"/>
                  </a:rPr>
                  <a:t>reg</a:t>
                </a:r>
                <a:r>
                  <a:rPr lang="en-US" sz="1200" kern="1200" dirty="0" smtClean="0">
                    <a:solidFill>
                      <a:schemeClr val="tx1"/>
                    </a:solidFill>
                    <a:effectLst/>
                    <a:latin typeface="+mn-lt"/>
                    <a:ea typeface="+mn-ea"/>
                    <a:cs typeface="+mn-cs"/>
                  </a:rPr>
                  <a:t> and </a:t>
                </a:r>
                <a:r>
                  <a:rPr lang="en-US" sz="1200" kern="1200" dirty="0" err="1" smtClean="0">
                    <a:solidFill>
                      <a:schemeClr val="tx1"/>
                    </a:solidFill>
                    <a:effectLst/>
                    <a:latin typeface="+mn-lt"/>
                    <a:ea typeface="+mn-ea"/>
                    <a:cs typeface="+mn-cs"/>
                  </a:rPr>
                  <a:t>cls</a:t>
                </a:r>
                <a:r>
                  <a:rPr lang="en-US" sz="1200" kern="1200" dirty="0" smtClean="0">
                    <a:solidFill>
                      <a:schemeClr val="tx1"/>
                    </a:solidFill>
                    <a:effectLst/>
                    <a:latin typeface="+mn-lt"/>
                    <a:ea typeface="+mn-ea"/>
                    <a:cs typeface="+mn-cs"/>
                  </a:rPr>
                  <a:t>, respectively).</a:t>
                </a:r>
              </a:p>
              <a:p>
                <a:r>
                  <a:rPr lang="en-US" dirty="0" smtClean="0"/>
                  <a:t>At each sliding-window location, we simultaneously predict multiple region proposals, where the number of maximum possible proposals for each location is denoted as k. So the </a:t>
                </a:r>
                <a:r>
                  <a:rPr lang="en-US" dirty="0" err="1" smtClean="0"/>
                  <a:t>reg</a:t>
                </a:r>
                <a:r>
                  <a:rPr lang="en-US" dirty="0" smtClean="0"/>
                  <a:t> layer has 4k outputs encoding the coordinates of k boxes, and the </a:t>
                </a:r>
                <a:r>
                  <a:rPr lang="en-US" dirty="0" err="1" smtClean="0"/>
                  <a:t>cls</a:t>
                </a:r>
                <a:r>
                  <a:rPr lang="en-US" dirty="0" smtClean="0"/>
                  <a:t> layer outputs 2k scores that estimate probability of object or not object for each proposal. The k proposals are called anchors. An anchor is centered at the sliding window in question, and is associated with a scale and aspect ratio. By default, we use 3 scales and 3 aspect ratios, yielding k = 9 anchors at each sliding position. For a convolutional feature map of a size W × H, there are </a:t>
                </a:r>
                <a:r>
                  <a:rPr lang="en-US" dirty="0" err="1" smtClean="0"/>
                  <a:t>WHk</a:t>
                </a:r>
                <a:r>
                  <a:rPr lang="en-US" dirty="0" smtClean="0"/>
                  <a:t> anchors in total.</a:t>
                </a:r>
                <a:endParaRPr lang="en-US" dirty="0"/>
              </a:p>
            </p:txBody>
          </p:sp>
        </mc:Fallback>
      </mc:AlternateContent>
      <p:sp>
        <p:nvSpPr>
          <p:cNvPr id="4" name="Slide Number Placeholder 3"/>
          <p:cNvSpPr>
            <a:spLocks noGrp="1"/>
          </p:cNvSpPr>
          <p:nvPr>
            <p:ph type="sldNum" sz="quarter" idx="10"/>
          </p:nvPr>
        </p:nvSpPr>
        <p:spPr/>
        <p:txBody>
          <a:bodyPr/>
          <a:lstStyle/>
          <a:p>
            <a:fld id="{4F2FDBBD-6E13-4EA6-B217-DA6C04D0A047}" type="slidenum">
              <a:rPr lang="en-US" smtClean="0"/>
              <a:t>57</a:t>
            </a:fld>
            <a:endParaRPr lang="en-US"/>
          </a:p>
        </p:txBody>
      </p:sp>
    </p:spTree>
    <p:extLst>
      <p:ext uri="{BB962C8B-B14F-4D97-AF65-F5344CB8AC3E}">
        <p14:creationId xmlns:p14="http://schemas.microsoft.com/office/powerpoint/2010/main" val="33091542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classification layer assigns a class label to each region proposal, while the bounding box regression layer refines the coordinates of the bounding boxes. </a:t>
            </a:r>
            <a:r>
              <a:rPr lang="en-IN" sz="1200" kern="1200" dirty="0" smtClean="0">
                <a:solidFill>
                  <a:schemeClr val="tx1"/>
                </a:solidFill>
                <a:effectLst/>
                <a:latin typeface="+mn-lt"/>
                <a:ea typeface="+mn-ea"/>
                <a:cs typeface="+mn-cs"/>
              </a:rPr>
              <a:t>Faster R-CNN is also trained end-to-end using a multi-task loss function that combines classification loss and bounding box regression loss. This allows the network to simultaneously optimize for both tasks, improving overall performance.</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58</a:t>
            </a:fld>
            <a:endParaRPr lang="en-US"/>
          </a:p>
        </p:txBody>
      </p:sp>
    </p:spTree>
    <p:extLst>
      <p:ext uri="{BB962C8B-B14F-4D97-AF65-F5344CB8AC3E}">
        <p14:creationId xmlns:p14="http://schemas.microsoft.com/office/powerpoint/2010/main" val="41520099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i="0" u="none" kern="1200" dirty="0" smtClean="0">
                <a:solidFill>
                  <a:schemeClr val="tx1"/>
                </a:solidFill>
                <a:effectLst/>
                <a:latin typeface="+mn-lt"/>
                <a:ea typeface="+mn-ea"/>
                <a:cs typeface="+mn-cs"/>
              </a:rPr>
              <a:t>The Faster R-CNN adopts a pragmatic 4-step training algorithm to learn shared features via alternating optimization. In the first step, the RPN is trained end-to-end by backpropagation and SGD using mini-batches. This network is initialized with an ImageNet-pre-trained model and fine-tuned end-to-end for the region proposal task. In the second step, we train a separate detection network by Fast R-CNN (includes </a:t>
            </a:r>
            <a:r>
              <a:rPr lang="en-IN" sz="1200" i="0" u="none" kern="1200" dirty="0" err="1" smtClean="0">
                <a:solidFill>
                  <a:schemeClr val="tx1"/>
                </a:solidFill>
                <a:effectLst/>
                <a:latin typeface="+mn-lt"/>
                <a:ea typeface="+mn-ea"/>
                <a:cs typeface="+mn-cs"/>
              </a:rPr>
              <a:t>conv</a:t>
            </a:r>
            <a:r>
              <a:rPr lang="en-IN" sz="1200" i="0" u="none" kern="1200" dirty="0" smtClean="0">
                <a:solidFill>
                  <a:schemeClr val="tx1"/>
                </a:solidFill>
                <a:effectLst/>
                <a:latin typeface="+mn-lt"/>
                <a:ea typeface="+mn-ea"/>
                <a:cs typeface="+mn-cs"/>
              </a:rPr>
              <a:t> layers, </a:t>
            </a:r>
            <a:r>
              <a:rPr lang="en-IN" sz="1200" i="0" u="none" kern="1200" dirty="0" err="1" smtClean="0">
                <a:solidFill>
                  <a:schemeClr val="tx1"/>
                </a:solidFill>
                <a:effectLst/>
                <a:latin typeface="+mn-lt"/>
                <a:ea typeface="+mn-ea"/>
                <a:cs typeface="+mn-cs"/>
              </a:rPr>
              <a:t>RoI</a:t>
            </a:r>
            <a:r>
              <a:rPr lang="en-IN" sz="1200" i="0" u="none" kern="1200" dirty="0" smtClean="0">
                <a:solidFill>
                  <a:schemeClr val="tx1"/>
                </a:solidFill>
                <a:effectLst/>
                <a:latin typeface="+mn-lt"/>
                <a:ea typeface="+mn-ea"/>
                <a:cs typeface="+mn-cs"/>
              </a:rPr>
              <a:t> pooling, and simultaneous classifier and regressor) using the proposals generated by the RPN in the first step. This detection network is also initialized by the ImageNet-pre-trained model. At this point, the two networks do not share convolutional layers. In the third step, we initialize RPN using the detector weights, but we fix the shared convolutional layers and only fine-tune the layers unique to RPN. Now the two networks share convolutional layers. Finally, keeping the shared convolutional layers fixed, we fine-tune the unique layers of Fast R-CNN. As such, both networks share the same convolutional layers and form a unified network.</a:t>
            </a:r>
            <a:endParaRPr lang="en-US" sz="1200" i="0" u="none"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59</a:t>
            </a:fld>
            <a:endParaRPr lang="en-US"/>
          </a:p>
        </p:txBody>
      </p:sp>
    </p:spTree>
    <p:extLst>
      <p:ext uri="{BB962C8B-B14F-4D97-AF65-F5344CB8AC3E}">
        <p14:creationId xmlns:p14="http://schemas.microsoft.com/office/powerpoint/2010/main" val="19739015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60</a:t>
            </a:fld>
            <a:endParaRPr lang="en-US"/>
          </a:p>
        </p:txBody>
      </p:sp>
    </p:spTree>
    <p:extLst>
      <p:ext uri="{BB962C8B-B14F-4D97-AF65-F5344CB8AC3E}">
        <p14:creationId xmlns:p14="http://schemas.microsoft.com/office/powerpoint/2010/main" val="13349374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61</a:t>
            </a:fld>
            <a:endParaRPr lang="en-US"/>
          </a:p>
        </p:txBody>
      </p:sp>
    </p:spTree>
    <p:extLst>
      <p:ext uri="{BB962C8B-B14F-4D97-AF65-F5344CB8AC3E}">
        <p14:creationId xmlns:p14="http://schemas.microsoft.com/office/powerpoint/2010/main" val="34192585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62</a:t>
            </a:fld>
            <a:endParaRPr lang="en-US"/>
          </a:p>
        </p:txBody>
      </p:sp>
    </p:spTree>
    <p:extLst>
      <p:ext uri="{BB962C8B-B14F-4D97-AF65-F5344CB8AC3E}">
        <p14:creationId xmlns:p14="http://schemas.microsoft.com/office/powerpoint/2010/main" val="28041236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63</a:t>
            </a:fld>
            <a:endParaRPr lang="en-US"/>
          </a:p>
        </p:txBody>
      </p:sp>
    </p:spTree>
    <p:extLst>
      <p:ext uri="{BB962C8B-B14F-4D97-AF65-F5344CB8AC3E}">
        <p14:creationId xmlns:p14="http://schemas.microsoft.com/office/powerpoint/2010/main" val="24980345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The Single Shot MultiBox Detector (SSD) is a one-stage object detection architecture that detects objects in images using a single deep neural network. It discretizes the output space of bounding boxes into a set of default boxes over different aspect ratios and scales per feature map location. At prediction time, the network generates scores for the presence of each object category in each default box and produces adjustments to the box to better match the object shape. </a:t>
            </a:r>
          </a:p>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The method is called “single shot” because it detects objects in one pass of the CNN without needing region proposals or multiple processing stages. The “MultiBox” component refers to the ability of the method to predict multiple bounding boxes for each object, allowing for more accurate localization.</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64</a:t>
            </a:fld>
            <a:endParaRPr lang="en-US"/>
          </a:p>
        </p:txBody>
      </p:sp>
    </p:spTree>
    <p:extLst>
      <p:ext uri="{BB962C8B-B14F-4D97-AF65-F5344CB8AC3E}">
        <p14:creationId xmlns:p14="http://schemas.microsoft.com/office/powerpoint/2010/main" val="32776412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The SSD architecture is based on a feed-forward CNN. It consists of a Base Network that is typically, a pre-trained network like VGG16 to extract feature maps. Additional convolutional layers are added on top of the base network to detect objects at multiple scales. </a:t>
                </a:r>
              </a:p>
              <a:p>
                <a:r>
                  <a:rPr lang="en-IN" sz="1200" u="sng" kern="1200" dirty="0" smtClean="0">
                    <a:solidFill>
                      <a:schemeClr val="tx1"/>
                    </a:solidFill>
                    <a:effectLst/>
                    <a:latin typeface="+mn-lt"/>
                    <a:ea typeface="+mn-ea"/>
                    <a:cs typeface="+mn-cs"/>
                  </a:rPr>
                  <a:t>Multi-scale feature maps for detection:</a:t>
                </a:r>
                <a:r>
                  <a:rPr lang="en-IN" sz="1200" kern="1200" dirty="0" smtClean="0">
                    <a:solidFill>
                      <a:schemeClr val="tx1"/>
                    </a:solidFill>
                    <a:effectLst/>
                    <a:latin typeface="+mn-lt"/>
                    <a:ea typeface="+mn-ea"/>
                    <a:cs typeface="+mn-cs"/>
                  </a:rPr>
                  <a:t> Convolutional feature layers are added to the end of the truncated base network. These layers decrease in size progressively and allow predictions of detections at multiple scales.</a:t>
                </a:r>
              </a:p>
              <a:p>
                <a:r>
                  <a:rPr lang="en-IN" sz="1200" u="sng" kern="1200" dirty="0" smtClean="0">
                    <a:solidFill>
                      <a:schemeClr val="tx1"/>
                    </a:solidFill>
                    <a:effectLst/>
                    <a:latin typeface="+mn-lt"/>
                    <a:ea typeface="+mn-ea"/>
                    <a:cs typeface="+mn-cs"/>
                  </a:rPr>
                  <a:t>Convolutional predictors for detection</a:t>
                </a:r>
                <a:r>
                  <a:rPr lang="en-IN" sz="1200" kern="1200" dirty="0" smtClean="0">
                    <a:solidFill>
                      <a:schemeClr val="tx1"/>
                    </a:solidFill>
                    <a:effectLst/>
                    <a:latin typeface="+mn-lt"/>
                    <a:ea typeface="+mn-ea"/>
                    <a:cs typeface="+mn-cs"/>
                  </a:rPr>
                  <a:t>: Each added feature layer (or optionally an existing feature layer from the base network) can produce a fixed set of detection predictions using a set of convolutional filters. </a:t>
                </a:r>
              </a:p>
              <a:p>
                <a:r>
                  <a:rPr lang="en-IN" sz="1200" u="sng" kern="1200" dirty="0" smtClean="0">
                    <a:solidFill>
                      <a:schemeClr val="tx1"/>
                    </a:solidFill>
                    <a:effectLst/>
                    <a:latin typeface="+mn-lt"/>
                    <a:ea typeface="+mn-ea"/>
                    <a:cs typeface="+mn-cs"/>
                  </a:rPr>
                  <a:t>Default boxes and aspect ratios:</a:t>
                </a:r>
                <a:r>
                  <a:rPr lang="en-IN" sz="1200" kern="1200" dirty="0" smtClean="0">
                    <a:solidFill>
                      <a:schemeClr val="tx1"/>
                    </a:solidFill>
                    <a:effectLst/>
                    <a:latin typeface="+mn-lt"/>
                    <a:ea typeface="+mn-ea"/>
                    <a:cs typeface="+mn-cs"/>
                  </a:rPr>
                  <a:t> We associate a set of default bounding boxes with each feature map cell, for multiple feature maps at the top of the network. For each box out of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𝑘</m:t>
                    </m:r>
                  </m:oMath>
                </a14:m>
                <a:r>
                  <a:rPr lang="en-IN" sz="1200" kern="1200" dirty="0">
                    <a:solidFill>
                      <a:schemeClr val="tx1"/>
                    </a:solidFill>
                    <a:effectLst/>
                    <a:latin typeface="+mn-lt"/>
                    <a:ea typeface="+mn-ea"/>
                    <a:cs typeface="+mn-cs"/>
                  </a:rPr>
                  <a:t> at a given location, we compute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𝑐</m:t>
                    </m:r>
                  </m:oMath>
                </a14:m>
                <a:r>
                  <a:rPr lang="en-IN" sz="1200" kern="1200" dirty="0">
                    <a:solidFill>
                      <a:schemeClr val="tx1"/>
                    </a:solidFill>
                    <a:effectLst/>
                    <a:latin typeface="+mn-lt"/>
                    <a:ea typeface="+mn-ea"/>
                    <a:cs typeface="+mn-cs"/>
                  </a:rPr>
                  <a:t> class scores and the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4</m:t>
                    </m:r>
                  </m:oMath>
                </a14:m>
                <a:r>
                  <a:rPr lang="en-IN" sz="1200" kern="1200" dirty="0">
                    <a:solidFill>
                      <a:schemeClr val="tx1"/>
                    </a:solidFill>
                    <a:effectLst/>
                    <a:latin typeface="+mn-lt"/>
                    <a:ea typeface="+mn-ea"/>
                    <a:cs typeface="+mn-cs"/>
                  </a:rPr>
                  <a:t> offsets relative to the original default box shape. This results in a total of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m:t>
                    </m:r>
                    <m:r>
                      <a:rPr lang="en-IN" sz="1200" i="1" kern="1200">
                        <a:solidFill>
                          <a:schemeClr val="tx1"/>
                        </a:solidFill>
                        <a:effectLst/>
                        <a:latin typeface="Cambria Math" panose="02040503050406030204" pitchFamily="18" charset="0"/>
                        <a:ea typeface="+mn-ea"/>
                        <a:cs typeface="+mn-cs"/>
                      </a:rPr>
                      <m:t>𝑐</m:t>
                    </m:r>
                    <m:r>
                      <a:rPr lang="en-IN" sz="1200" i="1" kern="1200">
                        <a:solidFill>
                          <a:schemeClr val="tx1"/>
                        </a:solidFill>
                        <a:effectLst/>
                        <a:latin typeface="Cambria Math" panose="02040503050406030204" pitchFamily="18" charset="0"/>
                        <a:ea typeface="+mn-ea"/>
                        <a:cs typeface="+mn-cs"/>
                      </a:rPr>
                      <m:t> + 4)</m:t>
                    </m:r>
                    <m:r>
                      <a:rPr lang="en-IN" sz="1200" i="1" kern="1200">
                        <a:solidFill>
                          <a:schemeClr val="tx1"/>
                        </a:solidFill>
                        <a:effectLst/>
                        <a:latin typeface="Cambria Math" panose="02040503050406030204" pitchFamily="18" charset="0"/>
                        <a:ea typeface="+mn-ea"/>
                        <a:cs typeface="+mn-cs"/>
                      </a:rPr>
                      <m:t>𝑘</m:t>
                    </m:r>
                  </m:oMath>
                </a14:m>
                <a:r>
                  <a:rPr lang="en-IN" sz="1200" kern="1200" dirty="0">
                    <a:solidFill>
                      <a:schemeClr val="tx1"/>
                    </a:solidFill>
                    <a:effectLst/>
                    <a:latin typeface="+mn-lt"/>
                    <a:ea typeface="+mn-ea"/>
                    <a:cs typeface="+mn-cs"/>
                  </a:rPr>
                  <a:t> filters that are applied around each location in the feature map, yielding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m:t>
                    </m:r>
                    <m:r>
                      <a:rPr lang="en-IN" sz="1200" i="1" kern="1200">
                        <a:solidFill>
                          <a:schemeClr val="tx1"/>
                        </a:solidFill>
                        <a:effectLst/>
                        <a:latin typeface="Cambria Math" panose="02040503050406030204" pitchFamily="18" charset="0"/>
                        <a:ea typeface="+mn-ea"/>
                        <a:cs typeface="+mn-cs"/>
                      </a:rPr>
                      <m:t>𝑐</m:t>
                    </m:r>
                    <m:r>
                      <a:rPr lang="en-IN" sz="1200" i="1" kern="1200">
                        <a:solidFill>
                          <a:schemeClr val="tx1"/>
                        </a:solidFill>
                        <a:effectLst/>
                        <a:latin typeface="Cambria Math" panose="02040503050406030204" pitchFamily="18" charset="0"/>
                        <a:ea typeface="+mn-ea"/>
                        <a:cs typeface="+mn-cs"/>
                      </a:rPr>
                      <m:t> + 4)</m:t>
                    </m:r>
                    <m:r>
                      <a:rPr lang="en-IN" sz="1200" i="1" kern="1200">
                        <a:solidFill>
                          <a:schemeClr val="tx1"/>
                        </a:solidFill>
                        <a:effectLst/>
                        <a:latin typeface="Cambria Math" panose="02040503050406030204" pitchFamily="18" charset="0"/>
                        <a:ea typeface="+mn-ea"/>
                        <a:cs typeface="+mn-cs"/>
                      </a:rPr>
                      <m:t>𝑘𝑚𝑛</m:t>
                    </m:r>
                  </m:oMath>
                </a14:m>
                <a:r>
                  <a:rPr lang="en-IN" sz="1200" kern="1200" dirty="0">
                    <a:solidFill>
                      <a:schemeClr val="tx1"/>
                    </a:solidFill>
                    <a:effectLst/>
                    <a:latin typeface="+mn-lt"/>
                    <a:ea typeface="+mn-ea"/>
                    <a:cs typeface="+mn-cs"/>
                  </a:rPr>
                  <a:t> outputs for a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𝑚</m:t>
                    </m:r>
                    <m:r>
                      <a:rPr lang="en-IN" sz="1200" i="1" kern="1200">
                        <a:solidFill>
                          <a:schemeClr val="tx1"/>
                        </a:solidFill>
                        <a:effectLst/>
                        <a:latin typeface="Cambria Math" panose="02040503050406030204" pitchFamily="18" charset="0"/>
                        <a:ea typeface="+mn-ea"/>
                        <a:cs typeface="+mn-cs"/>
                      </a:rPr>
                      <m:t>× </m:t>
                    </m:r>
                    <m:r>
                      <a:rPr lang="en-IN" sz="1200" i="1" kern="1200">
                        <a:solidFill>
                          <a:schemeClr val="tx1"/>
                        </a:solidFill>
                        <a:effectLst/>
                        <a:latin typeface="Cambria Math" panose="02040503050406030204" pitchFamily="18" charset="0"/>
                        <a:ea typeface="+mn-ea"/>
                        <a:cs typeface="+mn-cs"/>
                      </a:rPr>
                      <m:t>𝑛</m:t>
                    </m:r>
                  </m:oMath>
                </a14:m>
                <a:r>
                  <a:rPr lang="en-IN" sz="1200" kern="1200" dirty="0">
                    <a:solidFill>
                      <a:schemeClr val="tx1"/>
                    </a:solidFill>
                    <a:effectLst/>
                    <a:latin typeface="+mn-lt"/>
                    <a:ea typeface="+mn-ea"/>
                    <a:cs typeface="+mn-cs"/>
                  </a:rPr>
                  <a:t> feature map. </a:t>
                </a:r>
                <a:endParaRPr lang="en-US" dirty="0"/>
              </a:p>
            </p:txBody>
          </p:sp>
        </mc:Choice>
        <mc:Fallback xmlns="">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The SSD architecture is based on a feed-forward CNN. It consists of a Base Network that is typically, a pre-trained network like VGG16 to extract feature maps. Additional convolutional layers are added on top of the base network to detect objects at multiple scales. </a:t>
                </a:r>
              </a:p>
              <a:p>
                <a:r>
                  <a:rPr lang="en-IN" sz="1200" u="sng" kern="1200" dirty="0" smtClean="0">
                    <a:solidFill>
                      <a:schemeClr val="tx1"/>
                    </a:solidFill>
                    <a:effectLst/>
                    <a:latin typeface="+mn-lt"/>
                    <a:ea typeface="+mn-ea"/>
                    <a:cs typeface="+mn-cs"/>
                  </a:rPr>
                  <a:t>Multi-scale feature maps for detection:</a:t>
                </a:r>
                <a:r>
                  <a:rPr lang="en-IN" sz="1200" kern="1200" dirty="0" smtClean="0">
                    <a:solidFill>
                      <a:schemeClr val="tx1"/>
                    </a:solidFill>
                    <a:effectLst/>
                    <a:latin typeface="+mn-lt"/>
                    <a:ea typeface="+mn-ea"/>
                    <a:cs typeface="+mn-cs"/>
                  </a:rPr>
                  <a:t> Convolutional feature layers are added to the end of the truncated base network. These layers decrease in size progressively and allow predictions of detections at multiple scales.</a:t>
                </a:r>
              </a:p>
              <a:p>
                <a:r>
                  <a:rPr lang="en-IN" sz="1200" u="sng" kern="1200" dirty="0" smtClean="0">
                    <a:solidFill>
                      <a:schemeClr val="tx1"/>
                    </a:solidFill>
                    <a:effectLst/>
                    <a:latin typeface="+mn-lt"/>
                    <a:ea typeface="+mn-ea"/>
                    <a:cs typeface="+mn-cs"/>
                  </a:rPr>
                  <a:t>Convolutional predictors for detection</a:t>
                </a:r>
                <a:r>
                  <a:rPr lang="en-IN" sz="1200" kern="1200" dirty="0" smtClean="0">
                    <a:solidFill>
                      <a:schemeClr val="tx1"/>
                    </a:solidFill>
                    <a:effectLst/>
                    <a:latin typeface="+mn-lt"/>
                    <a:ea typeface="+mn-ea"/>
                    <a:cs typeface="+mn-cs"/>
                  </a:rPr>
                  <a:t>: Each added feature layer (or optionally an existing feature layer from the base network) can produce a fixed set of detection predictions using a set of convolutional filters. </a:t>
                </a:r>
              </a:p>
              <a:p>
                <a:r>
                  <a:rPr lang="en-IN" sz="1200" u="sng" kern="1200" dirty="0" smtClean="0">
                    <a:solidFill>
                      <a:schemeClr val="tx1"/>
                    </a:solidFill>
                    <a:effectLst/>
                    <a:latin typeface="+mn-lt"/>
                    <a:ea typeface="+mn-ea"/>
                    <a:cs typeface="+mn-cs"/>
                  </a:rPr>
                  <a:t>Default boxes and aspect ratios:</a:t>
                </a:r>
                <a:r>
                  <a:rPr lang="en-IN" sz="1200" kern="1200" dirty="0" smtClean="0">
                    <a:solidFill>
                      <a:schemeClr val="tx1"/>
                    </a:solidFill>
                    <a:effectLst/>
                    <a:latin typeface="+mn-lt"/>
                    <a:ea typeface="+mn-ea"/>
                    <a:cs typeface="+mn-cs"/>
                  </a:rPr>
                  <a:t> We associate a set of default bounding boxes with each feature map cell, for multiple feature maps at the top of the network. For each box out of </a:t>
                </a:r>
                <a:r>
                  <a:rPr lang="en-IN" sz="1200" i="0" kern="1200">
                    <a:solidFill>
                      <a:schemeClr val="tx1"/>
                    </a:solidFill>
                    <a:effectLst/>
                    <a:latin typeface="+mn-lt"/>
                    <a:ea typeface="+mn-ea"/>
                    <a:cs typeface="+mn-cs"/>
                  </a:rPr>
                  <a:t>𝑘</a:t>
                </a:r>
                <a:r>
                  <a:rPr lang="en-IN" sz="1200" kern="1200" dirty="0">
                    <a:solidFill>
                      <a:schemeClr val="tx1"/>
                    </a:solidFill>
                    <a:effectLst/>
                    <a:latin typeface="+mn-lt"/>
                    <a:ea typeface="+mn-ea"/>
                    <a:cs typeface="+mn-cs"/>
                  </a:rPr>
                  <a:t> at a given location, we compute </a:t>
                </a:r>
                <a:r>
                  <a:rPr lang="en-IN" sz="1200" i="0" kern="1200">
                    <a:solidFill>
                      <a:schemeClr val="tx1"/>
                    </a:solidFill>
                    <a:effectLst/>
                    <a:latin typeface="+mn-lt"/>
                    <a:ea typeface="+mn-ea"/>
                    <a:cs typeface="+mn-cs"/>
                  </a:rPr>
                  <a:t>𝑐</a:t>
                </a:r>
                <a:r>
                  <a:rPr lang="en-IN" sz="1200" kern="1200" dirty="0">
                    <a:solidFill>
                      <a:schemeClr val="tx1"/>
                    </a:solidFill>
                    <a:effectLst/>
                    <a:latin typeface="+mn-lt"/>
                    <a:ea typeface="+mn-ea"/>
                    <a:cs typeface="+mn-cs"/>
                  </a:rPr>
                  <a:t> class scores and the </a:t>
                </a:r>
                <a:r>
                  <a:rPr lang="en-IN" sz="1200" i="0" kern="1200">
                    <a:solidFill>
                      <a:schemeClr val="tx1"/>
                    </a:solidFill>
                    <a:effectLst/>
                    <a:latin typeface="+mn-lt"/>
                    <a:ea typeface="+mn-ea"/>
                    <a:cs typeface="+mn-cs"/>
                  </a:rPr>
                  <a:t>4</a:t>
                </a:r>
                <a:r>
                  <a:rPr lang="en-IN" sz="1200" kern="1200" dirty="0">
                    <a:solidFill>
                      <a:schemeClr val="tx1"/>
                    </a:solidFill>
                    <a:effectLst/>
                    <a:latin typeface="+mn-lt"/>
                    <a:ea typeface="+mn-ea"/>
                    <a:cs typeface="+mn-cs"/>
                  </a:rPr>
                  <a:t> offsets relative to the original default box shape. This results in a total of </a:t>
                </a:r>
                <a:r>
                  <a:rPr lang="en-IN" sz="1200" i="0" kern="1200">
                    <a:solidFill>
                      <a:schemeClr val="tx1"/>
                    </a:solidFill>
                    <a:effectLst/>
                    <a:latin typeface="+mn-lt"/>
                    <a:ea typeface="+mn-ea"/>
                    <a:cs typeface="+mn-cs"/>
                  </a:rPr>
                  <a:t>(𝑐 + 4)𝑘</a:t>
                </a:r>
                <a:r>
                  <a:rPr lang="en-IN" sz="1200" kern="1200" dirty="0">
                    <a:solidFill>
                      <a:schemeClr val="tx1"/>
                    </a:solidFill>
                    <a:effectLst/>
                    <a:latin typeface="+mn-lt"/>
                    <a:ea typeface="+mn-ea"/>
                    <a:cs typeface="+mn-cs"/>
                  </a:rPr>
                  <a:t> filters that are applied around each location in the feature map, yielding </a:t>
                </a:r>
                <a:r>
                  <a:rPr lang="en-IN" sz="1200" i="0" kern="1200">
                    <a:solidFill>
                      <a:schemeClr val="tx1"/>
                    </a:solidFill>
                    <a:effectLst/>
                    <a:latin typeface="+mn-lt"/>
                    <a:ea typeface="+mn-ea"/>
                    <a:cs typeface="+mn-cs"/>
                  </a:rPr>
                  <a:t>(𝑐 + 4)𝑘𝑚𝑛</a:t>
                </a:r>
                <a:r>
                  <a:rPr lang="en-IN" sz="1200" kern="1200" dirty="0">
                    <a:solidFill>
                      <a:schemeClr val="tx1"/>
                    </a:solidFill>
                    <a:effectLst/>
                    <a:latin typeface="+mn-lt"/>
                    <a:ea typeface="+mn-ea"/>
                    <a:cs typeface="+mn-cs"/>
                  </a:rPr>
                  <a:t> outputs for a </a:t>
                </a:r>
                <a:r>
                  <a:rPr lang="en-IN" sz="1200" i="0" kern="1200">
                    <a:solidFill>
                      <a:schemeClr val="tx1"/>
                    </a:solidFill>
                    <a:effectLst/>
                    <a:latin typeface="+mn-lt"/>
                    <a:ea typeface="+mn-ea"/>
                    <a:cs typeface="+mn-cs"/>
                  </a:rPr>
                  <a:t>𝑚× 𝑛</a:t>
                </a:r>
                <a:r>
                  <a:rPr lang="en-IN" sz="1200" kern="1200" dirty="0">
                    <a:solidFill>
                      <a:schemeClr val="tx1"/>
                    </a:solidFill>
                    <a:effectLst/>
                    <a:latin typeface="+mn-lt"/>
                    <a:ea typeface="+mn-ea"/>
                    <a:cs typeface="+mn-cs"/>
                  </a:rPr>
                  <a:t> feature map. </a:t>
                </a:r>
                <a:endParaRPr lang="en-US" dirty="0"/>
              </a:p>
            </p:txBody>
          </p:sp>
        </mc:Fallback>
      </mc:AlternateContent>
      <p:sp>
        <p:nvSpPr>
          <p:cNvPr id="4" name="Slide Number Placeholder 3"/>
          <p:cNvSpPr>
            <a:spLocks noGrp="1"/>
          </p:cNvSpPr>
          <p:nvPr>
            <p:ph type="sldNum" sz="quarter" idx="10"/>
          </p:nvPr>
        </p:nvSpPr>
        <p:spPr/>
        <p:txBody>
          <a:bodyPr/>
          <a:lstStyle/>
          <a:p>
            <a:fld id="{4F2FDBBD-6E13-4EA6-B217-DA6C04D0A047}" type="slidenum">
              <a:rPr lang="en-US" smtClean="0"/>
              <a:t>65</a:t>
            </a:fld>
            <a:endParaRPr lang="en-US"/>
          </a:p>
        </p:txBody>
      </p:sp>
    </p:spTree>
    <p:extLst>
      <p:ext uri="{BB962C8B-B14F-4D97-AF65-F5344CB8AC3E}">
        <p14:creationId xmlns:p14="http://schemas.microsoft.com/office/powerpoint/2010/main" val="14849110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above figure shows the architecture details of the SSD300 model that takes an input image of dimension </a:t>
                </a:r>
                <a14:m>
                  <m:oMath xmlns:m="http://schemas.openxmlformats.org/officeDocument/2006/math">
                    <m:r>
                      <a:rPr lang="en-US" sz="1200" i="1" kern="1200">
                        <a:solidFill>
                          <a:schemeClr val="tx1"/>
                        </a:solidFill>
                        <a:effectLst/>
                        <a:latin typeface="Cambria Math" panose="02040503050406030204" pitchFamily="18" charset="0"/>
                        <a:ea typeface="+mn-ea"/>
                        <a:cs typeface="+mn-cs"/>
                      </a:rPr>
                      <m:t>300×300</m:t>
                    </m:r>
                  </m:oMath>
                </a14:m>
                <a:r>
                  <a:rPr lang="en-US" sz="1200" kern="1200" dirty="0">
                    <a:solidFill>
                      <a:schemeClr val="tx1"/>
                    </a:solidFill>
                    <a:effectLst/>
                    <a:latin typeface="+mn-lt"/>
                    <a:ea typeface="+mn-ea"/>
                    <a:cs typeface="+mn-cs"/>
                  </a:rPr>
                  <a:t>. </a:t>
                </a:r>
                <a:r>
                  <a:rPr lang="en-IN" sz="1200" kern="1200" dirty="0">
                    <a:solidFill>
                      <a:schemeClr val="tx1"/>
                    </a:solidFill>
                    <a:effectLst/>
                    <a:latin typeface="+mn-lt"/>
                    <a:ea typeface="+mn-ea"/>
                    <a:cs typeface="+mn-cs"/>
                  </a:rPr>
                  <a:t>Our experiments are all based on VGG16, which is pre-trained on the ILSVRC CLS-LOC dataset. We convert fc6 and fc7 to convolutional layers, subsample parameters from fc6 and fc7, change pool5 from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2×2</m:t>
                    </m:r>
                  </m:oMath>
                </a14:m>
                <a:r>
                  <a:rPr lang="en-IN" sz="1200" kern="1200" dirty="0">
                    <a:solidFill>
                      <a:schemeClr val="tx1"/>
                    </a:solidFill>
                    <a:effectLst/>
                    <a:latin typeface="+mn-lt"/>
                    <a:ea typeface="+mn-ea"/>
                    <a:cs typeface="+mn-cs"/>
                  </a:rPr>
                  <a:t>,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𝑠</m:t>
                    </m:r>
                    <m:r>
                      <a:rPr lang="en-IN" sz="1200" i="1" kern="1200">
                        <a:solidFill>
                          <a:schemeClr val="tx1"/>
                        </a:solidFill>
                        <a:effectLst/>
                        <a:latin typeface="Cambria Math" panose="02040503050406030204" pitchFamily="18" charset="0"/>
                        <a:ea typeface="+mn-ea"/>
                        <a:cs typeface="+mn-cs"/>
                      </a:rPr>
                      <m:t>2</m:t>
                    </m:r>
                  </m:oMath>
                </a14:m>
                <a:r>
                  <a:rPr lang="en-IN" sz="1200" kern="1200" dirty="0">
                    <a:solidFill>
                      <a:schemeClr val="tx1"/>
                    </a:solidFill>
                    <a:effectLst/>
                    <a:latin typeface="+mn-lt"/>
                    <a:ea typeface="+mn-ea"/>
                    <a:cs typeface="+mn-cs"/>
                  </a:rPr>
                  <a:t> to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3×3</m:t>
                    </m:r>
                  </m:oMath>
                </a14:m>
                <a:r>
                  <a:rPr lang="en-IN" sz="1200" kern="1200" dirty="0">
                    <a:solidFill>
                      <a:schemeClr val="tx1"/>
                    </a:solidFill>
                    <a:effectLst/>
                    <a:latin typeface="+mn-lt"/>
                    <a:ea typeface="+mn-ea"/>
                    <a:cs typeface="+mn-cs"/>
                  </a:rPr>
                  <a:t>,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𝑠</m:t>
                    </m:r>
                    <m:r>
                      <a:rPr lang="en-IN" sz="1200" i="1" kern="1200">
                        <a:solidFill>
                          <a:schemeClr val="tx1"/>
                        </a:solidFill>
                        <a:effectLst/>
                        <a:latin typeface="Cambria Math" panose="02040503050406030204" pitchFamily="18" charset="0"/>
                        <a:ea typeface="+mn-ea"/>
                        <a:cs typeface="+mn-cs"/>
                      </a:rPr>
                      <m:t>1</m:t>
                    </m:r>
                  </m:oMath>
                </a14:m>
                <a:r>
                  <a:rPr lang="en-IN" sz="1200" kern="1200" dirty="0">
                    <a:solidFill>
                      <a:schemeClr val="tx1"/>
                    </a:solidFill>
                    <a:effectLst/>
                    <a:latin typeface="+mn-lt"/>
                    <a:ea typeface="+mn-ea"/>
                    <a:cs typeface="+mn-cs"/>
                  </a:rPr>
                  <a:t>. We remove all the dropout layers and the fc8 layer. </a:t>
                </a:r>
                <a:r>
                  <a:rPr lang="en-US" sz="1200" kern="1200" dirty="0">
                    <a:solidFill>
                      <a:schemeClr val="tx1"/>
                    </a:solidFill>
                    <a:effectLst/>
                    <a:latin typeface="+mn-lt"/>
                    <a:ea typeface="+mn-ea"/>
                    <a:cs typeface="+mn-cs"/>
                  </a:rPr>
                  <a:t>We use conv4_3, conv7 (fc7), conv8_2, conv9_2, conv10_2, and conv11_2 to predict both location and confidences. For conv4_3, conv10_2 and conv11_2, we only associate 4 default boxes at each feature map location. For all other layers, we put 6 default boxes.</a:t>
                </a:r>
              </a:p>
              <a:p>
                <a:endParaRPr lang="en-US" dirty="0"/>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above figure shows the architecture details of the SSD300 model that takes an input image of dimension </a:t>
                </a:r>
                <a:r>
                  <a:rPr lang="en-US" sz="1200" i="0" kern="1200">
                    <a:solidFill>
                      <a:schemeClr val="tx1"/>
                    </a:solidFill>
                    <a:effectLst/>
                    <a:latin typeface="+mn-lt"/>
                    <a:ea typeface="+mn-ea"/>
                    <a:cs typeface="+mn-cs"/>
                  </a:rPr>
                  <a:t>300×300</a:t>
                </a:r>
                <a:r>
                  <a:rPr lang="en-US" sz="1200" kern="1200" dirty="0">
                    <a:solidFill>
                      <a:schemeClr val="tx1"/>
                    </a:solidFill>
                    <a:effectLst/>
                    <a:latin typeface="+mn-lt"/>
                    <a:ea typeface="+mn-ea"/>
                    <a:cs typeface="+mn-cs"/>
                  </a:rPr>
                  <a:t>. </a:t>
                </a:r>
                <a:r>
                  <a:rPr lang="en-IN" sz="1200" kern="1200" dirty="0">
                    <a:solidFill>
                      <a:schemeClr val="tx1"/>
                    </a:solidFill>
                    <a:effectLst/>
                    <a:latin typeface="+mn-lt"/>
                    <a:ea typeface="+mn-ea"/>
                    <a:cs typeface="+mn-cs"/>
                  </a:rPr>
                  <a:t>Our experiments are all based on VGG16, which is pre-trained on the ILSVRC CLS-LOC dataset. We convert fc6 and fc7 to convolutional layers, subsample parameters from fc6 and fc7, change pool5 from </a:t>
                </a:r>
                <a:r>
                  <a:rPr lang="en-IN" sz="1200" i="0" kern="1200">
                    <a:solidFill>
                      <a:schemeClr val="tx1"/>
                    </a:solidFill>
                    <a:effectLst/>
                    <a:latin typeface="+mn-lt"/>
                    <a:ea typeface="+mn-ea"/>
                    <a:cs typeface="+mn-cs"/>
                  </a:rPr>
                  <a:t>2×2</a:t>
                </a:r>
                <a:r>
                  <a:rPr lang="en-IN" sz="1200" kern="1200" dirty="0">
                    <a:solidFill>
                      <a:schemeClr val="tx1"/>
                    </a:solidFill>
                    <a:effectLst/>
                    <a:latin typeface="+mn-lt"/>
                    <a:ea typeface="+mn-ea"/>
                    <a:cs typeface="+mn-cs"/>
                  </a:rPr>
                  <a:t>, </a:t>
                </a:r>
                <a:r>
                  <a:rPr lang="en-IN" sz="1200" i="0" kern="1200">
                    <a:solidFill>
                      <a:schemeClr val="tx1"/>
                    </a:solidFill>
                    <a:effectLst/>
                    <a:latin typeface="+mn-lt"/>
                    <a:ea typeface="+mn-ea"/>
                    <a:cs typeface="+mn-cs"/>
                  </a:rPr>
                  <a:t>𝑠2</a:t>
                </a:r>
                <a:r>
                  <a:rPr lang="en-IN" sz="1200" kern="1200" dirty="0">
                    <a:solidFill>
                      <a:schemeClr val="tx1"/>
                    </a:solidFill>
                    <a:effectLst/>
                    <a:latin typeface="+mn-lt"/>
                    <a:ea typeface="+mn-ea"/>
                    <a:cs typeface="+mn-cs"/>
                  </a:rPr>
                  <a:t> to </a:t>
                </a:r>
                <a:r>
                  <a:rPr lang="en-IN" sz="1200" i="0" kern="1200">
                    <a:solidFill>
                      <a:schemeClr val="tx1"/>
                    </a:solidFill>
                    <a:effectLst/>
                    <a:latin typeface="+mn-lt"/>
                    <a:ea typeface="+mn-ea"/>
                    <a:cs typeface="+mn-cs"/>
                  </a:rPr>
                  <a:t>3×3</a:t>
                </a:r>
                <a:r>
                  <a:rPr lang="en-IN" sz="1200" kern="1200" dirty="0">
                    <a:solidFill>
                      <a:schemeClr val="tx1"/>
                    </a:solidFill>
                    <a:effectLst/>
                    <a:latin typeface="+mn-lt"/>
                    <a:ea typeface="+mn-ea"/>
                    <a:cs typeface="+mn-cs"/>
                  </a:rPr>
                  <a:t>, </a:t>
                </a:r>
                <a:r>
                  <a:rPr lang="en-IN" sz="1200" i="0" kern="1200">
                    <a:solidFill>
                      <a:schemeClr val="tx1"/>
                    </a:solidFill>
                    <a:effectLst/>
                    <a:latin typeface="+mn-lt"/>
                    <a:ea typeface="+mn-ea"/>
                    <a:cs typeface="+mn-cs"/>
                  </a:rPr>
                  <a:t>𝑠1</a:t>
                </a:r>
                <a:r>
                  <a:rPr lang="en-IN" sz="1200" kern="1200" dirty="0">
                    <a:solidFill>
                      <a:schemeClr val="tx1"/>
                    </a:solidFill>
                    <a:effectLst/>
                    <a:latin typeface="+mn-lt"/>
                    <a:ea typeface="+mn-ea"/>
                    <a:cs typeface="+mn-cs"/>
                  </a:rPr>
                  <a:t>. We remove all the dropout layers and the fc8 layer. </a:t>
                </a:r>
                <a:r>
                  <a:rPr lang="en-US" sz="1200" kern="1200" dirty="0">
                    <a:solidFill>
                      <a:schemeClr val="tx1"/>
                    </a:solidFill>
                    <a:effectLst/>
                    <a:latin typeface="+mn-lt"/>
                    <a:ea typeface="+mn-ea"/>
                    <a:cs typeface="+mn-cs"/>
                  </a:rPr>
                  <a:t>We use conv4_3, conv7 (fc7), conv8_2, conv9_2, conv10_2, and conv11_2 to predict both location and confidences. For conv4_3, conv10_2 and conv11_2, we only associate 4 default boxes at each feature map location. For all other layers, we put 6 default boxes.</a:t>
                </a:r>
              </a:p>
              <a:p>
                <a:endParaRPr lang="en-US" dirty="0"/>
              </a:p>
            </p:txBody>
          </p:sp>
        </mc:Fallback>
      </mc:AlternateContent>
      <p:sp>
        <p:nvSpPr>
          <p:cNvPr id="4" name="Slide Number Placeholder 3"/>
          <p:cNvSpPr>
            <a:spLocks noGrp="1"/>
          </p:cNvSpPr>
          <p:nvPr>
            <p:ph type="sldNum" sz="quarter" idx="10"/>
          </p:nvPr>
        </p:nvSpPr>
        <p:spPr/>
        <p:txBody>
          <a:bodyPr/>
          <a:lstStyle/>
          <a:p>
            <a:fld id="{4F2FDBBD-6E13-4EA6-B217-DA6C04D0A047}" type="slidenum">
              <a:rPr lang="en-US" smtClean="0"/>
              <a:t>66</a:t>
            </a:fld>
            <a:endParaRPr lang="en-US"/>
          </a:p>
        </p:txBody>
      </p:sp>
    </p:spTree>
    <p:extLst>
      <p:ext uri="{BB962C8B-B14F-4D97-AF65-F5344CB8AC3E}">
        <p14:creationId xmlns:p14="http://schemas.microsoft.com/office/powerpoint/2010/main" val="36694972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The SSD training objective can handle multiple object categories. The overall loss function is a weighted sum of the localization loss (</a:t>
            </a:r>
            <a:r>
              <a:rPr lang="en-IN" sz="1200" kern="1200" dirty="0" err="1" smtClean="0">
                <a:solidFill>
                  <a:schemeClr val="tx1"/>
                </a:solidFill>
                <a:effectLst/>
                <a:latin typeface="+mn-lt"/>
                <a:ea typeface="+mn-ea"/>
                <a:cs typeface="+mn-cs"/>
              </a:rPr>
              <a:t>loc</a:t>
            </a:r>
            <a:r>
              <a:rPr lang="en-IN" sz="1200" kern="1200" dirty="0" smtClean="0">
                <a:solidFill>
                  <a:schemeClr val="tx1"/>
                </a:solidFill>
                <a:effectLst/>
                <a:latin typeface="+mn-lt"/>
                <a:ea typeface="+mn-ea"/>
                <a:cs typeface="+mn-cs"/>
              </a:rPr>
              <a:t>) and the confidence loss (</a:t>
            </a:r>
            <a:r>
              <a:rPr lang="en-IN" sz="1200" kern="1200" dirty="0" err="1" smtClean="0">
                <a:solidFill>
                  <a:schemeClr val="tx1"/>
                </a:solidFill>
                <a:effectLst/>
                <a:latin typeface="+mn-lt"/>
                <a:ea typeface="+mn-ea"/>
                <a:cs typeface="+mn-cs"/>
              </a:rPr>
              <a:t>conf</a:t>
            </a:r>
            <a:r>
              <a:rPr lang="en-IN" sz="1200" kern="1200" dirty="0" smtClean="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67</a:t>
            </a:fld>
            <a:endParaRPr lang="en-US"/>
          </a:p>
        </p:txBody>
      </p:sp>
    </p:spTree>
    <p:extLst>
      <p:ext uri="{BB962C8B-B14F-4D97-AF65-F5344CB8AC3E}">
        <p14:creationId xmlns:p14="http://schemas.microsoft.com/office/powerpoint/2010/main" val="32005117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YOLO, or You Only Look Once is a state-of-the-art, real-time object detection algorithm known for its speed and accuracy. It provides very accurate object detection in real time by dividing the input picture into a grid and predicting bounding boxes and class probabilities for each grid cell. </a:t>
            </a:r>
            <a:r>
              <a:rPr lang="en-US" sz="1200" kern="1200" dirty="0" smtClean="0">
                <a:solidFill>
                  <a:schemeClr val="tx1"/>
                </a:solidFill>
                <a:effectLst/>
                <a:latin typeface="+mn-lt"/>
                <a:ea typeface="+mn-ea"/>
                <a:cs typeface="+mn-cs"/>
              </a:rPr>
              <a:t>YOLO performs object detection as a single regression problem, straight from image pixels to bounding box coordinates and class probabilities. Using YOLO, you only look once at an image to predict what objects are present and where they are.</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71</a:t>
            </a:fld>
            <a:endParaRPr lang="en-US"/>
          </a:p>
        </p:txBody>
      </p:sp>
    </p:spTree>
    <p:extLst>
      <p:ext uri="{BB962C8B-B14F-4D97-AF65-F5344CB8AC3E}">
        <p14:creationId xmlns:p14="http://schemas.microsoft.com/office/powerpoint/2010/main" val="34534252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smtClean="0">
                <a:solidFill>
                  <a:schemeClr val="tx1"/>
                </a:solidFill>
                <a:effectLst/>
                <a:latin typeface="+mn-lt"/>
                <a:ea typeface="+mn-ea"/>
                <a:cs typeface="+mn-cs"/>
              </a:rPr>
              <a:t>This unified model has several benefits over traditional methods of object detection. </a:t>
            </a:r>
            <a:r>
              <a:rPr lang="en-US" dirty="0" smtClean="0"/>
              <a:t>First, YOLO is extremely fast. Since we frame detection as a regression problem we don’t need a complex pipeline. We simply run our CNN on a new image at test time to predict detections. Second, YOLO reasons globally about the image when making predictions. Unlike sliding window and region proposal-based techniques, YOLO sees the entire image during training and test time so it implicitly encodes contextual information about classes as well as their appearance. Third, YOLO learns generalizable representations of objects. When trained on natural images and tested on artwork, YOLO outperforms top detection methods like R-CNN by a wide margin. Since YOLO is highly generalizable, it is less likely to break down when applied to new domains or unexpected inputs.</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72</a:t>
            </a:fld>
            <a:endParaRPr lang="en-US"/>
          </a:p>
        </p:txBody>
      </p:sp>
    </p:spTree>
    <p:extLst>
      <p:ext uri="{BB962C8B-B14F-4D97-AF65-F5344CB8AC3E}">
        <p14:creationId xmlns:p14="http://schemas.microsoft.com/office/powerpoint/2010/main" val="34143597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 system divides the input image into an S×S grid. If the center of an object falls into a grid cell, that grid cell is responsible for detecting that object. Each grid cell predicts B bounding boxes and confidence scores for those boxes. These confidence scores reflect how confident the model is that the box contains an object and also how accurate it thinks the box is that it predicts. Formally we define confidence as </a:t>
            </a:r>
            <a:r>
              <a:rPr lang="en-US" dirty="0" err="1" smtClean="0"/>
              <a:t>Pr</a:t>
            </a:r>
            <a:r>
              <a:rPr lang="en-US" dirty="0" smtClean="0"/>
              <a:t>(Object)*〖IOU〗_</a:t>
            </a:r>
            <a:r>
              <a:rPr lang="en-US" dirty="0" err="1" smtClean="0"/>
              <a:t>pred^truth</a:t>
            </a:r>
            <a:r>
              <a:rPr lang="en-US" dirty="0" smtClean="0"/>
              <a:t>. If no object exists in that cell, the confidence scores should be zero. Otherwise we want the confidence score to equal the intersection over union (IOU) between the predicted box and the ground truth. Each bounding box consists of 5 predictions: </a:t>
            </a:r>
            <a:r>
              <a:rPr lang="en-US" dirty="0" err="1" smtClean="0"/>
              <a:t>x,y,w,h</a:t>
            </a:r>
            <a:r>
              <a:rPr lang="en-US" dirty="0" smtClean="0"/>
              <a:t>, and confidence. The (</a:t>
            </a:r>
            <a:r>
              <a:rPr lang="en-US" dirty="0" err="1" smtClean="0"/>
              <a:t>x,y</a:t>
            </a:r>
            <a:r>
              <a:rPr lang="en-US" dirty="0" smtClean="0"/>
              <a:t>) coordinates represent the center of the box relative to the bounds of the grid cell. The width and height are predicted relative to the whole image. Finally, the confidence prediction represents the IOU between the predicted box and any ground truth box.</a:t>
            </a:r>
          </a:p>
          <a:p>
            <a:r>
              <a:rPr lang="en-US" dirty="0" smtClean="0"/>
              <a:t>Each grid cell also predicts C conditional class probabilities, </a:t>
            </a:r>
            <a:r>
              <a:rPr lang="en-US" dirty="0" err="1" smtClean="0"/>
              <a:t>Pr</a:t>
            </a:r>
            <a:r>
              <a:rPr lang="en-US" dirty="0" smtClean="0"/>
              <a:t>(〖</a:t>
            </a:r>
            <a:r>
              <a:rPr lang="en-US" dirty="0" err="1" smtClean="0"/>
              <a:t>Class〗_i</a:t>
            </a:r>
            <a:r>
              <a:rPr lang="en-US" dirty="0" smtClean="0"/>
              <a:t> |Object). These probabilities are conditioned on the grid cell containing an object. We only predict one set of class probabilities per grid cell, regardless of the number of boxes B. At test time we multiply the conditional class probabilities and the individual box confidence predictions, </a:t>
            </a:r>
            <a:r>
              <a:rPr lang="en-US" dirty="0" err="1" smtClean="0"/>
              <a:t>Pr</a:t>
            </a:r>
            <a:r>
              <a:rPr lang="en-US" dirty="0" smtClean="0"/>
              <a:t>(〖Class〗_</a:t>
            </a:r>
            <a:r>
              <a:rPr lang="en-US" dirty="0" err="1" smtClean="0"/>
              <a:t>i│Object</a:t>
            </a:r>
            <a:r>
              <a:rPr lang="en-US" dirty="0" smtClean="0"/>
              <a:t>)* </a:t>
            </a:r>
            <a:r>
              <a:rPr lang="en-US" dirty="0" err="1" smtClean="0"/>
              <a:t>Pr</a:t>
            </a:r>
            <a:r>
              <a:rPr lang="en-US" dirty="0" smtClean="0"/>
              <a:t>(Object)*〖IOU〗_</a:t>
            </a:r>
            <a:r>
              <a:rPr lang="en-US" dirty="0" err="1" smtClean="0"/>
              <a:t>pred^truth</a:t>
            </a:r>
            <a:r>
              <a:rPr lang="en-US" dirty="0" smtClean="0"/>
              <a:t>=</a:t>
            </a:r>
            <a:r>
              <a:rPr lang="en-US" dirty="0" err="1" smtClean="0"/>
              <a:t>Pr</a:t>
            </a:r>
            <a:r>
              <a:rPr lang="en-US" dirty="0" smtClean="0"/>
              <a:t>(〖</a:t>
            </a:r>
            <a:r>
              <a:rPr lang="en-US" dirty="0" err="1" smtClean="0"/>
              <a:t>Class〗_i</a:t>
            </a:r>
            <a:r>
              <a:rPr lang="en-US" dirty="0" smtClean="0"/>
              <a:t> )*〖IOU〗_</a:t>
            </a:r>
            <a:r>
              <a:rPr lang="en-US" dirty="0" err="1" smtClean="0"/>
              <a:t>pred^truth</a:t>
            </a:r>
            <a:r>
              <a:rPr lang="en-US" dirty="0" smtClean="0"/>
              <a:t> which gives us class-specific confidence scores for each box. These scores encode both the probability of that class appearing in the box and how well the predicted box fits the object.</a:t>
            </a:r>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73</a:t>
            </a:fld>
            <a:endParaRPr lang="en-US"/>
          </a:p>
        </p:txBody>
      </p:sp>
    </p:spTree>
    <p:extLst>
      <p:ext uri="{BB962C8B-B14F-4D97-AF65-F5344CB8AC3E}">
        <p14:creationId xmlns:p14="http://schemas.microsoft.com/office/powerpoint/2010/main" val="35854862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We implement this model as a CNN and evaluate it on the PASCAL VOC detection dataset. The initial convolutional layers of the network extract features from the image while the fully connected layers predict the output probabilities and coordinates. Our network architecture is inspired by the </a:t>
                </a:r>
                <a:r>
                  <a:rPr lang="en-IN" sz="1200" kern="1200" dirty="0" err="1" smtClean="0">
                    <a:solidFill>
                      <a:schemeClr val="tx1"/>
                    </a:solidFill>
                    <a:effectLst/>
                    <a:latin typeface="+mn-lt"/>
                    <a:ea typeface="+mn-ea"/>
                    <a:cs typeface="+mn-cs"/>
                  </a:rPr>
                  <a:t>GoogLeNet</a:t>
                </a:r>
                <a:r>
                  <a:rPr lang="en-IN" sz="1200" kern="1200" dirty="0" smtClean="0">
                    <a:solidFill>
                      <a:schemeClr val="tx1"/>
                    </a:solidFill>
                    <a:effectLst/>
                    <a:latin typeface="+mn-lt"/>
                    <a:ea typeface="+mn-ea"/>
                    <a:cs typeface="+mn-cs"/>
                  </a:rPr>
                  <a:t> model for image classification. Our network has 24 convolutional layers followed by 2 fully connected layers. Detection often requires fine-grained visual information so we increase the input resolution of the network from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224 × 224</m:t>
                    </m:r>
                  </m:oMath>
                </a14:m>
                <a:r>
                  <a:rPr lang="en-IN" sz="1200" kern="1200" dirty="0">
                    <a:solidFill>
                      <a:schemeClr val="tx1"/>
                    </a:solidFill>
                    <a:effectLst/>
                    <a:latin typeface="+mn-lt"/>
                    <a:ea typeface="+mn-ea"/>
                    <a:cs typeface="+mn-cs"/>
                  </a:rPr>
                  <a:t> to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448 × 448</m:t>
                    </m:r>
                  </m:oMath>
                </a14:m>
                <a:r>
                  <a:rPr lang="en-IN" sz="1200" kern="1200">
                    <a:solidFill>
                      <a:schemeClr val="tx1"/>
                    </a:solidFill>
                    <a:effectLst/>
                    <a:latin typeface="+mn-lt"/>
                    <a:ea typeface="+mn-ea"/>
                    <a:cs typeface="+mn-cs"/>
                  </a:rPr>
                  <a:t>. </a:t>
                </a:r>
                <a:r>
                  <a:rPr lang="en-IN" sz="1200" kern="1200" smtClean="0">
                    <a:solidFill>
                      <a:schemeClr val="tx1"/>
                    </a:solidFill>
                    <a:effectLst/>
                    <a:latin typeface="+mn-lt"/>
                    <a:ea typeface="+mn-ea"/>
                    <a:cs typeface="+mn-cs"/>
                  </a:rPr>
                  <a:t>The </a:t>
                </a:r>
                <a:r>
                  <a:rPr lang="en-IN" sz="1200" kern="1200" dirty="0" smtClean="0">
                    <a:solidFill>
                      <a:schemeClr val="tx1"/>
                    </a:solidFill>
                    <a:effectLst/>
                    <a:latin typeface="+mn-lt"/>
                    <a:ea typeface="+mn-ea"/>
                    <a:cs typeface="+mn-cs"/>
                  </a:rPr>
                  <a:t>final output of our network is the </a:t>
                </a:r>
                <a14:m>
                  <m:oMath xmlns:m="http://schemas.openxmlformats.org/officeDocument/2006/math">
                    <m:r>
                      <a:rPr lang="en-IN" sz="1200" i="1" kern="1200">
                        <a:solidFill>
                          <a:schemeClr val="tx1"/>
                        </a:solidFill>
                        <a:effectLst/>
                        <a:latin typeface="Cambria Math" panose="02040503050406030204" pitchFamily="18" charset="0"/>
                        <a:ea typeface="+mn-ea"/>
                        <a:cs typeface="+mn-cs"/>
                      </a:rPr>
                      <m:t>7×7×30</m:t>
                    </m:r>
                  </m:oMath>
                </a14:m>
                <a:r>
                  <a:rPr lang="en-IN" sz="1200" kern="1200" dirty="0">
                    <a:solidFill>
                      <a:schemeClr val="tx1"/>
                    </a:solidFill>
                    <a:effectLst/>
                    <a:latin typeface="+mn-lt"/>
                    <a:ea typeface="+mn-ea"/>
                    <a:cs typeface="+mn-cs"/>
                  </a:rPr>
                  <a:t> tensor of predictions.</a:t>
                </a:r>
                <a:endParaRPr lang="en-US" sz="1200" kern="1200" dirty="0">
                  <a:solidFill>
                    <a:schemeClr val="tx1"/>
                  </a:solidFill>
                  <a:effectLst/>
                  <a:latin typeface="+mn-lt"/>
                  <a:ea typeface="+mn-ea"/>
                  <a:cs typeface="+mn-cs"/>
                </a:endParaRPr>
              </a:p>
              <a:p>
                <a:endParaRPr lang="en-US" dirty="0"/>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We implement this model as a CNN and evaluate it on the PASCAL VOC detection dataset. The initial convolutional layers of the network extract features from the image while the fully connected layers predict the output probabilities and coordinates. Our network architecture is inspired by the </a:t>
                </a:r>
                <a:r>
                  <a:rPr lang="en-IN" sz="1200" kern="1200" dirty="0" err="1" smtClean="0">
                    <a:solidFill>
                      <a:schemeClr val="tx1"/>
                    </a:solidFill>
                    <a:effectLst/>
                    <a:latin typeface="+mn-lt"/>
                    <a:ea typeface="+mn-ea"/>
                    <a:cs typeface="+mn-cs"/>
                  </a:rPr>
                  <a:t>GoogLeNet</a:t>
                </a:r>
                <a:r>
                  <a:rPr lang="en-IN" sz="1200" kern="1200" dirty="0" smtClean="0">
                    <a:solidFill>
                      <a:schemeClr val="tx1"/>
                    </a:solidFill>
                    <a:effectLst/>
                    <a:latin typeface="+mn-lt"/>
                    <a:ea typeface="+mn-ea"/>
                    <a:cs typeface="+mn-cs"/>
                  </a:rPr>
                  <a:t> model for image classification. Our network has 24 convolutional layers followed by 2 fully connected layers. Detection often requires fine-grained visual information so we increase the input resolution of the network from </a:t>
                </a:r>
                <a:r>
                  <a:rPr lang="en-IN" sz="1200" i="0" kern="1200">
                    <a:solidFill>
                      <a:schemeClr val="tx1"/>
                    </a:solidFill>
                    <a:effectLst/>
                    <a:latin typeface="Cambria Math" panose="02040503050406030204" pitchFamily="18" charset="0"/>
                    <a:ea typeface="+mn-ea"/>
                    <a:cs typeface="+mn-cs"/>
                  </a:rPr>
                  <a:t>224 × 224</a:t>
                </a:r>
                <a:r>
                  <a:rPr lang="en-IN" sz="1200" kern="1200" dirty="0">
                    <a:solidFill>
                      <a:schemeClr val="tx1"/>
                    </a:solidFill>
                    <a:effectLst/>
                    <a:latin typeface="+mn-lt"/>
                    <a:ea typeface="+mn-ea"/>
                    <a:cs typeface="+mn-cs"/>
                  </a:rPr>
                  <a:t> to </a:t>
                </a:r>
                <a:r>
                  <a:rPr lang="en-IN" sz="1200" i="0" kern="1200">
                    <a:solidFill>
                      <a:schemeClr val="tx1"/>
                    </a:solidFill>
                    <a:effectLst/>
                    <a:latin typeface="Cambria Math" panose="02040503050406030204" pitchFamily="18" charset="0"/>
                    <a:ea typeface="+mn-ea"/>
                    <a:cs typeface="+mn-cs"/>
                  </a:rPr>
                  <a:t>448 × 448</a:t>
                </a:r>
                <a:r>
                  <a:rPr lang="en-IN" sz="1200" kern="1200">
                    <a:solidFill>
                      <a:schemeClr val="tx1"/>
                    </a:solidFill>
                    <a:effectLst/>
                    <a:latin typeface="+mn-lt"/>
                    <a:ea typeface="+mn-ea"/>
                    <a:cs typeface="+mn-cs"/>
                  </a:rPr>
                  <a:t>. </a:t>
                </a:r>
                <a:r>
                  <a:rPr lang="en-IN" sz="1200" kern="1200" smtClean="0">
                    <a:solidFill>
                      <a:schemeClr val="tx1"/>
                    </a:solidFill>
                    <a:effectLst/>
                    <a:latin typeface="+mn-lt"/>
                    <a:ea typeface="+mn-ea"/>
                    <a:cs typeface="+mn-cs"/>
                  </a:rPr>
                  <a:t>The </a:t>
                </a:r>
                <a:r>
                  <a:rPr lang="en-IN" sz="1200" kern="1200" dirty="0" smtClean="0">
                    <a:solidFill>
                      <a:schemeClr val="tx1"/>
                    </a:solidFill>
                    <a:effectLst/>
                    <a:latin typeface="+mn-lt"/>
                    <a:ea typeface="+mn-ea"/>
                    <a:cs typeface="+mn-cs"/>
                  </a:rPr>
                  <a:t>final output of our network is the </a:t>
                </a:r>
                <a:r>
                  <a:rPr lang="en-IN" sz="1200" i="0" kern="1200">
                    <a:solidFill>
                      <a:schemeClr val="tx1"/>
                    </a:solidFill>
                    <a:effectLst/>
                    <a:latin typeface="+mn-lt"/>
                    <a:ea typeface="+mn-ea"/>
                    <a:cs typeface="+mn-cs"/>
                  </a:rPr>
                  <a:t>7×7×30</a:t>
                </a:r>
                <a:r>
                  <a:rPr lang="en-IN" sz="1200" kern="1200" dirty="0">
                    <a:solidFill>
                      <a:schemeClr val="tx1"/>
                    </a:solidFill>
                    <a:effectLst/>
                    <a:latin typeface="+mn-lt"/>
                    <a:ea typeface="+mn-ea"/>
                    <a:cs typeface="+mn-cs"/>
                  </a:rPr>
                  <a:t> tensor of predictions.</a:t>
                </a:r>
                <a:endParaRPr lang="en-US" sz="1200" kern="1200" dirty="0">
                  <a:solidFill>
                    <a:schemeClr val="tx1"/>
                  </a:solidFill>
                  <a:effectLst/>
                  <a:latin typeface="+mn-lt"/>
                  <a:ea typeface="+mn-ea"/>
                  <a:cs typeface="+mn-cs"/>
                </a:endParaRPr>
              </a:p>
              <a:p>
                <a:endParaRPr lang="en-US" dirty="0"/>
              </a:p>
            </p:txBody>
          </p:sp>
        </mc:Fallback>
      </mc:AlternateContent>
      <p:sp>
        <p:nvSpPr>
          <p:cNvPr id="4" name="Slide Number Placeholder 3"/>
          <p:cNvSpPr>
            <a:spLocks noGrp="1"/>
          </p:cNvSpPr>
          <p:nvPr>
            <p:ph type="sldNum" sz="quarter" idx="10"/>
          </p:nvPr>
        </p:nvSpPr>
        <p:spPr/>
        <p:txBody>
          <a:bodyPr/>
          <a:lstStyle/>
          <a:p>
            <a:fld id="{4F2FDBBD-6E13-4EA6-B217-DA6C04D0A047}" type="slidenum">
              <a:rPr lang="en-US" smtClean="0"/>
              <a:t>74</a:t>
            </a:fld>
            <a:endParaRPr lang="en-US"/>
          </a:p>
        </p:txBody>
      </p:sp>
    </p:spTree>
    <p:extLst>
      <p:ext uri="{BB962C8B-B14F-4D97-AF65-F5344CB8AC3E}">
        <p14:creationId xmlns:p14="http://schemas.microsoft.com/office/powerpoint/2010/main" val="19498362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200" kern="1200" dirty="0" smtClean="0">
                <a:solidFill>
                  <a:schemeClr val="tx1"/>
                </a:solidFill>
                <a:effectLst/>
                <a:latin typeface="+mn-lt"/>
                <a:ea typeface="+mn-ea"/>
                <a:cs typeface="+mn-cs"/>
              </a:rPr>
              <a:t>YOLO still lags behind state-of-the-art detection systems in accuracy. While it can quickly identify objects in images it struggles to precisely localize some objects, especially small ones.</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4F2FDBBD-6E13-4EA6-B217-DA6C04D0A047}" type="slidenum">
              <a:rPr lang="en-US" smtClean="0"/>
              <a:t>75</a:t>
            </a:fld>
            <a:endParaRPr lang="en-US"/>
          </a:p>
        </p:txBody>
      </p:sp>
    </p:spTree>
    <p:extLst>
      <p:ext uri="{BB962C8B-B14F-4D97-AF65-F5344CB8AC3E}">
        <p14:creationId xmlns:p14="http://schemas.microsoft.com/office/powerpoint/2010/main" val="1778101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ED1A080-6DFC-4FBD-8F18-F62248258C72}"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E48092-D637-49F9-BC64-526876E14D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5432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D1A080-6DFC-4FBD-8F18-F62248258C72}"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E48092-D637-49F9-BC64-526876E14DD7}" type="slidenum">
              <a:rPr lang="en-US" smtClean="0"/>
              <a:t>‹#›</a:t>
            </a:fld>
            <a:endParaRPr lang="en-US"/>
          </a:p>
        </p:txBody>
      </p:sp>
    </p:spTree>
    <p:extLst>
      <p:ext uri="{BB962C8B-B14F-4D97-AF65-F5344CB8AC3E}">
        <p14:creationId xmlns:p14="http://schemas.microsoft.com/office/powerpoint/2010/main" val="4150230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ED1A080-6DFC-4FBD-8F18-F62248258C72}"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E48092-D637-49F9-BC64-526876E14D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0600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ED1A080-6DFC-4FBD-8F18-F62248258C72}"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E48092-D637-49F9-BC64-526876E14DD7}" type="slidenum">
              <a:rPr lang="en-US" smtClean="0"/>
              <a:t>‹#›</a:t>
            </a:fld>
            <a:endParaRPr lang="en-US"/>
          </a:p>
        </p:txBody>
      </p:sp>
    </p:spTree>
    <p:extLst>
      <p:ext uri="{BB962C8B-B14F-4D97-AF65-F5344CB8AC3E}">
        <p14:creationId xmlns:p14="http://schemas.microsoft.com/office/powerpoint/2010/main" val="327098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ED1A080-6DFC-4FBD-8F18-F62248258C72}" type="datetimeFigureOut">
              <a:rPr lang="en-US" smtClean="0"/>
              <a:t>10/4/2025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E48092-D637-49F9-BC64-526876E14DD7}" type="slidenum">
              <a:rPr lang="en-US" smtClean="0"/>
              <a:t>‹#›</a:t>
            </a:fld>
            <a:endParaRPr lang="en-US"/>
          </a:p>
        </p:txBody>
      </p:sp>
    </p:spTree>
    <p:extLst>
      <p:ext uri="{BB962C8B-B14F-4D97-AF65-F5344CB8AC3E}">
        <p14:creationId xmlns:p14="http://schemas.microsoft.com/office/powerpoint/2010/main" val="61543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ED1A080-6DFC-4FBD-8F18-F62248258C72}" type="datetimeFigureOut">
              <a:rPr lang="en-US" smtClean="0"/>
              <a:t>10/4/2025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E48092-D637-49F9-BC64-526876E14DD7}" type="slidenum">
              <a:rPr lang="en-US" smtClean="0"/>
              <a:t>‹#›</a:t>
            </a:fld>
            <a:endParaRPr lang="en-US"/>
          </a:p>
        </p:txBody>
      </p:sp>
    </p:spTree>
    <p:extLst>
      <p:ext uri="{BB962C8B-B14F-4D97-AF65-F5344CB8AC3E}">
        <p14:creationId xmlns:p14="http://schemas.microsoft.com/office/powerpoint/2010/main" val="147258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ED1A080-6DFC-4FBD-8F18-F62248258C72}" type="datetimeFigureOut">
              <a:rPr lang="en-US" smtClean="0"/>
              <a:t>10/4/2025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1E48092-D637-49F9-BC64-526876E14DD7}" type="slidenum">
              <a:rPr lang="en-US" smtClean="0"/>
              <a:t>‹#›</a:t>
            </a:fld>
            <a:endParaRPr lang="en-US"/>
          </a:p>
        </p:txBody>
      </p:sp>
    </p:spTree>
    <p:extLst>
      <p:ext uri="{BB962C8B-B14F-4D97-AF65-F5344CB8AC3E}">
        <p14:creationId xmlns:p14="http://schemas.microsoft.com/office/powerpoint/2010/main" val="2890158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ED1A080-6DFC-4FBD-8F18-F62248258C72}" type="datetimeFigureOut">
              <a:rPr lang="en-US" smtClean="0"/>
              <a:t>10/4/2025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1E48092-D637-49F9-BC64-526876E14DD7}" type="slidenum">
              <a:rPr lang="en-US" smtClean="0"/>
              <a:t>‹#›</a:t>
            </a:fld>
            <a:endParaRPr lang="en-US"/>
          </a:p>
        </p:txBody>
      </p:sp>
    </p:spTree>
    <p:extLst>
      <p:ext uri="{BB962C8B-B14F-4D97-AF65-F5344CB8AC3E}">
        <p14:creationId xmlns:p14="http://schemas.microsoft.com/office/powerpoint/2010/main" val="4083962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ED1A080-6DFC-4FBD-8F18-F62248258C72}"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E48092-D637-49F9-BC64-526876E14DD7}" type="slidenum">
              <a:rPr lang="en-US" smtClean="0"/>
              <a:t>‹#›</a:t>
            </a:fld>
            <a:endParaRPr lang="en-US"/>
          </a:p>
        </p:txBody>
      </p:sp>
    </p:spTree>
    <p:extLst>
      <p:ext uri="{BB962C8B-B14F-4D97-AF65-F5344CB8AC3E}">
        <p14:creationId xmlns:p14="http://schemas.microsoft.com/office/powerpoint/2010/main" val="660306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D1A080-6DFC-4FBD-8F18-F62248258C72}"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E48092-D637-49F9-BC64-526876E14DD7}" type="slidenum">
              <a:rPr lang="en-US" smtClean="0"/>
              <a:t>‹#›</a:t>
            </a:fld>
            <a:endParaRPr lang="en-US"/>
          </a:p>
        </p:txBody>
      </p:sp>
    </p:spTree>
    <p:extLst>
      <p:ext uri="{BB962C8B-B14F-4D97-AF65-F5344CB8AC3E}">
        <p14:creationId xmlns:p14="http://schemas.microsoft.com/office/powerpoint/2010/main" val="1512336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ED1A080-6DFC-4FBD-8F18-F62248258C72}"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E48092-D637-49F9-BC64-526876E14DD7}" type="slidenum">
              <a:rPr lang="en-US" smtClean="0"/>
              <a:t>‹#›</a:t>
            </a:fld>
            <a:endParaRPr lang="en-US"/>
          </a:p>
        </p:txBody>
      </p:sp>
    </p:spTree>
    <p:extLst>
      <p:ext uri="{BB962C8B-B14F-4D97-AF65-F5344CB8AC3E}">
        <p14:creationId xmlns:p14="http://schemas.microsoft.com/office/powerpoint/2010/main" val="1638214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ED1A080-6DFC-4FBD-8F18-F62248258C72}" type="datetimeFigureOut">
              <a:rPr lang="en-US" smtClean="0"/>
              <a:t>10/4/2025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1E48092-D637-49F9-BC64-526876E14DD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03947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5"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24" Type="http://schemas.openxmlformats.org/officeDocument/2006/relationships/image" Target="NULL"/><Relationship Id="rId5" Type="http://schemas.openxmlformats.org/officeDocument/2006/relationships/customXml" Target="../ink/ink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0.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0.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2.emf"/><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7.xml"/><Relationship Id="rId20" Type="http://schemas.openxmlformats.org/officeDocument/2006/relationships/image" Target="../media/image428.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2.xml"/><Relationship Id="rId15" Type="http://schemas.openxmlformats.org/officeDocument/2006/relationships/image" Target="../media/image491.emf"/><Relationship Id="rId4" Type="http://schemas.openxmlformats.org/officeDocument/2006/relationships/customXml" Target="../ink/ink3.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43.emf"/><Relationship Id="rId5" Type="http://schemas.openxmlformats.org/officeDocument/2006/relationships/customXml" Target="../ink/ink4.xml"/><Relationship Id="rId4" Type="http://schemas.openxmlformats.org/officeDocument/2006/relationships/image" Target="NUL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NULL"/><Relationship Id="rId4" Type="http://schemas.openxmlformats.org/officeDocument/2006/relationships/image" Target="NUL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49.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NULL"/></Relationships>
</file>

<file path=ppt/slides/_rels/slide7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1.xml"/><Relationship Id="rId1" Type="http://schemas.openxmlformats.org/officeDocument/2006/relationships/slideLayout" Target="../slideLayouts/slideLayout2.xml"/><Relationship Id="rId24" Type="http://schemas.openxmlformats.org/officeDocument/2006/relationships/customXml" Target="../ink/ink6.xml"/><Relationship Id="rId23" Type="http://schemas.openxmlformats.org/officeDocument/2006/relationships/image" Target="NULL"/><Relationship Id="rId4" Type="http://schemas.openxmlformats.org/officeDocument/2006/relationships/customXml" Target="../ink/ink5.xml"/><Relationship Id="rId27" Type="http://schemas.openxmlformats.org/officeDocument/2006/relationships/image" Target="NULL"/></Relationships>
</file>

<file path=ppt/slides/_rels/slide73.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NULL"/></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onlinecourses.nptel.ac.in/noc22_cs124/preview" TargetMode="External"/><Relationship Id="rId2" Type="http://schemas.openxmlformats.org/officeDocument/2006/relationships/hyperlink" Target="http://www.deeplearningbook.org/"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9811725" cy="3566160"/>
          </a:xfrm>
        </p:spPr>
        <p:txBody>
          <a:bodyPr>
            <a:normAutofit/>
          </a:bodyPr>
          <a:lstStyle/>
          <a:p>
            <a:pPr algn="l"/>
            <a:r>
              <a:rPr lang="en-US" sz="7200" dirty="0" smtClean="0">
                <a:latin typeface="Sitka Text" pitchFamily="2" charset="0"/>
              </a:rPr>
              <a:t>CNN Architectures and Object Detection</a:t>
            </a:r>
            <a:endParaRPr lang="en-US" sz="7200" dirty="0">
              <a:latin typeface="Sitka Text" pitchFamily="2" charset="0"/>
            </a:endParaRPr>
          </a:p>
        </p:txBody>
      </p:sp>
      <p:sp>
        <p:nvSpPr>
          <p:cNvPr id="3" name="Subtitle 2"/>
          <p:cNvSpPr>
            <a:spLocks noGrp="1"/>
          </p:cNvSpPr>
          <p:nvPr>
            <p:ph type="subTitle" idx="1"/>
          </p:nvPr>
        </p:nvSpPr>
        <p:spPr/>
        <p:txBody>
          <a:bodyPr/>
          <a:lstStyle/>
          <a:p>
            <a:pPr algn="r"/>
            <a:r>
              <a:rPr lang="en-IN" cap="none" dirty="0" err="1" smtClean="0">
                <a:latin typeface="Sitka Text" pitchFamily="2" charset="0"/>
              </a:rPr>
              <a:t>Prof.</a:t>
            </a:r>
            <a:r>
              <a:rPr lang="en-IN" cap="none" dirty="0" smtClean="0">
                <a:latin typeface="Sitka Text" pitchFamily="2" charset="0"/>
              </a:rPr>
              <a:t> </a:t>
            </a:r>
            <a:r>
              <a:rPr lang="en-IN" cap="none" dirty="0" err="1" smtClean="0">
                <a:latin typeface="Sitka Text" pitchFamily="2" charset="0"/>
              </a:rPr>
              <a:t>Sushree</a:t>
            </a:r>
            <a:r>
              <a:rPr lang="en-IN" cap="none" dirty="0" smtClean="0">
                <a:latin typeface="Sitka Text" pitchFamily="2" charset="0"/>
              </a:rPr>
              <a:t> S. </a:t>
            </a:r>
            <a:r>
              <a:rPr lang="en-IN" cap="none" dirty="0" err="1" smtClean="0">
                <a:latin typeface="Sitka Text" pitchFamily="2" charset="0"/>
              </a:rPr>
              <a:t>Behera</a:t>
            </a:r>
            <a:endParaRPr lang="en-IN" cap="none" dirty="0" smtClean="0">
              <a:latin typeface="Sitka Text" pitchFamily="2" charset="0"/>
            </a:endParaRPr>
          </a:p>
          <a:p>
            <a:pPr algn="r"/>
            <a:r>
              <a:rPr lang="en-IN" cap="none" dirty="0" smtClean="0">
                <a:latin typeface="Sitka Text" pitchFamily="2" charset="0"/>
              </a:rPr>
              <a:t>IIIT Bangalore</a:t>
            </a:r>
          </a:p>
          <a:p>
            <a:endParaRPr lang="en-US" dirty="0">
              <a:latin typeface="Sitka Text" pitchFamily="2" charset="0"/>
            </a:endParaRPr>
          </a:p>
        </p:txBody>
      </p:sp>
    </p:spTree>
    <p:extLst>
      <p:ext uri="{BB962C8B-B14F-4D97-AF65-F5344CB8AC3E}">
        <p14:creationId xmlns:p14="http://schemas.microsoft.com/office/powerpoint/2010/main" val="1492136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Agenda</a:t>
            </a:r>
            <a:endParaRPr lang="en-US" dirty="0"/>
          </a:p>
        </p:txBody>
      </p:sp>
      <p:sp>
        <p:nvSpPr>
          <p:cNvPr id="3" name="Content Placeholder 2"/>
          <p:cNvSpPr>
            <a:spLocks noGrp="1"/>
          </p:cNvSpPr>
          <p:nvPr>
            <p:ph idx="1"/>
          </p:nvPr>
        </p:nvSpPr>
        <p:spPr/>
        <p:txBody>
          <a:bodyPr/>
          <a:lstStyle/>
          <a:p>
            <a:pPr lvl="0"/>
            <a:r>
              <a:rPr lang="en-IN" dirty="0">
                <a:latin typeface="Sitka Text" pitchFamily="2" charset="0"/>
              </a:rPr>
              <a:t>Fundamentals of Object Detection</a:t>
            </a:r>
            <a:endParaRPr lang="en-US" dirty="0">
              <a:latin typeface="Sitka Text" pitchFamily="2" charset="0"/>
            </a:endParaRPr>
          </a:p>
          <a:p>
            <a:pPr lvl="1"/>
            <a:r>
              <a:rPr lang="en-IN" dirty="0">
                <a:latin typeface="Sitka Text" pitchFamily="2" charset="0"/>
              </a:rPr>
              <a:t>Classification vs. Localization vs. Detection</a:t>
            </a:r>
            <a:endParaRPr lang="en-US" dirty="0">
              <a:latin typeface="Sitka Text" pitchFamily="2" charset="0"/>
            </a:endParaRPr>
          </a:p>
          <a:p>
            <a:pPr lvl="1"/>
            <a:r>
              <a:rPr lang="en-IN" dirty="0">
                <a:latin typeface="Sitka Text" pitchFamily="2" charset="0"/>
              </a:rPr>
              <a:t>Object Detection Approaches (Machine Learning vs. Deep Learning)</a:t>
            </a:r>
            <a:endParaRPr lang="en-US" dirty="0">
              <a:latin typeface="Sitka Text" pitchFamily="2" charset="0"/>
            </a:endParaRPr>
          </a:p>
          <a:p>
            <a:pPr lvl="0"/>
            <a:r>
              <a:rPr lang="en-IN" dirty="0">
                <a:latin typeface="Sitka Text" pitchFamily="2" charset="0"/>
              </a:rPr>
              <a:t>CNN Architectures</a:t>
            </a:r>
            <a:endParaRPr lang="en-US" dirty="0">
              <a:latin typeface="Sitka Text" pitchFamily="2" charset="0"/>
            </a:endParaRPr>
          </a:p>
          <a:p>
            <a:pPr lvl="1"/>
            <a:r>
              <a:rPr lang="en-IN" dirty="0">
                <a:latin typeface="Sitka Text" pitchFamily="2" charset="0"/>
              </a:rPr>
              <a:t>Convolutional Layer</a:t>
            </a:r>
            <a:endParaRPr lang="en-US" dirty="0">
              <a:latin typeface="Sitka Text" pitchFamily="2" charset="0"/>
            </a:endParaRPr>
          </a:p>
          <a:p>
            <a:pPr lvl="1"/>
            <a:r>
              <a:rPr lang="en-IN" dirty="0">
                <a:latin typeface="Sitka Text" pitchFamily="2" charset="0"/>
              </a:rPr>
              <a:t>Pooling and </a:t>
            </a:r>
            <a:r>
              <a:rPr lang="en-IN" dirty="0" smtClean="0">
                <a:latin typeface="Sitka Text" pitchFamily="2" charset="0"/>
              </a:rPr>
              <a:t>Fully-connected </a:t>
            </a:r>
            <a:r>
              <a:rPr lang="en-IN" dirty="0">
                <a:latin typeface="Sitka Text" pitchFamily="2" charset="0"/>
              </a:rPr>
              <a:t>Layers</a:t>
            </a:r>
            <a:endParaRPr lang="en-US" dirty="0">
              <a:latin typeface="Sitka Text" pitchFamily="2" charset="0"/>
            </a:endParaRPr>
          </a:p>
          <a:p>
            <a:pPr lvl="1"/>
            <a:r>
              <a:rPr lang="en-IN" dirty="0">
                <a:latin typeface="Sitka Text" pitchFamily="2" charset="0"/>
              </a:rPr>
              <a:t>Transfer Learning</a:t>
            </a:r>
            <a:endParaRPr lang="en-US" dirty="0">
              <a:latin typeface="Sitka Text" pitchFamily="2" charset="0"/>
            </a:endParaRPr>
          </a:p>
          <a:p>
            <a:pPr lvl="1"/>
            <a:r>
              <a:rPr lang="en-IN" dirty="0">
                <a:latin typeface="Sitka Text" pitchFamily="2" charset="0"/>
              </a:rPr>
              <a:t>Intuition </a:t>
            </a:r>
            <a:r>
              <a:rPr lang="en-IN" dirty="0" smtClean="0">
                <a:latin typeface="Sitka Text" pitchFamily="2" charset="0"/>
              </a:rPr>
              <a:t>Behind Why </a:t>
            </a:r>
            <a:r>
              <a:rPr lang="en-IN" dirty="0">
                <a:latin typeface="Sitka Text" pitchFamily="2" charset="0"/>
              </a:rPr>
              <a:t>CNNs </a:t>
            </a:r>
            <a:r>
              <a:rPr lang="en-IN" dirty="0" smtClean="0">
                <a:latin typeface="Sitka Text" pitchFamily="2" charset="0"/>
              </a:rPr>
              <a:t>Work Well</a:t>
            </a:r>
            <a:endParaRPr lang="en-US" dirty="0">
              <a:latin typeface="Sitka Text" pitchFamily="2" charset="0"/>
            </a:endParaRPr>
          </a:p>
          <a:p>
            <a:pPr lvl="0"/>
            <a:r>
              <a:rPr lang="en-IN" dirty="0">
                <a:latin typeface="Sitka Text" pitchFamily="2" charset="0"/>
              </a:rPr>
              <a:t>Object Detection Approaches </a:t>
            </a:r>
            <a:endParaRPr lang="en-US" dirty="0">
              <a:latin typeface="Sitka Text" pitchFamily="2" charset="0"/>
            </a:endParaRPr>
          </a:p>
          <a:p>
            <a:pPr lvl="1"/>
            <a:r>
              <a:rPr lang="en-IN" dirty="0">
                <a:latin typeface="Sitka Text" pitchFamily="2" charset="0"/>
              </a:rPr>
              <a:t>Region-Based Detectors</a:t>
            </a:r>
            <a:endParaRPr lang="en-US" dirty="0">
              <a:latin typeface="Sitka Text" pitchFamily="2" charset="0"/>
            </a:endParaRPr>
          </a:p>
          <a:p>
            <a:pPr lvl="1"/>
            <a:r>
              <a:rPr lang="en-IN" dirty="0">
                <a:latin typeface="Sitka Text" pitchFamily="2" charset="0"/>
              </a:rPr>
              <a:t>One-Shot </a:t>
            </a:r>
            <a:r>
              <a:rPr lang="en-IN" dirty="0" smtClean="0">
                <a:latin typeface="Sitka Text" pitchFamily="2" charset="0"/>
              </a:rPr>
              <a:t>Detectors</a:t>
            </a:r>
            <a:endParaRPr lang="en-US" dirty="0">
              <a:latin typeface="Sitka Text" pitchFamily="2" charset="0"/>
            </a:endParaRPr>
          </a:p>
        </p:txBody>
      </p:sp>
    </p:spTree>
    <p:extLst>
      <p:ext uri="{BB962C8B-B14F-4D97-AF65-F5344CB8AC3E}">
        <p14:creationId xmlns:p14="http://schemas.microsoft.com/office/powerpoint/2010/main" val="3811976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Object Detection</a:t>
            </a:r>
            <a:endParaRPr lang="en-US" dirty="0"/>
          </a:p>
        </p:txBody>
      </p:sp>
      <p:pic>
        <p:nvPicPr>
          <p:cNvPr id="4" name="Content Placeholder 3" descr="https://upload.wikimedia.org/wikipedia/commons/thumb/3/38/Detected-with-YOLO--Schreibtisch-mit-Objekten.jpg/220px-Detected-with-YOLO--Schreibtisch-mit-Objekten.jpg"/>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70501" y="2646947"/>
            <a:ext cx="5511958" cy="3362994"/>
          </a:xfrm>
          <a:prstGeom prst="rect">
            <a:avLst/>
          </a:prstGeom>
          <a:noFill/>
          <a:ln>
            <a:noFill/>
          </a:ln>
        </p:spPr>
      </p:pic>
      <p:sp>
        <p:nvSpPr>
          <p:cNvPr id="3" name="Rectangle 2"/>
          <p:cNvSpPr/>
          <p:nvPr/>
        </p:nvSpPr>
        <p:spPr>
          <a:xfrm>
            <a:off x="1097280" y="1888920"/>
            <a:ext cx="8317722" cy="400110"/>
          </a:xfrm>
          <a:prstGeom prst="rect">
            <a:avLst/>
          </a:prstGeom>
        </p:spPr>
        <p:txBody>
          <a:bodyPr wrap="square">
            <a:spAutoFit/>
          </a:bodyPr>
          <a:lstStyle/>
          <a:p>
            <a:r>
              <a:rPr lang="en-IN" sz="2000" dirty="0">
                <a:latin typeface="Sitka Text" pitchFamily="2" charset="0"/>
              </a:rPr>
              <a:t>Identifying and locating objects within an image or video</a:t>
            </a:r>
            <a:endParaRPr lang="en-US" sz="2000" dirty="0">
              <a:latin typeface="Sitka Text" pitchFamily="2" charset="0"/>
            </a:endParaRPr>
          </a:p>
        </p:txBody>
      </p:sp>
      <p:sp>
        <p:nvSpPr>
          <p:cNvPr id="5" name="Rectangle 4"/>
          <p:cNvSpPr/>
          <p:nvPr/>
        </p:nvSpPr>
        <p:spPr>
          <a:xfrm>
            <a:off x="10274487" y="6596390"/>
            <a:ext cx="1917513" cy="261610"/>
          </a:xfrm>
          <a:prstGeom prst="rect">
            <a:avLst/>
          </a:prstGeom>
        </p:spPr>
        <p:txBody>
          <a:bodyPr wrap="none">
            <a:spAutoFit/>
          </a:bodyPr>
          <a:lstStyle/>
          <a:p>
            <a:r>
              <a:rPr lang="en-IN" sz="1100" u="sng" dirty="0">
                <a:solidFill>
                  <a:schemeClr val="bg1"/>
                </a:solidFill>
                <a:latin typeface="Sitka Text" pitchFamily="2" charset="0"/>
              </a:rPr>
              <a:t>https://www.google.com/</a:t>
            </a:r>
          </a:p>
        </p:txBody>
      </p:sp>
    </p:spTree>
    <p:extLst>
      <p:ext uri="{BB962C8B-B14F-4D97-AF65-F5344CB8AC3E}">
        <p14:creationId xmlns:p14="http://schemas.microsoft.com/office/powerpoint/2010/main" val="20697493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Object Detection</a:t>
            </a:r>
            <a:endParaRPr lang="en-US" dirty="0"/>
          </a:p>
        </p:txBody>
      </p:sp>
      <p:pic>
        <p:nvPicPr>
          <p:cNvPr id="4" name="Content Placeholder 3" descr="https://byteiota.com/wp-content/uploads/2020/11/object-detection-2.jpg"/>
          <p:cNvPicPr>
            <a:picLocks noGrp="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956817" y="1893284"/>
            <a:ext cx="3474719" cy="1955864"/>
          </a:xfrm>
          <a:prstGeom prst="rect">
            <a:avLst/>
          </a:prstGeom>
          <a:noFill/>
          <a:ln>
            <a:noFill/>
          </a:ln>
        </p:spPr>
      </p:pic>
      <p:pic>
        <p:nvPicPr>
          <p:cNvPr id="5" name="Picture 4" descr="undefined"/>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3344" y="1893284"/>
            <a:ext cx="3581972" cy="1955864"/>
          </a:xfrm>
          <a:prstGeom prst="rect">
            <a:avLst/>
          </a:prstGeom>
          <a:noFill/>
          <a:ln>
            <a:noFill/>
          </a:ln>
        </p:spPr>
      </p:pic>
      <p:pic>
        <p:nvPicPr>
          <p:cNvPr id="6" name="Picture 5" descr="https://tse3.mm.bing.net/th?id=OIP.PrVhNv4ASNfaCnUt8h0xoQHaC_&amp;pid=Api&amp;P=0&amp;h=180"/>
          <p:cNvPicPr/>
          <p:nvPr/>
        </p:nvPicPr>
        <p:blipFill>
          <a:blip r:embed="rId5">
            <a:extLst>
              <a:ext uri="{28A0092B-C50C-407E-A947-70E740481C1C}">
                <a14:useLocalDpi xmlns:a14="http://schemas.microsoft.com/office/drawing/2010/main" val="0"/>
              </a:ext>
            </a:extLst>
          </a:blip>
          <a:srcRect/>
          <a:stretch>
            <a:fillRect/>
          </a:stretch>
        </p:blipFill>
        <p:spPr bwMode="auto">
          <a:xfrm>
            <a:off x="6586682" y="4005072"/>
            <a:ext cx="5215700" cy="2267712"/>
          </a:xfrm>
          <a:prstGeom prst="rect">
            <a:avLst/>
          </a:prstGeom>
          <a:noFill/>
          <a:ln>
            <a:noFill/>
          </a:ln>
        </p:spPr>
      </p:pic>
      <p:sp>
        <p:nvSpPr>
          <p:cNvPr id="7" name="Rectangle 6"/>
          <p:cNvSpPr/>
          <p:nvPr/>
        </p:nvSpPr>
        <p:spPr>
          <a:xfrm>
            <a:off x="10352394" y="6584695"/>
            <a:ext cx="1917513" cy="261610"/>
          </a:xfrm>
          <a:prstGeom prst="rect">
            <a:avLst/>
          </a:prstGeom>
        </p:spPr>
        <p:txBody>
          <a:bodyPr wrap="none">
            <a:spAutoFit/>
          </a:bodyPr>
          <a:lstStyle/>
          <a:p>
            <a:r>
              <a:rPr lang="en-IN" sz="1100" u="sng" dirty="0">
                <a:solidFill>
                  <a:schemeClr val="bg1"/>
                </a:solidFill>
                <a:latin typeface="Sitka Text" pitchFamily="2" charset="0"/>
              </a:rPr>
              <a:t>https://www.google.com/</a:t>
            </a:r>
          </a:p>
        </p:txBody>
      </p:sp>
      <p:sp>
        <p:nvSpPr>
          <p:cNvPr id="3" name="Rectangle 2"/>
          <p:cNvSpPr/>
          <p:nvPr/>
        </p:nvSpPr>
        <p:spPr>
          <a:xfrm>
            <a:off x="660301" y="4242954"/>
            <a:ext cx="3114955" cy="369332"/>
          </a:xfrm>
          <a:prstGeom prst="rect">
            <a:avLst/>
          </a:prstGeom>
        </p:spPr>
        <p:txBody>
          <a:bodyPr wrap="none">
            <a:spAutoFit/>
          </a:bodyPr>
          <a:lstStyle/>
          <a:p>
            <a:r>
              <a:rPr lang="en-US" dirty="0" smtClean="0">
                <a:latin typeface="Sitka Text" pitchFamily="2" charset="0"/>
                <a:ea typeface="Calibri" panose="020F0502020204030204" pitchFamily="34" charset="0"/>
                <a:cs typeface="Times New Roman" panose="02020603050405020304" pitchFamily="18" charset="0"/>
              </a:rPr>
              <a:t>Which objects are present?</a:t>
            </a:r>
            <a:endParaRPr lang="en-US" dirty="0"/>
          </a:p>
        </p:txBody>
      </p:sp>
      <p:sp>
        <p:nvSpPr>
          <p:cNvPr id="8" name="Rectangle 7"/>
          <p:cNvSpPr/>
          <p:nvPr/>
        </p:nvSpPr>
        <p:spPr>
          <a:xfrm>
            <a:off x="660301" y="5343465"/>
            <a:ext cx="3834704" cy="369332"/>
          </a:xfrm>
          <a:prstGeom prst="rect">
            <a:avLst/>
          </a:prstGeom>
        </p:spPr>
        <p:txBody>
          <a:bodyPr wrap="none">
            <a:spAutoFit/>
          </a:bodyPr>
          <a:lstStyle/>
          <a:p>
            <a:r>
              <a:rPr lang="en-US" dirty="0" smtClean="0">
                <a:latin typeface="Sitka Text" pitchFamily="2" charset="0"/>
                <a:ea typeface="Calibri" panose="020F0502020204030204" pitchFamily="34" charset="0"/>
                <a:cs typeface="Times New Roman" panose="02020603050405020304" pitchFamily="18" charset="0"/>
              </a:rPr>
              <a:t>Where are these objects situated?</a:t>
            </a:r>
            <a:endParaRPr lang="en-US" dirty="0"/>
          </a:p>
        </p:txBody>
      </p:sp>
    </p:spTree>
    <p:extLst>
      <p:ext uri="{BB962C8B-B14F-4D97-AF65-F5344CB8AC3E}">
        <p14:creationId xmlns:p14="http://schemas.microsoft.com/office/powerpoint/2010/main" val="348693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Object Detection</a:t>
            </a:r>
            <a:endParaRPr lang="en-US" dirty="0"/>
          </a:p>
        </p:txBody>
      </p:sp>
      <p:sp>
        <p:nvSpPr>
          <p:cNvPr id="3" name="Content Placeholder 2"/>
          <p:cNvSpPr>
            <a:spLocks noGrp="1"/>
          </p:cNvSpPr>
          <p:nvPr>
            <p:ph idx="1"/>
          </p:nvPr>
        </p:nvSpPr>
        <p:spPr/>
        <p:txBody>
          <a:bodyPr/>
          <a:lstStyle/>
          <a:p>
            <a:pPr>
              <a:lnSpc>
                <a:spcPct val="200000"/>
              </a:lnSpc>
            </a:pPr>
            <a:r>
              <a:rPr lang="en-US" dirty="0" smtClean="0">
                <a:latin typeface="Sitka Text" pitchFamily="2" charset="0"/>
              </a:rPr>
              <a:t>Classification</a:t>
            </a:r>
          </a:p>
          <a:p>
            <a:pPr>
              <a:lnSpc>
                <a:spcPct val="200000"/>
              </a:lnSpc>
            </a:pPr>
            <a:endParaRPr lang="en-US" dirty="0">
              <a:latin typeface="Sitka Text" pitchFamily="2" charset="0"/>
            </a:endParaRPr>
          </a:p>
          <a:p>
            <a:pPr>
              <a:lnSpc>
                <a:spcPct val="200000"/>
              </a:lnSpc>
            </a:pPr>
            <a:r>
              <a:rPr lang="en-US" dirty="0" smtClean="0">
                <a:latin typeface="Sitka Text" pitchFamily="2" charset="0"/>
              </a:rPr>
              <a:t>Localization</a:t>
            </a:r>
          </a:p>
          <a:p>
            <a:pPr>
              <a:lnSpc>
                <a:spcPct val="200000"/>
              </a:lnSpc>
            </a:pPr>
            <a:endParaRPr lang="en-US" dirty="0" smtClean="0">
              <a:latin typeface="Sitka Text" pitchFamily="2" charset="0"/>
            </a:endParaRPr>
          </a:p>
          <a:p>
            <a:pPr>
              <a:lnSpc>
                <a:spcPct val="200000"/>
              </a:lnSpc>
            </a:pPr>
            <a:r>
              <a:rPr lang="en-US" dirty="0">
                <a:latin typeface="Sitka Text" pitchFamily="2" charset="0"/>
              </a:rPr>
              <a:t>Detection</a:t>
            </a:r>
          </a:p>
        </p:txBody>
      </p:sp>
      <p:pic>
        <p:nvPicPr>
          <p:cNvPr id="5" name="Picture 4" descr="https://upload.wikimedia.org/wikipedia/commons/thumb/3/38/Detected-with-YOLO--Schreibtisch-mit-Objekten.jpg/220px-Detected-with-YOLO--Schreibtisch-mit-Objekten.jpg"/>
          <p:cNvPicPr/>
          <p:nvPr/>
        </p:nvPicPr>
        <p:blipFill>
          <a:blip r:embed="rId3">
            <a:extLst>
              <a:ext uri="{28A0092B-C50C-407E-A947-70E740481C1C}">
                <a14:useLocalDpi xmlns:a14="http://schemas.microsoft.com/office/drawing/2010/main" val="0"/>
              </a:ext>
            </a:extLst>
          </a:blip>
          <a:srcRect/>
          <a:stretch>
            <a:fillRect/>
          </a:stretch>
        </p:blipFill>
        <p:spPr bwMode="auto">
          <a:xfrm>
            <a:off x="5321809" y="2312860"/>
            <a:ext cx="5664644" cy="3392996"/>
          </a:xfrm>
          <a:prstGeom prst="rect">
            <a:avLst/>
          </a:prstGeom>
          <a:noFill/>
          <a:ln>
            <a:noFill/>
          </a:ln>
        </p:spPr>
      </p:pic>
      <p:sp>
        <p:nvSpPr>
          <p:cNvPr id="6" name="Rectangle 5"/>
          <p:cNvSpPr/>
          <p:nvPr/>
        </p:nvSpPr>
        <p:spPr>
          <a:xfrm>
            <a:off x="10352394" y="6584695"/>
            <a:ext cx="1917513" cy="261610"/>
          </a:xfrm>
          <a:prstGeom prst="rect">
            <a:avLst/>
          </a:prstGeom>
        </p:spPr>
        <p:txBody>
          <a:bodyPr wrap="none">
            <a:spAutoFit/>
          </a:bodyPr>
          <a:lstStyle/>
          <a:p>
            <a:r>
              <a:rPr lang="en-IN" sz="1100" u="sng" dirty="0">
                <a:solidFill>
                  <a:schemeClr val="bg1"/>
                </a:solidFill>
                <a:latin typeface="Sitka Text" pitchFamily="2" charset="0"/>
              </a:rPr>
              <a:t>https://www.google.com/</a:t>
            </a:r>
          </a:p>
        </p:txBody>
      </p:sp>
      <p:sp>
        <p:nvSpPr>
          <p:cNvPr id="4" name="Rectangle 3"/>
          <p:cNvSpPr/>
          <p:nvPr/>
        </p:nvSpPr>
        <p:spPr>
          <a:xfrm>
            <a:off x="1670920" y="2474313"/>
            <a:ext cx="3339697" cy="369332"/>
          </a:xfrm>
          <a:prstGeom prst="rect">
            <a:avLst/>
          </a:prstGeom>
        </p:spPr>
        <p:txBody>
          <a:bodyPr wrap="none">
            <a:spAutoFit/>
          </a:bodyPr>
          <a:lstStyle/>
          <a:p>
            <a:r>
              <a:rPr lang="en-US" dirty="0">
                <a:solidFill>
                  <a:srgbClr val="0070C0"/>
                </a:solidFill>
              </a:rPr>
              <a:t>assigns a label to an entire image </a:t>
            </a:r>
          </a:p>
        </p:txBody>
      </p:sp>
      <p:sp>
        <p:nvSpPr>
          <p:cNvPr id="7" name="Rectangle 6"/>
          <p:cNvSpPr/>
          <p:nvPr/>
        </p:nvSpPr>
        <p:spPr>
          <a:xfrm>
            <a:off x="1670920" y="4009358"/>
            <a:ext cx="2972930" cy="646331"/>
          </a:xfrm>
          <a:prstGeom prst="rect">
            <a:avLst/>
          </a:prstGeom>
        </p:spPr>
        <p:txBody>
          <a:bodyPr wrap="none">
            <a:spAutoFit/>
          </a:bodyPr>
          <a:lstStyle/>
          <a:p>
            <a:r>
              <a:rPr lang="en-US" dirty="0" smtClean="0">
                <a:solidFill>
                  <a:srgbClr val="0070C0"/>
                </a:solidFill>
              </a:rPr>
              <a:t>identifies </a:t>
            </a:r>
            <a:r>
              <a:rPr lang="en-US" dirty="0">
                <a:solidFill>
                  <a:srgbClr val="0070C0"/>
                </a:solidFill>
              </a:rPr>
              <a:t>the object and </a:t>
            </a:r>
            <a:endParaRPr lang="en-US" dirty="0" smtClean="0">
              <a:solidFill>
                <a:srgbClr val="0070C0"/>
              </a:solidFill>
            </a:endParaRPr>
          </a:p>
          <a:p>
            <a:r>
              <a:rPr lang="en-US" dirty="0" smtClean="0">
                <a:solidFill>
                  <a:srgbClr val="0070C0"/>
                </a:solidFill>
              </a:rPr>
              <a:t>determines </a:t>
            </a:r>
            <a:r>
              <a:rPr lang="en-US" dirty="0">
                <a:solidFill>
                  <a:srgbClr val="0070C0"/>
                </a:solidFill>
              </a:rPr>
              <a:t>the exact location</a:t>
            </a:r>
          </a:p>
        </p:txBody>
      </p:sp>
      <p:sp>
        <p:nvSpPr>
          <p:cNvPr id="8" name="Rectangle 7"/>
          <p:cNvSpPr/>
          <p:nvPr/>
        </p:nvSpPr>
        <p:spPr>
          <a:xfrm>
            <a:off x="1775087" y="5636736"/>
            <a:ext cx="4113370" cy="369332"/>
          </a:xfrm>
          <a:prstGeom prst="rect">
            <a:avLst/>
          </a:prstGeom>
        </p:spPr>
        <p:txBody>
          <a:bodyPr wrap="none">
            <a:spAutoFit/>
          </a:bodyPr>
          <a:lstStyle/>
          <a:p>
            <a:r>
              <a:rPr lang="en-US" b="1" dirty="0">
                <a:solidFill>
                  <a:srgbClr val="0070C0"/>
                </a:solidFill>
              </a:rPr>
              <a:t>both object classification and localization</a:t>
            </a:r>
            <a:endParaRPr lang="en-US" dirty="0">
              <a:solidFill>
                <a:srgbClr val="0070C0"/>
              </a:solidFill>
            </a:endParaRPr>
          </a:p>
        </p:txBody>
      </p:sp>
    </p:spTree>
    <p:extLst>
      <p:ext uri="{BB962C8B-B14F-4D97-AF65-F5344CB8AC3E}">
        <p14:creationId xmlns:p14="http://schemas.microsoft.com/office/powerpoint/2010/main" val="280014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Object Detection</a:t>
            </a:r>
            <a:endParaRPr lang="en-US" dirty="0"/>
          </a:p>
        </p:txBody>
      </p:sp>
      <p:pic>
        <p:nvPicPr>
          <p:cNvPr id="5" name="Content Placeholder 4"/>
          <p:cNvPicPr>
            <a:picLocks noGrp="1" noChangeAspect="1"/>
          </p:cNvPicPr>
          <p:nvPr>
            <p:ph idx="1"/>
          </p:nvPr>
        </p:nvPicPr>
        <p:blipFill>
          <a:blip r:embed="rId3"/>
          <a:stretch>
            <a:fillRect/>
          </a:stretch>
        </p:blipFill>
        <p:spPr>
          <a:xfrm>
            <a:off x="2526771" y="2008170"/>
            <a:ext cx="6761607" cy="2076721"/>
          </a:xfrm>
          <a:prstGeom prst="rect">
            <a:avLst/>
          </a:prstGeom>
        </p:spPr>
      </p:pic>
      <p:sp>
        <p:nvSpPr>
          <p:cNvPr id="4" name="Rectangle 3"/>
          <p:cNvSpPr/>
          <p:nvPr/>
        </p:nvSpPr>
        <p:spPr>
          <a:xfrm>
            <a:off x="6541008" y="6516332"/>
            <a:ext cx="5273040" cy="261610"/>
          </a:xfrm>
          <a:prstGeom prst="rect">
            <a:avLst/>
          </a:prstGeom>
        </p:spPr>
        <p:txBody>
          <a:bodyPr wrap="square">
            <a:spAutoFit/>
          </a:bodyPr>
          <a:lstStyle/>
          <a:p>
            <a:r>
              <a:rPr lang="en-US" sz="1100" dirty="0">
                <a:solidFill>
                  <a:schemeClr val="bg1"/>
                </a:solidFill>
                <a:latin typeface="Sitka Text" pitchFamily="2" charset="0"/>
              </a:rPr>
              <a:t>https://medium.com/ml-research-lab/what-is-object-detection-51f9d872ece7</a:t>
            </a:r>
          </a:p>
        </p:txBody>
      </p:sp>
      <p:pic>
        <p:nvPicPr>
          <p:cNvPr id="6" name="Picture 5"/>
          <p:cNvPicPr>
            <a:picLocks noChangeAspect="1"/>
          </p:cNvPicPr>
          <p:nvPr/>
        </p:nvPicPr>
        <p:blipFill rotWithShape="1">
          <a:blip r:embed="rId4"/>
          <a:srcRect t="17351"/>
          <a:stretch/>
        </p:blipFill>
        <p:spPr>
          <a:xfrm>
            <a:off x="2360666" y="4415336"/>
            <a:ext cx="7531628" cy="1769896"/>
          </a:xfrm>
          <a:prstGeom prst="rect">
            <a:avLst/>
          </a:prstGeom>
        </p:spPr>
      </p:pic>
      <mc:AlternateContent xmlns:mc="http://schemas.openxmlformats.org/markup-compatibility/2006" xmlns:p14="http://schemas.microsoft.com/office/powerpoint/2010/main">
        <mc:Choice Requires="p14">
          <p:contentPart p14:bwMode="auto" r:id="rId5">
            <p14:nvContentPartPr>
              <p14:cNvPr id="73" name="Ink 72"/>
              <p14:cNvContentPartPr/>
              <p14:nvPr/>
            </p14:nvContentPartPr>
            <p14:xfrm>
              <a:off x="8428320" y="4432445"/>
              <a:ext cx="360" cy="360"/>
            </p14:xfrm>
          </p:contentPart>
        </mc:Choice>
        <mc:Fallback xmlns="">
          <p:pic>
            <p:nvPicPr>
              <p:cNvPr id="73" name="Ink 72"/>
              <p:cNvPicPr/>
              <p:nvPr/>
            </p:nvPicPr>
            <p:blipFill>
              <a:blip r:embed="rId24"/>
              <a:stretch>
                <a:fillRect/>
              </a:stretch>
            </p:blipFill>
            <p:spPr>
              <a:xfrm>
                <a:off x="8425080" y="4429205"/>
                <a:ext cx="6840" cy="6840"/>
              </a:xfrm>
              <a:prstGeom prst="rect">
                <a:avLst/>
              </a:prstGeom>
            </p:spPr>
          </p:pic>
        </mc:Fallback>
      </mc:AlternateContent>
      <p:sp>
        <p:nvSpPr>
          <p:cNvPr id="3" name="Rectangle 2"/>
          <p:cNvSpPr/>
          <p:nvPr/>
        </p:nvSpPr>
        <p:spPr>
          <a:xfrm>
            <a:off x="496759" y="2888188"/>
            <a:ext cx="1645002" cy="646331"/>
          </a:xfrm>
          <a:prstGeom prst="rect">
            <a:avLst/>
          </a:prstGeom>
        </p:spPr>
        <p:txBody>
          <a:bodyPr wrap="none">
            <a:spAutoFit/>
          </a:bodyPr>
          <a:lstStyle/>
          <a:p>
            <a:pPr>
              <a:lnSpc>
                <a:spcPct val="200000"/>
              </a:lnSpc>
            </a:pPr>
            <a:r>
              <a:rPr lang="en-US" dirty="0">
                <a:latin typeface="Sitka Text" pitchFamily="2" charset="0"/>
              </a:rPr>
              <a:t>Classification</a:t>
            </a:r>
          </a:p>
        </p:txBody>
      </p:sp>
      <p:sp>
        <p:nvSpPr>
          <p:cNvPr id="7" name="Rectangle 6"/>
          <p:cNvSpPr/>
          <p:nvPr/>
        </p:nvSpPr>
        <p:spPr>
          <a:xfrm>
            <a:off x="496759" y="5115618"/>
            <a:ext cx="1218603" cy="369332"/>
          </a:xfrm>
          <a:prstGeom prst="rect">
            <a:avLst/>
          </a:prstGeom>
        </p:spPr>
        <p:txBody>
          <a:bodyPr wrap="none">
            <a:spAutoFit/>
          </a:bodyPr>
          <a:lstStyle/>
          <a:p>
            <a:r>
              <a:rPr lang="en-US" dirty="0">
                <a:latin typeface="Sitka Text" pitchFamily="2" charset="0"/>
              </a:rPr>
              <a:t>Detection</a:t>
            </a:r>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9999979" y="4985788"/>
                <a:ext cx="134524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m:t>
                      </m:r>
                      <m:r>
                        <a:rPr lang="en-US" sz="2000" b="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rPr>
                        <m:t>𝑦</m:t>
                      </m:r>
                      <m:r>
                        <a:rPr lang="en-US" sz="2000" i="1" dirty="0" smtClean="0">
                          <a:latin typeface="Cambria Math" panose="02040503050406030204" pitchFamily="18" charset="0"/>
                        </a:rPr>
                        <m:t>,</m:t>
                      </m:r>
                      <m:r>
                        <a:rPr lang="en-US" sz="2000" i="1" dirty="0" smtClean="0">
                          <a:latin typeface="Cambria Math" panose="02040503050406030204" pitchFamily="18" charset="0"/>
                        </a:rPr>
                        <m:t>h</m:t>
                      </m:r>
                      <m:r>
                        <a:rPr lang="en-US" sz="2000" i="1" dirty="0" smtClean="0">
                          <a:latin typeface="Cambria Math" panose="02040503050406030204" pitchFamily="18" charset="0"/>
                        </a:rPr>
                        <m:t>,</m:t>
                      </m:r>
                      <m:r>
                        <a:rPr lang="en-US" sz="2000" i="1" dirty="0" smtClean="0">
                          <a:latin typeface="Cambria Math" panose="02040503050406030204" pitchFamily="18" charset="0"/>
                        </a:rPr>
                        <m:t>𝑤</m:t>
                      </m:r>
                      <m:r>
                        <a:rPr lang="en-US" sz="2000" b="0" i="1" dirty="0" smtClean="0">
                          <a:latin typeface="Cambria Math" panose="02040503050406030204" pitchFamily="18" charset="0"/>
                        </a:rPr>
                        <m:t>]</m:t>
                      </m:r>
                    </m:oMath>
                  </m:oMathPara>
                </a14:m>
                <a:endParaRPr lang="en-US" sz="2000" dirty="0"/>
              </a:p>
            </p:txBody>
          </p:sp>
        </mc:Choice>
        <mc:Fallback xmlns="">
          <p:sp>
            <p:nvSpPr>
              <p:cNvPr id="8" name="TextBox 7"/>
              <p:cNvSpPr txBox="1">
                <a:spLocks noRot="1" noChangeAspect="1" noMove="1" noResize="1" noEditPoints="1" noAdjustHandles="1" noChangeArrowheads="1" noChangeShapeType="1" noTextEdit="1"/>
              </p:cNvSpPr>
              <p:nvPr/>
            </p:nvSpPr>
            <p:spPr>
              <a:xfrm>
                <a:off x="9999979" y="4985788"/>
                <a:ext cx="1345240" cy="400110"/>
              </a:xfrm>
              <a:prstGeom prst="rect">
                <a:avLst/>
              </a:prstGeom>
              <a:blipFill>
                <a:blip r:embed="rId25"/>
                <a:stretch>
                  <a:fillRect b="-13636"/>
                </a:stretch>
              </a:blipFill>
            </p:spPr>
            <p:txBody>
              <a:bodyPr/>
              <a:lstStyle/>
              <a:p>
                <a:r>
                  <a:rPr lang="en-US">
                    <a:noFill/>
                  </a:rPr>
                  <a:t> </a:t>
                </a:r>
              </a:p>
            </p:txBody>
          </p:sp>
        </mc:Fallback>
      </mc:AlternateContent>
      <p:sp>
        <p:nvSpPr>
          <p:cNvPr id="9" name="Rectangle 8"/>
          <p:cNvSpPr/>
          <p:nvPr/>
        </p:nvSpPr>
        <p:spPr>
          <a:xfrm>
            <a:off x="10197153" y="5385898"/>
            <a:ext cx="1425390" cy="523220"/>
          </a:xfrm>
          <a:prstGeom prst="rect">
            <a:avLst/>
          </a:prstGeom>
        </p:spPr>
        <p:txBody>
          <a:bodyPr wrap="none">
            <a:spAutoFit/>
          </a:bodyPr>
          <a:lstStyle/>
          <a:p>
            <a:r>
              <a:rPr lang="en-US" sz="1400" dirty="0" smtClean="0">
                <a:solidFill>
                  <a:srgbClr val="0070C0"/>
                </a:solidFill>
                <a:latin typeface="Sitka Text" pitchFamily="2" charset="0"/>
              </a:rPr>
              <a:t>Classification </a:t>
            </a:r>
          </a:p>
          <a:p>
            <a:r>
              <a:rPr lang="en-US" sz="1400" dirty="0" smtClean="0">
                <a:solidFill>
                  <a:srgbClr val="0070C0"/>
                </a:solidFill>
                <a:latin typeface="Sitka Text" pitchFamily="2" charset="0"/>
              </a:rPr>
              <a:t>and regression</a:t>
            </a:r>
            <a:endParaRPr lang="en-US" sz="1400" dirty="0">
              <a:solidFill>
                <a:srgbClr val="0070C0"/>
              </a:solidFill>
            </a:endParaRPr>
          </a:p>
        </p:txBody>
      </p:sp>
    </p:spTree>
    <p:extLst>
      <p:ext uri="{BB962C8B-B14F-4D97-AF65-F5344CB8AC3E}">
        <p14:creationId xmlns:p14="http://schemas.microsoft.com/office/powerpoint/2010/main" val="197132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latin typeface="Sitka Text" pitchFamily="2" charset="0"/>
              </a:rPr>
              <a:t>Object </a:t>
            </a:r>
            <a:r>
              <a:rPr lang="en-US" sz="4400" dirty="0" smtClean="0">
                <a:latin typeface="Sitka Text" pitchFamily="2" charset="0"/>
              </a:rPr>
              <a:t>Detection: </a:t>
            </a:r>
            <a:r>
              <a:rPr lang="en-IN" sz="4400" dirty="0">
                <a:latin typeface="Sitka Text" pitchFamily="2" charset="0"/>
              </a:rPr>
              <a:t>Evaluation C</a:t>
            </a:r>
            <a:r>
              <a:rPr lang="en-IN" sz="4400" dirty="0" smtClean="0">
                <a:latin typeface="Sitka Text" pitchFamily="2" charset="0"/>
              </a:rPr>
              <a:t>riteria</a:t>
            </a:r>
            <a:endParaRPr lang="en-US" sz="4400" dirty="0">
              <a:latin typeface="Sitka Text" pitchFamily="2" charset="0"/>
            </a:endParaRPr>
          </a:p>
        </p:txBody>
      </p:sp>
      <p:pic>
        <p:nvPicPr>
          <p:cNvPr id="4" name="Content Placeholder 3" descr="https://upload.wikimedia.org/wikipedia/commons/2/2d/Intersection_over_Union_-_object_detection_bounding_boxes.jpg"/>
          <p:cNvPicPr>
            <a:picLocks noGrp="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2121982" y="1996406"/>
            <a:ext cx="5375523" cy="3581434"/>
          </a:xfrm>
          <a:prstGeom prst="rect">
            <a:avLst/>
          </a:prstGeom>
          <a:noFill/>
          <a:ln>
            <a:noFill/>
          </a:ln>
        </p:spPr>
      </p:pic>
      <p:pic>
        <p:nvPicPr>
          <p:cNvPr id="5" name="Picture 4" descr="https://upload.wikimedia.org/wikipedia/commons/c/c7/Intersection_over_Union_-_visual_equation.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42314" y="3421363"/>
            <a:ext cx="3770565" cy="2723405"/>
          </a:xfrm>
          <a:prstGeom prst="rect">
            <a:avLst/>
          </a:prstGeom>
          <a:noFill/>
          <a:ln>
            <a:noFill/>
          </a:ln>
        </p:spPr>
      </p:pic>
      <p:sp>
        <p:nvSpPr>
          <p:cNvPr id="3" name="Rectangle 2"/>
          <p:cNvSpPr/>
          <p:nvPr/>
        </p:nvSpPr>
        <p:spPr>
          <a:xfrm>
            <a:off x="8190171" y="6452092"/>
            <a:ext cx="3632726" cy="276999"/>
          </a:xfrm>
          <a:prstGeom prst="rect">
            <a:avLst/>
          </a:prstGeom>
        </p:spPr>
        <p:txBody>
          <a:bodyPr wrap="none">
            <a:spAutoFit/>
          </a:bodyPr>
          <a:lstStyle/>
          <a:p>
            <a:r>
              <a:rPr lang="en-US" sz="1200" dirty="0">
                <a:solidFill>
                  <a:schemeClr val="bg1"/>
                </a:solidFill>
                <a:latin typeface="Sitka Text" pitchFamily="2" charset="0"/>
              </a:rPr>
              <a:t>https://en.wikipedia.org/wiki/Object_detection</a:t>
            </a:r>
          </a:p>
        </p:txBody>
      </p:sp>
    </p:spTree>
    <p:extLst>
      <p:ext uri="{BB962C8B-B14F-4D97-AF65-F5344CB8AC3E}">
        <p14:creationId xmlns:p14="http://schemas.microsoft.com/office/powerpoint/2010/main" val="14924188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latin typeface="Sitka Text" pitchFamily="2" charset="0"/>
              </a:rPr>
              <a:t>Object </a:t>
            </a:r>
            <a:r>
              <a:rPr lang="en-US" sz="4400" dirty="0" smtClean="0">
                <a:latin typeface="Sitka Text" pitchFamily="2" charset="0"/>
              </a:rPr>
              <a:t>Detection: </a:t>
            </a:r>
            <a:r>
              <a:rPr lang="en-IN" sz="4400" dirty="0">
                <a:latin typeface="Sitka Text" pitchFamily="2" charset="0"/>
              </a:rPr>
              <a:t>Evaluation C</a:t>
            </a:r>
            <a:r>
              <a:rPr lang="en-IN" sz="4400" dirty="0" smtClean="0">
                <a:latin typeface="Sitka Text" pitchFamily="2" charset="0"/>
              </a:rPr>
              <a:t>riteria</a:t>
            </a:r>
            <a:endParaRPr lang="en-US" sz="4400" dirty="0">
              <a:latin typeface="Sitka Text" pitchFamily="2" charset="0"/>
            </a:endParaRPr>
          </a:p>
        </p:txBody>
      </p:sp>
      <p:pic>
        <p:nvPicPr>
          <p:cNvPr id="10" name="Content Placeholder 9"/>
          <p:cNvPicPr>
            <a:picLocks noGrp="1" noChangeAspect="1"/>
          </p:cNvPicPr>
          <p:nvPr>
            <p:ph idx="1"/>
          </p:nvPr>
        </p:nvPicPr>
        <p:blipFill>
          <a:blip r:embed="rId3"/>
          <a:stretch>
            <a:fillRect/>
          </a:stretch>
        </p:blipFill>
        <p:spPr>
          <a:xfrm>
            <a:off x="1722831" y="2020728"/>
            <a:ext cx="8768706" cy="3321819"/>
          </a:xfrm>
          <a:prstGeom prst="rect">
            <a:avLst/>
          </a:prstGeom>
        </p:spPr>
      </p:pic>
      <p:sp>
        <p:nvSpPr>
          <p:cNvPr id="11" name="Rectangle 10"/>
          <p:cNvSpPr/>
          <p:nvPr/>
        </p:nvSpPr>
        <p:spPr>
          <a:xfrm>
            <a:off x="5010912" y="6504950"/>
            <a:ext cx="7181088" cy="261610"/>
          </a:xfrm>
          <a:prstGeom prst="rect">
            <a:avLst/>
          </a:prstGeom>
        </p:spPr>
        <p:txBody>
          <a:bodyPr wrap="square">
            <a:spAutoFit/>
          </a:bodyPr>
          <a:lstStyle/>
          <a:p>
            <a:r>
              <a:rPr lang="en-US" sz="1100" dirty="0">
                <a:solidFill>
                  <a:schemeClr val="bg1"/>
                </a:solidFill>
                <a:latin typeface="Sitka Text" pitchFamily="2" charset="0"/>
              </a:rPr>
              <a:t>https://learnopencv.com/mean-average-precision-map-object-detection-model-evaluation-metric/</a:t>
            </a:r>
          </a:p>
        </p:txBody>
      </p:sp>
      <mc:AlternateContent xmlns:mc="http://schemas.openxmlformats.org/markup-compatibility/2006" xmlns:a14="http://schemas.microsoft.com/office/drawing/2010/main">
        <mc:Choice Requires="a14">
          <p:sp>
            <p:nvSpPr>
              <p:cNvPr id="3" name="Rectangle 2"/>
              <p:cNvSpPr/>
              <p:nvPr/>
            </p:nvSpPr>
            <p:spPr>
              <a:xfrm>
                <a:off x="2035095" y="5752088"/>
                <a:ext cx="3556808" cy="516103"/>
              </a:xfrm>
              <a:prstGeom prst="rect">
                <a:avLst/>
              </a:prstGeom>
            </p:spPr>
            <p:txBody>
              <a:bodyPr wrap="none">
                <a:spAutoFit/>
              </a:bodyPr>
              <a:lstStyle/>
              <a:p>
                <a:r>
                  <a:rPr lang="en-US" dirty="0" smtClean="0">
                    <a:latin typeface="Sitka Text" pitchFamily="2" charset="0"/>
                    <a:ea typeface="Calibri" panose="020F0502020204030204" pitchFamily="34" charset="0"/>
                    <a:cs typeface="Times New Roman" panose="02020603050405020304" pitchFamily="18" charset="0"/>
                  </a:rPr>
                  <a:t>Precision </a:t>
                </a:r>
                <a14:m>
                  <m:oMath xmlns:m="http://schemas.openxmlformats.org/officeDocument/2006/math">
                    <m:f>
                      <m:fPr>
                        <m:ctrlPr>
                          <a:rPr lang="en-US" i="1">
                            <a:effectLst/>
                            <a:latin typeface="Cambria Math" panose="02040503050406030204" pitchFamily="18" charset="0"/>
                          </a:rPr>
                        </m:ctrlPr>
                      </m:fPr>
                      <m:num>
                        <m:r>
                          <a:rPr lang="en-US" i="1">
                            <a:latin typeface="Cambria Math" panose="02040503050406030204" pitchFamily="18" charset="0"/>
                            <a:ea typeface="Calibri" panose="020F0502020204030204" pitchFamily="34" charset="0"/>
                            <a:cs typeface="Times New Roman" panose="02020603050405020304" pitchFamily="18" charset="0"/>
                          </a:rPr>
                          <m:t>𝑇𝑃</m:t>
                        </m:r>
                      </m:num>
                      <m:den>
                        <m:r>
                          <a:rPr lang="en-US" i="1">
                            <a:latin typeface="Cambria Math" panose="02040503050406030204" pitchFamily="18" charset="0"/>
                            <a:ea typeface="Calibri" panose="020F0502020204030204" pitchFamily="34" charset="0"/>
                            <a:cs typeface="Times New Roman" panose="02020603050405020304" pitchFamily="18" charset="0"/>
                          </a:rPr>
                          <m:t>𝑇𝑃</m:t>
                        </m:r>
                        <m:r>
                          <a:rPr lang="en-US" i="1">
                            <a:latin typeface="Cambria Math" panose="02040503050406030204" pitchFamily="18" charset="0"/>
                            <a:ea typeface="Calibri" panose="020F0502020204030204" pitchFamily="34" charset="0"/>
                            <a:cs typeface="Times New Roman" panose="02020603050405020304" pitchFamily="18" charset="0"/>
                          </a:rPr>
                          <m:t>+</m:t>
                        </m:r>
                        <m:r>
                          <a:rPr lang="en-US" i="1">
                            <a:latin typeface="Cambria Math" panose="02040503050406030204" pitchFamily="18" charset="0"/>
                            <a:ea typeface="Calibri" panose="020F0502020204030204" pitchFamily="34" charset="0"/>
                            <a:cs typeface="Times New Roman" panose="02020603050405020304" pitchFamily="18" charset="0"/>
                          </a:rPr>
                          <m:t>𝐹𝑃</m:t>
                        </m:r>
                      </m:den>
                    </m:f>
                    <m:r>
                      <a:rPr lang="en-US" i="1">
                        <a:latin typeface="Cambria Math" panose="02040503050406030204" pitchFamily="18" charset="0"/>
                        <a:ea typeface="Calibri" panose="020F0502020204030204" pitchFamily="34" charset="0"/>
                        <a:cs typeface="Times New Roman" panose="02020603050405020304" pitchFamily="18" charset="0"/>
                      </a:rPr>
                      <m:t>=</m:t>
                    </m:r>
                    <m:f>
                      <m:fPr>
                        <m:ctrlPr>
                          <a:rPr lang="en-US" i="1">
                            <a:effectLst/>
                            <a:latin typeface="Cambria Math" panose="02040503050406030204" pitchFamily="18" charset="0"/>
                          </a:rPr>
                        </m:ctrlPr>
                      </m:fPr>
                      <m:num>
                        <m:r>
                          <a:rPr lang="en-US" i="1">
                            <a:latin typeface="Cambria Math" panose="02040503050406030204" pitchFamily="18" charset="0"/>
                            <a:ea typeface="Calibri" panose="020F0502020204030204" pitchFamily="34" charset="0"/>
                            <a:cs typeface="Times New Roman" panose="02020603050405020304" pitchFamily="18" charset="0"/>
                          </a:rPr>
                          <m:t>𝑇𝑃</m:t>
                        </m:r>
                      </m:num>
                      <m:den>
                        <m:r>
                          <a:rPr lang="en-US" i="1">
                            <a:latin typeface="Cambria Math" panose="02040503050406030204" pitchFamily="18" charset="0"/>
                            <a:ea typeface="Calibri" panose="020F0502020204030204" pitchFamily="34" charset="0"/>
                            <a:cs typeface="Times New Roman" panose="02020603050405020304" pitchFamily="18" charset="0"/>
                          </a:rPr>
                          <m:t>𝑇𝑜𝑡𝑎𝑙</m:t>
                        </m:r>
                        <m:r>
                          <a:rPr lang="en-US" i="1">
                            <a:latin typeface="Cambria Math" panose="02040503050406030204" pitchFamily="18" charset="0"/>
                            <a:ea typeface="Calibri" panose="020F0502020204030204" pitchFamily="34" charset="0"/>
                            <a:cs typeface="Times New Roman" panose="02020603050405020304" pitchFamily="18" charset="0"/>
                          </a:rPr>
                          <m:t> </m:t>
                        </m:r>
                        <m:r>
                          <a:rPr lang="en-US" i="1">
                            <a:latin typeface="Cambria Math" panose="02040503050406030204" pitchFamily="18" charset="0"/>
                            <a:ea typeface="Calibri" panose="020F0502020204030204" pitchFamily="34" charset="0"/>
                            <a:cs typeface="Times New Roman" panose="02020603050405020304" pitchFamily="18" charset="0"/>
                          </a:rPr>
                          <m:t>𝑝𝑟𝑒𝑑𝑖𝑐𝑡𝑖𝑜𝑛𝑠</m:t>
                        </m:r>
                      </m:den>
                    </m:f>
                  </m:oMath>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2035095" y="5752088"/>
                <a:ext cx="3556808" cy="516103"/>
              </a:xfrm>
              <a:prstGeom prst="rect">
                <a:avLst/>
              </a:prstGeom>
              <a:blipFill>
                <a:blip r:embed="rId4"/>
                <a:stretch>
                  <a:fillRect l="-1544" b="-5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7911539" y="5665120"/>
                <a:ext cx="3467552" cy="517257"/>
              </a:xfrm>
              <a:prstGeom prst="rect">
                <a:avLst/>
              </a:prstGeom>
            </p:spPr>
            <p:txBody>
              <a:bodyPr wrap="none">
                <a:spAutoFit/>
              </a:bodyPr>
              <a:lstStyle/>
              <a:p>
                <a:r>
                  <a:rPr lang="en-US" dirty="0">
                    <a:latin typeface="Sitka Text" pitchFamily="2" charset="0"/>
                    <a:ea typeface="Calibri" panose="020F0502020204030204" pitchFamily="34" charset="0"/>
                    <a:cs typeface="Times New Roman" panose="02020603050405020304" pitchFamily="18" charset="0"/>
                  </a:rPr>
                  <a:t>Recall </a:t>
                </a:r>
                <a14:m>
                  <m:oMath xmlns:m="http://schemas.openxmlformats.org/officeDocument/2006/math">
                    <m:f>
                      <m:fPr>
                        <m:ctrlPr>
                          <a:rPr lang="en-US" i="1">
                            <a:effectLst/>
                            <a:latin typeface="Cambria Math" panose="02040503050406030204" pitchFamily="18" charset="0"/>
                          </a:rPr>
                        </m:ctrlPr>
                      </m:fPr>
                      <m:num>
                        <m:r>
                          <a:rPr lang="en-US" i="1">
                            <a:latin typeface="Cambria Math" panose="02040503050406030204" pitchFamily="18" charset="0"/>
                            <a:ea typeface="Calibri" panose="020F0502020204030204" pitchFamily="34" charset="0"/>
                            <a:cs typeface="Times New Roman" panose="02020603050405020304" pitchFamily="18" charset="0"/>
                          </a:rPr>
                          <m:t>𝑇𝑃</m:t>
                        </m:r>
                      </m:num>
                      <m:den>
                        <m:r>
                          <a:rPr lang="en-US" i="1">
                            <a:latin typeface="Cambria Math" panose="02040503050406030204" pitchFamily="18" charset="0"/>
                            <a:ea typeface="Calibri" panose="020F0502020204030204" pitchFamily="34" charset="0"/>
                            <a:cs typeface="Times New Roman" panose="02020603050405020304" pitchFamily="18" charset="0"/>
                          </a:rPr>
                          <m:t>𝑇𝑃</m:t>
                        </m:r>
                        <m:r>
                          <a:rPr lang="en-US" i="1">
                            <a:latin typeface="Cambria Math" panose="02040503050406030204" pitchFamily="18" charset="0"/>
                            <a:ea typeface="Calibri" panose="020F0502020204030204" pitchFamily="34" charset="0"/>
                            <a:cs typeface="Times New Roman" panose="02020603050405020304" pitchFamily="18" charset="0"/>
                          </a:rPr>
                          <m:t>+</m:t>
                        </m:r>
                        <m:r>
                          <a:rPr lang="en-US" i="1">
                            <a:latin typeface="Cambria Math" panose="02040503050406030204" pitchFamily="18" charset="0"/>
                            <a:ea typeface="Calibri" panose="020F0502020204030204" pitchFamily="34" charset="0"/>
                            <a:cs typeface="Times New Roman" panose="02020603050405020304" pitchFamily="18" charset="0"/>
                          </a:rPr>
                          <m:t>𝐹𝑁</m:t>
                        </m:r>
                      </m:den>
                    </m:f>
                    <m:r>
                      <a:rPr lang="en-US" i="1">
                        <a:latin typeface="Cambria Math" panose="02040503050406030204" pitchFamily="18" charset="0"/>
                        <a:ea typeface="Calibri" panose="020F0502020204030204" pitchFamily="34" charset="0"/>
                        <a:cs typeface="Times New Roman" panose="02020603050405020304" pitchFamily="18" charset="0"/>
                      </a:rPr>
                      <m:t>=</m:t>
                    </m:r>
                    <m:f>
                      <m:fPr>
                        <m:ctrlPr>
                          <a:rPr lang="en-US" i="1">
                            <a:effectLst/>
                            <a:latin typeface="Cambria Math" panose="02040503050406030204" pitchFamily="18" charset="0"/>
                          </a:rPr>
                        </m:ctrlPr>
                      </m:fPr>
                      <m:num>
                        <m:r>
                          <a:rPr lang="en-US" i="1">
                            <a:latin typeface="Cambria Math" panose="02040503050406030204" pitchFamily="18" charset="0"/>
                            <a:ea typeface="Calibri" panose="020F0502020204030204" pitchFamily="34" charset="0"/>
                            <a:cs typeface="Times New Roman" panose="02020603050405020304" pitchFamily="18" charset="0"/>
                          </a:rPr>
                          <m:t>𝑇𝑃</m:t>
                        </m:r>
                      </m:num>
                      <m:den>
                        <m:r>
                          <a:rPr lang="en-US" i="1">
                            <a:latin typeface="Cambria Math" panose="02040503050406030204" pitchFamily="18" charset="0"/>
                            <a:ea typeface="Calibri" panose="020F0502020204030204" pitchFamily="34" charset="0"/>
                            <a:cs typeface="Times New Roman" panose="02020603050405020304" pitchFamily="18" charset="0"/>
                          </a:rPr>
                          <m:t>𝑇𝑜𝑡𝑎𝑙</m:t>
                        </m:r>
                        <m:r>
                          <a:rPr lang="en-US" i="1">
                            <a:latin typeface="Cambria Math" panose="02040503050406030204" pitchFamily="18" charset="0"/>
                            <a:ea typeface="Calibri" panose="020F0502020204030204" pitchFamily="34" charset="0"/>
                            <a:cs typeface="Times New Roman" panose="02020603050405020304" pitchFamily="18" charset="0"/>
                          </a:rPr>
                          <m:t> </m:t>
                        </m:r>
                        <m:r>
                          <a:rPr lang="en-US" i="1">
                            <a:latin typeface="Cambria Math" panose="02040503050406030204" pitchFamily="18" charset="0"/>
                            <a:ea typeface="Calibri" panose="020F0502020204030204" pitchFamily="34" charset="0"/>
                            <a:cs typeface="Times New Roman" panose="02020603050405020304" pitchFamily="18" charset="0"/>
                          </a:rPr>
                          <m:t>𝑔𝑟𝑜𝑢𝑛𝑑</m:t>
                        </m:r>
                        <m:r>
                          <a:rPr lang="en-US" i="1">
                            <a:latin typeface="Cambria Math" panose="02040503050406030204" pitchFamily="18" charset="0"/>
                            <a:ea typeface="Calibri" panose="020F0502020204030204" pitchFamily="34" charset="0"/>
                            <a:cs typeface="Times New Roman" panose="02020603050405020304" pitchFamily="18" charset="0"/>
                          </a:rPr>
                          <m:t> </m:t>
                        </m:r>
                        <m:r>
                          <a:rPr lang="en-US" i="1">
                            <a:latin typeface="Cambria Math" panose="02040503050406030204" pitchFamily="18" charset="0"/>
                            <a:ea typeface="Calibri" panose="020F0502020204030204" pitchFamily="34" charset="0"/>
                            <a:cs typeface="Times New Roman" panose="02020603050405020304" pitchFamily="18" charset="0"/>
                          </a:rPr>
                          <m:t>𝑡𝑟𝑢𝑡h𝑠</m:t>
                        </m:r>
                      </m:den>
                    </m:f>
                  </m:oMath>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7911539" y="5665120"/>
                <a:ext cx="3467552" cy="517257"/>
              </a:xfrm>
              <a:prstGeom prst="rect">
                <a:avLst/>
              </a:prstGeom>
              <a:blipFill>
                <a:blip r:embed="rId5"/>
                <a:stretch>
                  <a:fillRect l="-1582" b="-7059"/>
                </a:stretch>
              </a:blipFill>
            </p:spPr>
            <p:txBody>
              <a:bodyPr/>
              <a:lstStyle/>
              <a:p>
                <a:r>
                  <a:rPr lang="en-US">
                    <a:noFill/>
                  </a:rPr>
                  <a:t> </a:t>
                </a:r>
              </a:p>
            </p:txBody>
          </p:sp>
        </mc:Fallback>
      </mc:AlternateContent>
    </p:spTree>
    <p:extLst>
      <p:ext uri="{BB962C8B-B14F-4D97-AF65-F5344CB8AC3E}">
        <p14:creationId xmlns:p14="http://schemas.microsoft.com/office/powerpoint/2010/main" val="1152454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Object Detection: </a:t>
            </a:r>
            <a:r>
              <a:rPr lang="en-IN" dirty="0">
                <a:latin typeface="Sitka Text" pitchFamily="2" charset="0"/>
              </a:rPr>
              <a:t>Evaluation Criteria</a:t>
            </a:r>
            <a:endParaRPr lang="en-US" dirty="0"/>
          </a:p>
        </p:txBody>
      </p:sp>
      <p:sp>
        <p:nvSpPr>
          <p:cNvPr id="4" name="Rectangle 3"/>
          <p:cNvSpPr/>
          <p:nvPr/>
        </p:nvSpPr>
        <p:spPr>
          <a:xfrm>
            <a:off x="1097280" y="1891412"/>
            <a:ext cx="9515856" cy="787652"/>
          </a:xfrm>
          <a:prstGeom prst="rect">
            <a:avLst/>
          </a:prstGeom>
        </p:spPr>
        <p:txBody>
          <a:bodyPr wrap="square">
            <a:spAutoFit/>
          </a:bodyPr>
          <a:lstStyle/>
          <a:p>
            <a:pPr algn="just">
              <a:lnSpc>
                <a:spcPct val="107000"/>
              </a:lnSpc>
              <a:spcAft>
                <a:spcPts val="800"/>
              </a:spcAft>
            </a:pPr>
            <a:r>
              <a:rPr lang="en-IN" kern="100" dirty="0" smtClean="0">
                <a:latin typeface="Sitka Text" pitchFamily="2" charset="0"/>
                <a:ea typeface="Calibri" panose="020F0502020204030204" pitchFamily="34" charset="0"/>
                <a:cs typeface="Times New Roman" panose="02020603050405020304" pitchFamily="18" charset="0"/>
              </a:rPr>
              <a:t>AP:  Area </a:t>
            </a:r>
            <a:r>
              <a:rPr lang="en-IN" kern="100" dirty="0">
                <a:latin typeface="Sitka Text" pitchFamily="2" charset="0"/>
                <a:ea typeface="Calibri" panose="020F0502020204030204" pitchFamily="34" charset="0"/>
                <a:cs typeface="Times New Roman" panose="02020603050405020304" pitchFamily="18" charset="0"/>
              </a:rPr>
              <a:t>under the precision-recall curve as the IoU threshold is </a:t>
            </a:r>
            <a:r>
              <a:rPr lang="en-IN" kern="100" dirty="0" smtClean="0">
                <a:latin typeface="Sitka Text" pitchFamily="2" charset="0"/>
                <a:ea typeface="Calibri" panose="020F0502020204030204" pitchFamily="34" charset="0"/>
                <a:cs typeface="Times New Roman" panose="02020603050405020304" pitchFamily="18" charset="0"/>
              </a:rPr>
              <a:t>varied.</a:t>
            </a:r>
          </a:p>
          <a:p>
            <a:pPr algn="just">
              <a:lnSpc>
                <a:spcPct val="107000"/>
              </a:lnSpc>
              <a:spcAft>
                <a:spcPts val="800"/>
              </a:spcAft>
            </a:pPr>
            <a:r>
              <a:rPr lang="en-IN" kern="100" dirty="0" err="1" smtClean="0">
                <a:latin typeface="Sitka Text" pitchFamily="2" charset="0"/>
                <a:ea typeface="Calibri" panose="020F0502020204030204" pitchFamily="34" charset="0"/>
                <a:cs typeface="Times New Roman" panose="02020603050405020304" pitchFamily="18" charset="0"/>
              </a:rPr>
              <a:t>mAP</a:t>
            </a:r>
            <a:r>
              <a:rPr lang="en-IN" kern="100" dirty="0" smtClean="0">
                <a:latin typeface="Sitka Text" pitchFamily="2" charset="0"/>
                <a:ea typeface="Calibri" panose="020F0502020204030204" pitchFamily="34" charset="0"/>
                <a:cs typeface="Times New Roman" panose="02020603050405020304" pitchFamily="18" charset="0"/>
              </a:rPr>
              <a:t>: </a:t>
            </a:r>
            <a:r>
              <a:rPr lang="en-IN" kern="100" dirty="0">
                <a:latin typeface="Sitka Text" pitchFamily="2" charset="0"/>
                <a:ea typeface="Calibri" panose="020F0502020204030204" pitchFamily="34" charset="0"/>
                <a:cs typeface="Times New Roman" panose="02020603050405020304" pitchFamily="18" charset="0"/>
              </a:rPr>
              <a:t>A</a:t>
            </a:r>
            <a:r>
              <a:rPr lang="en-IN" kern="100" dirty="0" smtClean="0">
                <a:latin typeface="Sitka Text" pitchFamily="2" charset="0"/>
                <a:ea typeface="Calibri" panose="020F0502020204030204" pitchFamily="34" charset="0"/>
                <a:cs typeface="Times New Roman" panose="02020603050405020304" pitchFamily="18" charset="0"/>
              </a:rPr>
              <a:t>verage </a:t>
            </a:r>
            <a:r>
              <a:rPr lang="en-IN" kern="100" dirty="0">
                <a:latin typeface="Sitka Text" pitchFamily="2" charset="0"/>
                <a:ea typeface="Calibri" panose="020F0502020204030204" pitchFamily="34" charset="0"/>
                <a:cs typeface="Times New Roman" panose="02020603050405020304" pitchFamily="18" charset="0"/>
              </a:rPr>
              <a:t>of AP over all </a:t>
            </a:r>
            <a:r>
              <a:rPr lang="en-IN" kern="100" dirty="0" smtClean="0">
                <a:latin typeface="Sitka Text" pitchFamily="2" charset="0"/>
                <a:ea typeface="Calibri" panose="020F0502020204030204" pitchFamily="34" charset="0"/>
                <a:cs typeface="Times New Roman" panose="02020603050405020304" pitchFamily="18" charset="0"/>
              </a:rPr>
              <a:t>classes and </a:t>
            </a:r>
            <a:r>
              <a:rPr lang="en-IN" kern="100" dirty="0" err="1" smtClean="0">
                <a:latin typeface="Sitka Text" pitchFamily="2" charset="0"/>
                <a:ea typeface="Calibri" panose="020F0502020204030204" pitchFamily="34" charset="0"/>
                <a:cs typeface="Times New Roman" panose="02020603050405020304" pitchFamily="18" charset="0"/>
              </a:rPr>
              <a:t>IoU</a:t>
            </a:r>
            <a:r>
              <a:rPr lang="en-IN" kern="100" dirty="0" smtClean="0">
                <a:latin typeface="Sitka Text" pitchFamily="2" charset="0"/>
                <a:ea typeface="Calibri" panose="020F0502020204030204" pitchFamily="34" charset="0"/>
                <a:cs typeface="Times New Roman" panose="02020603050405020304" pitchFamily="18" charset="0"/>
              </a:rPr>
              <a:t> thresholds.</a:t>
            </a:r>
            <a:endParaRPr lang="en-US" kern="100" dirty="0">
              <a:latin typeface="Sitka Text" pitchFamily="2" charset="0"/>
              <a:ea typeface="Calibri" panose="020F0502020204030204" pitchFamily="34" charset="0"/>
              <a:cs typeface="Times New Roman" panose="02020603050405020304" pitchFamily="18" charset="0"/>
            </a:endParaRPr>
          </a:p>
        </p:txBody>
      </p:sp>
      <p:pic>
        <p:nvPicPr>
          <p:cNvPr id="5" name="Content Placeholder 4" descr="https://upload.wikimedia.org/wikipedia/commons/thumb/3/38/Detected-with-YOLO--Schreibtisch-mit-Objekten.jpg/220px-Detected-with-YOLO--Schreibtisch-mit-Objekten.jpg"/>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436890" y="2733928"/>
            <a:ext cx="5379180" cy="3439668"/>
          </a:xfrm>
          <a:prstGeom prst="rect">
            <a:avLst/>
          </a:prstGeom>
          <a:noFill/>
          <a:ln>
            <a:noFill/>
          </a:ln>
        </p:spPr>
      </p:pic>
      <p:sp>
        <p:nvSpPr>
          <p:cNvPr id="6" name="Rectangle 5"/>
          <p:cNvSpPr/>
          <p:nvPr/>
        </p:nvSpPr>
        <p:spPr>
          <a:xfrm>
            <a:off x="10352394" y="6584695"/>
            <a:ext cx="1917513" cy="261610"/>
          </a:xfrm>
          <a:prstGeom prst="rect">
            <a:avLst/>
          </a:prstGeom>
        </p:spPr>
        <p:txBody>
          <a:bodyPr wrap="none">
            <a:spAutoFit/>
          </a:bodyPr>
          <a:lstStyle/>
          <a:p>
            <a:r>
              <a:rPr lang="en-IN" sz="1100" u="sng" dirty="0">
                <a:solidFill>
                  <a:schemeClr val="bg1"/>
                </a:solidFill>
                <a:latin typeface="Sitka Text" pitchFamily="2" charset="0"/>
              </a:rPr>
              <a:t>https://www.google.com/</a:t>
            </a:r>
          </a:p>
        </p:txBody>
      </p:sp>
    </p:spTree>
    <p:extLst>
      <p:ext uri="{BB962C8B-B14F-4D97-AF65-F5344CB8AC3E}">
        <p14:creationId xmlns:p14="http://schemas.microsoft.com/office/powerpoint/2010/main" val="139784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Object </a:t>
            </a:r>
            <a:r>
              <a:rPr lang="en-US" dirty="0" smtClean="0">
                <a:latin typeface="Sitka Text" pitchFamily="2" charset="0"/>
              </a:rPr>
              <a:t>Detection Approaches</a:t>
            </a:r>
            <a:endParaRPr lang="en-US" dirty="0"/>
          </a:p>
        </p:txBody>
      </p:sp>
      <p:sp>
        <p:nvSpPr>
          <p:cNvPr id="3" name="Content Placeholder 2"/>
          <p:cNvSpPr>
            <a:spLocks noGrp="1"/>
          </p:cNvSpPr>
          <p:nvPr>
            <p:ph idx="1"/>
          </p:nvPr>
        </p:nvSpPr>
        <p:spPr>
          <a:xfrm>
            <a:off x="1097280" y="1993392"/>
            <a:ext cx="4553712" cy="3875702"/>
          </a:xfrm>
        </p:spPr>
        <p:txBody>
          <a:bodyPr/>
          <a:lstStyle/>
          <a:p>
            <a:pPr algn="ctr"/>
            <a:r>
              <a:rPr lang="en-US" b="1" u="sng" dirty="0" smtClean="0">
                <a:latin typeface="Sitka Text" pitchFamily="2" charset="0"/>
              </a:rPr>
              <a:t>Machine </a:t>
            </a:r>
            <a:r>
              <a:rPr lang="en-US" b="1" u="sng" dirty="0">
                <a:latin typeface="Sitka Text" pitchFamily="2" charset="0"/>
              </a:rPr>
              <a:t>learning-based </a:t>
            </a:r>
            <a:r>
              <a:rPr lang="en-US" b="1" u="sng" dirty="0" smtClean="0">
                <a:latin typeface="Sitka Text" pitchFamily="2" charset="0"/>
              </a:rPr>
              <a:t>Approach</a:t>
            </a:r>
          </a:p>
          <a:p>
            <a:pPr>
              <a:lnSpc>
                <a:spcPct val="150000"/>
              </a:lnSpc>
              <a:buFont typeface="Wingdings" panose="05000000000000000000" pitchFamily="2" charset="2"/>
              <a:buChar char="§"/>
            </a:pPr>
            <a:r>
              <a:rPr lang="en-US" sz="1600" dirty="0" smtClean="0">
                <a:latin typeface="Sitka Text" pitchFamily="2" charset="0"/>
              </a:rPr>
              <a:t>Manual feature extraction using pre-defined algorithms</a:t>
            </a:r>
          </a:p>
          <a:p>
            <a:pPr>
              <a:lnSpc>
                <a:spcPct val="150000"/>
              </a:lnSpc>
              <a:buFont typeface="Wingdings" panose="05000000000000000000" pitchFamily="2" charset="2"/>
              <a:buChar char="§"/>
            </a:pPr>
            <a:r>
              <a:rPr lang="en-US" sz="1600" dirty="0" smtClean="0">
                <a:latin typeface="Sitka Text" pitchFamily="2" charset="0"/>
              </a:rPr>
              <a:t>Task specific, limited generalization</a:t>
            </a:r>
          </a:p>
          <a:p>
            <a:pPr>
              <a:lnSpc>
                <a:spcPct val="150000"/>
              </a:lnSpc>
              <a:buFont typeface="Wingdings" panose="05000000000000000000" pitchFamily="2" charset="2"/>
              <a:buChar char="§"/>
            </a:pPr>
            <a:r>
              <a:rPr lang="en-US" sz="1600" dirty="0" smtClean="0">
                <a:latin typeface="Sitka Text" pitchFamily="2" charset="0"/>
              </a:rPr>
              <a:t>Less computationally expensive and data dependent</a:t>
            </a:r>
          </a:p>
        </p:txBody>
      </p:sp>
      <p:sp>
        <p:nvSpPr>
          <p:cNvPr id="5" name="Content Placeholder 2"/>
          <p:cNvSpPr txBox="1">
            <a:spLocks/>
          </p:cNvSpPr>
          <p:nvPr/>
        </p:nvSpPr>
        <p:spPr>
          <a:xfrm>
            <a:off x="6601968" y="1993392"/>
            <a:ext cx="4553712" cy="387570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b="1" u="sng" dirty="0" smtClean="0">
                <a:latin typeface="Sitka Text" pitchFamily="2" charset="0"/>
              </a:rPr>
              <a:t>Deep-learning-based Approach</a:t>
            </a:r>
          </a:p>
          <a:p>
            <a:pPr>
              <a:lnSpc>
                <a:spcPct val="150000"/>
              </a:lnSpc>
              <a:buFont typeface="Wingdings" panose="05000000000000000000" pitchFamily="2" charset="2"/>
              <a:buChar char="§"/>
            </a:pPr>
            <a:r>
              <a:rPr lang="en-US" sz="1600" dirty="0" smtClean="0">
                <a:latin typeface="Sitka Text" pitchFamily="2" charset="0"/>
              </a:rPr>
              <a:t>Features are automatically learned </a:t>
            </a:r>
          </a:p>
          <a:p>
            <a:pPr>
              <a:lnSpc>
                <a:spcPct val="150000"/>
              </a:lnSpc>
              <a:buFont typeface="Wingdings" panose="05000000000000000000" pitchFamily="2" charset="2"/>
              <a:buChar char="§"/>
            </a:pPr>
            <a:r>
              <a:rPr lang="en-US" sz="1600" dirty="0" smtClean="0">
                <a:latin typeface="Sitka Text" pitchFamily="2" charset="0"/>
              </a:rPr>
              <a:t>Better generalization, allows transfer learning</a:t>
            </a:r>
          </a:p>
          <a:p>
            <a:pPr>
              <a:lnSpc>
                <a:spcPct val="150000"/>
              </a:lnSpc>
              <a:buFont typeface="Wingdings" panose="05000000000000000000" pitchFamily="2" charset="2"/>
              <a:buChar char="§"/>
            </a:pPr>
            <a:r>
              <a:rPr lang="en-US" sz="1600" dirty="0" smtClean="0">
                <a:latin typeface="Sitka Text" pitchFamily="2" charset="0"/>
              </a:rPr>
              <a:t>More computationally intensive and data driven</a:t>
            </a:r>
            <a:endParaRPr lang="en-US" sz="1600" dirty="0">
              <a:latin typeface="Sitka Text" pitchFamily="2" charset="0"/>
            </a:endParaRPr>
          </a:p>
        </p:txBody>
      </p:sp>
      <p:cxnSp>
        <p:nvCxnSpPr>
          <p:cNvPr id="6" name="Straight Connector 5"/>
          <p:cNvCxnSpPr/>
          <p:nvPr/>
        </p:nvCxnSpPr>
        <p:spPr>
          <a:xfrm>
            <a:off x="6090385" y="2165684"/>
            <a:ext cx="24063" cy="4042611"/>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4918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Object Detection Approaches</a:t>
            </a:r>
            <a:endParaRPr lang="en-US" dirty="0"/>
          </a:p>
        </p:txBody>
      </p:sp>
      <p:pic>
        <p:nvPicPr>
          <p:cNvPr id="4" name="Content Placeholder 3"/>
          <p:cNvPicPr>
            <a:picLocks noGrp="1"/>
          </p:cNvPicPr>
          <p:nvPr>
            <p:ph idx="1"/>
          </p:nvPr>
        </p:nvPicPr>
        <p:blipFill rotWithShape="1">
          <a:blip r:embed="rId3"/>
          <a:srcRect l="21303" t="37030" r="37286" b="13788"/>
          <a:stretch/>
        </p:blipFill>
        <p:spPr bwMode="auto">
          <a:xfrm>
            <a:off x="2879996" y="2541885"/>
            <a:ext cx="6492967" cy="251088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365107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Neural Networks</a:t>
            </a:r>
          </a:p>
        </p:txBody>
      </p:sp>
      <p:pic>
        <p:nvPicPr>
          <p:cNvPr id="4" name="Content Placeholder 3"/>
          <p:cNvPicPr>
            <a:picLocks noGrp="1" noChangeAspect="1"/>
          </p:cNvPicPr>
          <p:nvPr>
            <p:ph idx="1"/>
          </p:nvPr>
        </p:nvPicPr>
        <p:blipFill rotWithShape="1">
          <a:blip r:embed="rId3"/>
          <a:srcRect l="17486"/>
          <a:stretch/>
        </p:blipFill>
        <p:spPr>
          <a:xfrm>
            <a:off x="4304336" y="2379821"/>
            <a:ext cx="6193746" cy="2568163"/>
          </a:xfrm>
          <a:prstGeom prst="rect">
            <a:avLst/>
          </a:prstGeom>
        </p:spPr>
      </p:pic>
      <p:sp>
        <p:nvSpPr>
          <p:cNvPr id="5" name="Rectangle 4"/>
          <p:cNvSpPr/>
          <p:nvPr/>
        </p:nvSpPr>
        <p:spPr>
          <a:xfrm>
            <a:off x="5059679" y="6396335"/>
            <a:ext cx="7023463" cy="461665"/>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a:p>
            <a:r>
              <a:rPr lang="en-IN" sz="1200" dirty="0">
                <a:solidFill>
                  <a:schemeClr val="bg1"/>
                </a:solidFill>
                <a:latin typeface="Sitka Small Semibold" pitchFamily="2" charset="0"/>
              </a:rPr>
              <a:t>https://www.geeksforgeeks.org/introduction-convolution-neural-network/</a:t>
            </a:r>
          </a:p>
        </p:txBody>
      </p:sp>
      <p:pic>
        <p:nvPicPr>
          <p:cNvPr id="7" name="Picture 6"/>
          <p:cNvPicPr>
            <a:picLocks noChangeAspect="1"/>
          </p:cNvPicPr>
          <p:nvPr/>
        </p:nvPicPr>
        <p:blipFill rotWithShape="1">
          <a:blip r:embed="rId4"/>
          <a:srcRect r="74797"/>
          <a:stretch/>
        </p:blipFill>
        <p:spPr>
          <a:xfrm>
            <a:off x="1769084" y="2137225"/>
            <a:ext cx="2535252" cy="3694496"/>
          </a:xfrm>
          <a:prstGeom prst="rect">
            <a:avLst/>
          </a:prstGeom>
        </p:spPr>
      </p:pic>
      <p:sp>
        <p:nvSpPr>
          <p:cNvPr id="3" name="TextBox 2"/>
          <p:cNvSpPr txBox="1"/>
          <p:nvPr/>
        </p:nvSpPr>
        <p:spPr>
          <a:xfrm>
            <a:off x="1769084" y="5508555"/>
            <a:ext cx="9455642" cy="646331"/>
          </a:xfrm>
          <a:prstGeom prst="rect">
            <a:avLst/>
          </a:prstGeom>
          <a:noFill/>
        </p:spPr>
        <p:txBody>
          <a:bodyPr wrap="square" rtlCol="0">
            <a:spAutoFit/>
          </a:bodyPr>
          <a:lstStyle/>
          <a:p>
            <a:r>
              <a:rPr lang="en-IN" dirty="0">
                <a:latin typeface="Sitka Text" pitchFamily="2" charset="0"/>
              </a:rPr>
              <a:t>Designed to work with grid-structured inputs, with strong spatial dependencies in local regions.</a:t>
            </a:r>
          </a:p>
        </p:txBody>
      </p:sp>
    </p:spTree>
    <p:extLst>
      <p:ext uri="{BB962C8B-B14F-4D97-AF65-F5344CB8AC3E}">
        <p14:creationId xmlns:p14="http://schemas.microsoft.com/office/powerpoint/2010/main" val="100472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Neural Networks</a:t>
            </a:r>
          </a:p>
        </p:txBody>
      </p:sp>
      <p:pic>
        <p:nvPicPr>
          <p:cNvPr id="4" name="Content Placeholder 3"/>
          <p:cNvPicPr>
            <a:picLocks noGrp="1" noChangeAspect="1"/>
          </p:cNvPicPr>
          <p:nvPr>
            <p:ph idx="1"/>
          </p:nvPr>
        </p:nvPicPr>
        <p:blipFill rotWithShape="1">
          <a:blip r:embed="rId3"/>
          <a:srcRect l="-1" r="74783" b="-839"/>
          <a:stretch/>
        </p:blipFill>
        <p:spPr>
          <a:xfrm>
            <a:off x="603761" y="2466995"/>
            <a:ext cx="2536480" cy="3725424"/>
          </a:xfrm>
          <a:prstGeom prst="rect">
            <a:avLst/>
          </a:prstGeom>
        </p:spPr>
      </p:pic>
      <p:sp>
        <p:nvSpPr>
          <p:cNvPr id="5" name="Rectangle 4"/>
          <p:cNvSpPr/>
          <p:nvPr/>
        </p:nvSpPr>
        <p:spPr>
          <a:xfrm>
            <a:off x="4935894" y="6464855"/>
            <a:ext cx="6527696"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pic>
        <p:nvPicPr>
          <p:cNvPr id="8" name="Content Placeholder 3"/>
          <p:cNvPicPr>
            <a:picLocks noChangeAspect="1"/>
          </p:cNvPicPr>
          <p:nvPr/>
        </p:nvPicPr>
        <p:blipFill rotWithShape="1">
          <a:blip r:embed="rId3"/>
          <a:srcRect l="25018" r="60508" b="24454"/>
          <a:stretch/>
        </p:blipFill>
        <p:spPr>
          <a:xfrm>
            <a:off x="3278605" y="2701156"/>
            <a:ext cx="1455821" cy="2790971"/>
          </a:xfrm>
          <a:prstGeom prst="rect">
            <a:avLst/>
          </a:prstGeom>
        </p:spPr>
      </p:pic>
      <p:pic>
        <p:nvPicPr>
          <p:cNvPr id="9" name="Content Placeholder 3"/>
          <p:cNvPicPr>
            <a:picLocks noChangeAspect="1"/>
          </p:cNvPicPr>
          <p:nvPr/>
        </p:nvPicPr>
        <p:blipFill rotWithShape="1">
          <a:blip r:embed="rId3"/>
          <a:srcRect l="39412" r="34468" b="33139"/>
          <a:stretch/>
        </p:blipFill>
        <p:spPr>
          <a:xfrm>
            <a:off x="4872790" y="2701156"/>
            <a:ext cx="2627234" cy="2470129"/>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F02A221-FA4C-FBA8-CF4E-055B7818492C}"/>
                  </a:ext>
                </a:extLst>
              </p:cNvPr>
              <p:cNvSpPr txBox="1"/>
              <p:nvPr/>
            </p:nvSpPr>
            <p:spPr>
              <a:xfrm flipH="1">
                <a:off x="5618747" y="1996016"/>
                <a:ext cx="6020368" cy="1101648"/>
              </a:xfrm>
              <a:prstGeom prst="rect">
                <a:avLst/>
              </a:prstGeom>
              <a:noFill/>
            </p:spPr>
            <p:txBody>
              <a:bodyPr wrap="square" rtlCol="0">
                <a:spAutoFit/>
              </a:bodyPr>
              <a:lstStyle/>
              <a:p>
                <a:r>
                  <a:rPr lang="en-IN" dirty="0" smtClean="0">
                    <a:latin typeface="Sitka Text" pitchFamily="2" charset="0"/>
                  </a:rPr>
                  <a:t>Number of trainable weights </a:t>
                </a:r>
              </a:p>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 150528 </m:t>
                      </m:r>
                      <m:r>
                        <a:rPr lang="en-IN" i="1" dirty="0" smtClean="0">
                          <a:latin typeface="Cambria Math" panose="02040503050406030204" pitchFamily="18" charset="0"/>
                          <a:ea typeface="Cambria Math" panose="02040503050406030204" pitchFamily="18" charset="0"/>
                        </a:rPr>
                        <m:t>×</m:t>
                      </m:r>
                      <m:r>
                        <a:rPr lang="en-IN" i="1" dirty="0" smtClean="0">
                          <a:latin typeface="Cambria Math" panose="02040503050406030204" pitchFamily="18" charset="0"/>
                        </a:rPr>
                        <m:t> 4096 </m:t>
                      </m:r>
                      <m:r>
                        <a:rPr lang="en-IN" i="1" dirty="0">
                          <a:latin typeface="Cambria Math" panose="02040503050406030204" pitchFamily="18" charset="0"/>
                        </a:rPr>
                        <m:t>+ 4096 </m:t>
                      </m:r>
                      <m:r>
                        <a:rPr lang="en-IN" i="1" dirty="0" smtClean="0">
                          <a:latin typeface="Cambria Math" panose="02040503050406030204" pitchFamily="18" charset="0"/>
                          <a:ea typeface="Cambria Math" panose="02040503050406030204" pitchFamily="18" charset="0"/>
                        </a:rPr>
                        <m:t>×</m:t>
                      </m:r>
                      <m:r>
                        <a:rPr lang="en-IN" i="1" dirty="0">
                          <a:latin typeface="Cambria Math" panose="02040503050406030204" pitchFamily="18" charset="0"/>
                        </a:rPr>
                        <m:t>4096 +4096 </m:t>
                      </m:r>
                      <m:r>
                        <a:rPr lang="en-IN" i="1" dirty="0">
                          <a:latin typeface="Cambria Math" panose="02040503050406030204" pitchFamily="18" charset="0"/>
                          <a:ea typeface="Cambria Math" panose="02040503050406030204" pitchFamily="18" charset="0"/>
                        </a:rPr>
                        <m:t>×</m:t>
                      </m:r>
                      <m:r>
                        <a:rPr lang="en-IN" i="1" dirty="0">
                          <a:latin typeface="Cambria Math" panose="02040503050406030204" pitchFamily="18" charset="0"/>
                        </a:rPr>
                        <m:t>4096</m:t>
                      </m:r>
                    </m:oMath>
                  </m:oMathPara>
                </a14:m>
                <a:endParaRPr lang="en-US" i="1" dirty="0" smtClean="0">
                  <a:latin typeface="Cambria Math" panose="02040503050406030204" pitchFamily="18" charset="0"/>
                </a:endParaRPr>
              </a:p>
              <a:p>
                <a:r>
                  <a:rPr lang="en-IN" dirty="0" smtClean="0"/>
                  <a:t>      </a:t>
                </a:r>
                <a14:m>
                  <m:oMath xmlns:m="http://schemas.openxmlformats.org/officeDocument/2006/math">
                    <m:r>
                      <a:rPr lang="en-IN" i="1" dirty="0" smtClean="0">
                        <a:latin typeface="Cambria Math" panose="02040503050406030204" pitchFamily="18" charset="0"/>
                      </a:rPr>
                      <m:t>=</m:t>
                    </m:r>
                    <m:r>
                      <a:rPr lang="en-US" b="0" i="1" dirty="0" smtClean="0">
                        <a:latin typeface="Cambria Math" panose="02040503050406030204" pitchFamily="18" charset="0"/>
                      </a:rPr>
                      <m:t>650,117,120</m:t>
                    </m:r>
                    <m:r>
                      <a:rPr lang="en-IN" i="1" dirty="0" smtClean="0">
                        <a:latin typeface="Cambria Math" panose="02040503050406030204" pitchFamily="18" charset="0"/>
                      </a:rPr>
                      <m:t> ~=</m:t>
                    </m:r>
                    <m:r>
                      <a:rPr lang="en-US" b="0" i="1" dirty="0" smtClean="0">
                        <a:latin typeface="Cambria Math" panose="02040503050406030204" pitchFamily="18" charset="0"/>
                      </a:rPr>
                      <m:t>650</m:t>
                    </m:r>
                    <m:r>
                      <a:rPr lang="en-IN" i="1" baseline="30000" dirty="0" smtClean="0">
                        <a:latin typeface="Cambria Math" panose="02040503050406030204" pitchFamily="18" charset="0"/>
                      </a:rPr>
                      <m:t> </m:t>
                    </m:r>
                  </m:oMath>
                </a14:m>
                <a:r>
                  <a:rPr lang="en-US" dirty="0">
                    <a:latin typeface="Sitka Text" pitchFamily="2" charset="0"/>
                  </a:rPr>
                  <a:t>Million</a:t>
                </a:r>
              </a:p>
              <a:p>
                <a:endParaRPr lang="en-IN" baseline="30000" dirty="0">
                  <a:latin typeface="Sitka Text" pitchFamily="2" charset="0"/>
                </a:endParaRPr>
              </a:p>
            </p:txBody>
          </p:sp>
        </mc:Choice>
        <mc:Fallback xmlns="">
          <p:sp>
            <p:nvSpPr>
              <p:cNvPr id="10" name="TextBox 9">
                <a:extLst>
                  <a:ext uri="{FF2B5EF4-FFF2-40B4-BE49-F238E27FC236}">
                    <a16:creationId xmlns:a16="http://schemas.microsoft.com/office/drawing/2014/main" id="{FF02A221-FA4C-FBA8-CF4E-055B7818492C}"/>
                  </a:ext>
                </a:extLst>
              </p:cNvPr>
              <p:cNvSpPr txBox="1">
                <a:spLocks noRot="1" noChangeAspect="1" noMove="1" noResize="1" noEditPoints="1" noAdjustHandles="1" noChangeArrowheads="1" noChangeShapeType="1" noTextEdit="1"/>
              </p:cNvSpPr>
              <p:nvPr/>
            </p:nvSpPr>
            <p:spPr>
              <a:xfrm flipH="1">
                <a:off x="5618747" y="1996016"/>
                <a:ext cx="6020368" cy="1101648"/>
              </a:xfrm>
              <a:prstGeom prst="rect">
                <a:avLst/>
              </a:prstGeom>
              <a:blipFill>
                <a:blip r:embed="rId4"/>
                <a:stretch>
                  <a:fillRect l="-912" t="-2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6247097" y="5633404"/>
                <a:ext cx="521649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dirty="0" smtClean="0">
                          <a:latin typeface="Cambria Math" panose="02040503050406030204" pitchFamily="18" charset="0"/>
                        </a:rPr>
                        <m:t>150528 </m:t>
                      </m:r>
                      <m:r>
                        <a:rPr lang="en-IN" i="1" dirty="0">
                          <a:latin typeface="Cambria Math" panose="02040503050406030204" pitchFamily="18" charset="0"/>
                          <a:ea typeface="Cambria Math" panose="02040503050406030204" pitchFamily="18" charset="0"/>
                        </a:rPr>
                        <m:t>×</m:t>
                      </m:r>
                      <m:r>
                        <a:rPr lang="en-IN" i="1" dirty="0">
                          <a:latin typeface="Cambria Math" panose="02040503050406030204" pitchFamily="18" charset="0"/>
                        </a:rPr>
                        <m:t> 4096 + 4096 </m:t>
                      </m:r>
                      <m:r>
                        <a:rPr lang="en-IN" i="1" dirty="0">
                          <a:latin typeface="Cambria Math" panose="02040503050406030204" pitchFamily="18" charset="0"/>
                          <a:ea typeface="Cambria Math" panose="02040503050406030204" pitchFamily="18" charset="0"/>
                        </a:rPr>
                        <m:t>×</m:t>
                      </m:r>
                      <m:r>
                        <a:rPr lang="en-IN" i="1" dirty="0">
                          <a:latin typeface="Cambria Math" panose="02040503050406030204" pitchFamily="18" charset="0"/>
                        </a:rPr>
                        <m:t>4096</m:t>
                      </m:r>
                      <m:r>
                        <a:rPr lang="en-US" b="0" i="1" dirty="0" smtClean="0">
                          <a:latin typeface="Cambria Math" panose="02040503050406030204" pitchFamily="18" charset="0"/>
                        </a:rPr>
                        <m:t>=633,339,904</m:t>
                      </m:r>
                      <m:r>
                        <a:rPr lang="en-IN" i="1" dirty="0">
                          <a:latin typeface="Cambria Math" panose="02040503050406030204" pitchFamily="18" charset="0"/>
                        </a:rPr>
                        <m:t> </m:t>
                      </m:r>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6247097" y="5633404"/>
                <a:ext cx="5216493" cy="36933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400264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Neural Networks</a:t>
            </a:r>
          </a:p>
        </p:txBody>
      </p:sp>
      <p:sp>
        <p:nvSpPr>
          <p:cNvPr id="5" name="Rectangle 4"/>
          <p:cNvSpPr/>
          <p:nvPr/>
        </p:nvSpPr>
        <p:spPr>
          <a:xfrm>
            <a:off x="5059679" y="6396335"/>
            <a:ext cx="7023463" cy="461665"/>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a:p>
            <a:r>
              <a:rPr lang="en-IN" sz="1200" dirty="0">
                <a:solidFill>
                  <a:schemeClr val="bg1"/>
                </a:solidFill>
                <a:latin typeface="Sitka Small Semibold" pitchFamily="2" charset="0"/>
              </a:rPr>
              <a:t>https://www.geeksforgeeks.org/introduction-convolution-neural-network/</a:t>
            </a:r>
          </a:p>
        </p:txBody>
      </p:sp>
      <p:pic>
        <p:nvPicPr>
          <p:cNvPr id="7" name="Picture 6"/>
          <p:cNvPicPr>
            <a:picLocks noChangeAspect="1"/>
          </p:cNvPicPr>
          <p:nvPr/>
        </p:nvPicPr>
        <p:blipFill rotWithShape="1">
          <a:blip r:embed="rId3"/>
          <a:srcRect t="10823" r="95836" b="79977"/>
          <a:stretch/>
        </p:blipFill>
        <p:spPr>
          <a:xfrm>
            <a:off x="1769083" y="2659168"/>
            <a:ext cx="418837" cy="339904"/>
          </a:xfrm>
          <a:prstGeom prst="rect">
            <a:avLst/>
          </a:prstGeom>
        </p:spPr>
      </p:pic>
      <p:pic>
        <p:nvPicPr>
          <p:cNvPr id="10" name="Picture 9">
            <a:extLst>
              <a:ext uri="{FF2B5EF4-FFF2-40B4-BE49-F238E27FC236}">
                <a16:creationId xmlns:a16="http://schemas.microsoft.com/office/drawing/2014/main" id="{F00CD101-2579-0C9C-E4FB-247DA7BAA678}"/>
              </a:ext>
            </a:extLst>
          </p:cNvPr>
          <p:cNvPicPr>
            <a:picLocks noChangeAspect="1"/>
          </p:cNvPicPr>
          <p:nvPr/>
        </p:nvPicPr>
        <p:blipFill rotWithShape="1">
          <a:blip r:embed="rId3"/>
          <a:srcRect t="10823" r="74797" b="57513"/>
          <a:stretch/>
        </p:blipFill>
        <p:spPr>
          <a:xfrm>
            <a:off x="4858854" y="2631001"/>
            <a:ext cx="2535252" cy="1169806"/>
          </a:xfrm>
          <a:prstGeom prst="rect">
            <a:avLst/>
          </a:prstGeom>
        </p:spPr>
      </p:pic>
      <p:pic>
        <p:nvPicPr>
          <p:cNvPr id="12" name="Picture 11">
            <a:extLst>
              <a:ext uri="{FF2B5EF4-FFF2-40B4-BE49-F238E27FC236}">
                <a16:creationId xmlns:a16="http://schemas.microsoft.com/office/drawing/2014/main" id="{86BF32B6-7183-63F9-4837-E66AA11168E8}"/>
              </a:ext>
            </a:extLst>
          </p:cNvPr>
          <p:cNvPicPr>
            <a:picLocks noChangeAspect="1"/>
          </p:cNvPicPr>
          <p:nvPr/>
        </p:nvPicPr>
        <p:blipFill rotWithShape="1">
          <a:blip r:embed="rId3"/>
          <a:srcRect t="10823" r="74797" b="23138"/>
          <a:stretch/>
        </p:blipFill>
        <p:spPr>
          <a:xfrm>
            <a:off x="8147250" y="2659168"/>
            <a:ext cx="2535252" cy="2439805"/>
          </a:xfrm>
          <a:prstGeom prst="rect">
            <a:avLst/>
          </a:prstGeom>
        </p:spPr>
      </p:pic>
      <p:pic>
        <p:nvPicPr>
          <p:cNvPr id="14" name="Picture 13">
            <a:extLst>
              <a:ext uri="{FF2B5EF4-FFF2-40B4-BE49-F238E27FC236}">
                <a16:creationId xmlns:a16="http://schemas.microsoft.com/office/drawing/2014/main" id="{245BCDBC-CA97-3945-2205-6BCC04139668}"/>
              </a:ext>
            </a:extLst>
          </p:cNvPr>
          <p:cNvPicPr>
            <a:picLocks noChangeAspect="1"/>
          </p:cNvPicPr>
          <p:nvPr/>
        </p:nvPicPr>
        <p:blipFill rotWithShape="1">
          <a:blip r:embed="rId3"/>
          <a:srcRect t="10823" r="93317" b="73891"/>
          <a:stretch/>
        </p:blipFill>
        <p:spPr>
          <a:xfrm>
            <a:off x="3187232" y="2631000"/>
            <a:ext cx="672310" cy="564732"/>
          </a:xfrm>
          <a:prstGeom prst="rect">
            <a:avLst/>
          </a:prstGeom>
        </p:spPr>
      </p:pic>
      <p:sp>
        <p:nvSpPr>
          <p:cNvPr id="8" name="TextBox 7"/>
          <p:cNvSpPr txBox="1"/>
          <p:nvPr/>
        </p:nvSpPr>
        <p:spPr>
          <a:xfrm>
            <a:off x="1769084" y="5508555"/>
            <a:ext cx="9455642" cy="369332"/>
          </a:xfrm>
          <a:prstGeom prst="rect">
            <a:avLst/>
          </a:prstGeom>
          <a:noFill/>
        </p:spPr>
        <p:txBody>
          <a:bodyPr wrap="square" rtlCol="0">
            <a:spAutoFit/>
          </a:bodyPr>
          <a:lstStyle/>
          <a:p>
            <a:r>
              <a:rPr lang="en-IN" dirty="0" smtClean="0">
                <a:latin typeface="Sitka Text" pitchFamily="2" charset="0"/>
              </a:rPr>
              <a:t>Hierarchical feature extraction</a:t>
            </a:r>
            <a:endParaRPr lang="en-IN" dirty="0">
              <a:latin typeface="Sitka Text" pitchFamily="2" charset="0"/>
            </a:endParaRPr>
          </a:p>
        </p:txBody>
      </p:sp>
    </p:spTree>
    <p:extLst>
      <p:ext uri="{BB962C8B-B14F-4D97-AF65-F5344CB8AC3E}">
        <p14:creationId xmlns:p14="http://schemas.microsoft.com/office/powerpoint/2010/main" val="161410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Neural Networks</a:t>
            </a:r>
          </a:p>
        </p:txBody>
      </p:sp>
      <p:pic>
        <p:nvPicPr>
          <p:cNvPr id="4" name="Content Placeholder 3"/>
          <p:cNvPicPr>
            <a:picLocks noGrp="1" noChangeAspect="1"/>
          </p:cNvPicPr>
          <p:nvPr>
            <p:ph idx="1"/>
          </p:nvPr>
        </p:nvPicPr>
        <p:blipFill rotWithShape="1">
          <a:blip r:embed="rId3"/>
          <a:srcRect l="14652"/>
          <a:stretch/>
        </p:blipFill>
        <p:spPr>
          <a:xfrm>
            <a:off x="2267337" y="1840785"/>
            <a:ext cx="5982940" cy="4022725"/>
          </a:xfrm>
          <a:prstGeom prst="rect">
            <a:avLst/>
          </a:prstGeom>
        </p:spPr>
      </p:pic>
      <p:pic>
        <p:nvPicPr>
          <p:cNvPr id="6" name="Picture 5"/>
          <p:cNvPicPr>
            <a:picLocks noChangeAspect="1"/>
          </p:cNvPicPr>
          <p:nvPr/>
        </p:nvPicPr>
        <p:blipFill rotWithShape="1">
          <a:blip r:embed="rId4"/>
          <a:srcRect l="594" t="11932" r="75714" b="24087"/>
          <a:stretch/>
        </p:blipFill>
        <p:spPr>
          <a:xfrm>
            <a:off x="608673" y="2418376"/>
            <a:ext cx="2891146" cy="2867544"/>
          </a:xfrm>
          <a:prstGeom prst="rect">
            <a:avLst/>
          </a:prstGeom>
          <a:ln>
            <a:noFill/>
          </a:ln>
          <a:effectLst/>
          <a:scene3d>
            <a:camera prst="perspectiveContrastingLeftFacing">
              <a:rot lat="1718521" lon="17145605" rev="21502933"/>
            </a:camera>
            <a:lightRig rig="threePt" dir="t">
              <a:rot lat="0" lon="0" rev="2700000"/>
            </a:lightRig>
          </a:scene3d>
          <a:sp3d>
            <a:bevelT w="0" h="0"/>
          </a:sp3d>
        </p:spPr>
      </p:pic>
      <p:pic>
        <p:nvPicPr>
          <p:cNvPr id="7" name="Picture 6"/>
          <p:cNvPicPr>
            <a:picLocks noChangeAspect="1"/>
          </p:cNvPicPr>
          <p:nvPr/>
        </p:nvPicPr>
        <p:blipFill rotWithShape="1">
          <a:blip r:embed="rId4"/>
          <a:srcRect t="75953" r="74797" b="11409"/>
          <a:stretch/>
        </p:blipFill>
        <p:spPr>
          <a:xfrm>
            <a:off x="338330" y="5819855"/>
            <a:ext cx="2535252" cy="466927"/>
          </a:xfrm>
          <a:prstGeom prst="rect">
            <a:avLst/>
          </a:prstGeom>
        </p:spPr>
      </p:pic>
      <p:sp>
        <p:nvSpPr>
          <p:cNvPr id="8" name="Rectangle 7"/>
          <p:cNvSpPr/>
          <p:nvPr/>
        </p:nvSpPr>
        <p:spPr>
          <a:xfrm>
            <a:off x="4935894" y="6418200"/>
            <a:ext cx="6527696" cy="461665"/>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a:p>
            <a:r>
              <a:rPr lang="en-IN" sz="1200" dirty="0">
                <a:solidFill>
                  <a:schemeClr val="bg1"/>
                </a:solidFill>
                <a:latin typeface="Sitka Small Semibold" pitchFamily="2" charset="0"/>
              </a:rPr>
              <a:t>https://cs231n.github.io/convolutional-networks/#conv</a:t>
            </a:r>
          </a:p>
        </p:txBody>
      </p:sp>
      <p:sp>
        <p:nvSpPr>
          <p:cNvPr id="10" name="Rectangle 9"/>
          <p:cNvSpPr/>
          <p:nvPr/>
        </p:nvSpPr>
        <p:spPr>
          <a:xfrm>
            <a:off x="8411341" y="2292050"/>
            <a:ext cx="3177473" cy="307777"/>
          </a:xfrm>
          <a:prstGeom prst="rect">
            <a:avLst/>
          </a:prstGeom>
        </p:spPr>
        <p:txBody>
          <a:bodyPr wrap="none">
            <a:spAutoFit/>
          </a:bodyPr>
          <a:lstStyle/>
          <a:p>
            <a:r>
              <a:rPr lang="en-IN" sz="1400" b="1" dirty="0" err="1">
                <a:solidFill>
                  <a:srgbClr val="0070C0"/>
                </a:solidFill>
                <a:latin typeface="Sitka Text" pitchFamily="2" charset="0"/>
              </a:rPr>
              <a:t>n_filters</a:t>
            </a:r>
            <a:r>
              <a:rPr lang="en-IN" sz="1400" b="1" dirty="0">
                <a:solidFill>
                  <a:srgbClr val="0070C0"/>
                </a:solidFill>
                <a:latin typeface="Sitka Text" pitchFamily="2" charset="0"/>
              </a:rPr>
              <a:t> * </a:t>
            </a:r>
            <a:r>
              <a:rPr lang="en-IN" sz="1400" b="1" dirty="0" err="1">
                <a:solidFill>
                  <a:srgbClr val="0070C0"/>
                </a:solidFill>
                <a:latin typeface="Sitka Text" pitchFamily="2" charset="0"/>
              </a:rPr>
              <a:t>Dim_filter</a:t>
            </a:r>
            <a:r>
              <a:rPr lang="en-IN" sz="1400" b="1" dirty="0">
                <a:solidFill>
                  <a:srgbClr val="0070C0"/>
                </a:solidFill>
                <a:latin typeface="Sitka Text" pitchFamily="2" charset="0"/>
              </a:rPr>
              <a:t> * </a:t>
            </a:r>
            <a:r>
              <a:rPr lang="en-IN" sz="1400" b="1" dirty="0" err="1">
                <a:solidFill>
                  <a:srgbClr val="0070C0"/>
                </a:solidFill>
                <a:latin typeface="Sitka Text" pitchFamily="2" charset="0"/>
              </a:rPr>
              <a:t>n_channel</a:t>
            </a:r>
            <a:endParaRPr lang="en-IN" sz="1400" b="1" dirty="0">
              <a:solidFill>
                <a:srgbClr val="0070C0"/>
              </a:solidFill>
              <a:latin typeface="Sitka Text" pitchFamily="2" charset="0"/>
            </a:endParaRPr>
          </a:p>
        </p:txBody>
      </p:sp>
    </p:spTree>
    <p:extLst>
      <p:ext uri="{BB962C8B-B14F-4D97-AF65-F5344CB8AC3E}">
        <p14:creationId xmlns:p14="http://schemas.microsoft.com/office/powerpoint/2010/main" val="75050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Neural </a:t>
            </a:r>
            <a:r>
              <a:rPr lang="en-IN" dirty="0" smtClean="0">
                <a:latin typeface="Sitka Text" pitchFamily="2" charset="0"/>
              </a:rPr>
              <a:t/>
            </a:r>
            <a:br>
              <a:rPr lang="en-IN" dirty="0" smtClean="0">
                <a:latin typeface="Sitka Text" pitchFamily="2" charset="0"/>
              </a:rPr>
            </a:br>
            <a:r>
              <a:rPr lang="en-IN" dirty="0" smtClean="0">
                <a:latin typeface="Sitka Text" pitchFamily="2" charset="0"/>
              </a:rPr>
              <a:t>Networks</a:t>
            </a:r>
            <a:endParaRPr lang="en-IN" dirty="0">
              <a:latin typeface="Sitka Text" pitchFamily="2" charset="0"/>
            </a:endParaRPr>
          </a:p>
        </p:txBody>
      </p:sp>
      <p:pic>
        <p:nvPicPr>
          <p:cNvPr id="4" name="Content Placeholder 3"/>
          <p:cNvPicPr>
            <a:picLocks noGrp="1" noChangeAspect="1"/>
          </p:cNvPicPr>
          <p:nvPr>
            <p:ph idx="1"/>
          </p:nvPr>
        </p:nvPicPr>
        <p:blipFill rotWithShape="1">
          <a:blip r:embed="rId3"/>
          <a:srcRect l="14652"/>
          <a:stretch/>
        </p:blipFill>
        <p:spPr>
          <a:xfrm>
            <a:off x="2267337" y="1840785"/>
            <a:ext cx="5982940" cy="4022725"/>
          </a:xfrm>
          <a:prstGeom prst="rect">
            <a:avLst/>
          </a:prstGeom>
        </p:spPr>
      </p:pic>
      <p:pic>
        <p:nvPicPr>
          <p:cNvPr id="6" name="Picture 5"/>
          <p:cNvPicPr>
            <a:picLocks noChangeAspect="1"/>
          </p:cNvPicPr>
          <p:nvPr/>
        </p:nvPicPr>
        <p:blipFill rotWithShape="1">
          <a:blip r:embed="rId4"/>
          <a:srcRect l="594" t="11932" r="75714" b="24087"/>
          <a:stretch/>
        </p:blipFill>
        <p:spPr>
          <a:xfrm>
            <a:off x="608673" y="2418376"/>
            <a:ext cx="2891146" cy="2867544"/>
          </a:xfrm>
          <a:prstGeom prst="rect">
            <a:avLst/>
          </a:prstGeom>
          <a:ln>
            <a:noFill/>
          </a:ln>
          <a:effectLst/>
          <a:scene3d>
            <a:camera prst="perspectiveContrastingLeftFacing">
              <a:rot lat="1718521" lon="17145605" rev="21502933"/>
            </a:camera>
            <a:lightRig rig="threePt" dir="t">
              <a:rot lat="0" lon="0" rev="2700000"/>
            </a:lightRig>
          </a:scene3d>
          <a:sp3d>
            <a:bevelT w="0" h="0"/>
          </a:sp3d>
        </p:spPr>
      </p:pic>
      <p:pic>
        <p:nvPicPr>
          <p:cNvPr id="7" name="Picture 6"/>
          <p:cNvPicPr>
            <a:picLocks noChangeAspect="1"/>
          </p:cNvPicPr>
          <p:nvPr/>
        </p:nvPicPr>
        <p:blipFill rotWithShape="1">
          <a:blip r:embed="rId4"/>
          <a:srcRect t="75953" r="74797" b="11409"/>
          <a:stretch/>
        </p:blipFill>
        <p:spPr>
          <a:xfrm>
            <a:off x="338330" y="5819855"/>
            <a:ext cx="2535252" cy="466927"/>
          </a:xfrm>
          <a:prstGeom prst="rect">
            <a:avLst/>
          </a:prstGeom>
        </p:spPr>
      </p:pic>
      <p:sp>
        <p:nvSpPr>
          <p:cNvPr id="8" name="Rectangle 7"/>
          <p:cNvSpPr/>
          <p:nvPr/>
        </p:nvSpPr>
        <p:spPr>
          <a:xfrm>
            <a:off x="4935894" y="6418200"/>
            <a:ext cx="6527696" cy="461665"/>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a:p>
            <a:r>
              <a:rPr lang="en-IN" sz="1200" dirty="0">
                <a:solidFill>
                  <a:schemeClr val="bg1"/>
                </a:solidFill>
                <a:latin typeface="Sitka Small Semibold" pitchFamily="2" charset="0"/>
              </a:rPr>
              <a:t>https://cs231n.github.io/convolutional-networks/#conv</a:t>
            </a:r>
          </a:p>
        </p:txBody>
      </p:sp>
      <p:sp>
        <p:nvSpPr>
          <p:cNvPr id="9" name="Rectangle 8"/>
          <p:cNvSpPr/>
          <p:nvPr/>
        </p:nvSpPr>
        <p:spPr>
          <a:xfrm>
            <a:off x="8401802" y="1746128"/>
            <a:ext cx="3704253" cy="4616648"/>
          </a:xfrm>
          <a:prstGeom prst="rect">
            <a:avLst/>
          </a:prstGeom>
        </p:spPr>
        <p:txBody>
          <a:bodyPr wrap="square">
            <a:spAutoFit/>
          </a:bodyPr>
          <a:lstStyle/>
          <a:p>
            <a:r>
              <a:rPr lang="en-IN" sz="1400" dirty="0">
                <a:latin typeface="Sitka Text" pitchFamily="2" charset="0"/>
              </a:rPr>
              <a:t>Conv1-1: (3*3*3)*64 = 1,728</a:t>
            </a:r>
          </a:p>
          <a:p>
            <a:r>
              <a:rPr lang="en-IN" sz="1400" dirty="0">
                <a:latin typeface="Sitka Text" pitchFamily="2" charset="0"/>
              </a:rPr>
              <a:t>Conv1-2: (3*3*64)*64 = 36,864</a:t>
            </a:r>
          </a:p>
          <a:p>
            <a:endParaRPr lang="en-IN" sz="1400" dirty="0">
              <a:latin typeface="Sitka Text" pitchFamily="2" charset="0"/>
            </a:endParaRPr>
          </a:p>
          <a:p>
            <a:r>
              <a:rPr lang="en-IN" sz="1400" dirty="0">
                <a:latin typeface="Sitka Text" pitchFamily="2" charset="0"/>
              </a:rPr>
              <a:t>Conv2-1: (3*3*64)*128 = 73,728</a:t>
            </a:r>
          </a:p>
          <a:p>
            <a:r>
              <a:rPr lang="en-IN" sz="1400" dirty="0">
                <a:latin typeface="Sitka Text" pitchFamily="2" charset="0"/>
              </a:rPr>
              <a:t>Conv2-2: (3*3*128)*128 = 147,456</a:t>
            </a:r>
          </a:p>
          <a:p>
            <a:endParaRPr lang="en-IN" sz="1400" dirty="0">
              <a:latin typeface="Sitka Text" pitchFamily="2" charset="0"/>
            </a:endParaRPr>
          </a:p>
          <a:p>
            <a:r>
              <a:rPr lang="en-IN" sz="1400" dirty="0">
                <a:latin typeface="Sitka Text" pitchFamily="2" charset="0"/>
              </a:rPr>
              <a:t>Conv3-1: (3*3*128)*256 = 294,912</a:t>
            </a:r>
          </a:p>
          <a:p>
            <a:r>
              <a:rPr lang="en-IN" sz="1400" dirty="0">
                <a:latin typeface="Sitka Text" pitchFamily="2" charset="0"/>
              </a:rPr>
              <a:t>Conv3-2: (3*3*256)*256 = 589,824</a:t>
            </a:r>
          </a:p>
          <a:p>
            <a:r>
              <a:rPr lang="en-IN" sz="1400" dirty="0">
                <a:latin typeface="Sitka Text" pitchFamily="2" charset="0"/>
              </a:rPr>
              <a:t>Conv3-3: (3*3*256)*256 = 589,824</a:t>
            </a:r>
          </a:p>
          <a:p>
            <a:endParaRPr lang="en-IN" sz="1400" dirty="0">
              <a:latin typeface="Sitka Text" pitchFamily="2" charset="0"/>
            </a:endParaRPr>
          </a:p>
          <a:p>
            <a:r>
              <a:rPr lang="en-IN" sz="1400" dirty="0">
                <a:latin typeface="Sitka Text" pitchFamily="2" charset="0"/>
              </a:rPr>
              <a:t>Conv4-1: (3*3*256)*512 = 1,179,648</a:t>
            </a:r>
          </a:p>
          <a:p>
            <a:r>
              <a:rPr lang="en-IN" sz="1400" dirty="0">
                <a:latin typeface="Sitka Text" pitchFamily="2" charset="0"/>
              </a:rPr>
              <a:t>Conv4-2: (3*3*512)*512 = 2,359,296</a:t>
            </a:r>
          </a:p>
          <a:p>
            <a:r>
              <a:rPr lang="en-IN" sz="1400" dirty="0">
                <a:latin typeface="Sitka Text" pitchFamily="2" charset="0"/>
              </a:rPr>
              <a:t>Conv4-3: (3*3*512)*512 = 2,359,296</a:t>
            </a:r>
          </a:p>
          <a:p>
            <a:endParaRPr lang="en-IN" sz="1400" dirty="0">
              <a:latin typeface="Sitka Text" pitchFamily="2" charset="0"/>
            </a:endParaRPr>
          </a:p>
          <a:p>
            <a:r>
              <a:rPr lang="en-IN" sz="1400" dirty="0">
                <a:latin typeface="Sitka Text" pitchFamily="2" charset="0"/>
              </a:rPr>
              <a:t>Conv5-1: (3*3*512)*512 = 2,359,296</a:t>
            </a:r>
          </a:p>
          <a:p>
            <a:r>
              <a:rPr lang="en-IN" sz="1400" dirty="0">
                <a:latin typeface="Sitka Text" pitchFamily="2" charset="0"/>
              </a:rPr>
              <a:t>Conv5-2: (3*3*512)*512 = 2,359,296</a:t>
            </a:r>
          </a:p>
          <a:p>
            <a:r>
              <a:rPr lang="en-IN" sz="1400" dirty="0">
                <a:latin typeface="Sitka Text" pitchFamily="2" charset="0"/>
              </a:rPr>
              <a:t>Conv5-3: (3*3*512)*512 = 2,359,296</a:t>
            </a:r>
          </a:p>
          <a:p>
            <a:endParaRPr lang="en-IN" sz="1400" dirty="0">
              <a:latin typeface="Sitka Text" pitchFamily="2" charset="0"/>
            </a:endParaRPr>
          </a:p>
          <a:p>
            <a:r>
              <a:rPr lang="en-IN" sz="1400" dirty="0">
                <a:latin typeface="Sitka Text" pitchFamily="2" charset="0"/>
              </a:rPr>
              <a:t>FC-6: 7*7*512*4096 = 102,760,448</a:t>
            </a:r>
          </a:p>
          <a:p>
            <a:r>
              <a:rPr lang="en-IN" sz="1400" dirty="0">
                <a:latin typeface="Sitka Text" pitchFamily="2" charset="0"/>
              </a:rPr>
              <a:t>FC-7: 4096*4096 = 16,777,216</a:t>
            </a:r>
          </a:p>
          <a:p>
            <a:r>
              <a:rPr lang="en-IN" sz="1400" dirty="0">
                <a:latin typeface="Sitka Text" pitchFamily="2" charset="0"/>
              </a:rPr>
              <a:t>FC-8: 4096*1000 = 4,096,000</a:t>
            </a:r>
          </a:p>
        </p:txBody>
      </p:sp>
      <p:sp>
        <p:nvSpPr>
          <p:cNvPr id="16" name="Rectangle 15"/>
          <p:cNvSpPr/>
          <p:nvPr/>
        </p:nvSpPr>
        <p:spPr>
          <a:xfrm>
            <a:off x="4532246" y="5794850"/>
            <a:ext cx="2784737" cy="369332"/>
          </a:xfrm>
          <a:prstGeom prst="rect">
            <a:avLst/>
          </a:prstGeom>
        </p:spPr>
        <p:txBody>
          <a:bodyPr wrap="none">
            <a:spAutoFit/>
          </a:bodyPr>
          <a:lstStyle/>
          <a:p>
            <a:r>
              <a:rPr lang="en-IN" dirty="0">
                <a:latin typeface="Sitka Text" pitchFamily="2" charset="0"/>
              </a:rPr>
              <a:t>Total: 138M parameters</a:t>
            </a:r>
          </a:p>
        </p:txBody>
      </p:sp>
      <p:sp>
        <p:nvSpPr>
          <p:cNvPr id="10" name="Rectangle 9"/>
          <p:cNvSpPr/>
          <p:nvPr/>
        </p:nvSpPr>
        <p:spPr>
          <a:xfrm>
            <a:off x="8250277" y="1284117"/>
            <a:ext cx="3177473" cy="307777"/>
          </a:xfrm>
          <a:prstGeom prst="rect">
            <a:avLst/>
          </a:prstGeom>
        </p:spPr>
        <p:txBody>
          <a:bodyPr wrap="none">
            <a:spAutoFit/>
          </a:bodyPr>
          <a:lstStyle/>
          <a:p>
            <a:r>
              <a:rPr lang="en-IN" sz="1400" b="1" dirty="0" err="1">
                <a:solidFill>
                  <a:srgbClr val="0070C0"/>
                </a:solidFill>
                <a:latin typeface="Sitka Text" pitchFamily="2" charset="0"/>
              </a:rPr>
              <a:t>n_filters</a:t>
            </a:r>
            <a:r>
              <a:rPr lang="en-IN" sz="1400" b="1" dirty="0">
                <a:solidFill>
                  <a:srgbClr val="0070C0"/>
                </a:solidFill>
                <a:latin typeface="Sitka Text" pitchFamily="2" charset="0"/>
              </a:rPr>
              <a:t> * </a:t>
            </a:r>
            <a:r>
              <a:rPr lang="en-IN" sz="1400" b="1" dirty="0" err="1">
                <a:solidFill>
                  <a:srgbClr val="0070C0"/>
                </a:solidFill>
                <a:latin typeface="Sitka Text" pitchFamily="2" charset="0"/>
              </a:rPr>
              <a:t>Dim_filter</a:t>
            </a:r>
            <a:r>
              <a:rPr lang="en-IN" sz="1400" b="1" dirty="0">
                <a:solidFill>
                  <a:srgbClr val="0070C0"/>
                </a:solidFill>
                <a:latin typeface="Sitka Text" pitchFamily="2" charset="0"/>
              </a:rPr>
              <a:t> * </a:t>
            </a:r>
            <a:r>
              <a:rPr lang="en-IN" sz="1400" b="1" dirty="0" err="1">
                <a:solidFill>
                  <a:srgbClr val="0070C0"/>
                </a:solidFill>
                <a:latin typeface="Sitka Text" pitchFamily="2" charset="0"/>
              </a:rPr>
              <a:t>n_channel</a:t>
            </a:r>
            <a:endParaRPr lang="en-IN" sz="1400" b="1" dirty="0">
              <a:solidFill>
                <a:srgbClr val="0070C0"/>
              </a:solidFill>
              <a:latin typeface="Sitka Text" pitchFamily="2" charset="0"/>
            </a:endParaRPr>
          </a:p>
        </p:txBody>
      </p:sp>
    </p:spTree>
    <p:extLst>
      <p:ext uri="{BB962C8B-B14F-4D97-AF65-F5344CB8AC3E}">
        <p14:creationId xmlns:p14="http://schemas.microsoft.com/office/powerpoint/2010/main" val="13311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CNN Architecture</a:t>
            </a:r>
          </a:p>
        </p:txBody>
      </p:sp>
      <p:pic>
        <p:nvPicPr>
          <p:cNvPr id="4" name="Content Placeholder 3"/>
          <p:cNvPicPr>
            <a:picLocks noGrp="1" noChangeAspect="1"/>
          </p:cNvPicPr>
          <p:nvPr>
            <p:ph idx="1"/>
          </p:nvPr>
        </p:nvPicPr>
        <p:blipFill rotWithShape="1">
          <a:blip r:embed="rId3"/>
          <a:srcRect l="27085"/>
          <a:stretch/>
        </p:blipFill>
        <p:spPr>
          <a:xfrm>
            <a:off x="3116179" y="1812006"/>
            <a:ext cx="5542898" cy="4449495"/>
          </a:xfrm>
          <a:prstGeom prst="rect">
            <a:avLst/>
          </a:prstGeom>
        </p:spPr>
      </p:pic>
      <p:sp>
        <p:nvSpPr>
          <p:cNvPr id="5" name="Rectangle 4"/>
          <p:cNvSpPr/>
          <p:nvPr/>
        </p:nvSpPr>
        <p:spPr>
          <a:xfrm>
            <a:off x="4858139" y="6544339"/>
            <a:ext cx="6553199"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
        <p:nvSpPr>
          <p:cNvPr id="6" name="TextBox 5"/>
          <p:cNvSpPr txBox="1"/>
          <p:nvPr/>
        </p:nvSpPr>
        <p:spPr>
          <a:xfrm>
            <a:off x="8770776" y="3760237"/>
            <a:ext cx="3069771" cy="923330"/>
          </a:xfrm>
          <a:prstGeom prst="rect">
            <a:avLst/>
          </a:prstGeom>
          <a:solidFill>
            <a:schemeClr val="accent2">
              <a:lumMod val="60000"/>
              <a:lumOff val="40000"/>
            </a:schemeClr>
          </a:solidFill>
          <a:ln>
            <a:solidFill>
              <a:srgbClr val="00B0F0"/>
            </a:solidFill>
          </a:ln>
        </p:spPr>
        <p:txBody>
          <a:bodyPr wrap="square" rtlCol="0">
            <a:spAutoFit/>
          </a:bodyPr>
          <a:lstStyle/>
          <a:p>
            <a:pPr marL="285750" indent="-285750">
              <a:buFont typeface="Arial" panose="020B0604020202020204" pitchFamily="34" charset="0"/>
              <a:buChar char="•"/>
            </a:pPr>
            <a:r>
              <a:rPr lang="en-IN" dirty="0">
                <a:latin typeface="Sitka Text" pitchFamily="2" charset="0"/>
              </a:rPr>
              <a:t>Convolutional Layer</a:t>
            </a:r>
          </a:p>
          <a:p>
            <a:pPr marL="285750" indent="-285750">
              <a:buFont typeface="Arial" panose="020B0604020202020204" pitchFamily="34" charset="0"/>
              <a:buChar char="•"/>
            </a:pPr>
            <a:r>
              <a:rPr lang="en-IN" dirty="0">
                <a:latin typeface="Sitka Text" pitchFamily="2" charset="0"/>
              </a:rPr>
              <a:t>Pooling Layer</a:t>
            </a:r>
          </a:p>
          <a:p>
            <a:pPr marL="285750" indent="-285750">
              <a:buFont typeface="Arial" panose="020B0604020202020204" pitchFamily="34" charset="0"/>
              <a:buChar char="•"/>
            </a:pPr>
            <a:r>
              <a:rPr lang="en-IN" dirty="0">
                <a:latin typeface="Sitka Text" pitchFamily="2" charset="0"/>
              </a:rPr>
              <a:t>Fully-connected Layer</a:t>
            </a:r>
          </a:p>
        </p:txBody>
      </p:sp>
      <p:pic>
        <p:nvPicPr>
          <p:cNvPr id="7" name="Picture 6"/>
          <p:cNvPicPr>
            <a:picLocks noChangeAspect="1"/>
          </p:cNvPicPr>
          <p:nvPr/>
        </p:nvPicPr>
        <p:blipFill rotWithShape="1">
          <a:blip r:embed="rId4"/>
          <a:srcRect l="594" t="11932" r="75714" b="24087"/>
          <a:stretch/>
        </p:blipFill>
        <p:spPr>
          <a:xfrm>
            <a:off x="1540435" y="3158159"/>
            <a:ext cx="2549248" cy="2528437"/>
          </a:xfrm>
          <a:prstGeom prst="rect">
            <a:avLst/>
          </a:prstGeom>
          <a:ln>
            <a:noFill/>
          </a:ln>
          <a:effectLst/>
          <a:scene3d>
            <a:camera prst="perspectiveContrastingLeftFacing">
              <a:rot lat="1718521" lon="17145605" rev="21502933"/>
            </a:camera>
            <a:lightRig rig="threePt" dir="t">
              <a:rot lat="0" lon="0" rev="2700000"/>
            </a:lightRig>
          </a:scene3d>
          <a:sp3d>
            <a:bevelT w="0" h="0"/>
          </a:sp3d>
        </p:spPr>
      </p:pic>
      <p:pic>
        <p:nvPicPr>
          <p:cNvPr id="8" name="Picture 7"/>
          <p:cNvPicPr>
            <a:picLocks noChangeAspect="1"/>
          </p:cNvPicPr>
          <p:nvPr/>
        </p:nvPicPr>
        <p:blipFill rotWithShape="1">
          <a:blip r:embed="rId4"/>
          <a:srcRect t="75953" r="81820" b="11518"/>
          <a:stretch/>
        </p:blipFill>
        <p:spPr>
          <a:xfrm>
            <a:off x="400589" y="5455133"/>
            <a:ext cx="1828800" cy="462927"/>
          </a:xfrm>
          <a:prstGeom prst="rect">
            <a:avLst/>
          </a:prstGeom>
        </p:spPr>
      </p:pic>
    </p:spTree>
    <p:extLst>
      <p:ext uri="{BB962C8B-B14F-4D97-AF65-F5344CB8AC3E}">
        <p14:creationId xmlns:p14="http://schemas.microsoft.com/office/powerpoint/2010/main" val="196578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endParaRPr lang="en-US" dirty="0"/>
          </a:p>
        </p:txBody>
      </p:sp>
      <p:pic>
        <p:nvPicPr>
          <p:cNvPr id="6" name="Picture 5"/>
          <p:cNvPicPr>
            <a:picLocks noChangeAspect="1"/>
          </p:cNvPicPr>
          <p:nvPr/>
        </p:nvPicPr>
        <p:blipFill>
          <a:blip r:embed="rId3"/>
          <a:stretch>
            <a:fillRect/>
          </a:stretch>
        </p:blipFill>
        <p:spPr>
          <a:xfrm>
            <a:off x="752696" y="2597806"/>
            <a:ext cx="5381791" cy="793355"/>
          </a:xfrm>
          <a:prstGeom prst="rect">
            <a:avLst/>
          </a:prstGeom>
        </p:spPr>
      </p:pic>
      <p:pic>
        <p:nvPicPr>
          <p:cNvPr id="7" name="Content Placeholder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4371" y="985756"/>
            <a:ext cx="4869439" cy="5225914"/>
          </a:xfrm>
          <a:prstGeom prst="rect">
            <a:avLst/>
          </a:prstGeom>
        </p:spPr>
      </p:pic>
      <p:sp>
        <p:nvSpPr>
          <p:cNvPr id="5" name="TextBox 4"/>
          <p:cNvSpPr txBox="1"/>
          <p:nvPr/>
        </p:nvSpPr>
        <p:spPr>
          <a:xfrm>
            <a:off x="1872779" y="3882275"/>
            <a:ext cx="9455642" cy="369332"/>
          </a:xfrm>
          <a:prstGeom prst="rect">
            <a:avLst/>
          </a:prstGeom>
          <a:noFill/>
        </p:spPr>
        <p:txBody>
          <a:bodyPr wrap="square" rtlCol="0">
            <a:spAutoFit/>
          </a:bodyPr>
          <a:lstStyle/>
          <a:p>
            <a:r>
              <a:rPr lang="en-IN" dirty="0" smtClean="0">
                <a:latin typeface="Sitka Text" pitchFamily="2" charset="0"/>
              </a:rPr>
              <a:t>Spatial convolution/linear spatial filtering</a:t>
            </a:r>
            <a:endParaRPr lang="en-IN" dirty="0">
              <a:latin typeface="Sitka Text" pitchFamily="2" charset="0"/>
            </a:endParaRPr>
          </a:p>
        </p:txBody>
      </p:sp>
    </p:spTree>
    <p:extLst>
      <p:ext uri="{BB962C8B-B14F-4D97-AF65-F5344CB8AC3E}">
        <p14:creationId xmlns:p14="http://schemas.microsoft.com/office/powerpoint/2010/main" val="80439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p>
        </p:txBody>
      </p:sp>
      <p:pic>
        <p:nvPicPr>
          <p:cNvPr id="4" name="Content Placeholder 3"/>
          <p:cNvPicPr>
            <a:picLocks noGrp="1" noChangeAspect="1"/>
          </p:cNvPicPr>
          <p:nvPr>
            <p:ph idx="1"/>
          </p:nvPr>
        </p:nvPicPr>
        <p:blipFill>
          <a:blip r:embed="rId2"/>
          <a:stretch>
            <a:fillRect/>
          </a:stretch>
        </p:blipFill>
        <p:spPr>
          <a:xfrm>
            <a:off x="2823821" y="1943804"/>
            <a:ext cx="6389452" cy="4394090"/>
          </a:xfrm>
          <a:prstGeom prst="rect">
            <a:avLst/>
          </a:prstGeom>
        </p:spPr>
      </p:pic>
      <p:sp>
        <p:nvSpPr>
          <p:cNvPr id="5" name="Rectangle 4"/>
          <p:cNvSpPr/>
          <p:nvPr/>
        </p:nvSpPr>
        <p:spPr>
          <a:xfrm>
            <a:off x="4858139" y="6544339"/>
            <a:ext cx="6553199"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Tree>
    <p:extLst>
      <p:ext uri="{BB962C8B-B14F-4D97-AF65-F5344CB8AC3E}">
        <p14:creationId xmlns:p14="http://schemas.microsoft.com/office/powerpoint/2010/main" val="42689391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endParaRPr lang="en-IN" dirty="0"/>
          </a:p>
        </p:txBody>
      </p:sp>
      <p:pic>
        <p:nvPicPr>
          <p:cNvPr id="7" name="Content Placeholder 6"/>
          <p:cNvPicPr>
            <a:picLocks noGrp="1" noChangeAspect="1"/>
          </p:cNvPicPr>
          <p:nvPr>
            <p:ph idx="1"/>
          </p:nvPr>
        </p:nvPicPr>
        <p:blipFill>
          <a:blip r:embed="rId2"/>
          <a:stretch>
            <a:fillRect/>
          </a:stretch>
        </p:blipFill>
        <p:spPr>
          <a:xfrm>
            <a:off x="5773455" y="2089745"/>
            <a:ext cx="5382225" cy="4022725"/>
          </a:xfrm>
          <a:prstGeom prst="rect">
            <a:avLst/>
          </a:prstGeom>
        </p:spPr>
      </p:pic>
      <p:sp>
        <p:nvSpPr>
          <p:cNvPr id="6" name="Rectangle 5"/>
          <p:cNvSpPr/>
          <p:nvPr/>
        </p:nvSpPr>
        <p:spPr>
          <a:xfrm>
            <a:off x="7256106" y="6506277"/>
            <a:ext cx="4715069" cy="277079"/>
          </a:xfrm>
          <a:prstGeom prst="rect">
            <a:avLst/>
          </a:prstGeom>
        </p:spPr>
        <p:txBody>
          <a:bodyPr wrap="square">
            <a:spAutoFit/>
          </a:bodyPr>
          <a:lstStyle/>
          <a:p>
            <a:r>
              <a:rPr lang="en-US" sz="1200" dirty="0">
                <a:solidFill>
                  <a:schemeClr val="bg1"/>
                </a:solidFill>
                <a:latin typeface="Sitka Text" pitchFamily="2" charset="0"/>
              </a:rPr>
              <a:t>“Neural Networks and Deep Learning”, Aggarwal, C. C. , 2018. </a:t>
            </a:r>
            <a:endParaRPr lang="en-IN" sz="1200" dirty="0">
              <a:solidFill>
                <a:schemeClr val="bg1"/>
              </a:solidFill>
            </a:endParaRPr>
          </a:p>
        </p:txBody>
      </p:sp>
      <p:pic>
        <p:nvPicPr>
          <p:cNvPr id="4" name="Picture 3">
            <a:extLst>
              <a:ext uri="{FF2B5EF4-FFF2-40B4-BE49-F238E27FC236}">
                <a16:creationId xmlns:a16="http://schemas.microsoft.com/office/drawing/2014/main" id="{6689B285-4AAB-6EB7-840E-38C59215AA54}"/>
              </a:ext>
            </a:extLst>
          </p:cNvPr>
          <p:cNvPicPr>
            <a:picLocks noChangeAspect="1"/>
          </p:cNvPicPr>
          <p:nvPr/>
        </p:nvPicPr>
        <p:blipFill>
          <a:blip r:embed="rId3"/>
          <a:stretch>
            <a:fillRect/>
          </a:stretch>
        </p:blipFill>
        <p:spPr>
          <a:xfrm>
            <a:off x="1097280" y="3341668"/>
            <a:ext cx="2831947" cy="895997"/>
          </a:xfrm>
          <a:prstGeom prst="rect">
            <a:avLst/>
          </a:prstGeom>
        </p:spPr>
      </p:pic>
      <p:pic>
        <p:nvPicPr>
          <p:cNvPr id="9" name="Picture 8"/>
          <p:cNvPicPr>
            <a:picLocks noChangeAspect="1"/>
          </p:cNvPicPr>
          <p:nvPr/>
        </p:nvPicPr>
        <p:blipFill>
          <a:blip r:embed="rId4"/>
          <a:stretch>
            <a:fillRect/>
          </a:stretch>
        </p:blipFill>
        <p:spPr>
          <a:xfrm>
            <a:off x="1097280" y="2227130"/>
            <a:ext cx="4697609" cy="692497"/>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1216058" y="4553146"/>
                <a:ext cx="1372812" cy="1077218"/>
              </a:xfrm>
              <a:prstGeom prst="rect">
                <a:avLst/>
              </a:prstGeom>
              <a:noFill/>
            </p:spPr>
            <p:txBody>
              <a:bodyPr wrap="none" rtlCol="0">
                <a:spAutoFit/>
              </a:bodyPr>
              <a:lstStyle/>
              <a:p>
                <a14:m>
                  <m:oMath xmlns:m="http://schemas.openxmlformats.org/officeDocument/2006/math">
                    <m:r>
                      <a:rPr lang="en-US" sz="1600" i="1" dirty="0" smtClean="0">
                        <a:latin typeface="Cambria Math" panose="02040503050406030204" pitchFamily="18" charset="0"/>
                      </a:rPr>
                      <m:t>𝑛</m:t>
                    </m:r>
                  </m:oMath>
                </a14:m>
                <a:r>
                  <a:rPr lang="en-US" sz="1600" dirty="0" smtClean="0">
                    <a:latin typeface="Sitka Text" pitchFamily="2" charset="0"/>
                  </a:rPr>
                  <a:t>: input size</a:t>
                </a:r>
              </a:p>
              <a:p>
                <a14:m>
                  <m:oMath xmlns:m="http://schemas.openxmlformats.org/officeDocument/2006/math">
                    <m:r>
                      <a:rPr lang="en-US" sz="1600" i="1" dirty="0" smtClean="0">
                        <a:latin typeface="Cambria Math" panose="02040503050406030204" pitchFamily="18" charset="0"/>
                      </a:rPr>
                      <m:t>𝑓</m:t>
                    </m:r>
                  </m:oMath>
                </a14:m>
                <a:r>
                  <a:rPr lang="en-US" sz="1600" dirty="0" smtClean="0">
                    <a:latin typeface="Sitka Text" pitchFamily="2" charset="0"/>
                  </a:rPr>
                  <a:t>: filter size</a:t>
                </a:r>
              </a:p>
              <a:p>
                <a14:m>
                  <m:oMath xmlns:m="http://schemas.openxmlformats.org/officeDocument/2006/math">
                    <m:r>
                      <a:rPr lang="en-US" sz="1600" i="1" dirty="0" smtClean="0">
                        <a:latin typeface="Cambria Math" panose="02040503050406030204" pitchFamily="18" charset="0"/>
                      </a:rPr>
                      <m:t>𝑝</m:t>
                    </m:r>
                  </m:oMath>
                </a14:m>
                <a:r>
                  <a:rPr lang="en-US" sz="1600" dirty="0" smtClean="0">
                    <a:latin typeface="Sitka Text" pitchFamily="2" charset="0"/>
                  </a:rPr>
                  <a:t>: padding</a:t>
                </a:r>
              </a:p>
              <a:p>
                <a14:m>
                  <m:oMath xmlns:m="http://schemas.openxmlformats.org/officeDocument/2006/math">
                    <m:r>
                      <a:rPr lang="en-US" sz="1600" i="1" dirty="0" smtClean="0">
                        <a:latin typeface="Cambria Math" panose="02040503050406030204" pitchFamily="18" charset="0"/>
                      </a:rPr>
                      <m:t>𝑠</m:t>
                    </m:r>
                  </m:oMath>
                </a14:m>
                <a:r>
                  <a:rPr lang="en-US" sz="1600" dirty="0" smtClean="0">
                    <a:latin typeface="Sitka Text" pitchFamily="2" charset="0"/>
                  </a:rPr>
                  <a:t>: stride</a:t>
                </a:r>
                <a:endParaRPr lang="en-US" sz="1600" dirty="0">
                  <a:latin typeface="Sitka Text" pitchFamily="2"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216058" y="4553146"/>
                <a:ext cx="1372812" cy="1077218"/>
              </a:xfrm>
              <a:prstGeom prst="rect">
                <a:avLst/>
              </a:prstGeom>
              <a:blipFill>
                <a:blip r:embed="rId5"/>
                <a:stretch>
                  <a:fillRect t="-1695" r="-885" b="-6215"/>
                </a:stretch>
              </a:blipFill>
            </p:spPr>
            <p:txBody>
              <a:bodyPr/>
              <a:lstStyle/>
              <a:p>
                <a:r>
                  <a:rPr lang="en-US">
                    <a:noFill/>
                  </a:rPr>
                  <a:t> </a:t>
                </a:r>
              </a:p>
            </p:txBody>
          </p:sp>
        </mc:Fallback>
      </mc:AlternateContent>
    </p:spTree>
    <p:extLst>
      <p:ext uri="{BB962C8B-B14F-4D97-AF65-F5344CB8AC3E}">
        <p14:creationId xmlns:p14="http://schemas.microsoft.com/office/powerpoint/2010/main" val="2678958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endParaRPr lang="en-IN" dirty="0"/>
          </a:p>
        </p:txBody>
      </p:sp>
      <p:pic>
        <p:nvPicPr>
          <p:cNvPr id="4098" name="Picture 2" descr="https://learnopencv.com/wp-content/uploads/2024/06/Convolutional-neural-networks-padding-example.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020754" y="1838843"/>
            <a:ext cx="5442836" cy="445549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756988" y="6398278"/>
            <a:ext cx="6527696" cy="276999"/>
          </a:xfrm>
          <a:prstGeom prst="rect">
            <a:avLst/>
          </a:prstGeom>
        </p:spPr>
        <p:txBody>
          <a:bodyPr wrap="square">
            <a:spAutoFit/>
          </a:bodyPr>
          <a:lstStyle/>
          <a:p>
            <a:r>
              <a:rPr lang="en-IN" sz="1200" dirty="0">
                <a:solidFill>
                  <a:schemeClr val="bg1"/>
                </a:solidFill>
                <a:latin typeface="Sitka Text" pitchFamily="2" charset="0"/>
              </a:rPr>
              <a:t>https://learnopencv.com/understanding-convolutional-neural-networks-cnn/</a:t>
            </a:r>
          </a:p>
        </p:txBody>
      </p:sp>
      <p:pic>
        <p:nvPicPr>
          <p:cNvPr id="4" name="Picture 3"/>
          <p:cNvPicPr>
            <a:picLocks noChangeAspect="1"/>
          </p:cNvPicPr>
          <p:nvPr/>
        </p:nvPicPr>
        <p:blipFill>
          <a:blip r:embed="rId4"/>
          <a:stretch>
            <a:fillRect/>
          </a:stretch>
        </p:blipFill>
        <p:spPr>
          <a:xfrm>
            <a:off x="478519" y="2765709"/>
            <a:ext cx="4976291" cy="2141406"/>
          </a:xfrm>
          <a:prstGeom prst="rect">
            <a:avLst/>
          </a:prstGeom>
        </p:spPr>
      </p:pic>
      <p:sp>
        <p:nvSpPr>
          <p:cNvPr id="6" name="Rectangle 5"/>
          <p:cNvSpPr/>
          <p:nvPr/>
        </p:nvSpPr>
        <p:spPr>
          <a:xfrm>
            <a:off x="5756988" y="6606161"/>
            <a:ext cx="4715069" cy="277079"/>
          </a:xfrm>
          <a:prstGeom prst="rect">
            <a:avLst/>
          </a:prstGeom>
        </p:spPr>
        <p:txBody>
          <a:bodyPr wrap="square">
            <a:spAutoFit/>
          </a:bodyPr>
          <a:lstStyle/>
          <a:p>
            <a:r>
              <a:rPr lang="en-US" sz="1200" dirty="0">
                <a:solidFill>
                  <a:schemeClr val="bg1"/>
                </a:solidFill>
                <a:latin typeface="Sitka Text" pitchFamily="2" charset="0"/>
              </a:rPr>
              <a:t>“Neural Networks and Deep Learning”, Aggarwal, C. C. , 2018. </a:t>
            </a:r>
            <a:endParaRPr lang="en-IN" sz="1200" dirty="0">
              <a:solidFill>
                <a:schemeClr val="bg1"/>
              </a:solidFill>
            </a:endParaRPr>
          </a:p>
        </p:txBody>
      </p:sp>
      <p:pic>
        <p:nvPicPr>
          <p:cNvPr id="7" name="Picture 6">
            <a:extLst>
              <a:ext uri="{FF2B5EF4-FFF2-40B4-BE49-F238E27FC236}">
                <a16:creationId xmlns:a16="http://schemas.microsoft.com/office/drawing/2014/main" id="{39E51601-9033-C1E4-818A-9EDFEF988194}"/>
              </a:ext>
            </a:extLst>
          </p:cNvPr>
          <p:cNvPicPr>
            <a:picLocks noChangeAspect="1"/>
          </p:cNvPicPr>
          <p:nvPr/>
        </p:nvPicPr>
        <p:blipFill>
          <a:blip r:embed="rId5"/>
          <a:stretch>
            <a:fillRect/>
          </a:stretch>
        </p:blipFill>
        <p:spPr>
          <a:xfrm>
            <a:off x="2762051" y="5367574"/>
            <a:ext cx="2108297" cy="667042"/>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716438" y="5162486"/>
                <a:ext cx="1372812" cy="1077218"/>
              </a:xfrm>
              <a:prstGeom prst="rect">
                <a:avLst/>
              </a:prstGeom>
              <a:noFill/>
            </p:spPr>
            <p:txBody>
              <a:bodyPr wrap="none" rtlCol="0">
                <a:spAutoFit/>
              </a:bodyPr>
              <a:lstStyle/>
              <a:p>
                <a14:m>
                  <m:oMath xmlns:m="http://schemas.openxmlformats.org/officeDocument/2006/math">
                    <m:r>
                      <a:rPr lang="en-US" sz="1600" i="1" dirty="0" smtClean="0">
                        <a:latin typeface="Cambria Math" panose="02040503050406030204" pitchFamily="18" charset="0"/>
                      </a:rPr>
                      <m:t>𝑛</m:t>
                    </m:r>
                  </m:oMath>
                </a14:m>
                <a:r>
                  <a:rPr lang="en-US" sz="1600" dirty="0" smtClean="0">
                    <a:latin typeface="Sitka Text" pitchFamily="2" charset="0"/>
                  </a:rPr>
                  <a:t>: input size</a:t>
                </a:r>
              </a:p>
              <a:p>
                <a14:m>
                  <m:oMath xmlns:m="http://schemas.openxmlformats.org/officeDocument/2006/math">
                    <m:r>
                      <a:rPr lang="en-US" sz="1600" i="1" dirty="0" smtClean="0">
                        <a:latin typeface="Cambria Math" panose="02040503050406030204" pitchFamily="18" charset="0"/>
                      </a:rPr>
                      <m:t>𝑓</m:t>
                    </m:r>
                  </m:oMath>
                </a14:m>
                <a:r>
                  <a:rPr lang="en-US" sz="1600" dirty="0" smtClean="0">
                    <a:latin typeface="Sitka Text" pitchFamily="2" charset="0"/>
                  </a:rPr>
                  <a:t>: filter size</a:t>
                </a:r>
              </a:p>
              <a:p>
                <a14:m>
                  <m:oMath xmlns:m="http://schemas.openxmlformats.org/officeDocument/2006/math">
                    <m:r>
                      <a:rPr lang="en-US" sz="1600" i="1" dirty="0" smtClean="0">
                        <a:latin typeface="Cambria Math" panose="02040503050406030204" pitchFamily="18" charset="0"/>
                      </a:rPr>
                      <m:t>𝑝</m:t>
                    </m:r>
                  </m:oMath>
                </a14:m>
                <a:r>
                  <a:rPr lang="en-US" sz="1600" dirty="0" smtClean="0">
                    <a:latin typeface="Sitka Text" pitchFamily="2" charset="0"/>
                  </a:rPr>
                  <a:t>: padding</a:t>
                </a:r>
              </a:p>
              <a:p>
                <a14:m>
                  <m:oMath xmlns:m="http://schemas.openxmlformats.org/officeDocument/2006/math">
                    <m:r>
                      <a:rPr lang="en-US" sz="1600" i="1" dirty="0" smtClean="0">
                        <a:latin typeface="Cambria Math" panose="02040503050406030204" pitchFamily="18" charset="0"/>
                      </a:rPr>
                      <m:t>𝑠</m:t>
                    </m:r>
                  </m:oMath>
                </a14:m>
                <a:r>
                  <a:rPr lang="en-US" sz="1600" dirty="0" smtClean="0">
                    <a:latin typeface="Sitka Text" pitchFamily="2" charset="0"/>
                  </a:rPr>
                  <a:t>: stride</a:t>
                </a:r>
                <a:endParaRPr lang="en-US" sz="1600" dirty="0">
                  <a:latin typeface="Sitka Text" pitchFamily="2"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716438" y="5162486"/>
                <a:ext cx="1372812" cy="1077218"/>
              </a:xfrm>
              <a:prstGeom prst="rect">
                <a:avLst/>
              </a:prstGeom>
              <a:blipFill>
                <a:blip r:embed="rId6"/>
                <a:stretch>
                  <a:fillRect l="-444" t="-1695" r="-889" b="-6215"/>
                </a:stretch>
              </a:blipFill>
            </p:spPr>
            <p:txBody>
              <a:bodyPr/>
              <a:lstStyle/>
              <a:p>
                <a:r>
                  <a:rPr lang="en-US">
                    <a:noFill/>
                  </a:rPr>
                  <a:t> </a:t>
                </a:r>
              </a:p>
            </p:txBody>
          </p:sp>
        </mc:Fallback>
      </mc:AlternateContent>
    </p:spTree>
    <p:extLst>
      <p:ext uri="{BB962C8B-B14F-4D97-AF65-F5344CB8AC3E}">
        <p14:creationId xmlns:p14="http://schemas.microsoft.com/office/powerpoint/2010/main" val="1470294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endParaRPr lang="en-IN" dirty="0"/>
          </a:p>
        </p:txBody>
      </p:sp>
      <p:sp>
        <p:nvSpPr>
          <p:cNvPr id="5" name="Rectangle 4"/>
          <p:cNvSpPr/>
          <p:nvPr/>
        </p:nvSpPr>
        <p:spPr>
          <a:xfrm>
            <a:off x="4935894" y="6464855"/>
            <a:ext cx="6527696"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https://learnopencv.com/understanding-convolutional-neural-networks-cnn/c</a:t>
            </a:r>
          </a:p>
        </p:txBody>
      </p:sp>
      <p:pic>
        <p:nvPicPr>
          <p:cNvPr id="2052" name="Picture 4" descr="https://learnopencv.com/wp-content/uploads/2023/01/tensorflow-keras-convolution-one-filter-exampl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47074" y="1817983"/>
            <a:ext cx="8305513" cy="431886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8411341" y="2292050"/>
            <a:ext cx="3177473" cy="307777"/>
          </a:xfrm>
          <a:prstGeom prst="rect">
            <a:avLst/>
          </a:prstGeom>
        </p:spPr>
        <p:txBody>
          <a:bodyPr wrap="none">
            <a:spAutoFit/>
          </a:bodyPr>
          <a:lstStyle/>
          <a:p>
            <a:r>
              <a:rPr lang="en-IN" sz="1400" b="1" dirty="0" err="1">
                <a:solidFill>
                  <a:srgbClr val="0070C0"/>
                </a:solidFill>
                <a:latin typeface="Sitka Text" pitchFamily="2" charset="0"/>
              </a:rPr>
              <a:t>n_filters</a:t>
            </a:r>
            <a:r>
              <a:rPr lang="en-IN" sz="1400" b="1" dirty="0">
                <a:solidFill>
                  <a:srgbClr val="0070C0"/>
                </a:solidFill>
                <a:latin typeface="Sitka Text" pitchFamily="2" charset="0"/>
              </a:rPr>
              <a:t> * </a:t>
            </a:r>
            <a:r>
              <a:rPr lang="en-IN" sz="1400" b="1" dirty="0" err="1">
                <a:solidFill>
                  <a:srgbClr val="0070C0"/>
                </a:solidFill>
                <a:latin typeface="Sitka Text" pitchFamily="2" charset="0"/>
              </a:rPr>
              <a:t>Dim_filter</a:t>
            </a:r>
            <a:r>
              <a:rPr lang="en-IN" sz="1400" b="1" dirty="0">
                <a:solidFill>
                  <a:srgbClr val="0070C0"/>
                </a:solidFill>
                <a:latin typeface="Sitka Text" pitchFamily="2" charset="0"/>
              </a:rPr>
              <a:t> * </a:t>
            </a:r>
            <a:r>
              <a:rPr lang="en-IN" sz="1400" b="1" dirty="0" err="1">
                <a:solidFill>
                  <a:srgbClr val="0070C0"/>
                </a:solidFill>
                <a:latin typeface="Sitka Text" pitchFamily="2" charset="0"/>
              </a:rPr>
              <a:t>n_channel</a:t>
            </a:r>
            <a:endParaRPr lang="en-IN" sz="1400" b="1" dirty="0">
              <a:solidFill>
                <a:srgbClr val="0070C0"/>
              </a:solidFill>
              <a:latin typeface="Sitka Text" pitchFamily="2" charset="0"/>
            </a:endParaRPr>
          </a:p>
        </p:txBody>
      </p:sp>
    </p:spTree>
    <p:extLst>
      <p:ext uri="{BB962C8B-B14F-4D97-AF65-F5344CB8AC3E}">
        <p14:creationId xmlns:p14="http://schemas.microsoft.com/office/powerpoint/2010/main" val="29343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endParaRPr lang="en-IN" dirty="0"/>
          </a:p>
        </p:txBody>
      </p:sp>
      <p:pic>
        <p:nvPicPr>
          <p:cNvPr id="3076" name="Picture 4" descr="https://learnopencv.com/wp-content/uploads/2023/01/tensorflow-keras-convolution-two-filter-exampl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67434" y="1846263"/>
            <a:ext cx="7717458" cy="4022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935894" y="6464855"/>
            <a:ext cx="6527696"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https://learnopencv.com/understanding-convolutional-neural-networks-cnn/c</a:t>
            </a:r>
          </a:p>
        </p:txBody>
      </p:sp>
      <p:sp>
        <p:nvSpPr>
          <p:cNvPr id="5" name="Rectangle 4"/>
          <p:cNvSpPr/>
          <p:nvPr/>
        </p:nvSpPr>
        <p:spPr>
          <a:xfrm>
            <a:off x="8411341" y="2292050"/>
            <a:ext cx="3177473" cy="307777"/>
          </a:xfrm>
          <a:prstGeom prst="rect">
            <a:avLst/>
          </a:prstGeom>
        </p:spPr>
        <p:txBody>
          <a:bodyPr wrap="none">
            <a:spAutoFit/>
          </a:bodyPr>
          <a:lstStyle/>
          <a:p>
            <a:r>
              <a:rPr lang="en-IN" sz="1400" b="1" dirty="0" err="1">
                <a:solidFill>
                  <a:srgbClr val="0070C0"/>
                </a:solidFill>
                <a:latin typeface="Sitka Text" pitchFamily="2" charset="0"/>
              </a:rPr>
              <a:t>n_filters</a:t>
            </a:r>
            <a:r>
              <a:rPr lang="en-IN" sz="1400" b="1" dirty="0">
                <a:solidFill>
                  <a:srgbClr val="0070C0"/>
                </a:solidFill>
                <a:latin typeface="Sitka Text" pitchFamily="2" charset="0"/>
              </a:rPr>
              <a:t> * </a:t>
            </a:r>
            <a:r>
              <a:rPr lang="en-IN" sz="1400" b="1" dirty="0" err="1">
                <a:solidFill>
                  <a:srgbClr val="0070C0"/>
                </a:solidFill>
                <a:latin typeface="Sitka Text" pitchFamily="2" charset="0"/>
              </a:rPr>
              <a:t>Dim_filter</a:t>
            </a:r>
            <a:r>
              <a:rPr lang="en-IN" sz="1400" b="1" dirty="0">
                <a:solidFill>
                  <a:srgbClr val="0070C0"/>
                </a:solidFill>
                <a:latin typeface="Sitka Text" pitchFamily="2" charset="0"/>
              </a:rPr>
              <a:t> * </a:t>
            </a:r>
            <a:r>
              <a:rPr lang="en-IN" sz="1400" b="1" dirty="0" err="1">
                <a:solidFill>
                  <a:srgbClr val="0070C0"/>
                </a:solidFill>
                <a:latin typeface="Sitka Text" pitchFamily="2" charset="0"/>
              </a:rPr>
              <a:t>n_channel</a:t>
            </a:r>
            <a:endParaRPr lang="en-IN" sz="1400" b="1" dirty="0">
              <a:solidFill>
                <a:srgbClr val="0070C0"/>
              </a:solidFill>
              <a:latin typeface="Sitka Text" pitchFamily="2" charset="0"/>
            </a:endParaRPr>
          </a:p>
        </p:txBody>
      </p:sp>
    </p:spTree>
    <p:extLst>
      <p:ext uri="{BB962C8B-B14F-4D97-AF65-F5344CB8AC3E}">
        <p14:creationId xmlns:p14="http://schemas.microsoft.com/office/powerpoint/2010/main" val="884433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endParaRPr lang="en-IN" dirty="0"/>
          </a:p>
        </p:txBody>
      </p:sp>
      <p:pic>
        <p:nvPicPr>
          <p:cNvPr id="4" name="Content Placeholder 3"/>
          <p:cNvPicPr>
            <a:picLocks noGrp="1" noChangeAspect="1"/>
          </p:cNvPicPr>
          <p:nvPr>
            <p:ph idx="1"/>
          </p:nvPr>
        </p:nvPicPr>
        <p:blipFill>
          <a:blip r:embed="rId2"/>
          <a:stretch>
            <a:fillRect/>
          </a:stretch>
        </p:blipFill>
        <p:spPr>
          <a:xfrm>
            <a:off x="1264864" y="1846263"/>
            <a:ext cx="9722598" cy="4022725"/>
          </a:xfrm>
          <a:prstGeom prst="rect">
            <a:avLst/>
          </a:prstGeom>
        </p:spPr>
      </p:pic>
      <p:sp>
        <p:nvSpPr>
          <p:cNvPr id="5" name="Rectangle 4"/>
          <p:cNvSpPr/>
          <p:nvPr/>
        </p:nvSpPr>
        <p:spPr>
          <a:xfrm>
            <a:off x="4935894" y="6464855"/>
            <a:ext cx="6527696"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https://learnopencv.com/understanding-convolutional-neural-networks-cnn/c</a:t>
            </a:r>
          </a:p>
        </p:txBody>
      </p:sp>
    </p:spTree>
    <p:extLst>
      <p:ext uri="{BB962C8B-B14F-4D97-AF65-F5344CB8AC3E}">
        <p14:creationId xmlns:p14="http://schemas.microsoft.com/office/powerpoint/2010/main" val="1783014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endParaRPr lang="en-IN" dirty="0"/>
          </a:p>
        </p:txBody>
      </p:sp>
      <p:pic>
        <p:nvPicPr>
          <p:cNvPr id="4" name="Content Placeholder 3"/>
          <p:cNvPicPr>
            <a:picLocks noGrp="1" noChangeAspect="1"/>
          </p:cNvPicPr>
          <p:nvPr>
            <p:ph idx="1"/>
          </p:nvPr>
        </p:nvPicPr>
        <p:blipFill>
          <a:blip r:embed="rId2"/>
          <a:stretch>
            <a:fillRect/>
          </a:stretch>
        </p:blipFill>
        <p:spPr>
          <a:xfrm>
            <a:off x="1939048" y="2296436"/>
            <a:ext cx="8374864" cy="3510805"/>
          </a:xfrm>
          <a:prstGeom prst="rect">
            <a:avLst/>
          </a:prstGeom>
        </p:spPr>
      </p:pic>
      <p:sp>
        <p:nvSpPr>
          <p:cNvPr id="3" name="Rectangle 2"/>
          <p:cNvSpPr/>
          <p:nvPr/>
        </p:nvSpPr>
        <p:spPr>
          <a:xfrm>
            <a:off x="7256106" y="6506277"/>
            <a:ext cx="4715069" cy="277079"/>
          </a:xfrm>
          <a:prstGeom prst="rect">
            <a:avLst/>
          </a:prstGeom>
        </p:spPr>
        <p:txBody>
          <a:bodyPr wrap="square">
            <a:spAutoFit/>
          </a:bodyPr>
          <a:lstStyle/>
          <a:p>
            <a:r>
              <a:rPr lang="en-US" sz="1200" dirty="0">
                <a:solidFill>
                  <a:schemeClr val="bg1"/>
                </a:solidFill>
                <a:latin typeface="Sitka Text" pitchFamily="2" charset="0"/>
              </a:rPr>
              <a:t>“Neural Networks and Deep Learning”, Aggarwal, C. C. , 2018. </a:t>
            </a:r>
            <a:endParaRPr lang="en-IN" sz="1200" dirty="0">
              <a:solidFill>
                <a:schemeClr val="bg1"/>
              </a:solidFill>
            </a:endParaRPr>
          </a:p>
        </p:txBody>
      </p:sp>
    </p:spTree>
    <p:extLst>
      <p:ext uri="{BB962C8B-B14F-4D97-AF65-F5344CB8AC3E}">
        <p14:creationId xmlns:p14="http://schemas.microsoft.com/office/powerpoint/2010/main" val="25869307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endParaRPr lang="en-IN" dirty="0"/>
          </a:p>
        </p:txBody>
      </p:sp>
      <p:pic>
        <p:nvPicPr>
          <p:cNvPr id="4" name="Content Placeholder 3"/>
          <p:cNvPicPr>
            <a:picLocks noGrp="1" noChangeAspect="1"/>
          </p:cNvPicPr>
          <p:nvPr>
            <p:ph idx="1"/>
          </p:nvPr>
        </p:nvPicPr>
        <p:blipFill>
          <a:blip r:embed="rId2"/>
          <a:stretch>
            <a:fillRect/>
          </a:stretch>
        </p:blipFill>
        <p:spPr>
          <a:xfrm>
            <a:off x="2635729" y="1846263"/>
            <a:ext cx="6980867" cy="4022725"/>
          </a:xfrm>
          <a:prstGeom prst="rect">
            <a:avLst/>
          </a:prstGeom>
        </p:spPr>
      </p:pic>
      <p:sp>
        <p:nvSpPr>
          <p:cNvPr id="3" name="Rectangle 2"/>
          <p:cNvSpPr/>
          <p:nvPr/>
        </p:nvSpPr>
        <p:spPr>
          <a:xfrm>
            <a:off x="2282889" y="6351142"/>
            <a:ext cx="9367935" cy="430887"/>
          </a:xfrm>
          <a:prstGeom prst="rect">
            <a:avLst/>
          </a:prstGeom>
        </p:spPr>
        <p:txBody>
          <a:bodyPr wrap="square">
            <a:spAutoFit/>
          </a:bodyPr>
          <a:lstStyle/>
          <a:p>
            <a:r>
              <a:rPr lang="en-IN" sz="1100" dirty="0" err="1">
                <a:solidFill>
                  <a:schemeClr val="bg1"/>
                </a:solidFill>
                <a:latin typeface="Sitka Text" pitchFamily="2" charset="0"/>
              </a:rPr>
              <a:t>Zeiler</a:t>
            </a:r>
            <a:r>
              <a:rPr lang="en-IN" sz="1100" dirty="0">
                <a:solidFill>
                  <a:schemeClr val="bg1"/>
                </a:solidFill>
                <a:latin typeface="Sitka Text" pitchFamily="2" charset="0"/>
              </a:rPr>
              <a:t>, M. D., &amp; Fergus, R. (2014). Visualizing and understanding convolutional networks. In </a:t>
            </a:r>
            <a:r>
              <a:rPr lang="en-IN" sz="1100" i="1" dirty="0">
                <a:solidFill>
                  <a:schemeClr val="bg1"/>
                </a:solidFill>
                <a:latin typeface="Sitka Text" pitchFamily="2" charset="0"/>
              </a:rPr>
              <a:t>Computer Vision–ECCV 2014: 13th European Conference, Zurich, Switzerland, September 6-12, 2014, Proceedings, Part I 13</a:t>
            </a:r>
            <a:r>
              <a:rPr lang="en-IN" sz="1100" dirty="0">
                <a:solidFill>
                  <a:schemeClr val="bg1"/>
                </a:solidFill>
                <a:latin typeface="Sitka Text" pitchFamily="2" charset="0"/>
              </a:rPr>
              <a:t> (pp. 818-833). Springer International Publishing.</a:t>
            </a:r>
          </a:p>
        </p:txBody>
      </p:sp>
    </p:spTree>
    <p:extLst>
      <p:ext uri="{BB962C8B-B14F-4D97-AF65-F5344CB8AC3E}">
        <p14:creationId xmlns:p14="http://schemas.microsoft.com/office/powerpoint/2010/main" val="14579050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Pooling Layer</a:t>
            </a:r>
          </a:p>
        </p:txBody>
      </p:sp>
      <p:pic>
        <p:nvPicPr>
          <p:cNvPr id="4" name="Content Placeholder 3"/>
          <p:cNvPicPr>
            <a:picLocks noGrp="1" noChangeAspect="1"/>
          </p:cNvPicPr>
          <p:nvPr>
            <p:ph idx="1"/>
          </p:nvPr>
        </p:nvPicPr>
        <p:blipFill>
          <a:blip r:embed="rId2"/>
          <a:stretch>
            <a:fillRect/>
          </a:stretch>
        </p:blipFill>
        <p:spPr>
          <a:xfrm>
            <a:off x="1742265" y="1846263"/>
            <a:ext cx="8767796" cy="4022725"/>
          </a:xfrm>
          <a:prstGeom prst="rect">
            <a:avLst/>
          </a:prstGeom>
        </p:spPr>
      </p:pic>
      <p:sp>
        <p:nvSpPr>
          <p:cNvPr id="5" name="Rectangle 4"/>
          <p:cNvSpPr/>
          <p:nvPr/>
        </p:nvSpPr>
        <p:spPr>
          <a:xfrm>
            <a:off x="4935894" y="6464855"/>
            <a:ext cx="6527696"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https://learnopencv.com/understanding-convolutional-neural-networks-cnn/c</a:t>
            </a:r>
          </a:p>
        </p:txBody>
      </p:sp>
    </p:spTree>
    <p:extLst>
      <p:ext uri="{BB962C8B-B14F-4D97-AF65-F5344CB8AC3E}">
        <p14:creationId xmlns:p14="http://schemas.microsoft.com/office/powerpoint/2010/main" val="21182568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Pooling Layer</a:t>
            </a:r>
            <a:endParaRPr lang="en-IN" dirty="0"/>
          </a:p>
        </p:txBody>
      </p:sp>
      <p:pic>
        <p:nvPicPr>
          <p:cNvPr id="4" name="Content Placeholder 3"/>
          <p:cNvPicPr>
            <a:picLocks noGrp="1" noChangeAspect="1"/>
          </p:cNvPicPr>
          <p:nvPr>
            <p:ph idx="1"/>
          </p:nvPr>
        </p:nvPicPr>
        <p:blipFill>
          <a:blip r:embed="rId2"/>
          <a:stretch>
            <a:fillRect/>
          </a:stretch>
        </p:blipFill>
        <p:spPr>
          <a:xfrm>
            <a:off x="3550246" y="2074863"/>
            <a:ext cx="5152467" cy="4022725"/>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1500657" y="2822040"/>
                <a:ext cx="1827359" cy="7085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𝑂</m:t>
                      </m:r>
                      <m:r>
                        <a:rPr lang="en-US" i="0">
                          <a:latin typeface="Cambria Math" panose="02040503050406030204" pitchFamily="18" charset="0"/>
                        </a:rPr>
                        <m:t>=</m:t>
                      </m:r>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𝑛</m:t>
                              </m:r>
                              <m:r>
                                <a:rPr lang="en-US" i="0">
                                  <a:latin typeface="Cambria Math" panose="02040503050406030204" pitchFamily="18" charset="0"/>
                                </a:rPr>
                                <m:t>−</m:t>
                              </m:r>
                              <m:r>
                                <a:rPr lang="en-US" i="1">
                                  <a:latin typeface="Cambria Math" panose="02040503050406030204" pitchFamily="18" charset="0"/>
                                </a:rPr>
                                <m:t>𝑓</m:t>
                              </m:r>
                            </m:num>
                            <m:den>
                              <m:r>
                                <a:rPr lang="en-US" i="1">
                                  <a:latin typeface="Cambria Math" panose="02040503050406030204" pitchFamily="18" charset="0"/>
                                </a:rPr>
                                <m:t>𝑠</m:t>
                              </m:r>
                            </m:den>
                          </m:f>
                        </m:e>
                      </m:d>
                      <m:r>
                        <a:rPr lang="en-US" i="0">
                          <a:latin typeface="Cambria Math" panose="02040503050406030204" pitchFamily="18" charset="0"/>
                        </a:rPr>
                        <m:t>+1</m:t>
                      </m:r>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1500657" y="2822040"/>
                <a:ext cx="1827359" cy="7085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10874" y="5162486"/>
                <a:ext cx="1372812" cy="830997"/>
              </a:xfrm>
              <a:prstGeom prst="rect">
                <a:avLst/>
              </a:prstGeom>
              <a:noFill/>
            </p:spPr>
            <p:txBody>
              <a:bodyPr wrap="none" rtlCol="0">
                <a:spAutoFit/>
              </a:bodyPr>
              <a:lstStyle/>
              <a:p>
                <a14:m>
                  <m:oMath xmlns:m="http://schemas.openxmlformats.org/officeDocument/2006/math">
                    <m:r>
                      <a:rPr lang="en-US" sz="1600" i="1" dirty="0" smtClean="0">
                        <a:latin typeface="Cambria Math" panose="02040503050406030204" pitchFamily="18" charset="0"/>
                      </a:rPr>
                      <m:t>𝑛</m:t>
                    </m:r>
                  </m:oMath>
                </a14:m>
                <a:r>
                  <a:rPr lang="en-US" sz="1600" dirty="0" smtClean="0">
                    <a:latin typeface="Sitka Text" pitchFamily="2" charset="0"/>
                  </a:rPr>
                  <a:t>: input size</a:t>
                </a:r>
              </a:p>
              <a:p>
                <a14:m>
                  <m:oMath xmlns:m="http://schemas.openxmlformats.org/officeDocument/2006/math">
                    <m:r>
                      <a:rPr lang="en-US" sz="1600" i="1" dirty="0" smtClean="0">
                        <a:latin typeface="Cambria Math" panose="02040503050406030204" pitchFamily="18" charset="0"/>
                      </a:rPr>
                      <m:t>𝑓</m:t>
                    </m:r>
                  </m:oMath>
                </a14:m>
                <a:r>
                  <a:rPr lang="en-US" sz="1600" dirty="0" smtClean="0">
                    <a:latin typeface="Sitka Text" pitchFamily="2" charset="0"/>
                  </a:rPr>
                  <a:t>: filter size</a:t>
                </a:r>
              </a:p>
              <a:p>
                <a14:m>
                  <m:oMath xmlns:m="http://schemas.openxmlformats.org/officeDocument/2006/math">
                    <m:r>
                      <a:rPr lang="en-US" sz="1600" i="1" dirty="0" smtClean="0">
                        <a:latin typeface="Cambria Math" panose="02040503050406030204" pitchFamily="18" charset="0"/>
                      </a:rPr>
                      <m:t>𝑠</m:t>
                    </m:r>
                  </m:oMath>
                </a14:m>
                <a:r>
                  <a:rPr lang="en-US" sz="1600" dirty="0" smtClean="0">
                    <a:latin typeface="Sitka Text" pitchFamily="2" charset="0"/>
                  </a:rPr>
                  <a:t>: stride</a:t>
                </a:r>
                <a:endParaRPr lang="en-US" sz="1600" dirty="0">
                  <a:latin typeface="Sitka Text" pitchFamily="2"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10874" y="5162486"/>
                <a:ext cx="1372812" cy="830997"/>
              </a:xfrm>
              <a:prstGeom prst="rect">
                <a:avLst/>
              </a:prstGeom>
              <a:blipFill>
                <a:blip r:embed="rId4"/>
                <a:stretch>
                  <a:fillRect t="-2206" r="-885" b="-8824"/>
                </a:stretch>
              </a:blipFill>
            </p:spPr>
            <p:txBody>
              <a:bodyPr/>
              <a:lstStyle/>
              <a:p>
                <a:r>
                  <a:rPr lang="en-US">
                    <a:noFill/>
                  </a:rPr>
                  <a:t> </a:t>
                </a:r>
              </a:p>
            </p:txBody>
          </p:sp>
        </mc:Fallback>
      </mc:AlternateContent>
    </p:spTree>
    <p:extLst>
      <p:ext uri="{BB962C8B-B14F-4D97-AF65-F5344CB8AC3E}">
        <p14:creationId xmlns:p14="http://schemas.microsoft.com/office/powerpoint/2010/main" val="9681256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Fully-connected Layer</a:t>
            </a:r>
            <a:endParaRPr lang="en-IN" dirty="0"/>
          </a:p>
        </p:txBody>
      </p:sp>
      <p:pic>
        <p:nvPicPr>
          <p:cNvPr id="4" name="Content Placeholder 3"/>
          <p:cNvPicPr>
            <a:picLocks noGrp="1" noChangeAspect="1"/>
          </p:cNvPicPr>
          <p:nvPr>
            <p:ph idx="1"/>
          </p:nvPr>
        </p:nvPicPr>
        <p:blipFill>
          <a:blip r:embed="rId2"/>
          <a:stretch>
            <a:fillRect/>
          </a:stretch>
        </p:blipFill>
        <p:spPr>
          <a:xfrm>
            <a:off x="2593900" y="2089745"/>
            <a:ext cx="7065159" cy="4022725"/>
          </a:xfrm>
          <a:prstGeom prst="rect">
            <a:avLst/>
          </a:prstGeom>
        </p:spPr>
      </p:pic>
      <p:sp>
        <p:nvSpPr>
          <p:cNvPr id="5" name="Rectangle 4"/>
          <p:cNvSpPr/>
          <p:nvPr/>
        </p:nvSpPr>
        <p:spPr>
          <a:xfrm>
            <a:off x="4935894" y="6464855"/>
            <a:ext cx="6527696"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Tree>
    <p:extLst>
      <p:ext uri="{BB962C8B-B14F-4D97-AF65-F5344CB8AC3E}">
        <p14:creationId xmlns:p14="http://schemas.microsoft.com/office/powerpoint/2010/main" val="366276134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Transfer Learning &amp; Fine-tuning</a:t>
            </a:r>
          </a:p>
        </p:txBody>
      </p:sp>
      <p:pic>
        <p:nvPicPr>
          <p:cNvPr id="4" name="Content Placeholder 3"/>
          <p:cNvPicPr>
            <a:picLocks noGrp="1" noChangeAspect="1"/>
          </p:cNvPicPr>
          <p:nvPr>
            <p:ph idx="1"/>
          </p:nvPr>
        </p:nvPicPr>
        <p:blipFill>
          <a:blip r:embed="rId2"/>
          <a:stretch>
            <a:fillRect/>
          </a:stretch>
        </p:blipFill>
        <p:spPr>
          <a:xfrm>
            <a:off x="3358575" y="1846263"/>
            <a:ext cx="5535175" cy="4022725"/>
          </a:xfrm>
          <a:prstGeom prst="rect">
            <a:avLst/>
          </a:prstGeom>
        </p:spPr>
      </p:pic>
      <p:sp>
        <p:nvSpPr>
          <p:cNvPr id="5" name="Rectangle 4"/>
          <p:cNvSpPr/>
          <p:nvPr/>
        </p:nvSpPr>
        <p:spPr>
          <a:xfrm>
            <a:off x="4858139" y="6544339"/>
            <a:ext cx="6553199"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Tree>
    <p:extLst>
      <p:ext uri="{BB962C8B-B14F-4D97-AF65-F5344CB8AC3E}">
        <p14:creationId xmlns:p14="http://schemas.microsoft.com/office/powerpoint/2010/main" val="3527931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Transfer </a:t>
            </a:r>
            <a:r>
              <a:rPr lang="en-IN" dirty="0" smtClean="0">
                <a:latin typeface="Sitka Text" pitchFamily="2" charset="0"/>
              </a:rPr>
              <a:t>Learning &amp; Fine-tuning</a:t>
            </a:r>
            <a:endParaRPr lang="en-IN" dirty="0">
              <a:latin typeface="Sitka Text" pitchFamily="2" charset="0"/>
            </a:endParaRPr>
          </a:p>
        </p:txBody>
      </p:sp>
      <p:pic>
        <p:nvPicPr>
          <p:cNvPr id="4" name="Content Placeholder 3"/>
          <p:cNvPicPr>
            <a:picLocks noGrp="1" noChangeAspect="1"/>
          </p:cNvPicPr>
          <p:nvPr>
            <p:ph idx="1"/>
          </p:nvPr>
        </p:nvPicPr>
        <p:blipFill>
          <a:blip r:embed="rId2"/>
          <a:stretch>
            <a:fillRect/>
          </a:stretch>
        </p:blipFill>
        <p:spPr>
          <a:xfrm>
            <a:off x="3321255" y="1846263"/>
            <a:ext cx="5609815" cy="4022725"/>
          </a:xfrm>
          <a:prstGeom prst="rect">
            <a:avLst/>
          </a:prstGeom>
        </p:spPr>
      </p:pic>
      <p:sp>
        <p:nvSpPr>
          <p:cNvPr id="5" name="Rectangle 4"/>
          <p:cNvSpPr/>
          <p:nvPr/>
        </p:nvSpPr>
        <p:spPr>
          <a:xfrm>
            <a:off x="4858139" y="6544339"/>
            <a:ext cx="6553199"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Tree>
    <p:extLst>
      <p:ext uri="{BB962C8B-B14F-4D97-AF65-F5344CB8AC3E}">
        <p14:creationId xmlns:p14="http://schemas.microsoft.com/office/powerpoint/2010/main" val="36821317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Intuition: Why </a:t>
            </a:r>
            <a:r>
              <a:rPr lang="en-US" dirty="0">
                <a:latin typeface="Sitka Text" pitchFamily="2" charset="0"/>
              </a:rPr>
              <a:t>CNNs work well</a:t>
            </a:r>
            <a:endParaRPr lang="en-IN" dirty="0">
              <a:latin typeface="Sitka Text" pitchFamily="2" charset="0"/>
            </a:endParaRPr>
          </a:p>
        </p:txBody>
      </p:sp>
      <p:pic>
        <p:nvPicPr>
          <p:cNvPr id="4" name="Content Placeholder 3"/>
          <p:cNvPicPr>
            <a:picLocks noGrp="1" noChangeAspect="1"/>
          </p:cNvPicPr>
          <p:nvPr>
            <p:ph idx="1"/>
          </p:nvPr>
        </p:nvPicPr>
        <p:blipFill>
          <a:blip r:embed="rId2"/>
          <a:srcRect l="1" r="-228"/>
          <a:stretch/>
        </p:blipFill>
        <p:spPr>
          <a:xfrm>
            <a:off x="2949282" y="1846263"/>
            <a:ext cx="6368243" cy="4022725"/>
          </a:xfrm>
          <a:prstGeom prst="rect">
            <a:avLst/>
          </a:prstGeom>
        </p:spPr>
      </p:pic>
      <p:sp>
        <p:nvSpPr>
          <p:cNvPr id="5" name="Rectangle 4"/>
          <p:cNvSpPr/>
          <p:nvPr/>
        </p:nvSpPr>
        <p:spPr>
          <a:xfrm>
            <a:off x="4935894" y="6464855"/>
            <a:ext cx="6527696"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https://learnopencv.com/understanding-convolutional-neural-networks-cnn/c</a:t>
            </a:r>
          </a:p>
        </p:txBody>
      </p:sp>
    </p:spTree>
    <p:extLst>
      <p:ext uri="{BB962C8B-B14F-4D97-AF65-F5344CB8AC3E}">
        <p14:creationId xmlns:p14="http://schemas.microsoft.com/office/powerpoint/2010/main" val="41125513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Object </a:t>
            </a:r>
            <a:r>
              <a:rPr lang="en-US" dirty="0" smtClean="0">
                <a:latin typeface="Sitka Text" pitchFamily="2" charset="0"/>
              </a:rPr>
              <a:t>detection:</a:t>
            </a:r>
            <a:br>
              <a:rPr lang="en-US" dirty="0" smtClean="0">
                <a:latin typeface="Sitka Text" pitchFamily="2" charset="0"/>
              </a:rPr>
            </a:br>
            <a:r>
              <a:rPr lang="en-US" dirty="0" smtClean="0">
                <a:latin typeface="Sitka Text" pitchFamily="2" charset="0"/>
              </a:rPr>
              <a:t>Sliding Window Approach</a:t>
            </a:r>
            <a:endParaRPr lang="en-US" dirty="0">
              <a:latin typeface="Sitka Text" pitchFamily="2" charset="0"/>
            </a:endParaRPr>
          </a:p>
        </p:txBody>
      </p:sp>
      <p:pic>
        <p:nvPicPr>
          <p:cNvPr id="4" name="Content Placeholder 3"/>
          <p:cNvPicPr>
            <a:picLocks noGrp="1"/>
          </p:cNvPicPr>
          <p:nvPr>
            <p:ph idx="1"/>
          </p:nvPr>
        </p:nvPicPr>
        <p:blipFill>
          <a:blip r:embed="rId3"/>
          <a:stretch>
            <a:fillRect/>
          </a:stretch>
        </p:blipFill>
        <p:spPr>
          <a:xfrm>
            <a:off x="2279677" y="2063413"/>
            <a:ext cx="7693606" cy="3863254"/>
          </a:xfrm>
          <a:prstGeom prst="rect">
            <a:avLst/>
          </a:prstGeom>
        </p:spPr>
      </p:pic>
      <p:sp>
        <p:nvSpPr>
          <p:cNvPr id="5" name="Rectangle 4"/>
          <p:cNvSpPr/>
          <p:nvPr/>
        </p:nvSpPr>
        <p:spPr>
          <a:xfrm>
            <a:off x="7454158" y="6455920"/>
            <a:ext cx="4346062" cy="276999"/>
          </a:xfrm>
          <a:prstGeom prst="rect">
            <a:avLst/>
          </a:prstGeom>
        </p:spPr>
        <p:txBody>
          <a:bodyPr wrap="none">
            <a:spAutoFit/>
          </a:bodyPr>
          <a:lstStyle/>
          <a:p>
            <a:r>
              <a:rPr lang="en-US" sz="1200" dirty="0">
                <a:solidFill>
                  <a:schemeClr val="bg1"/>
                </a:solidFill>
                <a:latin typeface="Sitka Text" pitchFamily="2" charset="0"/>
              </a:rPr>
              <a:t>https://youtu.be/26PWiWCz1v8?si=eWM5bksiEGVLCfVW</a:t>
            </a:r>
          </a:p>
        </p:txBody>
      </p:sp>
    </p:spTree>
    <p:extLst>
      <p:ext uri="{BB962C8B-B14F-4D97-AF65-F5344CB8AC3E}">
        <p14:creationId xmlns:p14="http://schemas.microsoft.com/office/powerpoint/2010/main" val="17030748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Sliding Window Approach</a:t>
            </a:r>
            <a:endParaRPr lang="en-US" dirty="0"/>
          </a:p>
        </p:txBody>
      </p:sp>
      <p:pic>
        <p:nvPicPr>
          <p:cNvPr id="4" name="Content Placeholder 3"/>
          <p:cNvPicPr>
            <a:picLocks noGrp="1" noChangeAspect="1"/>
          </p:cNvPicPr>
          <p:nvPr>
            <p:ph idx="1"/>
          </p:nvPr>
        </p:nvPicPr>
        <p:blipFill>
          <a:blip r:embed="rId3"/>
          <a:stretch>
            <a:fillRect/>
          </a:stretch>
        </p:blipFill>
        <p:spPr>
          <a:xfrm>
            <a:off x="2282613" y="1957495"/>
            <a:ext cx="1837501" cy="1920240"/>
          </a:xfrm>
          <a:prstGeom prst="rect">
            <a:avLst/>
          </a:prstGeom>
        </p:spPr>
      </p:pic>
      <p:pic>
        <p:nvPicPr>
          <p:cNvPr id="6" name="Picture 5"/>
          <p:cNvPicPr>
            <a:picLocks noChangeAspect="1"/>
          </p:cNvPicPr>
          <p:nvPr/>
        </p:nvPicPr>
        <p:blipFill>
          <a:blip r:embed="rId4"/>
          <a:stretch>
            <a:fillRect/>
          </a:stretch>
        </p:blipFill>
        <p:spPr>
          <a:xfrm>
            <a:off x="2282613" y="4030136"/>
            <a:ext cx="1857623" cy="1920240"/>
          </a:xfrm>
          <a:prstGeom prst="rect">
            <a:avLst/>
          </a:prstGeom>
        </p:spPr>
      </p:pic>
      <p:sp>
        <p:nvSpPr>
          <p:cNvPr id="8" name="Rounded Rectangle 7"/>
          <p:cNvSpPr/>
          <p:nvPr/>
        </p:nvSpPr>
        <p:spPr>
          <a:xfrm>
            <a:off x="5130799" y="2404533"/>
            <a:ext cx="2472268" cy="103293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Sitka Text" pitchFamily="2" charset="0"/>
              </a:rPr>
              <a:t>Classifier</a:t>
            </a:r>
          </a:p>
        </p:txBody>
      </p:sp>
      <p:cxnSp>
        <p:nvCxnSpPr>
          <p:cNvPr id="10" name="Straight Arrow Connector 9"/>
          <p:cNvCxnSpPr>
            <a:stCxn id="4" idx="3"/>
            <a:endCxn id="8" idx="1"/>
          </p:cNvCxnSpPr>
          <p:nvPr/>
        </p:nvCxnSpPr>
        <p:spPr>
          <a:xfrm>
            <a:off x="4120114" y="2917615"/>
            <a:ext cx="1010685" cy="33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7603067" y="2914230"/>
            <a:ext cx="1010685" cy="33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613752" y="2680309"/>
            <a:ext cx="776175" cy="400110"/>
          </a:xfrm>
          <a:prstGeom prst="rect">
            <a:avLst/>
          </a:prstGeom>
          <a:noFill/>
        </p:spPr>
        <p:txBody>
          <a:bodyPr wrap="none" rtlCol="0">
            <a:spAutoFit/>
          </a:bodyPr>
          <a:lstStyle/>
          <a:p>
            <a:r>
              <a:rPr lang="en-US" sz="2000" dirty="0" smtClean="0">
                <a:latin typeface="Sitka Text" pitchFamily="2" charset="0"/>
              </a:rPr>
              <a:t>Dog?</a:t>
            </a:r>
            <a:endParaRPr lang="en-US" sz="2000" dirty="0">
              <a:latin typeface="Sitka Text" pitchFamily="2" charset="0"/>
            </a:endParaRPr>
          </a:p>
        </p:txBody>
      </p:sp>
      <p:sp>
        <p:nvSpPr>
          <p:cNvPr id="14" name="Rounded Rectangle 13"/>
          <p:cNvSpPr/>
          <p:nvPr/>
        </p:nvSpPr>
        <p:spPr>
          <a:xfrm>
            <a:off x="5130799" y="4470404"/>
            <a:ext cx="2472268" cy="1032933"/>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Sitka Text" pitchFamily="2" charset="0"/>
              </a:rPr>
              <a:t>Classifier</a:t>
            </a:r>
          </a:p>
        </p:txBody>
      </p:sp>
      <p:cxnSp>
        <p:nvCxnSpPr>
          <p:cNvPr id="15" name="Straight Arrow Connector 14"/>
          <p:cNvCxnSpPr/>
          <p:nvPr/>
        </p:nvCxnSpPr>
        <p:spPr>
          <a:xfrm>
            <a:off x="4120114" y="4983486"/>
            <a:ext cx="1010685" cy="33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7603067" y="4980101"/>
            <a:ext cx="1010685" cy="33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8613752" y="4746180"/>
            <a:ext cx="776175" cy="400110"/>
          </a:xfrm>
          <a:prstGeom prst="rect">
            <a:avLst/>
          </a:prstGeom>
          <a:noFill/>
        </p:spPr>
        <p:txBody>
          <a:bodyPr wrap="none" rtlCol="0">
            <a:spAutoFit/>
          </a:bodyPr>
          <a:lstStyle/>
          <a:p>
            <a:r>
              <a:rPr lang="en-US" sz="2000" dirty="0" smtClean="0">
                <a:latin typeface="Sitka Text" pitchFamily="2" charset="0"/>
              </a:rPr>
              <a:t>Dog?</a:t>
            </a:r>
            <a:endParaRPr lang="en-US" sz="2000" dirty="0">
              <a:latin typeface="Sitka Text" pitchFamily="2" charset="0"/>
            </a:endParaRPr>
          </a:p>
        </p:txBody>
      </p:sp>
      <p:sp>
        <p:nvSpPr>
          <p:cNvPr id="19" name="Rectangle 18"/>
          <p:cNvSpPr/>
          <p:nvPr/>
        </p:nvSpPr>
        <p:spPr>
          <a:xfrm>
            <a:off x="1989313" y="5951972"/>
            <a:ext cx="6026009" cy="400110"/>
          </a:xfrm>
          <a:prstGeom prst="rect">
            <a:avLst/>
          </a:prstGeom>
        </p:spPr>
        <p:txBody>
          <a:bodyPr wrap="none">
            <a:spAutoFit/>
          </a:bodyPr>
          <a:lstStyle/>
          <a:p>
            <a:r>
              <a:rPr lang="en-IN" sz="2000" dirty="0" smtClean="0">
                <a:latin typeface="Sitka Text" pitchFamily="2" charset="0"/>
                <a:ea typeface="Calibri" panose="020F0502020204030204" pitchFamily="34" charset="0"/>
                <a:cs typeface="Times New Roman" panose="02020603050405020304" pitchFamily="18" charset="0"/>
              </a:rPr>
              <a:t>Computationally expensive and time consuming </a:t>
            </a:r>
            <a:endParaRPr lang="en-US" sz="2000" dirty="0">
              <a:latin typeface="Sitka Text" pitchFamily="2" charset="0"/>
            </a:endParaRPr>
          </a:p>
        </p:txBody>
      </p:sp>
    </p:spTree>
    <p:extLst>
      <p:ext uri="{BB962C8B-B14F-4D97-AF65-F5344CB8AC3E}">
        <p14:creationId xmlns:p14="http://schemas.microsoft.com/office/powerpoint/2010/main" val="3772422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Sliding Window Approach</a:t>
            </a:r>
            <a:endParaRPr lang="en-US" dirty="0"/>
          </a:p>
        </p:txBody>
      </p:sp>
      <p:pic>
        <p:nvPicPr>
          <p:cNvPr id="4" name="Content Placeholder 3"/>
          <p:cNvPicPr>
            <a:picLocks noGrp="1" noChangeAspect="1"/>
          </p:cNvPicPr>
          <p:nvPr>
            <p:ph idx="1"/>
          </p:nvPr>
        </p:nvPicPr>
        <p:blipFill rotWithShape="1">
          <a:blip r:embed="rId3"/>
          <a:srcRect t="2876" b="-1"/>
          <a:stretch/>
        </p:blipFill>
        <p:spPr>
          <a:xfrm>
            <a:off x="1553779" y="2031999"/>
            <a:ext cx="9145402" cy="3810000"/>
          </a:xfrm>
          <a:prstGeom prst="rect">
            <a:avLst/>
          </a:prstGeom>
        </p:spPr>
      </p:pic>
    </p:spTree>
    <p:extLst>
      <p:ext uri="{BB962C8B-B14F-4D97-AF65-F5344CB8AC3E}">
        <p14:creationId xmlns:p14="http://schemas.microsoft.com/office/powerpoint/2010/main" val="30198115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Sliding Window Approach</a:t>
            </a:r>
            <a:endParaRPr lang="en-US" dirty="0"/>
          </a:p>
        </p:txBody>
      </p:sp>
      <p:pic>
        <p:nvPicPr>
          <p:cNvPr id="4" name="Content Placeholder 3"/>
          <p:cNvPicPr>
            <a:picLocks noGrp="1"/>
          </p:cNvPicPr>
          <p:nvPr>
            <p:ph idx="1"/>
          </p:nvPr>
        </p:nvPicPr>
        <p:blipFill>
          <a:blip r:embed="rId3"/>
          <a:stretch>
            <a:fillRect/>
          </a:stretch>
        </p:blipFill>
        <p:spPr>
          <a:xfrm>
            <a:off x="1094433" y="2556935"/>
            <a:ext cx="10061247" cy="2895598"/>
          </a:xfrm>
          <a:prstGeom prst="rect">
            <a:avLst/>
          </a:prstGeom>
        </p:spPr>
      </p:pic>
      <p:sp>
        <p:nvSpPr>
          <p:cNvPr id="5" name="Rectangle 4"/>
          <p:cNvSpPr/>
          <p:nvPr/>
        </p:nvSpPr>
        <p:spPr>
          <a:xfrm>
            <a:off x="1646754" y="5665801"/>
            <a:ext cx="6335389" cy="400110"/>
          </a:xfrm>
          <a:prstGeom prst="rect">
            <a:avLst/>
          </a:prstGeom>
        </p:spPr>
        <p:txBody>
          <a:bodyPr wrap="none">
            <a:spAutoFit/>
          </a:bodyPr>
          <a:lstStyle/>
          <a:p>
            <a:r>
              <a:rPr lang="en-IN" sz="2000" dirty="0" smtClean="0">
                <a:latin typeface="Sitka Text" pitchFamily="2" charset="0"/>
                <a:ea typeface="Calibri" panose="020F0502020204030204" pitchFamily="34" charset="0"/>
                <a:cs typeface="Times New Roman" panose="02020603050405020304" pitchFamily="18" charset="0"/>
              </a:rPr>
              <a:t>More classifications, leading to more computations</a:t>
            </a:r>
            <a:endParaRPr lang="en-US" sz="2000" dirty="0"/>
          </a:p>
        </p:txBody>
      </p:sp>
    </p:spTree>
    <p:extLst>
      <p:ext uri="{BB962C8B-B14F-4D97-AF65-F5344CB8AC3E}">
        <p14:creationId xmlns:p14="http://schemas.microsoft.com/office/powerpoint/2010/main" val="1737725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Sitka Text" pitchFamily="2" charset="0"/>
              </a:rPr>
              <a:t>Deep </a:t>
            </a:r>
            <a:r>
              <a:rPr lang="en-US" dirty="0" smtClean="0">
                <a:latin typeface="Sitka Text" pitchFamily="2" charset="0"/>
              </a:rPr>
              <a:t>Learning-based Approaches</a:t>
            </a:r>
            <a:endParaRPr lang="en-US" dirty="0">
              <a:latin typeface="Sitka Text" pitchFamily="2" charset="0"/>
            </a:endParaRPr>
          </a:p>
        </p:txBody>
      </p:sp>
      <p:pic>
        <p:nvPicPr>
          <p:cNvPr id="5" name="Content Placeholder 3"/>
          <p:cNvPicPr>
            <a:picLocks noChangeAspect="1"/>
          </p:cNvPicPr>
          <p:nvPr/>
        </p:nvPicPr>
        <p:blipFill rotWithShape="1">
          <a:blip r:embed="rId3"/>
          <a:srcRect l="9914" t="17142" r="10184" b="30861"/>
          <a:stretch/>
        </p:blipFill>
        <p:spPr>
          <a:xfrm>
            <a:off x="2626393" y="1969686"/>
            <a:ext cx="7000173" cy="4092448"/>
          </a:xfrm>
          <a:prstGeom prst="rect">
            <a:avLst/>
          </a:prstGeom>
        </p:spPr>
      </p:pic>
      <p:sp>
        <p:nvSpPr>
          <p:cNvPr id="7" name="Rectangle 6"/>
          <p:cNvSpPr/>
          <p:nvPr/>
        </p:nvSpPr>
        <p:spPr>
          <a:xfrm>
            <a:off x="10352394" y="6584695"/>
            <a:ext cx="1917513" cy="261610"/>
          </a:xfrm>
          <a:prstGeom prst="rect">
            <a:avLst/>
          </a:prstGeom>
        </p:spPr>
        <p:txBody>
          <a:bodyPr wrap="none">
            <a:spAutoFit/>
          </a:bodyPr>
          <a:lstStyle/>
          <a:p>
            <a:r>
              <a:rPr lang="en-IN" sz="1100" u="sng" dirty="0">
                <a:solidFill>
                  <a:schemeClr val="bg1"/>
                </a:solidFill>
                <a:latin typeface="Sitka Text" pitchFamily="2" charset="0"/>
              </a:rPr>
              <a:t>https://www.google.com/</a:t>
            </a:r>
          </a:p>
        </p:txBody>
      </p:sp>
    </p:spTree>
    <p:extLst>
      <p:ext uri="{BB962C8B-B14F-4D97-AF65-F5344CB8AC3E}">
        <p14:creationId xmlns:p14="http://schemas.microsoft.com/office/powerpoint/2010/main" val="35550568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Sitka Text" pitchFamily="2" charset="0"/>
              </a:rPr>
              <a:t>R-CNN (Regions with Convolutional Neural Networks)</a:t>
            </a:r>
            <a:endParaRPr lang="en-US" dirty="0">
              <a:latin typeface="Sitka Text" pitchFamily="2" charset="0"/>
            </a:endParaRPr>
          </a:p>
        </p:txBody>
      </p:sp>
      <p:sp>
        <p:nvSpPr>
          <p:cNvPr id="4" name="Rectangle 3"/>
          <p:cNvSpPr/>
          <p:nvPr/>
        </p:nvSpPr>
        <p:spPr>
          <a:xfrm>
            <a:off x="4072128" y="6430203"/>
            <a:ext cx="7833360" cy="276999"/>
          </a:xfrm>
          <a:prstGeom prst="rect">
            <a:avLst/>
          </a:prstGeom>
        </p:spPr>
        <p:txBody>
          <a:bodyPr wrap="square">
            <a:spAutoFit/>
          </a:bodyPr>
          <a:lstStyle/>
          <a:p>
            <a:r>
              <a:rPr lang="en-US" sz="1200" dirty="0" err="1">
                <a:solidFill>
                  <a:schemeClr val="bg1"/>
                </a:solidFill>
                <a:latin typeface="Sitka Text" pitchFamily="2" charset="0"/>
              </a:rPr>
              <a:t>Girshick</a:t>
            </a:r>
            <a:r>
              <a:rPr lang="en-US" sz="1200" dirty="0">
                <a:solidFill>
                  <a:schemeClr val="bg1"/>
                </a:solidFill>
                <a:latin typeface="Sitka Text" pitchFamily="2" charset="0"/>
              </a:rPr>
              <a:t>, Ross, et al. "Rich feature hierarchies for accurate object detection and semantic segmentation</a:t>
            </a:r>
            <a:r>
              <a:rPr lang="en-US" sz="1200" dirty="0" smtClean="0">
                <a:solidFill>
                  <a:schemeClr val="bg1"/>
                </a:solidFill>
                <a:latin typeface="Sitka Text" pitchFamily="2" charset="0"/>
              </a:rPr>
              <a:t>."</a:t>
            </a:r>
            <a:endParaRPr lang="en-US" sz="1200" dirty="0">
              <a:solidFill>
                <a:schemeClr val="bg1"/>
              </a:solidFill>
              <a:latin typeface="Sitka Text" pitchFamily="2" charset="0"/>
            </a:endParaRPr>
          </a:p>
        </p:txBody>
      </p:sp>
      <p:sp>
        <p:nvSpPr>
          <p:cNvPr id="6" name="Rectangle 5"/>
          <p:cNvSpPr/>
          <p:nvPr/>
        </p:nvSpPr>
        <p:spPr>
          <a:xfrm>
            <a:off x="1097280" y="2033118"/>
            <a:ext cx="9052560" cy="369332"/>
          </a:xfrm>
          <a:prstGeom prst="rect">
            <a:avLst/>
          </a:prstGeom>
        </p:spPr>
        <p:txBody>
          <a:bodyPr wrap="square">
            <a:spAutoFit/>
          </a:bodyPr>
          <a:lstStyle/>
          <a:p>
            <a:r>
              <a:rPr lang="en-US" dirty="0">
                <a:latin typeface="Sitka Text" pitchFamily="2" charset="0"/>
              </a:rPr>
              <a:t>Ross </a:t>
            </a:r>
            <a:r>
              <a:rPr lang="en-US" dirty="0" err="1">
                <a:latin typeface="Sitka Text" pitchFamily="2" charset="0"/>
              </a:rPr>
              <a:t>Girshick</a:t>
            </a:r>
            <a:r>
              <a:rPr lang="en-US" dirty="0">
                <a:latin typeface="Sitka Text" pitchFamily="2" charset="0"/>
              </a:rPr>
              <a:t>, Jeff Donahue, Trevor Darrell, and </a:t>
            </a:r>
            <a:r>
              <a:rPr lang="en-US" dirty="0" err="1">
                <a:latin typeface="Sitka Text" pitchFamily="2" charset="0"/>
              </a:rPr>
              <a:t>Jitendra</a:t>
            </a:r>
            <a:r>
              <a:rPr lang="en-US" dirty="0">
                <a:latin typeface="Sitka Text" pitchFamily="2" charset="0"/>
              </a:rPr>
              <a:t> </a:t>
            </a:r>
            <a:r>
              <a:rPr lang="en-US" dirty="0" smtClean="0">
                <a:latin typeface="Sitka Text" pitchFamily="2" charset="0"/>
              </a:rPr>
              <a:t>Malik: 2013</a:t>
            </a:r>
            <a:endParaRPr lang="en-US" dirty="0">
              <a:latin typeface="Sitka Text" pitchFamily="2" charset="0"/>
            </a:endParaRPr>
          </a:p>
        </p:txBody>
      </p:sp>
      <p:pic>
        <p:nvPicPr>
          <p:cNvPr id="3" name="Picture 2"/>
          <p:cNvPicPr>
            <a:picLocks noChangeAspect="1"/>
          </p:cNvPicPr>
          <p:nvPr/>
        </p:nvPicPr>
        <p:blipFill>
          <a:blip r:embed="rId3"/>
          <a:stretch>
            <a:fillRect/>
          </a:stretch>
        </p:blipFill>
        <p:spPr>
          <a:xfrm>
            <a:off x="1097280" y="2955817"/>
            <a:ext cx="9764347" cy="2809296"/>
          </a:xfrm>
          <a:prstGeom prst="rect">
            <a:avLst/>
          </a:prstGeom>
        </p:spPr>
      </p:pic>
    </p:spTree>
    <p:extLst>
      <p:ext uri="{BB962C8B-B14F-4D97-AF65-F5344CB8AC3E}">
        <p14:creationId xmlns:p14="http://schemas.microsoft.com/office/powerpoint/2010/main" val="5724803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Region </a:t>
            </a:r>
            <a:r>
              <a:rPr lang="en-IN" dirty="0" smtClean="0">
                <a:latin typeface="Sitka Text" pitchFamily="2" charset="0"/>
              </a:rPr>
              <a:t>proposals</a:t>
            </a:r>
            <a:endParaRPr lang="en-US" dirty="0">
              <a:latin typeface="Sitka Text" pitchFamily="2" charset="0"/>
            </a:endParaRPr>
          </a:p>
        </p:txBody>
      </p:sp>
      <p:sp>
        <p:nvSpPr>
          <p:cNvPr id="3" name="Content Placeholder 2"/>
          <p:cNvSpPr>
            <a:spLocks noGrp="1"/>
          </p:cNvSpPr>
          <p:nvPr>
            <p:ph idx="1"/>
          </p:nvPr>
        </p:nvSpPr>
        <p:spPr/>
        <p:txBody>
          <a:bodyPr/>
          <a:lstStyle/>
          <a:p>
            <a:r>
              <a:rPr lang="en-IN" dirty="0" smtClean="0">
                <a:latin typeface="Sitka Text" pitchFamily="2" charset="0"/>
              </a:rPr>
              <a:t>2000 category-independent </a:t>
            </a:r>
            <a:r>
              <a:rPr lang="en-IN" dirty="0">
                <a:latin typeface="Sitka Text" pitchFamily="2" charset="0"/>
              </a:rPr>
              <a:t>region proposals </a:t>
            </a:r>
            <a:r>
              <a:rPr lang="en-IN" dirty="0" smtClean="0">
                <a:latin typeface="Sitka Text" pitchFamily="2" charset="0"/>
              </a:rPr>
              <a:t>per image</a:t>
            </a:r>
            <a:endParaRPr lang="en-US" dirty="0">
              <a:latin typeface="Sitka Text" pitchFamily="2" charset="0"/>
            </a:endParaRPr>
          </a:p>
        </p:txBody>
      </p:sp>
      <p:pic>
        <p:nvPicPr>
          <p:cNvPr id="4" name="Picture 3"/>
          <p:cNvPicPr>
            <a:picLocks noChangeAspect="1"/>
          </p:cNvPicPr>
          <p:nvPr/>
        </p:nvPicPr>
        <p:blipFill rotWithShape="1">
          <a:blip r:embed="rId3"/>
          <a:srcRect r="59682" b="34899"/>
          <a:stretch/>
        </p:blipFill>
        <p:spPr>
          <a:xfrm>
            <a:off x="5113502" y="2481654"/>
            <a:ext cx="6672099" cy="3099573"/>
          </a:xfrm>
          <a:prstGeom prst="rect">
            <a:avLst/>
          </a:prstGeom>
        </p:spPr>
      </p:pic>
      <p:sp>
        <p:nvSpPr>
          <p:cNvPr id="5" name="Rectangle 4"/>
          <p:cNvSpPr/>
          <p:nvPr/>
        </p:nvSpPr>
        <p:spPr>
          <a:xfrm>
            <a:off x="1097280" y="2617121"/>
            <a:ext cx="3520516" cy="1938992"/>
          </a:xfrm>
          <a:prstGeom prst="rect">
            <a:avLst/>
          </a:prstGeom>
        </p:spPr>
        <p:txBody>
          <a:bodyPr wrap="none">
            <a:spAutoFit/>
          </a:bodyPr>
          <a:lstStyle/>
          <a:p>
            <a:pPr marL="457200" indent="-457200">
              <a:lnSpc>
                <a:spcPct val="150000"/>
              </a:lnSpc>
              <a:buFont typeface="+mj-lt"/>
              <a:buAutoNum type="arabicPeriod"/>
            </a:pPr>
            <a:r>
              <a:rPr lang="en-IN" sz="2000" dirty="0" smtClean="0">
                <a:latin typeface="Sitka Text" pitchFamily="2" charset="0"/>
                <a:ea typeface="Calibri" panose="020F0502020204030204" pitchFamily="34" charset="0"/>
                <a:cs typeface="Times New Roman" panose="02020603050405020304" pitchFamily="18" charset="0"/>
              </a:rPr>
              <a:t>Initial small regions</a:t>
            </a:r>
          </a:p>
          <a:p>
            <a:pPr marL="457200" indent="-457200">
              <a:lnSpc>
                <a:spcPct val="150000"/>
              </a:lnSpc>
              <a:buFont typeface="+mj-lt"/>
              <a:buAutoNum type="arabicPeriod"/>
            </a:pPr>
            <a:r>
              <a:rPr lang="en-IN" sz="2000" dirty="0" smtClean="0">
                <a:latin typeface="Sitka Text" pitchFamily="2" charset="0"/>
                <a:ea typeface="Calibri" panose="020F0502020204030204" pitchFamily="34" charset="0"/>
                <a:cs typeface="Times New Roman" panose="02020603050405020304" pitchFamily="18" charset="0"/>
              </a:rPr>
              <a:t>Iterative merging</a:t>
            </a:r>
          </a:p>
          <a:p>
            <a:pPr marL="342900" indent="-342900">
              <a:lnSpc>
                <a:spcPct val="150000"/>
              </a:lnSpc>
              <a:buFont typeface="+mj-lt"/>
              <a:buAutoNum type="arabicPeriod"/>
            </a:pPr>
            <a:r>
              <a:rPr lang="en-IN" sz="2000" dirty="0" smtClean="0">
                <a:latin typeface="Sitka Text" pitchFamily="2" charset="0"/>
              </a:rPr>
              <a:t>  Hierarchical grouping</a:t>
            </a:r>
          </a:p>
          <a:p>
            <a:pPr marL="342900" indent="-342900">
              <a:lnSpc>
                <a:spcPct val="150000"/>
              </a:lnSpc>
              <a:buFont typeface="+mj-lt"/>
              <a:buAutoNum type="arabicPeriod"/>
            </a:pPr>
            <a:r>
              <a:rPr lang="en-IN" sz="2000" dirty="0" smtClean="0">
                <a:latin typeface="Sitka Text" pitchFamily="2" charset="0"/>
              </a:rPr>
              <a:t>  Set </a:t>
            </a:r>
            <a:r>
              <a:rPr lang="en-IN" sz="2000" dirty="0">
                <a:latin typeface="Sitka Text" pitchFamily="2" charset="0"/>
              </a:rPr>
              <a:t>of region proposals</a:t>
            </a:r>
            <a:r>
              <a:rPr lang="en-IN" sz="2000" dirty="0" smtClean="0">
                <a:latin typeface="Sitka Text" pitchFamily="2" charset="0"/>
              </a:rPr>
              <a:t> </a:t>
            </a:r>
            <a:endParaRPr lang="en-US" sz="2000" dirty="0">
              <a:latin typeface="Sitka Text" pitchFamily="2" charset="0"/>
            </a:endParaRPr>
          </a:p>
        </p:txBody>
      </p:sp>
      <p:sp>
        <p:nvSpPr>
          <p:cNvPr id="6" name="Rectangle 5"/>
          <p:cNvSpPr/>
          <p:nvPr/>
        </p:nvSpPr>
        <p:spPr>
          <a:xfrm>
            <a:off x="4072128" y="6430203"/>
            <a:ext cx="7833360" cy="276999"/>
          </a:xfrm>
          <a:prstGeom prst="rect">
            <a:avLst/>
          </a:prstGeom>
        </p:spPr>
        <p:txBody>
          <a:bodyPr wrap="square">
            <a:spAutoFit/>
          </a:bodyPr>
          <a:lstStyle/>
          <a:p>
            <a:r>
              <a:rPr lang="en-US" sz="1200" dirty="0" err="1">
                <a:solidFill>
                  <a:schemeClr val="bg1"/>
                </a:solidFill>
                <a:latin typeface="Sitka Text" pitchFamily="2" charset="0"/>
              </a:rPr>
              <a:t>Girshick</a:t>
            </a:r>
            <a:r>
              <a:rPr lang="en-US" sz="1200" dirty="0">
                <a:solidFill>
                  <a:schemeClr val="bg1"/>
                </a:solidFill>
                <a:latin typeface="Sitka Text" pitchFamily="2" charset="0"/>
              </a:rPr>
              <a:t>, Ross, et al. "Rich feature hierarchies for accurate object detection and semantic segmentation</a:t>
            </a:r>
            <a:r>
              <a:rPr lang="en-US" sz="1200" dirty="0" smtClean="0">
                <a:solidFill>
                  <a:schemeClr val="bg1"/>
                </a:solidFill>
                <a:latin typeface="Sitka Text" pitchFamily="2" charset="0"/>
              </a:rPr>
              <a:t>."</a:t>
            </a:r>
            <a:endParaRPr lang="en-US" sz="1200" dirty="0">
              <a:solidFill>
                <a:schemeClr val="bg1"/>
              </a:solidFill>
              <a:latin typeface="Sitka Text" pitchFamily="2" charset="0"/>
            </a:endParaRPr>
          </a:p>
        </p:txBody>
      </p:sp>
    </p:spTree>
    <p:extLst>
      <p:ext uri="{BB962C8B-B14F-4D97-AF65-F5344CB8AC3E}">
        <p14:creationId xmlns:p14="http://schemas.microsoft.com/office/powerpoint/2010/main" val="359868691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Region proposals</a:t>
            </a:r>
            <a:endParaRPr lang="en-US" dirty="0"/>
          </a:p>
        </p:txBody>
      </p:sp>
      <p:pic>
        <p:nvPicPr>
          <p:cNvPr id="4" name="Content Placeholder 3"/>
          <p:cNvPicPr>
            <a:picLocks noGrp="1" noChangeAspect="1"/>
          </p:cNvPicPr>
          <p:nvPr>
            <p:ph idx="1"/>
          </p:nvPr>
        </p:nvPicPr>
        <p:blipFill>
          <a:blip r:embed="rId2"/>
          <a:stretch>
            <a:fillRect/>
          </a:stretch>
        </p:blipFill>
        <p:spPr>
          <a:xfrm>
            <a:off x="2234982" y="2205905"/>
            <a:ext cx="7782995" cy="3641442"/>
          </a:xfrm>
          <a:prstGeom prst="rect">
            <a:avLst/>
          </a:prstGeom>
        </p:spPr>
      </p:pic>
      <p:sp>
        <p:nvSpPr>
          <p:cNvPr id="5" name="Rectangle 4"/>
          <p:cNvSpPr/>
          <p:nvPr/>
        </p:nvSpPr>
        <p:spPr>
          <a:xfrm>
            <a:off x="6908800" y="6496336"/>
            <a:ext cx="5283200" cy="276999"/>
          </a:xfrm>
          <a:prstGeom prst="rect">
            <a:avLst/>
          </a:prstGeom>
        </p:spPr>
        <p:txBody>
          <a:bodyPr wrap="square">
            <a:spAutoFit/>
          </a:bodyPr>
          <a:lstStyle/>
          <a:p>
            <a:r>
              <a:rPr lang="en-US" sz="1200" dirty="0">
                <a:solidFill>
                  <a:schemeClr val="bg1"/>
                </a:solidFill>
                <a:latin typeface="Sitka Text" pitchFamily="2" charset="0"/>
              </a:rPr>
              <a:t>https://www.ultralytics.com/blog/what-is-r-cnn-a-quick-overview</a:t>
            </a:r>
          </a:p>
        </p:txBody>
      </p:sp>
    </p:spTree>
    <p:extLst>
      <p:ext uri="{BB962C8B-B14F-4D97-AF65-F5344CB8AC3E}">
        <p14:creationId xmlns:p14="http://schemas.microsoft.com/office/powerpoint/2010/main" val="27153870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Feature </a:t>
            </a:r>
            <a:r>
              <a:rPr lang="en-IN" dirty="0" smtClean="0">
                <a:latin typeface="Sitka Text" pitchFamily="2" charset="0"/>
              </a:rPr>
              <a:t>extraction</a:t>
            </a:r>
            <a:endParaRPr lang="en-US" dirty="0">
              <a:latin typeface="Sitka Text" pitchFamily="2" charset="0"/>
            </a:endParaRPr>
          </a:p>
        </p:txBody>
      </p:sp>
      <p:pic>
        <p:nvPicPr>
          <p:cNvPr id="4" name="Content Placeholder 3"/>
          <p:cNvPicPr>
            <a:picLocks noGrp="1" noChangeAspect="1"/>
          </p:cNvPicPr>
          <p:nvPr>
            <p:ph idx="1"/>
          </p:nvPr>
        </p:nvPicPr>
        <p:blipFill rotWithShape="1">
          <a:blip r:embed="rId3"/>
          <a:stretch/>
        </p:blipFill>
        <p:spPr>
          <a:xfrm>
            <a:off x="1600200" y="2789214"/>
            <a:ext cx="7767947" cy="2234912"/>
          </a:xfrm>
          <a:prstGeom prst="rect">
            <a:avLst/>
          </a:prstGeom>
        </p:spPr>
      </p:pic>
      <p:sp>
        <p:nvSpPr>
          <p:cNvPr id="5" name="Rectangle 4"/>
          <p:cNvSpPr/>
          <p:nvPr/>
        </p:nvSpPr>
        <p:spPr>
          <a:xfrm>
            <a:off x="9452572" y="3552727"/>
            <a:ext cx="2452916" cy="707886"/>
          </a:xfrm>
          <a:prstGeom prst="rect">
            <a:avLst/>
          </a:prstGeom>
        </p:spPr>
        <p:txBody>
          <a:bodyPr wrap="none">
            <a:spAutoFit/>
          </a:bodyPr>
          <a:lstStyle/>
          <a:p>
            <a:r>
              <a:rPr lang="en-IN" sz="2000" dirty="0">
                <a:latin typeface="Sitka Text" pitchFamily="2" charset="0"/>
                <a:ea typeface="Calibri" panose="020F0502020204030204" pitchFamily="34" charset="0"/>
                <a:cs typeface="Times New Roman" panose="02020603050405020304" pitchFamily="18" charset="0"/>
              </a:rPr>
              <a:t>4096-dimensional </a:t>
            </a:r>
            <a:endParaRPr lang="en-IN" sz="2000" dirty="0" smtClean="0">
              <a:latin typeface="Sitka Text" pitchFamily="2" charset="0"/>
              <a:ea typeface="Calibri" panose="020F0502020204030204" pitchFamily="34" charset="0"/>
              <a:cs typeface="Times New Roman" panose="02020603050405020304" pitchFamily="18" charset="0"/>
            </a:endParaRPr>
          </a:p>
          <a:p>
            <a:r>
              <a:rPr lang="en-IN" sz="2000" dirty="0" smtClean="0">
                <a:latin typeface="Sitka Text" pitchFamily="2" charset="0"/>
                <a:ea typeface="Calibri" panose="020F0502020204030204" pitchFamily="34" charset="0"/>
                <a:cs typeface="Times New Roman" panose="02020603050405020304" pitchFamily="18" charset="0"/>
              </a:rPr>
              <a:t>feature </a:t>
            </a:r>
            <a:r>
              <a:rPr lang="en-IN" sz="2000" dirty="0">
                <a:latin typeface="Sitka Text" pitchFamily="2" charset="0"/>
                <a:ea typeface="Calibri" panose="020F0502020204030204" pitchFamily="34" charset="0"/>
                <a:cs typeface="Times New Roman" panose="02020603050405020304" pitchFamily="18" charset="0"/>
              </a:rPr>
              <a:t>vector</a:t>
            </a:r>
            <a:endParaRPr lang="en-US" sz="2000" dirty="0"/>
          </a:p>
        </p:txBody>
      </p:sp>
      <p:sp>
        <p:nvSpPr>
          <p:cNvPr id="6" name="Rectangle 5"/>
          <p:cNvSpPr/>
          <p:nvPr/>
        </p:nvSpPr>
        <p:spPr>
          <a:xfrm>
            <a:off x="5836615" y="5416224"/>
            <a:ext cx="1130438" cy="400110"/>
          </a:xfrm>
          <a:prstGeom prst="rect">
            <a:avLst/>
          </a:prstGeom>
        </p:spPr>
        <p:txBody>
          <a:bodyPr wrap="none">
            <a:spAutoFit/>
          </a:bodyPr>
          <a:lstStyle/>
          <a:p>
            <a:r>
              <a:rPr lang="en-IN" sz="2000" dirty="0" err="1">
                <a:latin typeface="Sitka Text" pitchFamily="2" charset="0"/>
                <a:ea typeface="Calibri" panose="020F0502020204030204" pitchFamily="34" charset="0"/>
                <a:cs typeface="Times New Roman" panose="02020603050405020304" pitchFamily="18" charset="0"/>
              </a:rPr>
              <a:t>AlexNet</a:t>
            </a:r>
            <a:endParaRPr lang="en-US" sz="2000" dirty="0"/>
          </a:p>
        </p:txBody>
      </p:sp>
      <p:sp>
        <p:nvSpPr>
          <p:cNvPr id="7" name="Rectangle 6"/>
          <p:cNvSpPr/>
          <p:nvPr/>
        </p:nvSpPr>
        <p:spPr>
          <a:xfrm>
            <a:off x="4072128" y="6430203"/>
            <a:ext cx="7833360" cy="276999"/>
          </a:xfrm>
          <a:prstGeom prst="rect">
            <a:avLst/>
          </a:prstGeom>
        </p:spPr>
        <p:txBody>
          <a:bodyPr wrap="square">
            <a:spAutoFit/>
          </a:bodyPr>
          <a:lstStyle/>
          <a:p>
            <a:r>
              <a:rPr lang="en-US" sz="1200" dirty="0" err="1">
                <a:solidFill>
                  <a:schemeClr val="bg1"/>
                </a:solidFill>
                <a:latin typeface="Sitka Text" pitchFamily="2" charset="0"/>
              </a:rPr>
              <a:t>Girshick</a:t>
            </a:r>
            <a:r>
              <a:rPr lang="en-US" sz="1200" dirty="0">
                <a:solidFill>
                  <a:schemeClr val="bg1"/>
                </a:solidFill>
                <a:latin typeface="Sitka Text" pitchFamily="2" charset="0"/>
              </a:rPr>
              <a:t>, Ross, et al. "Rich feature hierarchies for accurate object detection and semantic segmentation</a:t>
            </a:r>
            <a:r>
              <a:rPr lang="en-US" sz="1200" dirty="0" smtClean="0">
                <a:solidFill>
                  <a:schemeClr val="bg1"/>
                </a:solidFill>
                <a:latin typeface="Sitka Text" pitchFamily="2" charset="0"/>
              </a:rPr>
              <a:t>."</a:t>
            </a:r>
            <a:endParaRPr lang="en-US" sz="1200" dirty="0">
              <a:solidFill>
                <a:schemeClr val="bg1"/>
              </a:solidFill>
              <a:latin typeface="Sitka Text" pitchFamily="2" charset="0"/>
            </a:endParaRPr>
          </a:p>
        </p:txBody>
      </p:sp>
      <mc:AlternateContent xmlns:mc="http://schemas.openxmlformats.org/markup-compatibility/2006" xmlns:a14="http://schemas.microsoft.com/office/drawing/2010/main">
        <mc:Choice Requires="a14">
          <p:sp>
            <p:nvSpPr>
              <p:cNvPr id="8" name="Rectangle 7"/>
              <p:cNvSpPr/>
              <p:nvPr/>
            </p:nvSpPr>
            <p:spPr>
              <a:xfrm>
                <a:off x="4632257" y="2175345"/>
                <a:ext cx="194675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227</m:t>
                      </m:r>
                      <m:r>
                        <a:rPr lang="en-US" sz="2000" i="0">
                          <a:latin typeface="Cambria Math" panose="02040503050406030204" pitchFamily="18" charset="0"/>
                        </a:rPr>
                        <m:t> × 227</m:t>
                      </m:r>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m:t>
                      </m:r>
                    </m:oMath>
                  </m:oMathPara>
                </a14:m>
                <a:endParaRPr lang="en-US" sz="2000" dirty="0"/>
              </a:p>
            </p:txBody>
          </p:sp>
        </mc:Choice>
        <mc:Fallback xmlns="">
          <p:sp>
            <p:nvSpPr>
              <p:cNvPr id="8" name="Rectangle 7"/>
              <p:cNvSpPr>
                <a:spLocks noRot="1" noChangeAspect="1" noMove="1" noResize="1" noEditPoints="1" noAdjustHandles="1" noChangeArrowheads="1" noChangeShapeType="1" noTextEdit="1"/>
              </p:cNvSpPr>
              <p:nvPr/>
            </p:nvSpPr>
            <p:spPr>
              <a:xfrm>
                <a:off x="4632257" y="2175345"/>
                <a:ext cx="1946751" cy="40011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764473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Training</a:t>
            </a:r>
            <a:endParaRPr lang="en-US" dirty="0">
              <a:latin typeface="Sitka Text" pitchFamily="2" charset="0"/>
            </a:endParaRPr>
          </a:p>
        </p:txBody>
      </p:sp>
      <p:sp>
        <p:nvSpPr>
          <p:cNvPr id="3" name="Content Placeholder 2"/>
          <p:cNvSpPr>
            <a:spLocks noGrp="1"/>
          </p:cNvSpPr>
          <p:nvPr>
            <p:ph idx="1"/>
          </p:nvPr>
        </p:nvSpPr>
        <p:spPr>
          <a:xfrm>
            <a:off x="1097280" y="1845734"/>
            <a:ext cx="10058400" cy="4402666"/>
          </a:xfrm>
        </p:spPr>
        <p:txBody>
          <a:bodyPr>
            <a:normAutofit/>
          </a:bodyPr>
          <a:lstStyle/>
          <a:p>
            <a:pPr>
              <a:lnSpc>
                <a:spcPct val="150000"/>
              </a:lnSpc>
            </a:pPr>
            <a:r>
              <a:rPr lang="en-US" sz="2400" dirty="0" smtClean="0">
                <a:latin typeface="Sitka Text" pitchFamily="2" charset="0"/>
              </a:rPr>
              <a:t>CNN for </a:t>
            </a:r>
            <a:r>
              <a:rPr lang="en-US" sz="2400" dirty="0">
                <a:latin typeface="Sitka Text" pitchFamily="2" charset="0"/>
              </a:rPr>
              <a:t>f</a:t>
            </a:r>
            <a:r>
              <a:rPr lang="en-US" sz="2400" dirty="0" smtClean="0">
                <a:latin typeface="Sitka Text" pitchFamily="2" charset="0"/>
              </a:rPr>
              <a:t>eature extraction</a:t>
            </a:r>
          </a:p>
          <a:p>
            <a:pPr lvl="1">
              <a:lnSpc>
                <a:spcPct val="150000"/>
              </a:lnSpc>
            </a:pPr>
            <a:r>
              <a:rPr lang="en-US" sz="2000" dirty="0" smtClean="0">
                <a:latin typeface="Sitka Text" pitchFamily="2" charset="0"/>
              </a:rPr>
              <a:t>AlexNet: supervised pre-training + </a:t>
            </a:r>
            <a:r>
              <a:rPr lang="en-IN" sz="2000" dirty="0" smtClean="0">
                <a:latin typeface="Sitka Text" pitchFamily="2" charset="0"/>
              </a:rPr>
              <a:t>domain-specific fine-tuning (N+1-way classification)</a:t>
            </a:r>
          </a:p>
          <a:p>
            <a:pPr>
              <a:lnSpc>
                <a:spcPct val="150000"/>
              </a:lnSpc>
            </a:pPr>
            <a:r>
              <a:rPr lang="en-IN" sz="2400" dirty="0" smtClean="0">
                <a:latin typeface="Sitka Text" pitchFamily="2" charset="0"/>
              </a:rPr>
              <a:t>SVM </a:t>
            </a:r>
            <a:r>
              <a:rPr lang="en-IN" sz="2400" dirty="0">
                <a:latin typeface="Sitka Text" pitchFamily="2" charset="0"/>
              </a:rPr>
              <a:t>for category classification</a:t>
            </a:r>
          </a:p>
          <a:p>
            <a:pPr lvl="1">
              <a:lnSpc>
                <a:spcPct val="150000"/>
              </a:lnSpc>
            </a:pPr>
            <a:r>
              <a:rPr lang="en-IN" sz="2000" dirty="0">
                <a:latin typeface="Sitka Text" pitchFamily="2" charset="0"/>
              </a:rPr>
              <a:t>Region specific binary classifier</a:t>
            </a:r>
          </a:p>
          <a:p>
            <a:pPr>
              <a:lnSpc>
                <a:spcPct val="150000"/>
              </a:lnSpc>
            </a:pPr>
            <a:r>
              <a:rPr lang="en-IN" sz="2400" dirty="0" smtClean="0">
                <a:latin typeface="Sitka Text" pitchFamily="2" charset="0"/>
              </a:rPr>
              <a:t>Class-specific </a:t>
            </a:r>
            <a:r>
              <a:rPr lang="en-IN" sz="2400" dirty="0">
                <a:latin typeface="Sitka Text" pitchFamily="2" charset="0"/>
              </a:rPr>
              <a:t>bounding-box regressor</a:t>
            </a:r>
          </a:p>
          <a:p>
            <a:pPr lvl="1">
              <a:lnSpc>
                <a:spcPct val="150000"/>
              </a:lnSpc>
            </a:pPr>
            <a:endParaRPr lang="en-IN" sz="2000" dirty="0" smtClean="0">
              <a:latin typeface="Sitka Text" pitchFamily="2" charset="0"/>
            </a:endParaRPr>
          </a:p>
        </p:txBody>
      </p:sp>
      <mc:AlternateContent xmlns:mc="http://schemas.openxmlformats.org/markup-compatibility/2006" xmlns:p14="http://schemas.microsoft.com/office/powerpoint/2010/main">
        <mc:Choice Requires="p14">
          <p:contentPart p14:bwMode="auto" r:id="rId3">
            <p14:nvContentPartPr>
              <p14:cNvPr id="44" name="Ink 43"/>
              <p14:cNvContentPartPr/>
              <p14:nvPr/>
            </p14:nvContentPartPr>
            <p14:xfrm>
              <a:off x="2196955" y="3362885"/>
              <a:ext cx="20880" cy="24120"/>
            </p14:xfrm>
          </p:contentPart>
        </mc:Choice>
        <mc:Fallback xmlns="">
          <p:pic>
            <p:nvPicPr>
              <p:cNvPr id="44" name="Ink 43"/>
              <p:cNvPicPr/>
              <p:nvPr/>
            </p:nvPicPr>
            <p:blipFill>
              <a:blip r:embed="rId20"/>
              <a:stretch>
                <a:fillRect/>
              </a:stretch>
            </p:blipFill>
            <p:spPr>
              <a:xfrm>
                <a:off x="2194075" y="3359645"/>
                <a:ext cx="27000" cy="30240"/>
              </a:xfrm>
              <a:prstGeom prst="rect">
                <a:avLst/>
              </a:prstGeom>
            </p:spPr>
          </p:pic>
        </mc:Fallback>
      </mc:AlternateContent>
    </p:spTree>
    <p:extLst>
      <p:ext uri="{BB962C8B-B14F-4D97-AF65-F5344CB8AC3E}">
        <p14:creationId xmlns:p14="http://schemas.microsoft.com/office/powerpoint/2010/main" val="382140897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Results</a:t>
            </a:r>
            <a:endParaRPr lang="en-US" dirty="0">
              <a:latin typeface="Sitka Text" pitchFamily="2" charset="0"/>
            </a:endParaRPr>
          </a:p>
        </p:txBody>
      </p:sp>
      <p:pic>
        <p:nvPicPr>
          <p:cNvPr id="4" name="Content Placeholder 3"/>
          <p:cNvPicPr>
            <a:picLocks noGrp="1"/>
          </p:cNvPicPr>
          <p:nvPr>
            <p:ph idx="1"/>
          </p:nvPr>
        </p:nvPicPr>
        <p:blipFill>
          <a:blip r:embed="rId3"/>
          <a:stretch>
            <a:fillRect/>
          </a:stretch>
        </p:blipFill>
        <p:spPr>
          <a:xfrm>
            <a:off x="2755231" y="2912622"/>
            <a:ext cx="6947681" cy="3091136"/>
          </a:xfrm>
          <a:prstGeom prst="rect">
            <a:avLst/>
          </a:prstGeom>
        </p:spPr>
      </p:pic>
      <p:sp>
        <p:nvSpPr>
          <p:cNvPr id="5" name="Rectangle 4"/>
          <p:cNvSpPr/>
          <p:nvPr/>
        </p:nvSpPr>
        <p:spPr>
          <a:xfrm>
            <a:off x="1097280" y="1737360"/>
            <a:ext cx="6096000" cy="966290"/>
          </a:xfrm>
          <a:prstGeom prst="rect">
            <a:avLst/>
          </a:prstGeom>
        </p:spPr>
        <p:txBody>
          <a:bodyPr>
            <a:spAutoFit/>
          </a:bodyPr>
          <a:lstStyle/>
          <a:p>
            <a:pPr>
              <a:lnSpc>
                <a:spcPct val="150000"/>
              </a:lnSpc>
            </a:pPr>
            <a:r>
              <a:rPr lang="en-IN" sz="2000" dirty="0" smtClean="0">
                <a:latin typeface="Sitka Text" pitchFamily="2" charset="0"/>
                <a:ea typeface="Calibri" panose="020F0502020204030204" pitchFamily="34" charset="0"/>
                <a:cs typeface="Times New Roman" panose="02020603050405020304" pitchFamily="18" charset="0"/>
              </a:rPr>
              <a:t>53.7%: PASCAL </a:t>
            </a:r>
            <a:r>
              <a:rPr lang="en-IN" sz="2000" dirty="0">
                <a:latin typeface="Sitka Text" pitchFamily="2" charset="0"/>
                <a:ea typeface="Calibri" panose="020F0502020204030204" pitchFamily="34" charset="0"/>
                <a:cs typeface="Times New Roman" panose="02020603050405020304" pitchFamily="18" charset="0"/>
              </a:rPr>
              <a:t>VOC 2010-12 </a:t>
            </a:r>
            <a:r>
              <a:rPr lang="en-IN" sz="2000" dirty="0" smtClean="0">
                <a:latin typeface="Sitka Text" pitchFamily="2" charset="0"/>
                <a:ea typeface="Calibri" panose="020F0502020204030204" pitchFamily="34" charset="0"/>
                <a:cs typeface="Times New Roman" panose="02020603050405020304" pitchFamily="18" charset="0"/>
              </a:rPr>
              <a:t>dataset </a:t>
            </a:r>
          </a:p>
          <a:p>
            <a:pPr>
              <a:lnSpc>
                <a:spcPct val="150000"/>
              </a:lnSpc>
            </a:pPr>
            <a:r>
              <a:rPr lang="en-IN" sz="2000" dirty="0" smtClean="0">
                <a:latin typeface="Sitka Text" pitchFamily="2" charset="0"/>
                <a:ea typeface="Calibri" panose="020F0502020204030204" pitchFamily="34" charset="0"/>
                <a:cs typeface="Times New Roman" panose="02020603050405020304" pitchFamily="18" charset="0"/>
              </a:rPr>
              <a:t>31.4%: </a:t>
            </a:r>
            <a:r>
              <a:rPr lang="en-IN" sz="2000" dirty="0">
                <a:latin typeface="Sitka Text" pitchFamily="2" charset="0"/>
                <a:ea typeface="Calibri" panose="020F0502020204030204" pitchFamily="34" charset="0"/>
                <a:cs typeface="Times New Roman" panose="02020603050405020304" pitchFamily="18" charset="0"/>
              </a:rPr>
              <a:t>ILSVRC2013 detection dataset</a:t>
            </a:r>
            <a:endParaRPr lang="en-US" sz="2000" dirty="0"/>
          </a:p>
        </p:txBody>
      </p:sp>
      <p:sp>
        <p:nvSpPr>
          <p:cNvPr id="6" name="Rectangle 5"/>
          <p:cNvSpPr/>
          <p:nvPr/>
        </p:nvSpPr>
        <p:spPr>
          <a:xfrm>
            <a:off x="4072128" y="6357051"/>
            <a:ext cx="7833360" cy="276999"/>
          </a:xfrm>
          <a:prstGeom prst="rect">
            <a:avLst/>
          </a:prstGeom>
        </p:spPr>
        <p:txBody>
          <a:bodyPr wrap="square">
            <a:spAutoFit/>
          </a:bodyPr>
          <a:lstStyle/>
          <a:p>
            <a:r>
              <a:rPr lang="en-US" sz="1200" dirty="0" err="1">
                <a:solidFill>
                  <a:schemeClr val="bg1"/>
                </a:solidFill>
                <a:latin typeface="Sitka Text" pitchFamily="2" charset="0"/>
              </a:rPr>
              <a:t>Girshick</a:t>
            </a:r>
            <a:r>
              <a:rPr lang="en-US" sz="1200" dirty="0">
                <a:solidFill>
                  <a:schemeClr val="bg1"/>
                </a:solidFill>
                <a:latin typeface="Sitka Text" pitchFamily="2" charset="0"/>
              </a:rPr>
              <a:t>, Ross, et al. "Rich feature hierarchies for accurate object detection and semantic segmentation</a:t>
            </a:r>
            <a:r>
              <a:rPr lang="en-US" sz="1200" dirty="0" smtClean="0">
                <a:solidFill>
                  <a:schemeClr val="bg1"/>
                </a:solidFill>
                <a:latin typeface="Sitka Text" pitchFamily="2" charset="0"/>
              </a:rPr>
              <a:t>."</a:t>
            </a:r>
            <a:endParaRPr lang="en-US" sz="1200" dirty="0">
              <a:solidFill>
                <a:schemeClr val="bg1"/>
              </a:solidFill>
              <a:latin typeface="Sitka Text" pitchFamily="2" charset="0"/>
            </a:endParaRPr>
          </a:p>
        </p:txBody>
      </p:sp>
      <p:sp>
        <p:nvSpPr>
          <p:cNvPr id="3" name="Rectangle 2"/>
          <p:cNvSpPr/>
          <p:nvPr/>
        </p:nvSpPr>
        <p:spPr>
          <a:xfrm>
            <a:off x="8608695" y="6566023"/>
            <a:ext cx="3108543" cy="276999"/>
          </a:xfrm>
          <a:prstGeom prst="rect">
            <a:avLst/>
          </a:prstGeom>
        </p:spPr>
        <p:txBody>
          <a:bodyPr wrap="none">
            <a:spAutoFit/>
          </a:bodyPr>
          <a:lstStyle/>
          <a:p>
            <a:r>
              <a:rPr lang="en-US" sz="1200" dirty="0">
                <a:solidFill>
                  <a:schemeClr val="bg1"/>
                </a:solidFill>
                <a:latin typeface="Sitka Text" pitchFamily="2" charset="0"/>
              </a:rPr>
              <a:t>http://host.robots.ox.ac.uk/pascal/VOC/</a:t>
            </a:r>
          </a:p>
        </p:txBody>
      </p:sp>
    </p:spTree>
    <p:extLst>
      <p:ext uri="{BB962C8B-B14F-4D97-AF65-F5344CB8AC3E}">
        <p14:creationId xmlns:p14="http://schemas.microsoft.com/office/powerpoint/2010/main" val="254798473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Fast </a:t>
            </a:r>
            <a:r>
              <a:rPr lang="en-IN" dirty="0" smtClean="0">
                <a:latin typeface="Sitka Text" pitchFamily="2" charset="0"/>
              </a:rPr>
              <a:t>R-CNN</a:t>
            </a:r>
            <a:endParaRPr lang="en-US" dirty="0">
              <a:latin typeface="Sitka Text" pitchFamily="2" charset="0"/>
            </a:endParaRPr>
          </a:p>
        </p:txBody>
      </p:sp>
      <p:pic>
        <p:nvPicPr>
          <p:cNvPr id="4" name="Content Placeholder 3"/>
          <p:cNvPicPr>
            <a:picLocks noGrp="1"/>
          </p:cNvPicPr>
          <p:nvPr>
            <p:ph idx="1"/>
          </p:nvPr>
        </p:nvPicPr>
        <p:blipFill rotWithShape="1">
          <a:blip r:embed="rId3"/>
          <a:srcRect b="45731"/>
          <a:stretch/>
        </p:blipFill>
        <p:spPr>
          <a:xfrm>
            <a:off x="2202916" y="3000675"/>
            <a:ext cx="7847128" cy="3218355"/>
          </a:xfrm>
          <a:prstGeom prst="rect">
            <a:avLst/>
          </a:prstGeom>
        </p:spPr>
      </p:pic>
      <p:sp>
        <p:nvSpPr>
          <p:cNvPr id="3" name="Rectangle 2"/>
          <p:cNvSpPr/>
          <p:nvPr/>
        </p:nvSpPr>
        <p:spPr>
          <a:xfrm>
            <a:off x="1097280" y="1737360"/>
            <a:ext cx="7063152" cy="1421736"/>
          </a:xfrm>
          <a:prstGeom prst="rect">
            <a:avLst/>
          </a:prstGeom>
        </p:spPr>
        <p:txBody>
          <a:bodyPr wrap="none">
            <a:spAutoFit/>
          </a:bodyPr>
          <a:lstStyle/>
          <a:p>
            <a:pPr>
              <a:lnSpc>
                <a:spcPct val="150000"/>
              </a:lnSpc>
            </a:pPr>
            <a:r>
              <a:rPr lang="en-IN" sz="2000" dirty="0">
                <a:latin typeface="Sitka Text" pitchFamily="2" charset="0"/>
                <a:ea typeface="Calibri" panose="020F0502020204030204" pitchFamily="34" charset="0"/>
                <a:cs typeface="Times New Roman" panose="02020603050405020304" pitchFamily="18" charset="0"/>
              </a:rPr>
              <a:t>Ross </a:t>
            </a:r>
            <a:r>
              <a:rPr lang="en-IN" sz="2000" dirty="0" smtClean="0">
                <a:latin typeface="Sitka Text" pitchFamily="2" charset="0"/>
                <a:ea typeface="Calibri" panose="020F0502020204030204" pitchFamily="34" charset="0"/>
                <a:cs typeface="Times New Roman" panose="02020603050405020304" pitchFamily="18" charset="0"/>
              </a:rPr>
              <a:t>Girshick: 2015</a:t>
            </a:r>
          </a:p>
          <a:p>
            <a:pPr>
              <a:lnSpc>
                <a:spcPct val="150000"/>
              </a:lnSpc>
            </a:pPr>
            <a:r>
              <a:rPr lang="en-IN" sz="2000" dirty="0" smtClean="0">
                <a:latin typeface="Sitka Text" pitchFamily="2" charset="0"/>
                <a:ea typeface="Calibri" panose="020F0502020204030204" pitchFamily="34" charset="0"/>
                <a:cs typeface="Times New Roman" panose="02020603050405020304" pitchFamily="18" charset="0"/>
              </a:rPr>
              <a:t>	CNN with RoI pooling layers</a:t>
            </a:r>
          </a:p>
          <a:p>
            <a:pPr>
              <a:lnSpc>
                <a:spcPct val="150000"/>
              </a:lnSpc>
            </a:pPr>
            <a:r>
              <a:rPr lang="en-IN" sz="2000" dirty="0" smtClean="0">
                <a:latin typeface="Sitka Text" pitchFamily="2" charset="0"/>
              </a:rPr>
              <a:t>	Integrated </a:t>
            </a:r>
            <a:r>
              <a:rPr lang="en-IN" sz="2000" dirty="0">
                <a:latin typeface="Sitka Text" pitchFamily="2" charset="0"/>
              </a:rPr>
              <a:t>classification and regression approach</a:t>
            </a:r>
          </a:p>
        </p:txBody>
      </p:sp>
      <p:sp>
        <p:nvSpPr>
          <p:cNvPr id="5" name="Rectangle 4"/>
          <p:cNvSpPr/>
          <p:nvPr/>
        </p:nvSpPr>
        <p:spPr>
          <a:xfrm>
            <a:off x="6540709" y="6447115"/>
            <a:ext cx="5391462" cy="276999"/>
          </a:xfrm>
          <a:prstGeom prst="rect">
            <a:avLst/>
          </a:prstGeom>
        </p:spPr>
        <p:txBody>
          <a:bodyPr wrap="square">
            <a:spAutoFit/>
          </a:bodyPr>
          <a:lstStyle/>
          <a:p>
            <a:r>
              <a:rPr lang="en-IN" sz="1200" dirty="0">
                <a:solidFill>
                  <a:schemeClr val="bg1"/>
                </a:solidFill>
                <a:latin typeface="Sitka Text" pitchFamily="2" charset="0"/>
              </a:rPr>
              <a:t>Girshick, Ross. "Fast r-</a:t>
            </a:r>
            <a:r>
              <a:rPr lang="en-IN" sz="1200" dirty="0" err="1">
                <a:solidFill>
                  <a:schemeClr val="bg1"/>
                </a:solidFill>
                <a:latin typeface="Sitka Text" pitchFamily="2" charset="0"/>
              </a:rPr>
              <a:t>cnn</a:t>
            </a:r>
            <a:r>
              <a:rPr lang="en-IN" sz="1200" dirty="0">
                <a:solidFill>
                  <a:schemeClr val="bg1"/>
                </a:solidFill>
                <a:latin typeface="Sitka Text" pitchFamily="2" charset="0"/>
              </a:rPr>
              <a:t>." </a:t>
            </a:r>
            <a:r>
              <a:rPr lang="en-IN" sz="1200" i="1" dirty="0" err="1">
                <a:solidFill>
                  <a:schemeClr val="bg1"/>
                </a:solidFill>
                <a:latin typeface="Sitka Text" pitchFamily="2" charset="0"/>
              </a:rPr>
              <a:t>arXiv</a:t>
            </a:r>
            <a:r>
              <a:rPr lang="en-IN" sz="1200" i="1" dirty="0">
                <a:solidFill>
                  <a:schemeClr val="bg1"/>
                </a:solidFill>
                <a:latin typeface="Sitka Text" pitchFamily="2" charset="0"/>
              </a:rPr>
              <a:t> preprint arXiv:1504.08083</a:t>
            </a:r>
            <a:r>
              <a:rPr lang="en-IN" sz="1200" dirty="0">
                <a:solidFill>
                  <a:schemeClr val="bg1"/>
                </a:solidFill>
                <a:latin typeface="Sitka Text" pitchFamily="2" charset="0"/>
              </a:rPr>
              <a:t> (2015).</a:t>
            </a:r>
          </a:p>
        </p:txBody>
      </p:sp>
    </p:spTree>
    <p:extLst>
      <p:ext uri="{BB962C8B-B14F-4D97-AF65-F5344CB8AC3E}">
        <p14:creationId xmlns:p14="http://schemas.microsoft.com/office/powerpoint/2010/main" val="154315728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Fast R-CNN</a:t>
            </a:r>
            <a:endParaRPr lang="en-IN" dirty="0"/>
          </a:p>
        </p:txBody>
      </p:sp>
      <p:pic>
        <p:nvPicPr>
          <p:cNvPr id="4" name="Content Placeholder 3"/>
          <p:cNvPicPr>
            <a:picLocks noGrp="1" noChangeAspect="1"/>
          </p:cNvPicPr>
          <p:nvPr>
            <p:ph idx="1"/>
          </p:nvPr>
        </p:nvPicPr>
        <p:blipFill>
          <a:blip r:embed="rId3"/>
          <a:stretch>
            <a:fillRect/>
          </a:stretch>
        </p:blipFill>
        <p:spPr>
          <a:xfrm>
            <a:off x="2073960" y="2691676"/>
            <a:ext cx="8105040" cy="2331897"/>
          </a:xfrm>
          <a:prstGeom prst="rect">
            <a:avLst/>
          </a:prstGeom>
        </p:spPr>
      </p:pic>
      <p:sp>
        <p:nvSpPr>
          <p:cNvPr id="5" name="TextBox 4"/>
          <p:cNvSpPr txBox="1"/>
          <p:nvPr/>
        </p:nvSpPr>
        <p:spPr>
          <a:xfrm>
            <a:off x="1097280" y="2106831"/>
            <a:ext cx="2196435" cy="400110"/>
          </a:xfrm>
          <a:prstGeom prst="rect">
            <a:avLst/>
          </a:prstGeom>
          <a:noFill/>
        </p:spPr>
        <p:txBody>
          <a:bodyPr wrap="none" rtlCol="0">
            <a:spAutoFit/>
          </a:bodyPr>
          <a:lstStyle/>
          <a:p>
            <a:r>
              <a:rPr lang="en-IN" sz="2000" dirty="0" smtClean="0">
                <a:latin typeface="Sitka Text" pitchFamily="2" charset="0"/>
              </a:rPr>
              <a:t>Recap of R-CNN:</a:t>
            </a:r>
            <a:endParaRPr lang="en-IN" sz="2000" dirty="0">
              <a:latin typeface="Sitka Text" pitchFamily="2" charset="0"/>
            </a:endParaRPr>
          </a:p>
        </p:txBody>
      </p:sp>
      <p:sp>
        <p:nvSpPr>
          <p:cNvPr id="6" name="Rectangle 5"/>
          <p:cNvSpPr/>
          <p:nvPr/>
        </p:nvSpPr>
        <p:spPr>
          <a:xfrm>
            <a:off x="1129778" y="5208309"/>
            <a:ext cx="8797601" cy="1015663"/>
          </a:xfrm>
          <a:prstGeom prst="rect">
            <a:avLst/>
          </a:prstGeom>
        </p:spPr>
        <p:txBody>
          <a:bodyPr wrap="none">
            <a:spAutoFit/>
          </a:bodyPr>
          <a:lstStyle/>
          <a:p>
            <a:pPr>
              <a:lnSpc>
                <a:spcPct val="150000"/>
              </a:lnSpc>
            </a:pPr>
            <a:r>
              <a:rPr lang="en-IN" sz="2000" dirty="0" smtClean="0">
                <a:latin typeface="Sitka Text" pitchFamily="2" charset="0"/>
                <a:ea typeface="Calibri" panose="020F0502020204030204" pitchFamily="34" charset="0"/>
                <a:cs typeface="Times New Roman" panose="02020603050405020304" pitchFamily="18" charset="0"/>
              </a:rPr>
              <a:t>R-CNN is slow</a:t>
            </a:r>
          </a:p>
          <a:p>
            <a:pPr>
              <a:lnSpc>
                <a:spcPct val="150000"/>
              </a:lnSpc>
            </a:pPr>
            <a:r>
              <a:rPr lang="en-IN" sz="2000" dirty="0">
                <a:latin typeface="Sitka Text" pitchFamily="2" charset="0"/>
              </a:rPr>
              <a:t>Fast </a:t>
            </a:r>
            <a:r>
              <a:rPr lang="en-IN" sz="2000" dirty="0" smtClean="0">
                <a:latin typeface="Sitka Text" pitchFamily="2" charset="0"/>
              </a:rPr>
              <a:t>R-CNN: Comparatively faster training and testing time than R-CNN</a:t>
            </a:r>
            <a:endParaRPr lang="en-IN" sz="2000" dirty="0">
              <a:latin typeface="Sitka Text" pitchFamily="2" charset="0"/>
            </a:endParaRPr>
          </a:p>
        </p:txBody>
      </p:sp>
    </p:spTree>
    <p:extLst>
      <p:ext uri="{BB962C8B-B14F-4D97-AF65-F5344CB8AC3E}">
        <p14:creationId xmlns:p14="http://schemas.microsoft.com/office/powerpoint/2010/main" val="190272776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Sitka Text" pitchFamily="2" charset="0"/>
              </a:rPr>
              <a:t>Convolutional Feature Extraction</a:t>
            </a:r>
            <a:endParaRPr lang="en-IN" dirty="0"/>
          </a:p>
        </p:txBody>
      </p:sp>
      <p:pic>
        <p:nvPicPr>
          <p:cNvPr id="4" name="Content Placeholder 3"/>
          <p:cNvPicPr>
            <a:picLocks noGrp="1" noChangeAspect="1"/>
          </p:cNvPicPr>
          <p:nvPr>
            <p:ph idx="1"/>
          </p:nvPr>
        </p:nvPicPr>
        <p:blipFill>
          <a:blip r:embed="rId3"/>
          <a:stretch>
            <a:fillRect/>
          </a:stretch>
        </p:blipFill>
        <p:spPr>
          <a:xfrm>
            <a:off x="2881110" y="2198201"/>
            <a:ext cx="5850435" cy="3730475"/>
          </a:xfrm>
          <a:prstGeom prst="rect">
            <a:avLst/>
          </a:prstGeom>
        </p:spPr>
      </p:pic>
      <mc:AlternateContent xmlns:mc="http://schemas.openxmlformats.org/markup-compatibility/2006" xmlns:p14="http://schemas.microsoft.com/office/powerpoint/2010/main">
        <mc:Choice Requires="p14">
          <p:contentPart p14:bwMode="auto" r:id="rId4">
            <p14:nvContentPartPr>
              <p14:cNvPr id="141" name="Ink 140"/>
              <p14:cNvContentPartPr/>
              <p14:nvPr/>
            </p14:nvContentPartPr>
            <p14:xfrm>
              <a:off x="6135715" y="2503205"/>
              <a:ext cx="23400" cy="17280"/>
            </p14:xfrm>
          </p:contentPart>
        </mc:Choice>
        <mc:Fallback xmlns="">
          <p:pic>
            <p:nvPicPr>
              <p:cNvPr id="141" name="Ink 140"/>
              <p:cNvPicPr/>
              <p:nvPr/>
            </p:nvPicPr>
            <p:blipFill>
              <a:blip r:embed="rId15"/>
              <a:stretch>
                <a:fillRect/>
              </a:stretch>
            </p:blipFill>
            <p:spPr>
              <a:xfrm>
                <a:off x="6132115" y="2499965"/>
                <a:ext cx="29880" cy="23400"/>
              </a:xfrm>
              <a:prstGeom prst="rect">
                <a:avLst/>
              </a:prstGeom>
            </p:spPr>
          </p:pic>
        </mc:Fallback>
      </mc:AlternateContent>
    </p:spTree>
    <p:extLst>
      <p:ext uri="{BB962C8B-B14F-4D97-AF65-F5344CB8AC3E}">
        <p14:creationId xmlns:p14="http://schemas.microsoft.com/office/powerpoint/2010/main" val="203161507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Region of Interest Pooling</a:t>
            </a:r>
            <a:endParaRPr lang="en-US" dirty="0"/>
          </a:p>
        </p:txBody>
      </p:sp>
      <p:pic>
        <p:nvPicPr>
          <p:cNvPr id="4" name="Content Placeholder 3"/>
          <p:cNvPicPr>
            <a:picLocks noGrp="1"/>
          </p:cNvPicPr>
          <p:nvPr>
            <p:ph idx="1"/>
          </p:nvPr>
        </p:nvPicPr>
        <p:blipFill rotWithShape="1">
          <a:blip r:embed="rId3"/>
          <a:srcRect r="11770" b="45731"/>
          <a:stretch/>
        </p:blipFill>
        <p:spPr>
          <a:xfrm>
            <a:off x="2450592" y="2220320"/>
            <a:ext cx="7351776" cy="3357520"/>
          </a:xfrm>
          <a:prstGeom prst="rect">
            <a:avLst/>
          </a:prstGeom>
        </p:spPr>
      </p:pic>
    </p:spTree>
    <p:extLst>
      <p:ext uri="{BB962C8B-B14F-4D97-AF65-F5344CB8AC3E}">
        <p14:creationId xmlns:p14="http://schemas.microsoft.com/office/powerpoint/2010/main" val="369343272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Region of Interest Pooling</a:t>
            </a:r>
            <a:endParaRPr lang="en-IN" dirty="0"/>
          </a:p>
        </p:txBody>
      </p:sp>
      <p:pic>
        <p:nvPicPr>
          <p:cNvPr id="4" name="Picture 2" descr="(Source: Fast R-CNN slid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63066" y="2480403"/>
            <a:ext cx="8526828" cy="341073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8294820" y="6495677"/>
            <a:ext cx="3600666" cy="276999"/>
          </a:xfrm>
          <a:prstGeom prst="rect">
            <a:avLst/>
          </a:prstGeom>
        </p:spPr>
        <p:txBody>
          <a:bodyPr wrap="none">
            <a:spAutoFit/>
          </a:bodyPr>
          <a:lstStyle/>
          <a:p>
            <a:r>
              <a:rPr lang="en-IN" sz="1200" dirty="0">
                <a:solidFill>
                  <a:schemeClr val="bg1"/>
                </a:solidFill>
                <a:latin typeface="Sitka Text" pitchFamily="2" charset="0"/>
              </a:rPr>
              <a:t>https://www.geeksforgeeks.org/fast-r-cnn-ml/</a:t>
            </a:r>
          </a:p>
        </p:txBody>
      </p:sp>
    </p:spTree>
    <p:extLst>
      <p:ext uri="{BB962C8B-B14F-4D97-AF65-F5344CB8AC3E}">
        <p14:creationId xmlns:p14="http://schemas.microsoft.com/office/powerpoint/2010/main" val="340655522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Region of Interest Pooling</a:t>
            </a:r>
            <a:endParaRPr lang="en-IN" dirty="0"/>
          </a:p>
        </p:txBody>
      </p:sp>
      <mc:AlternateContent xmlns:mc="http://schemas.openxmlformats.org/markup-compatibility/2006" xmlns:a14="http://schemas.microsoft.com/office/drawing/2010/main">
        <mc:Choice Requires="a14">
          <p:sp>
            <p:nvSpPr>
              <p:cNvPr id="4" name="TextBox 3"/>
              <p:cNvSpPr txBox="1"/>
              <p:nvPr/>
            </p:nvSpPr>
            <p:spPr>
              <a:xfrm>
                <a:off x="3987382" y="3426527"/>
                <a:ext cx="395339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latin typeface="Cambria Math" panose="02040503050406030204" pitchFamily="18" charset="0"/>
                        </a:rPr>
                        <m:t>14</m:t>
                      </m:r>
                      <m:r>
                        <a:rPr lang="en-IN" sz="2800" b="0" i="1" smtClean="0">
                          <a:latin typeface="Cambria Math" panose="02040503050406030204" pitchFamily="18" charset="0"/>
                          <a:ea typeface="Cambria Math" panose="02040503050406030204" pitchFamily="18" charset="0"/>
                        </a:rPr>
                        <m:t>×14×</m:t>
                      </m:r>
                      <m:r>
                        <a:rPr lang="en-IN" sz="2800" b="0" i="1" smtClean="0">
                          <a:latin typeface="Cambria Math" panose="02040503050406030204" pitchFamily="18" charset="0"/>
                          <a:ea typeface="Cambria Math" panose="02040503050406030204" pitchFamily="18" charset="0"/>
                        </a:rPr>
                        <m:t>𝑛</m:t>
                      </m:r>
                      <m:r>
                        <a:rPr lang="en-IN" sz="2800" b="0" i="1" smtClean="0">
                          <a:latin typeface="Cambria Math" panose="02040503050406030204" pitchFamily="18" charset="0"/>
                          <a:ea typeface="Cambria Math" panose="02040503050406030204" pitchFamily="18" charset="0"/>
                        </a:rPr>
                        <m:t> ⇒7×7×</m:t>
                      </m:r>
                      <m:r>
                        <a:rPr lang="en-IN" sz="2800" b="0" i="1" smtClean="0">
                          <a:latin typeface="Cambria Math" panose="02040503050406030204" pitchFamily="18" charset="0"/>
                          <a:ea typeface="Cambria Math" panose="02040503050406030204" pitchFamily="18" charset="0"/>
                        </a:rPr>
                        <m:t>𝑛</m:t>
                      </m:r>
                    </m:oMath>
                  </m:oMathPara>
                </a14:m>
                <a:endParaRPr lang="en-IN"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3987382" y="3426527"/>
                <a:ext cx="3953390" cy="430887"/>
              </a:xfrm>
              <a:prstGeom prst="rect">
                <a:avLst/>
              </a:prstGeom>
              <a:blipFill>
                <a:blip r:embed="rId2"/>
                <a:stretch>
                  <a:fillRect/>
                </a:stretch>
              </a:blipFill>
            </p:spPr>
            <p:txBody>
              <a:bodyPr/>
              <a:lstStyle/>
              <a:p>
                <a:r>
                  <a:rPr lang="en-IN">
                    <a:noFill/>
                  </a:rPr>
                  <a:t> </a:t>
                </a:r>
              </a:p>
            </p:txBody>
          </p:sp>
        </mc:Fallback>
      </mc:AlternateContent>
      <p:sp>
        <p:nvSpPr>
          <p:cNvPr id="5" name="Content Placeholder 4"/>
          <p:cNvSpPr>
            <a:spLocks noGrp="1"/>
          </p:cNvSpPr>
          <p:nvPr>
            <p:ph idx="1"/>
          </p:nvPr>
        </p:nvSpPr>
        <p:spPr>
          <a:prstGeom prst="rect">
            <a:avLst/>
          </a:prstGeom>
        </p:spPr>
        <p:txBody>
          <a:bodyPr wrap="none">
            <a:spAutoFit/>
          </a:bodyPr>
          <a:lstStyle/>
          <a:p>
            <a:r>
              <a:rPr lang="en-IN" sz="2000" dirty="0">
                <a:latin typeface="Sitka Text" pitchFamily="2" charset="0"/>
                <a:ea typeface="Calibri" panose="020F0502020204030204" pitchFamily="34" charset="0"/>
                <a:cs typeface="Times New Roman" panose="02020603050405020304" pitchFamily="18" charset="0"/>
              </a:rPr>
              <a:t>RoI pooling layer uses max pooling</a:t>
            </a:r>
            <a:endParaRPr lang="en-IN" sz="2000" dirty="0"/>
          </a:p>
        </p:txBody>
      </p:sp>
      <mc:AlternateContent xmlns:mc="http://schemas.openxmlformats.org/markup-compatibility/2006" xmlns:a14="http://schemas.microsoft.com/office/drawing/2010/main">
        <mc:Choice Requires="a14">
          <p:sp>
            <p:nvSpPr>
              <p:cNvPr id="6" name="Rectangle 5"/>
              <p:cNvSpPr/>
              <p:nvPr/>
            </p:nvSpPr>
            <p:spPr>
              <a:xfrm>
                <a:off x="1309494" y="2464845"/>
                <a:ext cx="1587614" cy="461665"/>
              </a:xfrm>
              <a:prstGeom prst="rect">
                <a:avLst/>
              </a:prstGeom>
            </p:spPr>
            <p:txBody>
              <a:bodyPr wrap="none">
                <a:spAutoFit/>
              </a:bodyPr>
              <a:lstStyle/>
              <a:p>
                <a14:m>
                  <m:oMath xmlns:m="http://schemas.openxmlformats.org/officeDocument/2006/math">
                    <m:r>
                      <a:rPr lang="en-IN" sz="2400" i="1">
                        <a:latin typeface="Cambria Math" panose="02040503050406030204" pitchFamily="18" charset="0"/>
                        <a:ea typeface="Calibri" panose="020F0502020204030204" pitchFamily="34" charset="0"/>
                        <a:cs typeface="Times New Roman" panose="02020603050405020304" pitchFamily="18" charset="0"/>
                      </a:rPr>
                      <m:t>(</m:t>
                    </m:r>
                    <m:r>
                      <a:rPr lang="en-IN" sz="2400" i="1">
                        <a:latin typeface="Cambria Math" panose="02040503050406030204" pitchFamily="18" charset="0"/>
                        <a:ea typeface="Calibri" panose="020F0502020204030204" pitchFamily="34" charset="0"/>
                        <a:cs typeface="Times New Roman" panose="02020603050405020304" pitchFamily="18" charset="0"/>
                      </a:rPr>
                      <m:t>𝑟</m:t>
                    </m:r>
                    <m:r>
                      <a:rPr lang="en-IN" sz="2400" i="1">
                        <a:latin typeface="Cambria Math" panose="02040503050406030204" pitchFamily="18" charset="0"/>
                        <a:ea typeface="Calibri" panose="020F0502020204030204" pitchFamily="34" charset="0"/>
                        <a:cs typeface="Times New Roman" panose="02020603050405020304" pitchFamily="18" charset="0"/>
                      </a:rPr>
                      <m:t>, </m:t>
                    </m:r>
                    <m:r>
                      <a:rPr lang="en-IN" sz="2400" i="1">
                        <a:latin typeface="Cambria Math" panose="02040503050406030204" pitchFamily="18" charset="0"/>
                        <a:ea typeface="Calibri" panose="020F0502020204030204" pitchFamily="34" charset="0"/>
                        <a:cs typeface="Times New Roman" panose="02020603050405020304" pitchFamily="18" charset="0"/>
                      </a:rPr>
                      <m:t>𝑐</m:t>
                    </m:r>
                    <m:r>
                      <a:rPr lang="en-IN" sz="2400" i="1">
                        <a:latin typeface="Cambria Math" panose="02040503050406030204" pitchFamily="18" charset="0"/>
                        <a:ea typeface="Calibri" panose="020F0502020204030204" pitchFamily="34" charset="0"/>
                        <a:cs typeface="Times New Roman" panose="02020603050405020304" pitchFamily="18" charset="0"/>
                      </a:rPr>
                      <m:t>, </m:t>
                    </m:r>
                    <m:r>
                      <a:rPr lang="en-IN" sz="2400" i="1">
                        <a:latin typeface="Cambria Math" panose="02040503050406030204" pitchFamily="18" charset="0"/>
                        <a:ea typeface="Calibri" panose="020F0502020204030204" pitchFamily="34" charset="0"/>
                        <a:cs typeface="Times New Roman" panose="02020603050405020304" pitchFamily="18" charset="0"/>
                      </a:rPr>
                      <m:t>h</m:t>
                    </m:r>
                    <m:r>
                      <a:rPr lang="en-IN" sz="2400" i="1">
                        <a:latin typeface="Cambria Math" panose="02040503050406030204" pitchFamily="18" charset="0"/>
                        <a:ea typeface="Calibri" panose="020F0502020204030204" pitchFamily="34" charset="0"/>
                        <a:cs typeface="Times New Roman" panose="02020603050405020304" pitchFamily="18" charset="0"/>
                      </a:rPr>
                      <m:t>, </m:t>
                    </m:r>
                    <m:r>
                      <a:rPr lang="en-IN" sz="2400" i="1">
                        <a:latin typeface="Cambria Math" panose="02040503050406030204" pitchFamily="18" charset="0"/>
                        <a:ea typeface="Calibri" panose="020F0502020204030204" pitchFamily="34" charset="0"/>
                        <a:cs typeface="Times New Roman" panose="02020603050405020304" pitchFamily="18" charset="0"/>
                      </a:rPr>
                      <m:t>𝑤</m:t>
                    </m:r>
                    <m:r>
                      <a:rPr lang="en-IN" sz="2400" i="1">
                        <a:latin typeface="Cambria Math" panose="02040503050406030204" pitchFamily="18" charset="0"/>
                        <a:ea typeface="Calibri" panose="020F0502020204030204" pitchFamily="34" charset="0"/>
                        <a:cs typeface="Times New Roman" panose="02020603050405020304" pitchFamily="18" charset="0"/>
                      </a:rPr>
                      <m:t>)</m:t>
                    </m:r>
                  </m:oMath>
                </a14:m>
                <a:r>
                  <a:rPr lang="en-IN" sz="2400" dirty="0">
                    <a:latin typeface="Sitka Text" pitchFamily="2" charset="0"/>
                    <a:ea typeface="Calibri" panose="020F0502020204030204" pitchFamily="34" charset="0"/>
                    <a:cs typeface="Times New Roman" panose="02020603050405020304" pitchFamily="18" charset="0"/>
                  </a:rPr>
                  <a:t> </a:t>
                </a:r>
                <a:endParaRPr lang="en-IN" sz="2400" dirty="0"/>
              </a:p>
            </p:txBody>
          </p:sp>
        </mc:Choice>
        <mc:Fallback xmlns="">
          <p:sp>
            <p:nvSpPr>
              <p:cNvPr id="6" name="Rectangle 5"/>
              <p:cNvSpPr>
                <a:spLocks noRot="1" noChangeAspect="1" noMove="1" noResize="1" noEditPoints="1" noAdjustHandles="1" noChangeArrowheads="1" noChangeShapeType="1" noTextEdit="1"/>
              </p:cNvSpPr>
              <p:nvPr/>
            </p:nvSpPr>
            <p:spPr>
              <a:xfrm>
                <a:off x="1309494" y="2464845"/>
                <a:ext cx="1587614" cy="461665"/>
              </a:xfrm>
              <a:prstGeom prst="rect">
                <a:avLst/>
              </a:prstGeom>
              <a:blipFill>
                <a:blip r:embed="rId3"/>
                <a:stretch>
                  <a:fillRect l="-3462" b="-1710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987382" y="2695677"/>
                <a:ext cx="386182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IN" sz="2800" i="1" smtClean="0">
                          <a:latin typeface="Cambria Math" panose="02040503050406030204" pitchFamily="18" charset="0"/>
                        </a:rPr>
                        <m:t>h</m:t>
                      </m:r>
                      <m:r>
                        <a:rPr lang="en-IN" sz="2800" b="0" i="1" smtClean="0">
                          <a:latin typeface="Cambria Math" panose="02040503050406030204" pitchFamily="18" charset="0"/>
                          <a:ea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𝑤</m:t>
                      </m:r>
                      <m:r>
                        <a:rPr lang="en-IN" sz="2800" b="0" i="1" smtClean="0">
                          <a:latin typeface="Cambria Math" panose="02040503050406030204" pitchFamily="18" charset="0"/>
                          <a:ea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𝑛</m:t>
                      </m:r>
                      <m:r>
                        <a:rPr lang="en-IN" sz="2800" b="0" i="1" smtClean="0">
                          <a:latin typeface="Cambria Math" panose="02040503050406030204" pitchFamily="18" charset="0"/>
                          <a:ea typeface="Cambria Math" panose="02040503050406030204" pitchFamily="18" charset="0"/>
                        </a:rPr>
                        <m:t> ⇒</m:t>
                      </m:r>
                      <m:r>
                        <a:rPr lang="en-IN" sz="2800" b="0" i="1" smtClean="0">
                          <a:latin typeface="Cambria Math" panose="02040503050406030204" pitchFamily="18" charset="0"/>
                          <a:ea typeface="Cambria Math" panose="02040503050406030204" pitchFamily="18" charset="0"/>
                        </a:rPr>
                        <m:t>𝐻</m:t>
                      </m:r>
                      <m:r>
                        <a:rPr lang="en-IN" sz="2800" b="0" i="1" smtClean="0">
                          <a:latin typeface="Cambria Math" panose="02040503050406030204" pitchFamily="18" charset="0"/>
                          <a:ea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𝑊</m:t>
                      </m:r>
                      <m:r>
                        <a:rPr lang="en-IN" sz="2800" b="0" i="1" smtClean="0">
                          <a:latin typeface="Cambria Math" panose="02040503050406030204" pitchFamily="18" charset="0"/>
                          <a:ea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𝑛</m:t>
                      </m:r>
                    </m:oMath>
                  </m:oMathPara>
                </a14:m>
                <a:endParaRPr lang="en-IN" sz="2800" dirty="0"/>
              </a:p>
            </p:txBody>
          </p:sp>
        </mc:Choice>
        <mc:Fallback xmlns="">
          <p:sp>
            <p:nvSpPr>
              <p:cNvPr id="7" name="TextBox 6"/>
              <p:cNvSpPr txBox="1">
                <a:spLocks noRot="1" noChangeAspect="1" noMove="1" noResize="1" noEditPoints="1" noAdjustHandles="1" noChangeArrowheads="1" noChangeShapeType="1" noTextEdit="1"/>
              </p:cNvSpPr>
              <p:nvPr/>
            </p:nvSpPr>
            <p:spPr>
              <a:xfrm>
                <a:off x="3987382" y="2695677"/>
                <a:ext cx="3861826" cy="43088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8" name="Ink 7"/>
              <p14:cNvContentPartPr/>
              <p14:nvPr/>
            </p14:nvContentPartPr>
            <p14:xfrm>
              <a:off x="9546480" y="-932688"/>
              <a:ext cx="360" cy="360"/>
            </p14:xfrm>
          </p:contentPart>
        </mc:Choice>
        <mc:Fallback xmlns="">
          <p:pic>
            <p:nvPicPr>
              <p:cNvPr id="8" name="Ink 7"/>
              <p:cNvPicPr/>
              <p:nvPr/>
            </p:nvPicPr>
            <p:blipFill>
              <a:blip r:embed="rId6"/>
              <a:stretch>
                <a:fillRect/>
              </a:stretch>
            </p:blipFill>
            <p:spPr>
              <a:xfrm>
                <a:off x="9534600" y="-944568"/>
                <a:ext cx="24120" cy="24120"/>
              </a:xfrm>
              <a:prstGeom prst="rect">
                <a:avLst/>
              </a:prstGeom>
            </p:spPr>
          </p:pic>
        </mc:Fallback>
      </mc:AlternateContent>
    </p:spTree>
    <p:extLst>
      <p:ext uri="{BB962C8B-B14F-4D97-AF65-F5344CB8AC3E}">
        <p14:creationId xmlns:p14="http://schemas.microsoft.com/office/powerpoint/2010/main" val="425535998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Neural </a:t>
            </a:r>
            <a:r>
              <a:rPr lang="en-IN" dirty="0" smtClean="0">
                <a:latin typeface="Sitka Text" pitchFamily="2" charset="0"/>
              </a:rPr>
              <a:t>Network</a:t>
            </a:r>
            <a:endParaRPr lang="en-IN" dirty="0">
              <a:latin typeface="Sitka Text" pitchFamily="2" charset="0"/>
            </a:endParaRPr>
          </a:p>
        </p:txBody>
      </p:sp>
      <p:sp>
        <p:nvSpPr>
          <p:cNvPr id="3" name="Content Placeholder 2"/>
          <p:cNvSpPr>
            <a:spLocks noGrp="1"/>
          </p:cNvSpPr>
          <p:nvPr>
            <p:ph idx="1"/>
          </p:nvPr>
        </p:nvSpPr>
        <p:spPr/>
        <p:txBody>
          <a:bodyPr/>
          <a:lstStyle/>
          <a:p>
            <a:r>
              <a:rPr lang="en-IN" dirty="0" err="1" smtClean="0">
                <a:latin typeface="Sitka Text" pitchFamily="2" charset="0"/>
              </a:rPr>
              <a:t>AlexNet</a:t>
            </a:r>
            <a:endParaRPr lang="en-IN" dirty="0" smtClean="0">
              <a:latin typeface="Sitka Text" pitchFamily="2" charset="0"/>
            </a:endParaRPr>
          </a:p>
          <a:p>
            <a:r>
              <a:rPr lang="en-IN" dirty="0" smtClean="0">
                <a:latin typeface="Sitka Text" pitchFamily="2" charset="0"/>
              </a:rPr>
              <a:t>VGG16</a:t>
            </a:r>
          </a:p>
          <a:p>
            <a:r>
              <a:rPr lang="en-IN" dirty="0" smtClean="0">
                <a:latin typeface="Sitka Text" pitchFamily="2" charset="0"/>
              </a:rPr>
              <a:t>VGG_CNN_M_1024</a:t>
            </a:r>
            <a:endParaRPr lang="en-IN" dirty="0">
              <a:latin typeface="Sitka Text" pitchFamily="2" charset="0"/>
            </a:endParaRPr>
          </a:p>
        </p:txBody>
      </p:sp>
      <p:pic>
        <p:nvPicPr>
          <p:cNvPr id="4" name="Content Placeholder 3"/>
          <p:cNvPicPr>
            <a:picLocks/>
          </p:cNvPicPr>
          <p:nvPr/>
        </p:nvPicPr>
        <p:blipFill rotWithShape="1">
          <a:blip r:embed="rId3"/>
          <a:srcRect l="39360" b="45731"/>
          <a:stretch/>
        </p:blipFill>
        <p:spPr>
          <a:xfrm>
            <a:off x="6126480" y="2248236"/>
            <a:ext cx="4758516" cy="3218355"/>
          </a:xfrm>
          <a:prstGeom prst="rect">
            <a:avLst/>
          </a:prstGeom>
        </p:spPr>
      </p:pic>
    </p:spTree>
    <p:extLst>
      <p:ext uri="{BB962C8B-B14F-4D97-AF65-F5344CB8AC3E}">
        <p14:creationId xmlns:p14="http://schemas.microsoft.com/office/powerpoint/2010/main" val="18086065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Neural Network</a:t>
            </a:r>
            <a:endParaRPr lang="en-US" dirty="0"/>
          </a:p>
        </p:txBody>
      </p:sp>
      <p:pic>
        <p:nvPicPr>
          <p:cNvPr id="4" name="Content Placeholder 3"/>
          <p:cNvPicPr>
            <a:picLocks noGrp="1"/>
          </p:cNvPicPr>
          <p:nvPr>
            <p:ph idx="1"/>
          </p:nvPr>
        </p:nvPicPr>
        <p:blipFill rotWithShape="1">
          <a:blip r:embed="rId3"/>
          <a:srcRect t="3367" b="45731"/>
          <a:stretch/>
        </p:blipFill>
        <p:spPr>
          <a:xfrm>
            <a:off x="3041678" y="2441813"/>
            <a:ext cx="6169603" cy="2062138"/>
          </a:xfrm>
          <a:prstGeom prst="rect">
            <a:avLst/>
          </a:prstGeom>
        </p:spPr>
      </p:pic>
      <p:sp>
        <p:nvSpPr>
          <p:cNvPr id="5" name="Rectangle 4"/>
          <p:cNvSpPr/>
          <p:nvPr/>
        </p:nvSpPr>
        <p:spPr>
          <a:xfrm>
            <a:off x="982133" y="4820355"/>
            <a:ext cx="9347200" cy="1338828"/>
          </a:xfrm>
          <a:prstGeom prst="rect">
            <a:avLst/>
          </a:prstGeom>
        </p:spPr>
        <p:txBody>
          <a:bodyPr wrap="square">
            <a:spAutoFit/>
          </a:bodyPr>
          <a:lstStyle/>
          <a:p>
            <a:pPr marL="285750" indent="-285750">
              <a:lnSpc>
                <a:spcPct val="150000"/>
              </a:lnSpc>
              <a:buFont typeface="Arial" panose="020B0604020202020204" pitchFamily="34" charset="0"/>
              <a:buChar char="•"/>
              <a:defRPr/>
            </a:pPr>
            <a:r>
              <a:rPr lang="en-IN" dirty="0" smtClean="0">
                <a:latin typeface="Sitka Text" pitchFamily="2" charset="0"/>
              </a:rPr>
              <a:t>Last max pooling layer is replaced by </a:t>
            </a:r>
            <a:r>
              <a:rPr lang="en-IN" dirty="0" err="1" smtClean="0">
                <a:latin typeface="Sitka Text" pitchFamily="2" charset="0"/>
              </a:rPr>
              <a:t>RoI</a:t>
            </a:r>
            <a:r>
              <a:rPr lang="en-IN" dirty="0" smtClean="0">
                <a:latin typeface="Sitka Text" pitchFamily="2" charset="0"/>
              </a:rPr>
              <a:t> pooling layer</a:t>
            </a:r>
          </a:p>
          <a:p>
            <a:pPr marL="285750" indent="-285750">
              <a:lnSpc>
                <a:spcPct val="150000"/>
              </a:lnSpc>
              <a:buFont typeface="Arial" panose="020B0604020202020204" pitchFamily="34" charset="0"/>
              <a:buChar char="•"/>
              <a:defRPr/>
            </a:pPr>
            <a:r>
              <a:rPr lang="en-IN" dirty="0" smtClean="0">
                <a:latin typeface="Sitka Text" pitchFamily="2" charset="0"/>
              </a:rPr>
              <a:t>Last fully connected layer and softmax are replaced with the two sibling layers </a:t>
            </a:r>
          </a:p>
          <a:p>
            <a:pPr marL="285750" indent="-285750">
              <a:lnSpc>
                <a:spcPct val="150000"/>
              </a:lnSpc>
              <a:buFont typeface="Arial" panose="020B0604020202020204" pitchFamily="34" charset="0"/>
              <a:buChar char="•"/>
              <a:defRPr/>
            </a:pPr>
            <a:r>
              <a:rPr lang="en-IN" dirty="0" smtClean="0">
                <a:latin typeface="Sitka Text" pitchFamily="2" charset="0"/>
              </a:rPr>
              <a:t>Two data inputs: a list of images and a list of </a:t>
            </a:r>
            <a:r>
              <a:rPr lang="en-IN" dirty="0" err="1" smtClean="0">
                <a:latin typeface="Sitka Text" pitchFamily="2" charset="0"/>
              </a:rPr>
              <a:t>RoIs</a:t>
            </a:r>
            <a:r>
              <a:rPr lang="en-IN" dirty="0" smtClean="0">
                <a:latin typeface="Sitka Text" pitchFamily="2" charset="0"/>
              </a:rPr>
              <a:t> in those images</a:t>
            </a:r>
            <a:endParaRPr lang="en-US" dirty="0">
              <a:latin typeface="Sitka Text" pitchFamily="2" charset="0"/>
            </a:endParaRPr>
          </a:p>
        </p:txBody>
      </p:sp>
      <p:sp>
        <p:nvSpPr>
          <p:cNvPr id="6" name="Rectangle 5"/>
          <p:cNvSpPr/>
          <p:nvPr/>
        </p:nvSpPr>
        <p:spPr>
          <a:xfrm>
            <a:off x="982133" y="4319285"/>
            <a:ext cx="901209" cy="369332"/>
          </a:xfrm>
          <a:prstGeom prst="rect">
            <a:avLst/>
          </a:prstGeom>
        </p:spPr>
        <p:txBody>
          <a:bodyPr wrap="none">
            <a:spAutoFit/>
          </a:bodyPr>
          <a:lstStyle/>
          <a:p>
            <a:r>
              <a:rPr lang="en-IN" dirty="0">
                <a:latin typeface="Sitka Text" pitchFamily="2" charset="0"/>
              </a:rPr>
              <a:t>VGG16</a:t>
            </a:r>
            <a:endParaRPr lang="en-US" dirty="0">
              <a:latin typeface="Sitka Text" pitchFamily="2" charset="0"/>
            </a:endParaRPr>
          </a:p>
        </p:txBody>
      </p:sp>
      <mc:AlternateContent xmlns:mc="http://schemas.openxmlformats.org/markup-compatibility/2006" xmlns:a14="http://schemas.microsoft.com/office/drawing/2010/main">
        <mc:Choice Requires="a14">
          <p:sp>
            <p:nvSpPr>
              <p:cNvPr id="3" name="Rectangle 2"/>
              <p:cNvSpPr/>
              <p:nvPr/>
            </p:nvSpPr>
            <p:spPr>
              <a:xfrm>
                <a:off x="6345618" y="1940743"/>
                <a:ext cx="188301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i="1">
                              <a:latin typeface="Cambria Math" panose="02040503050406030204" pitchFamily="18" charset="0"/>
                            </a:rPr>
                          </m:ctrlPr>
                        </m:dPr>
                        <m:e>
                          <m:r>
                            <a:rPr lang="en-US" i="1">
                              <a:latin typeface="Cambria Math" panose="02040503050406030204" pitchFamily="18" charset="0"/>
                            </a:rPr>
                            <m:t>𝑝</m:t>
                          </m:r>
                          <m:r>
                            <a:rPr lang="en-US" i="0">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0">
                                  <a:latin typeface="Cambria Math" panose="02040503050406030204" pitchFamily="18" charset="0"/>
                                </a:rPr>
                                <m:t>0</m:t>
                              </m:r>
                            </m:sub>
                          </m:sSub>
                          <m:r>
                            <a:rPr lang="en-US" i="0">
                              <a:latin typeface="Cambria Math" panose="02040503050406030204" pitchFamily="18" charset="0"/>
                            </a:rPr>
                            <m:t>, . . . ,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𝐾</m:t>
                              </m:r>
                            </m:sub>
                          </m:sSub>
                        </m:e>
                      </m:d>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6345618" y="1940743"/>
                <a:ext cx="1883015" cy="369332"/>
              </a:xfrm>
              <a:prstGeom prst="rect">
                <a:avLst/>
              </a:prstGeom>
              <a:blipFill>
                <a:blip r:embed="rId4"/>
                <a:stretch>
                  <a:fillRect t="-119672" r="-26537" b="-1836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8666058" y="1957529"/>
                <a:ext cx="2175083" cy="4110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𝑘</m:t>
                              </m:r>
                            </m:sup>
                          </m:sSup>
                          <m:r>
                            <a:rPr lang="en-US" i="0">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𝑡</m:t>
                              </m:r>
                            </m:e>
                            <m:sub>
                              <m:r>
                                <a:rPr lang="en-US" i="1">
                                  <a:latin typeface="Cambria Math" panose="02040503050406030204" pitchFamily="18" charset="0"/>
                                </a:rPr>
                                <m:t>𝑥</m:t>
                              </m:r>
                            </m:sub>
                            <m:sup>
                              <m:r>
                                <a:rPr lang="en-US" i="1">
                                  <a:latin typeface="Cambria Math" panose="02040503050406030204" pitchFamily="18" charset="0"/>
                                </a:rPr>
                                <m:t>𝑘</m:t>
                              </m:r>
                            </m:sup>
                          </m:sSubSup>
                          <m:r>
                            <a:rPr lang="en-US" i="0">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𝑡</m:t>
                              </m:r>
                            </m:e>
                            <m:sub>
                              <m:r>
                                <a:rPr lang="en-US" i="1">
                                  <a:latin typeface="Cambria Math" panose="02040503050406030204" pitchFamily="18" charset="0"/>
                                </a:rPr>
                                <m:t>𝑦</m:t>
                              </m:r>
                            </m:sub>
                            <m:sup>
                              <m:r>
                                <a:rPr lang="en-US" i="1">
                                  <a:latin typeface="Cambria Math" panose="02040503050406030204" pitchFamily="18" charset="0"/>
                                </a:rPr>
                                <m:t>𝑘</m:t>
                              </m:r>
                            </m:sup>
                          </m:sSubSup>
                          <m:r>
                            <a:rPr lang="en-US" i="0">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𝑡</m:t>
                              </m:r>
                            </m:e>
                            <m:sub>
                              <m:r>
                                <a:rPr lang="en-US" i="1">
                                  <a:latin typeface="Cambria Math" panose="02040503050406030204" pitchFamily="18" charset="0"/>
                                </a:rPr>
                                <m:t>𝑤</m:t>
                              </m:r>
                            </m:sub>
                            <m:sup>
                              <m:r>
                                <a:rPr lang="en-US" i="1">
                                  <a:latin typeface="Cambria Math" panose="02040503050406030204" pitchFamily="18" charset="0"/>
                                </a:rPr>
                                <m:t>𝑘</m:t>
                              </m:r>
                            </m:sup>
                          </m:sSubSup>
                          <m:r>
                            <a:rPr lang="en-US" i="0">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𝑡</m:t>
                              </m:r>
                            </m:e>
                            <m:sub>
                              <m:r>
                                <a:rPr lang="en-US" i="1">
                                  <a:latin typeface="Cambria Math" panose="02040503050406030204" pitchFamily="18" charset="0"/>
                                </a:rPr>
                                <m:t>h</m:t>
                              </m:r>
                            </m:sub>
                            <m:sup>
                              <m:r>
                                <a:rPr lang="en-US" i="1">
                                  <a:latin typeface="Cambria Math" panose="02040503050406030204" pitchFamily="18" charset="0"/>
                                </a:rPr>
                                <m:t>𝑘</m:t>
                              </m:r>
                            </m:sup>
                          </m:sSubSup>
                        </m:e>
                      </m:d>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8666058" y="1957529"/>
                <a:ext cx="2175083" cy="411010"/>
              </a:xfrm>
              <a:prstGeom prst="rect">
                <a:avLst/>
              </a:prstGeom>
              <a:blipFill>
                <a:blip r:embed="rId5"/>
                <a:stretch>
                  <a:fillRect t="-151471" r="-29213" b="-223529"/>
                </a:stretch>
              </a:blipFill>
            </p:spPr>
            <p:txBody>
              <a:bodyPr/>
              <a:lstStyle/>
              <a:p>
                <a:r>
                  <a:rPr lang="en-US">
                    <a:noFill/>
                  </a:rPr>
                  <a:t> </a:t>
                </a:r>
              </a:p>
            </p:txBody>
          </p:sp>
        </mc:Fallback>
      </mc:AlternateContent>
    </p:spTree>
    <p:extLst>
      <p:ext uri="{BB962C8B-B14F-4D97-AF65-F5344CB8AC3E}">
        <p14:creationId xmlns:p14="http://schemas.microsoft.com/office/powerpoint/2010/main" val="241035532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Sitka Text" pitchFamily="2" charset="0"/>
              </a:rPr>
              <a:t>Training</a:t>
            </a:r>
            <a:endParaRPr lang="en-IN" dirty="0">
              <a:latin typeface="Sitka Text" pitchFamily="2" charset="0"/>
            </a:endParaRPr>
          </a:p>
        </p:txBody>
      </p:sp>
      <p:sp>
        <p:nvSpPr>
          <p:cNvPr id="4" name="Rectangle 3"/>
          <p:cNvSpPr/>
          <p:nvPr/>
        </p:nvSpPr>
        <p:spPr>
          <a:xfrm>
            <a:off x="1097280" y="2103563"/>
            <a:ext cx="7233070" cy="1229376"/>
          </a:xfrm>
          <a:prstGeom prst="rect">
            <a:avLst/>
          </a:prstGeom>
        </p:spPr>
        <p:txBody>
          <a:bodyPr wrap="none">
            <a:spAutoFit/>
          </a:bodyPr>
          <a:lstStyle/>
          <a:p>
            <a:pPr>
              <a:lnSpc>
                <a:spcPct val="200000"/>
              </a:lnSpc>
            </a:pPr>
            <a:r>
              <a:rPr lang="en-IN" sz="2000" dirty="0" smtClean="0">
                <a:latin typeface="Sitka Text" pitchFamily="2" charset="0"/>
                <a:ea typeface="Calibri" panose="020F0502020204030204" pitchFamily="34" charset="0"/>
                <a:cs typeface="Times New Roman" panose="02020603050405020304" pitchFamily="18" charset="0"/>
              </a:rPr>
              <a:t>Feature sharing during training</a:t>
            </a:r>
          </a:p>
          <a:p>
            <a:pPr>
              <a:lnSpc>
                <a:spcPct val="200000"/>
              </a:lnSpc>
            </a:pPr>
            <a:r>
              <a:rPr lang="en-IN" sz="2000" dirty="0">
                <a:latin typeface="Sitka Text" pitchFamily="2" charset="0"/>
                <a:ea typeface="Calibri" panose="020F0502020204030204" pitchFamily="34" charset="0"/>
                <a:cs typeface="Times New Roman" panose="02020603050405020304" pitchFamily="18" charset="0"/>
              </a:rPr>
              <a:t>RoIs from the same image share computation and memory</a:t>
            </a:r>
          </a:p>
        </p:txBody>
      </p:sp>
      <p:sp>
        <p:nvSpPr>
          <p:cNvPr id="6" name="Rectangle 5"/>
          <p:cNvSpPr/>
          <p:nvPr/>
        </p:nvSpPr>
        <p:spPr>
          <a:xfrm>
            <a:off x="1097280" y="3783375"/>
            <a:ext cx="8616346" cy="400110"/>
          </a:xfrm>
          <a:prstGeom prst="rect">
            <a:avLst/>
          </a:prstGeom>
        </p:spPr>
        <p:txBody>
          <a:bodyPr wrap="square">
            <a:spAutoFit/>
          </a:bodyPr>
          <a:lstStyle/>
          <a:p>
            <a:r>
              <a:rPr lang="en-IN" sz="2000" dirty="0" smtClean="0">
                <a:latin typeface="Sitka Text" pitchFamily="2" charset="0"/>
                <a:ea typeface="Calibri" panose="020F0502020204030204" pitchFamily="34" charset="0"/>
                <a:cs typeface="Times New Roman" panose="02020603050405020304" pitchFamily="18" charset="0"/>
              </a:rPr>
              <a:t>Jointly optimizes a softmax classifier and bounding-box regressors</a:t>
            </a:r>
            <a:endParaRPr lang="en-IN" sz="2000" dirty="0"/>
          </a:p>
        </p:txBody>
      </p:sp>
      <p:sp>
        <p:nvSpPr>
          <p:cNvPr id="7" name="Rectangle 6"/>
          <p:cNvSpPr/>
          <p:nvPr/>
        </p:nvSpPr>
        <p:spPr>
          <a:xfrm>
            <a:off x="1097280" y="4582720"/>
            <a:ext cx="3118161" cy="400110"/>
          </a:xfrm>
          <a:prstGeom prst="rect">
            <a:avLst/>
          </a:prstGeom>
        </p:spPr>
        <p:txBody>
          <a:bodyPr wrap="none">
            <a:spAutoFit/>
          </a:bodyPr>
          <a:lstStyle/>
          <a:p>
            <a:r>
              <a:rPr lang="en-IN" sz="2000" dirty="0" smtClean="0">
                <a:latin typeface="Sitka Text" pitchFamily="2" charset="0"/>
                <a:ea typeface="Calibri" panose="020F0502020204030204" pitchFamily="34" charset="0"/>
                <a:cs typeface="Times New Roman" panose="02020603050405020304" pitchFamily="18" charset="0"/>
              </a:rPr>
              <a:t>Multi-task loss function </a:t>
            </a:r>
            <a:endParaRPr lang="en-IN" sz="2000" dirty="0"/>
          </a:p>
        </p:txBody>
      </p:sp>
      <p:pic>
        <p:nvPicPr>
          <p:cNvPr id="2050" name="Picture 2" descr="Lightbox"/>
          <p:cNvPicPr>
            <a:picLocks noChangeAspect="1" noChangeArrowheads="1"/>
          </p:cNvPicPr>
          <p:nvPr/>
        </p:nvPicPr>
        <p:blipFill rotWithShape="1">
          <a:blip r:embed="rId3">
            <a:extLst>
              <a:ext uri="{28A0092B-C50C-407E-A947-70E740481C1C}">
                <a14:useLocalDpi xmlns:a14="http://schemas.microsoft.com/office/drawing/2010/main" val="0"/>
              </a:ext>
            </a:extLst>
          </a:blip>
          <a:srcRect r="5360" b="951"/>
          <a:stretch/>
        </p:blipFill>
        <p:spPr bwMode="auto">
          <a:xfrm>
            <a:off x="2700353" y="5242590"/>
            <a:ext cx="5120173" cy="556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9030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Comparison with R-CNN</a:t>
            </a:r>
            <a:endParaRPr lang="en-US" dirty="0"/>
          </a:p>
        </p:txBody>
      </p:sp>
      <p:pic>
        <p:nvPicPr>
          <p:cNvPr id="4" name="Content Placeholder 3"/>
          <p:cNvPicPr>
            <a:picLocks noChangeAspect="1"/>
          </p:cNvPicPr>
          <p:nvPr/>
        </p:nvPicPr>
        <p:blipFill rotWithShape="1">
          <a:blip r:embed="rId2"/>
          <a:srcRect b="30345"/>
          <a:stretch/>
        </p:blipFill>
        <p:spPr>
          <a:xfrm>
            <a:off x="1466917" y="2003040"/>
            <a:ext cx="9326352" cy="1869049"/>
          </a:xfrm>
          <a:prstGeom prst="rect">
            <a:avLst/>
          </a:prstGeom>
        </p:spPr>
      </p:pic>
      <p:pic>
        <p:nvPicPr>
          <p:cNvPr id="5" name="Content Placeholder 3"/>
          <p:cNvPicPr>
            <a:picLocks/>
          </p:cNvPicPr>
          <p:nvPr/>
        </p:nvPicPr>
        <p:blipFill rotWithShape="1">
          <a:blip r:embed="rId3"/>
          <a:srcRect t="3367" b="45731"/>
          <a:stretch/>
        </p:blipFill>
        <p:spPr>
          <a:xfrm>
            <a:off x="2937104" y="4046513"/>
            <a:ext cx="6890398" cy="2195299"/>
          </a:xfrm>
          <a:prstGeom prst="rect">
            <a:avLst/>
          </a:prstGeom>
        </p:spPr>
      </p:pic>
      <p:sp>
        <p:nvSpPr>
          <p:cNvPr id="6" name="Rectangle 5"/>
          <p:cNvSpPr/>
          <p:nvPr/>
        </p:nvSpPr>
        <p:spPr>
          <a:xfrm>
            <a:off x="543266" y="2752898"/>
            <a:ext cx="923651" cy="369332"/>
          </a:xfrm>
          <a:prstGeom prst="rect">
            <a:avLst/>
          </a:prstGeom>
        </p:spPr>
        <p:txBody>
          <a:bodyPr wrap="none">
            <a:spAutoFit/>
          </a:bodyPr>
          <a:lstStyle/>
          <a:p>
            <a:r>
              <a:rPr lang="en-US" dirty="0">
                <a:latin typeface="Sitka Text" pitchFamily="2" charset="0"/>
              </a:rPr>
              <a:t>R-CNN</a:t>
            </a:r>
            <a:endParaRPr lang="en-US" dirty="0"/>
          </a:p>
        </p:txBody>
      </p:sp>
      <p:sp>
        <p:nvSpPr>
          <p:cNvPr id="7" name="Rectangle 6"/>
          <p:cNvSpPr/>
          <p:nvPr/>
        </p:nvSpPr>
        <p:spPr>
          <a:xfrm>
            <a:off x="543266" y="4949150"/>
            <a:ext cx="1443024" cy="369332"/>
          </a:xfrm>
          <a:prstGeom prst="rect">
            <a:avLst/>
          </a:prstGeom>
        </p:spPr>
        <p:txBody>
          <a:bodyPr wrap="none">
            <a:spAutoFit/>
          </a:bodyPr>
          <a:lstStyle/>
          <a:p>
            <a:r>
              <a:rPr lang="en-US" dirty="0" smtClean="0">
                <a:latin typeface="Sitka Text" pitchFamily="2" charset="0"/>
              </a:rPr>
              <a:t>Fast R-CNN</a:t>
            </a:r>
            <a:endParaRPr lang="en-US" dirty="0"/>
          </a:p>
        </p:txBody>
      </p:sp>
      <p:sp>
        <p:nvSpPr>
          <p:cNvPr id="8" name="Rectangle 7"/>
          <p:cNvSpPr/>
          <p:nvPr/>
        </p:nvSpPr>
        <p:spPr>
          <a:xfrm>
            <a:off x="9621313" y="4625984"/>
            <a:ext cx="2343911" cy="646331"/>
          </a:xfrm>
          <a:prstGeom prst="rect">
            <a:avLst/>
          </a:prstGeom>
        </p:spPr>
        <p:txBody>
          <a:bodyPr wrap="none">
            <a:spAutoFit/>
          </a:bodyPr>
          <a:lstStyle/>
          <a:p>
            <a:r>
              <a:rPr lang="en-IN" dirty="0" err="1" smtClean="0">
                <a:solidFill>
                  <a:srgbClr val="FF0000"/>
                </a:solidFill>
                <a:latin typeface="Sitka Text" pitchFamily="2" charset="0"/>
                <a:ea typeface="Calibri" panose="020F0502020204030204" pitchFamily="34" charset="0"/>
                <a:cs typeface="Times New Roman" panose="02020603050405020304" pitchFamily="18" charset="0"/>
              </a:rPr>
              <a:t>mAP</a:t>
            </a:r>
            <a:r>
              <a:rPr lang="en-IN" dirty="0" smtClean="0">
                <a:solidFill>
                  <a:srgbClr val="FF0000"/>
                </a:solidFill>
                <a:latin typeface="Sitka Text" pitchFamily="2" charset="0"/>
                <a:ea typeface="Calibri" panose="020F0502020204030204" pitchFamily="34" charset="0"/>
                <a:cs typeface="Times New Roman" panose="02020603050405020304" pitchFamily="18" charset="0"/>
              </a:rPr>
              <a:t> </a:t>
            </a:r>
            <a:r>
              <a:rPr lang="en-IN" dirty="0">
                <a:solidFill>
                  <a:srgbClr val="FF0000"/>
                </a:solidFill>
                <a:latin typeface="Sitka Text" pitchFamily="2" charset="0"/>
                <a:ea typeface="Calibri" panose="020F0502020204030204" pitchFamily="34" charset="0"/>
                <a:cs typeface="Times New Roman" panose="02020603050405020304" pitchFamily="18" charset="0"/>
              </a:rPr>
              <a:t>65.7</a:t>
            </a:r>
            <a:r>
              <a:rPr lang="en-IN" dirty="0" smtClean="0">
                <a:solidFill>
                  <a:srgbClr val="FF0000"/>
                </a:solidFill>
                <a:latin typeface="Sitka Text" pitchFamily="2" charset="0"/>
                <a:ea typeface="Calibri" panose="020F0502020204030204" pitchFamily="34" charset="0"/>
                <a:cs typeface="Times New Roman" panose="02020603050405020304" pitchFamily="18" charset="0"/>
              </a:rPr>
              <a:t>%: VOC12 </a:t>
            </a:r>
          </a:p>
          <a:p>
            <a:r>
              <a:rPr lang="en-IN" dirty="0" err="1" smtClean="0">
                <a:solidFill>
                  <a:srgbClr val="FF0000"/>
                </a:solidFill>
                <a:latin typeface="Sitka Text" pitchFamily="2" charset="0"/>
                <a:ea typeface="Calibri" panose="020F0502020204030204" pitchFamily="34" charset="0"/>
                <a:cs typeface="Times New Roman" panose="02020603050405020304" pitchFamily="18" charset="0"/>
              </a:rPr>
              <a:t>mAP</a:t>
            </a:r>
            <a:r>
              <a:rPr lang="en-IN" dirty="0" smtClean="0">
                <a:solidFill>
                  <a:srgbClr val="FF0000"/>
                </a:solidFill>
                <a:latin typeface="Sitka Text" pitchFamily="2" charset="0"/>
                <a:ea typeface="Calibri" panose="020F0502020204030204" pitchFamily="34" charset="0"/>
                <a:cs typeface="Times New Roman" panose="02020603050405020304" pitchFamily="18" charset="0"/>
              </a:rPr>
              <a:t> 66.1%: VOC10</a:t>
            </a:r>
            <a:endParaRPr lang="en-US" dirty="0">
              <a:solidFill>
                <a:srgbClr val="FF0000"/>
              </a:solidFill>
            </a:endParaRPr>
          </a:p>
        </p:txBody>
      </p:sp>
      <p:sp>
        <p:nvSpPr>
          <p:cNvPr id="9" name="Rectangle 8"/>
          <p:cNvSpPr/>
          <p:nvPr/>
        </p:nvSpPr>
        <p:spPr>
          <a:xfrm>
            <a:off x="7781038" y="1691131"/>
            <a:ext cx="3374642" cy="369332"/>
          </a:xfrm>
          <a:prstGeom prst="rect">
            <a:avLst/>
          </a:prstGeom>
        </p:spPr>
        <p:txBody>
          <a:bodyPr wrap="none">
            <a:spAutoFit/>
          </a:bodyPr>
          <a:lstStyle/>
          <a:p>
            <a:r>
              <a:rPr lang="en-IN" dirty="0">
                <a:solidFill>
                  <a:schemeClr val="accent2">
                    <a:lumMod val="75000"/>
                  </a:schemeClr>
                </a:solidFill>
                <a:latin typeface="Sitka Text" pitchFamily="2" charset="0"/>
                <a:ea typeface="Calibri" panose="020F0502020204030204" pitchFamily="34" charset="0"/>
                <a:cs typeface="Times New Roman" panose="02020603050405020304" pitchFamily="18" charset="0"/>
              </a:rPr>
              <a:t>53.7%: PASCAL VOC 2010-12 </a:t>
            </a:r>
            <a:endParaRPr lang="en-US" dirty="0">
              <a:solidFill>
                <a:schemeClr val="accent2">
                  <a:lumMod val="75000"/>
                </a:schemeClr>
              </a:solidFill>
            </a:endParaRPr>
          </a:p>
        </p:txBody>
      </p:sp>
      <p:sp>
        <p:nvSpPr>
          <p:cNvPr id="3" name="TextBox 2"/>
          <p:cNvSpPr txBox="1"/>
          <p:nvPr/>
        </p:nvSpPr>
        <p:spPr>
          <a:xfrm>
            <a:off x="188536" y="5318482"/>
            <a:ext cx="2837187" cy="923330"/>
          </a:xfrm>
          <a:prstGeom prst="rect">
            <a:avLst/>
          </a:prstGeom>
          <a:noFill/>
        </p:spPr>
        <p:txBody>
          <a:bodyPr wrap="none" rtlCol="0">
            <a:spAutoFit/>
          </a:bodyPr>
          <a:lstStyle/>
          <a:p>
            <a:r>
              <a:rPr lang="en-US" dirty="0" smtClean="0"/>
              <a:t>9X faster during training</a:t>
            </a:r>
          </a:p>
          <a:p>
            <a:r>
              <a:rPr lang="en-US" dirty="0" smtClean="0"/>
              <a:t>213X </a:t>
            </a:r>
            <a:r>
              <a:rPr lang="en-US" dirty="0"/>
              <a:t>faster during </a:t>
            </a:r>
            <a:r>
              <a:rPr lang="en-US" dirty="0" smtClean="0"/>
              <a:t>inference</a:t>
            </a:r>
            <a:endParaRPr lang="en-US" dirty="0"/>
          </a:p>
          <a:p>
            <a:endParaRPr lang="en-US" dirty="0"/>
          </a:p>
        </p:txBody>
      </p:sp>
    </p:spTree>
    <p:extLst>
      <p:ext uri="{BB962C8B-B14F-4D97-AF65-F5344CB8AC3E}">
        <p14:creationId xmlns:p14="http://schemas.microsoft.com/office/powerpoint/2010/main" val="69011568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Faster R-CNN</a:t>
            </a:r>
            <a:endParaRPr lang="en-US" dirty="0">
              <a:latin typeface="Sitka Text" pitchFamily="2" charset="0"/>
            </a:endParaRPr>
          </a:p>
        </p:txBody>
      </p:sp>
      <p:pic>
        <p:nvPicPr>
          <p:cNvPr id="4" name="Content Placeholder 3"/>
          <p:cNvPicPr>
            <a:picLocks noGrp="1"/>
          </p:cNvPicPr>
          <p:nvPr>
            <p:ph idx="1"/>
          </p:nvPr>
        </p:nvPicPr>
        <p:blipFill>
          <a:blip r:embed="rId3"/>
          <a:stretch>
            <a:fillRect/>
          </a:stretch>
        </p:blipFill>
        <p:spPr>
          <a:xfrm>
            <a:off x="7456175" y="1345067"/>
            <a:ext cx="4269131" cy="4890285"/>
          </a:xfrm>
          <a:prstGeom prst="rect">
            <a:avLst/>
          </a:prstGeom>
        </p:spPr>
      </p:pic>
      <p:sp>
        <p:nvSpPr>
          <p:cNvPr id="3" name="Rectangle 2"/>
          <p:cNvSpPr/>
          <p:nvPr/>
        </p:nvSpPr>
        <p:spPr>
          <a:xfrm>
            <a:off x="677555" y="1923046"/>
            <a:ext cx="7597015" cy="400110"/>
          </a:xfrm>
          <a:prstGeom prst="rect">
            <a:avLst/>
          </a:prstGeom>
        </p:spPr>
        <p:txBody>
          <a:bodyPr wrap="square">
            <a:spAutoFit/>
          </a:bodyPr>
          <a:lstStyle/>
          <a:p>
            <a:r>
              <a:rPr lang="en-IN" sz="2000" dirty="0" err="1">
                <a:latin typeface="Sitka Text" pitchFamily="2" charset="0"/>
                <a:ea typeface="Calibri" panose="020F0502020204030204" pitchFamily="34" charset="0"/>
                <a:cs typeface="Times New Roman" panose="02020603050405020304" pitchFamily="18" charset="0"/>
              </a:rPr>
              <a:t>Shaoqing</a:t>
            </a:r>
            <a:r>
              <a:rPr lang="en-IN" sz="2000" dirty="0">
                <a:latin typeface="Sitka Text" pitchFamily="2" charset="0"/>
                <a:ea typeface="Calibri" panose="020F0502020204030204" pitchFamily="34" charset="0"/>
                <a:cs typeface="Times New Roman" panose="02020603050405020304" pitchFamily="18" charset="0"/>
              </a:rPr>
              <a:t> Ren, </a:t>
            </a:r>
            <a:r>
              <a:rPr lang="en-IN" sz="2000" dirty="0" err="1">
                <a:latin typeface="Sitka Text" pitchFamily="2" charset="0"/>
                <a:ea typeface="Calibri" panose="020F0502020204030204" pitchFamily="34" charset="0"/>
                <a:cs typeface="Times New Roman" panose="02020603050405020304" pitchFamily="18" charset="0"/>
              </a:rPr>
              <a:t>Kaiming</a:t>
            </a:r>
            <a:r>
              <a:rPr lang="en-IN" sz="2000" dirty="0">
                <a:latin typeface="Sitka Text" pitchFamily="2" charset="0"/>
                <a:ea typeface="Calibri" panose="020F0502020204030204" pitchFamily="34" charset="0"/>
                <a:cs typeface="Times New Roman" panose="02020603050405020304" pitchFamily="18" charset="0"/>
              </a:rPr>
              <a:t> He, Ross Girshick, and Jian </a:t>
            </a:r>
            <a:r>
              <a:rPr lang="en-IN" sz="2000" dirty="0" smtClean="0">
                <a:latin typeface="Sitka Text" pitchFamily="2" charset="0"/>
                <a:ea typeface="Calibri" panose="020F0502020204030204" pitchFamily="34" charset="0"/>
                <a:cs typeface="Times New Roman" panose="02020603050405020304" pitchFamily="18" charset="0"/>
              </a:rPr>
              <a:t>Sun: 2015</a:t>
            </a:r>
            <a:endParaRPr lang="en-IN" sz="2000" dirty="0"/>
          </a:p>
        </p:txBody>
      </p:sp>
      <p:sp>
        <p:nvSpPr>
          <p:cNvPr id="5" name="Rectangle 4"/>
          <p:cNvSpPr/>
          <p:nvPr/>
        </p:nvSpPr>
        <p:spPr>
          <a:xfrm>
            <a:off x="677555" y="2484346"/>
            <a:ext cx="6096000" cy="966290"/>
          </a:xfrm>
          <a:prstGeom prst="rect">
            <a:avLst/>
          </a:prstGeom>
        </p:spPr>
        <p:txBody>
          <a:bodyPr>
            <a:spAutoFit/>
          </a:bodyPr>
          <a:lstStyle/>
          <a:p>
            <a:pPr marL="342900" indent="-342900">
              <a:lnSpc>
                <a:spcPct val="150000"/>
              </a:lnSpc>
              <a:buFont typeface="+mj-lt"/>
              <a:buAutoNum type="arabicPeriod"/>
            </a:pPr>
            <a:r>
              <a:rPr lang="en-IN" sz="2000" dirty="0">
                <a:latin typeface="Sitka Text" pitchFamily="2" charset="0"/>
                <a:ea typeface="Calibri" panose="020F0502020204030204" pitchFamily="34" charset="0"/>
                <a:cs typeface="Times New Roman" panose="02020603050405020304" pitchFamily="18" charset="0"/>
              </a:rPr>
              <a:t>Region Proposal </a:t>
            </a:r>
            <a:r>
              <a:rPr lang="en-IN" sz="2000" dirty="0" smtClean="0">
                <a:latin typeface="Sitka Text" pitchFamily="2" charset="0"/>
                <a:ea typeface="Calibri" panose="020F0502020204030204" pitchFamily="34" charset="0"/>
                <a:cs typeface="Times New Roman" panose="02020603050405020304" pitchFamily="18" charset="0"/>
              </a:rPr>
              <a:t>Network with CNN </a:t>
            </a:r>
          </a:p>
          <a:p>
            <a:pPr marL="342900" indent="-342900">
              <a:lnSpc>
                <a:spcPct val="150000"/>
              </a:lnSpc>
              <a:buFont typeface="+mj-lt"/>
              <a:buAutoNum type="arabicPeriod"/>
            </a:pPr>
            <a:r>
              <a:rPr lang="en-IN" sz="2000" dirty="0" smtClean="0">
                <a:latin typeface="Sitka Text" pitchFamily="2" charset="0"/>
                <a:ea typeface="Calibri" panose="020F0502020204030204" pitchFamily="34" charset="0"/>
                <a:cs typeface="Times New Roman" panose="02020603050405020304" pitchFamily="18" charset="0"/>
              </a:rPr>
              <a:t>Fast R-CNN detector</a:t>
            </a:r>
            <a:endParaRPr lang="en-IN" sz="2000" dirty="0"/>
          </a:p>
        </p:txBody>
      </p:sp>
      <p:sp>
        <p:nvSpPr>
          <p:cNvPr id="6" name="TextBox 5"/>
          <p:cNvSpPr txBox="1"/>
          <p:nvPr/>
        </p:nvSpPr>
        <p:spPr>
          <a:xfrm>
            <a:off x="677555" y="4158363"/>
            <a:ext cx="7277954" cy="400110"/>
          </a:xfrm>
          <a:prstGeom prst="rect">
            <a:avLst/>
          </a:prstGeom>
          <a:noFill/>
        </p:spPr>
        <p:txBody>
          <a:bodyPr wrap="none" rtlCol="0">
            <a:spAutoFit/>
          </a:bodyPr>
          <a:lstStyle/>
          <a:p>
            <a:r>
              <a:rPr lang="en-US" sz="2000" dirty="0" smtClean="0">
                <a:solidFill>
                  <a:srgbClr val="FF0000"/>
                </a:solidFill>
                <a:latin typeface="Sitka Text" pitchFamily="2" charset="0"/>
              </a:rPr>
              <a:t>RPN: Reduces the number of regions that need processing</a:t>
            </a:r>
            <a:endParaRPr lang="en-US" sz="2000" dirty="0">
              <a:solidFill>
                <a:srgbClr val="FF0000"/>
              </a:solidFill>
              <a:latin typeface="Sitka Text" pitchFamily="2" charset="0"/>
            </a:endParaRPr>
          </a:p>
        </p:txBody>
      </p:sp>
      <p:sp>
        <p:nvSpPr>
          <p:cNvPr id="7" name="Rectangle 6"/>
          <p:cNvSpPr/>
          <p:nvPr/>
        </p:nvSpPr>
        <p:spPr>
          <a:xfrm>
            <a:off x="4907508" y="6458790"/>
            <a:ext cx="7137735" cy="261610"/>
          </a:xfrm>
          <a:prstGeom prst="rect">
            <a:avLst/>
          </a:prstGeom>
        </p:spPr>
        <p:txBody>
          <a:bodyPr wrap="square">
            <a:spAutoFit/>
          </a:bodyPr>
          <a:lstStyle/>
          <a:p>
            <a:r>
              <a:rPr lang="en-US" sz="1100" dirty="0">
                <a:solidFill>
                  <a:schemeClr val="bg1"/>
                </a:solidFill>
                <a:latin typeface="Sitka Text" pitchFamily="2" charset="0"/>
              </a:rPr>
              <a:t>Ren, </a:t>
            </a:r>
            <a:r>
              <a:rPr lang="en-US" sz="1100" dirty="0" err="1">
                <a:solidFill>
                  <a:schemeClr val="bg1"/>
                </a:solidFill>
                <a:latin typeface="Sitka Text" pitchFamily="2" charset="0"/>
              </a:rPr>
              <a:t>Shaoqing</a:t>
            </a:r>
            <a:r>
              <a:rPr lang="en-US" sz="1100" dirty="0">
                <a:solidFill>
                  <a:schemeClr val="bg1"/>
                </a:solidFill>
                <a:latin typeface="Sitka Text" pitchFamily="2" charset="0"/>
              </a:rPr>
              <a:t>, et al. "Faster R-CNN: Towards real-time object detection with region proposal networks</a:t>
            </a:r>
            <a:r>
              <a:rPr lang="en-US" sz="1100" dirty="0" smtClean="0">
                <a:solidFill>
                  <a:schemeClr val="bg1"/>
                </a:solidFill>
                <a:latin typeface="Sitka Text" pitchFamily="2" charset="0"/>
              </a:rPr>
              <a:t>."</a:t>
            </a:r>
            <a:endParaRPr lang="en-US" sz="1100" dirty="0">
              <a:solidFill>
                <a:schemeClr val="bg1"/>
              </a:solidFill>
              <a:latin typeface="Sitka Text" pitchFamily="2" charset="0"/>
            </a:endParaRPr>
          </a:p>
        </p:txBody>
      </p:sp>
    </p:spTree>
    <p:extLst>
      <p:ext uri="{BB962C8B-B14F-4D97-AF65-F5344CB8AC3E}">
        <p14:creationId xmlns:p14="http://schemas.microsoft.com/office/powerpoint/2010/main" val="4719527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Faster R-CNN</a:t>
            </a:r>
            <a:endParaRPr lang="en-US" dirty="0"/>
          </a:p>
        </p:txBody>
      </p:sp>
      <p:pic>
        <p:nvPicPr>
          <p:cNvPr id="4" name="Content Placeholder 3"/>
          <p:cNvPicPr>
            <a:picLocks noGrp="1"/>
          </p:cNvPicPr>
          <p:nvPr>
            <p:ph idx="1"/>
          </p:nvPr>
        </p:nvPicPr>
        <p:blipFill rotWithShape="1">
          <a:blip r:embed="rId3"/>
          <a:srcRect b="45731"/>
          <a:stretch/>
        </p:blipFill>
        <p:spPr>
          <a:xfrm>
            <a:off x="1754745" y="2531216"/>
            <a:ext cx="8743470" cy="3302656"/>
          </a:xfrm>
          <a:prstGeom prst="rect">
            <a:avLst/>
          </a:prstGeom>
        </p:spPr>
      </p:pic>
      <p:sp>
        <p:nvSpPr>
          <p:cNvPr id="5" name="TextBox 4"/>
          <p:cNvSpPr txBox="1"/>
          <p:nvPr/>
        </p:nvSpPr>
        <p:spPr>
          <a:xfrm>
            <a:off x="1097280" y="2131106"/>
            <a:ext cx="2775119" cy="400110"/>
          </a:xfrm>
          <a:prstGeom prst="rect">
            <a:avLst/>
          </a:prstGeom>
          <a:noFill/>
        </p:spPr>
        <p:txBody>
          <a:bodyPr wrap="none" rtlCol="0">
            <a:spAutoFit/>
          </a:bodyPr>
          <a:lstStyle/>
          <a:p>
            <a:r>
              <a:rPr lang="en-IN" sz="2000" dirty="0" smtClean="0">
                <a:latin typeface="Sitka Text" pitchFamily="2" charset="0"/>
              </a:rPr>
              <a:t>Recap of Fast R-CNN:</a:t>
            </a:r>
            <a:endParaRPr lang="en-IN" sz="2000" dirty="0">
              <a:latin typeface="Sitka Text" pitchFamily="2" charset="0"/>
            </a:endParaRPr>
          </a:p>
        </p:txBody>
      </p:sp>
    </p:spTree>
    <p:extLst>
      <p:ext uri="{BB962C8B-B14F-4D97-AF65-F5344CB8AC3E}">
        <p14:creationId xmlns:p14="http://schemas.microsoft.com/office/powerpoint/2010/main" val="389749002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Region Proposal </a:t>
            </a:r>
            <a:r>
              <a:rPr lang="en-IN" dirty="0" smtClean="0">
                <a:latin typeface="Sitka Text" pitchFamily="2" charset="0"/>
              </a:rPr>
              <a:t>Network</a:t>
            </a:r>
            <a:endParaRPr lang="en-IN" dirty="0">
              <a:latin typeface="Sitka Text" pitchFamily="2" charset="0"/>
            </a:endParaRPr>
          </a:p>
        </p:txBody>
      </p:sp>
      <p:sp>
        <p:nvSpPr>
          <p:cNvPr id="3" name="Content Placeholder 2"/>
          <p:cNvSpPr>
            <a:spLocks noGrp="1"/>
          </p:cNvSpPr>
          <p:nvPr>
            <p:ph idx="1"/>
          </p:nvPr>
        </p:nvSpPr>
        <p:spPr>
          <a:xfrm>
            <a:off x="1097280" y="1845734"/>
            <a:ext cx="10058400" cy="4023360"/>
          </a:xfrm>
        </p:spPr>
        <p:txBody>
          <a:bodyPr/>
          <a:lstStyle/>
          <a:p>
            <a:r>
              <a:rPr lang="en-IN" dirty="0">
                <a:latin typeface="Sitka Text" pitchFamily="2" charset="0"/>
              </a:rPr>
              <a:t>P</a:t>
            </a:r>
            <a:r>
              <a:rPr lang="en-IN" dirty="0" smtClean="0">
                <a:latin typeface="Sitka Text" pitchFamily="2" charset="0"/>
              </a:rPr>
              <a:t>redicts </a:t>
            </a:r>
            <a:r>
              <a:rPr lang="en-IN" dirty="0">
                <a:latin typeface="Sitka Text" pitchFamily="2" charset="0"/>
              </a:rPr>
              <a:t>the object bounds from the </a:t>
            </a:r>
            <a:r>
              <a:rPr lang="en-IN" dirty="0" smtClean="0">
                <a:latin typeface="Sitka Text" pitchFamily="2" charset="0"/>
              </a:rPr>
              <a:t>convolutional feature maps</a:t>
            </a:r>
          </a:p>
          <a:p>
            <a:r>
              <a:rPr lang="en-IN" dirty="0">
                <a:latin typeface="Sitka Text" pitchFamily="2" charset="0"/>
              </a:rPr>
              <a:t>R</a:t>
            </a:r>
            <a:r>
              <a:rPr lang="en-IN" dirty="0" smtClean="0">
                <a:latin typeface="Sitka Text" pitchFamily="2" charset="0"/>
              </a:rPr>
              <a:t>educes </a:t>
            </a:r>
            <a:r>
              <a:rPr lang="en-IN" dirty="0">
                <a:latin typeface="Sitka Text" pitchFamily="2" charset="0"/>
              </a:rPr>
              <a:t>the number of regions that need to be processed by the </a:t>
            </a:r>
            <a:r>
              <a:rPr lang="en-IN" dirty="0" smtClean="0">
                <a:latin typeface="Sitka Text" pitchFamily="2" charset="0"/>
              </a:rPr>
              <a:t>classifier </a:t>
            </a:r>
            <a:endParaRPr lang="en-IN" dirty="0">
              <a:latin typeface="Sitka Text" pitchFamily="2" charset="0"/>
            </a:endParaRPr>
          </a:p>
        </p:txBody>
      </p:sp>
      <p:sp>
        <p:nvSpPr>
          <p:cNvPr id="4" name="TextBox 3"/>
          <p:cNvSpPr txBox="1"/>
          <p:nvPr/>
        </p:nvSpPr>
        <p:spPr>
          <a:xfrm>
            <a:off x="2394565" y="3978102"/>
            <a:ext cx="1646605" cy="400110"/>
          </a:xfrm>
          <a:prstGeom prst="rect">
            <a:avLst/>
          </a:prstGeom>
          <a:noFill/>
        </p:spPr>
        <p:txBody>
          <a:bodyPr wrap="square" rtlCol="0">
            <a:spAutoFit/>
          </a:bodyPr>
          <a:lstStyle/>
          <a:p>
            <a:r>
              <a:rPr lang="en-IN" sz="2000" dirty="0" smtClean="0">
                <a:latin typeface="Sitka Text" pitchFamily="2" charset="0"/>
              </a:rPr>
              <a:t>Input Image</a:t>
            </a:r>
            <a:endParaRPr lang="en-IN" sz="2000" dirty="0">
              <a:latin typeface="Sitka Text" pitchFamily="2" charset="0"/>
            </a:endParaRPr>
          </a:p>
        </p:txBody>
      </p:sp>
      <p:sp>
        <p:nvSpPr>
          <p:cNvPr id="5" name="TextBox 4"/>
          <p:cNvSpPr txBox="1"/>
          <p:nvPr/>
        </p:nvSpPr>
        <p:spPr>
          <a:xfrm>
            <a:off x="8784736" y="3480746"/>
            <a:ext cx="2185214" cy="400110"/>
          </a:xfrm>
          <a:prstGeom prst="rect">
            <a:avLst/>
          </a:prstGeom>
          <a:noFill/>
        </p:spPr>
        <p:txBody>
          <a:bodyPr wrap="none" rtlCol="0">
            <a:spAutoFit/>
          </a:bodyPr>
          <a:lstStyle/>
          <a:p>
            <a:r>
              <a:rPr lang="en-IN" sz="2000" dirty="0" smtClean="0">
                <a:latin typeface="Sitka Text" pitchFamily="2" charset="0"/>
              </a:rPr>
              <a:t>Object Proposals</a:t>
            </a:r>
            <a:endParaRPr lang="en-IN" sz="2000" dirty="0">
              <a:latin typeface="Sitka Text" pitchFamily="2" charset="0"/>
            </a:endParaRPr>
          </a:p>
        </p:txBody>
      </p:sp>
      <p:sp>
        <p:nvSpPr>
          <p:cNvPr id="6" name="TextBox 5"/>
          <p:cNvSpPr txBox="1"/>
          <p:nvPr/>
        </p:nvSpPr>
        <p:spPr>
          <a:xfrm>
            <a:off x="8784736" y="4769373"/>
            <a:ext cx="2214068" cy="400110"/>
          </a:xfrm>
          <a:prstGeom prst="rect">
            <a:avLst/>
          </a:prstGeom>
          <a:noFill/>
        </p:spPr>
        <p:txBody>
          <a:bodyPr wrap="none" rtlCol="0">
            <a:spAutoFit/>
          </a:bodyPr>
          <a:lstStyle/>
          <a:p>
            <a:r>
              <a:rPr lang="en-IN" sz="2000" dirty="0" smtClean="0">
                <a:latin typeface="Sitka Text" pitchFamily="2" charset="0"/>
              </a:rPr>
              <a:t>Objectness Score</a:t>
            </a:r>
            <a:endParaRPr lang="en-IN" sz="2000" dirty="0">
              <a:latin typeface="Sitka Text" pitchFamily="2" charset="0"/>
            </a:endParaRPr>
          </a:p>
        </p:txBody>
      </p:sp>
      <p:sp>
        <p:nvSpPr>
          <p:cNvPr id="7" name="Rounded Rectangle 6"/>
          <p:cNvSpPr/>
          <p:nvPr/>
        </p:nvSpPr>
        <p:spPr>
          <a:xfrm>
            <a:off x="6651136" y="4029386"/>
            <a:ext cx="914400" cy="914400"/>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ysClr val="windowText" lastClr="000000"/>
                </a:solidFill>
                <a:latin typeface="Sitka Text" pitchFamily="2" charset="0"/>
              </a:rPr>
              <a:t>RPN</a:t>
            </a:r>
            <a:endParaRPr lang="en-IN" sz="2000" dirty="0">
              <a:solidFill>
                <a:sysClr val="windowText" lastClr="000000"/>
              </a:solidFill>
              <a:latin typeface="Sitka Text" pitchFamily="2" charset="0"/>
            </a:endParaRPr>
          </a:p>
        </p:txBody>
      </p:sp>
      <p:cxnSp>
        <p:nvCxnSpPr>
          <p:cNvPr id="9" name="Straight Arrow Connector 8"/>
          <p:cNvCxnSpPr>
            <a:endCxn id="7" idx="1"/>
          </p:cNvCxnSpPr>
          <p:nvPr/>
        </p:nvCxnSpPr>
        <p:spPr>
          <a:xfrm>
            <a:off x="5681272" y="4486586"/>
            <a:ext cx="96986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stCxn id="7" idx="3"/>
          </p:cNvCxnSpPr>
          <p:nvPr/>
        </p:nvCxnSpPr>
        <p:spPr>
          <a:xfrm flipV="1">
            <a:off x="7565536" y="3746600"/>
            <a:ext cx="1077108" cy="73998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a:stCxn id="7" idx="3"/>
          </p:cNvCxnSpPr>
          <p:nvPr/>
        </p:nvCxnSpPr>
        <p:spPr>
          <a:xfrm>
            <a:off x="7565536" y="4486586"/>
            <a:ext cx="1219200" cy="56557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9" name="Rounded Rectangle 18"/>
          <p:cNvSpPr/>
          <p:nvPr/>
        </p:nvSpPr>
        <p:spPr>
          <a:xfrm>
            <a:off x="4437068" y="4029386"/>
            <a:ext cx="1214724" cy="914400"/>
          </a:xfrm>
          <a:prstGeom prst="roundRect">
            <a:avLst/>
          </a:prstGeom>
          <a:solidFill>
            <a:srgbClr val="F9E19F"/>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ysClr val="windowText" lastClr="000000"/>
                </a:solidFill>
                <a:latin typeface="Sitka Text" pitchFamily="2" charset="0"/>
              </a:rPr>
              <a:t>Conv Layers</a:t>
            </a:r>
            <a:endParaRPr lang="en-IN" sz="2000" dirty="0">
              <a:solidFill>
                <a:sysClr val="windowText" lastClr="000000"/>
              </a:solidFill>
              <a:latin typeface="Sitka Text" pitchFamily="2" charset="0"/>
            </a:endParaRPr>
          </a:p>
        </p:txBody>
      </p:sp>
      <p:cxnSp>
        <p:nvCxnSpPr>
          <p:cNvPr id="20" name="Straight Arrow Connector 19"/>
          <p:cNvCxnSpPr/>
          <p:nvPr/>
        </p:nvCxnSpPr>
        <p:spPr>
          <a:xfrm>
            <a:off x="3467204" y="4486586"/>
            <a:ext cx="96986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1" name="Rectangle 20"/>
          <p:cNvSpPr/>
          <p:nvPr/>
        </p:nvSpPr>
        <p:spPr>
          <a:xfrm>
            <a:off x="4405473" y="5242102"/>
            <a:ext cx="1277914" cy="878830"/>
          </a:xfrm>
          <a:prstGeom prst="rect">
            <a:avLst/>
          </a:prstGeom>
        </p:spPr>
        <p:txBody>
          <a:bodyPr wrap="none">
            <a:spAutoFit/>
          </a:bodyPr>
          <a:lstStyle/>
          <a:p>
            <a:pPr marL="285750" indent="-285750">
              <a:lnSpc>
                <a:spcPct val="150000"/>
              </a:lnSpc>
              <a:buFont typeface="Arial" panose="020B0604020202020204" pitchFamily="34" charset="0"/>
              <a:buChar char="•"/>
            </a:pPr>
            <a:r>
              <a:rPr lang="en-IN" dirty="0" err="1">
                <a:latin typeface="Sitka Text" pitchFamily="2" charset="0"/>
                <a:ea typeface="Calibri" panose="020F0502020204030204" pitchFamily="34" charset="0"/>
                <a:cs typeface="Times New Roman" panose="02020603050405020304" pitchFamily="18" charset="0"/>
              </a:rPr>
              <a:t>ZFNet</a:t>
            </a:r>
            <a:r>
              <a:rPr lang="en-IN" dirty="0">
                <a:latin typeface="Sitka Text" pitchFamily="2" charset="0"/>
                <a:ea typeface="Calibri" panose="020F0502020204030204" pitchFamily="34" charset="0"/>
                <a:cs typeface="Times New Roman" panose="02020603050405020304" pitchFamily="18" charset="0"/>
              </a:rPr>
              <a:t> </a:t>
            </a:r>
          </a:p>
          <a:p>
            <a:pPr marL="285750" indent="-285750">
              <a:lnSpc>
                <a:spcPct val="150000"/>
              </a:lnSpc>
              <a:buFont typeface="Arial" panose="020B0604020202020204" pitchFamily="34" charset="0"/>
              <a:buChar char="•"/>
            </a:pPr>
            <a:r>
              <a:rPr lang="en-IN" dirty="0" smtClean="0">
                <a:latin typeface="Sitka Text" pitchFamily="2" charset="0"/>
                <a:ea typeface="Calibri" panose="020F0502020204030204" pitchFamily="34" charset="0"/>
                <a:cs typeface="Times New Roman" panose="02020603050405020304" pitchFamily="18" charset="0"/>
              </a:rPr>
              <a:t>VGG-16</a:t>
            </a:r>
            <a:endParaRPr lang="en-IN" dirty="0"/>
          </a:p>
        </p:txBody>
      </p:sp>
      <p:sp>
        <p:nvSpPr>
          <p:cNvPr id="8" name="Rectangle 7"/>
          <p:cNvSpPr/>
          <p:nvPr/>
        </p:nvSpPr>
        <p:spPr>
          <a:xfrm>
            <a:off x="5750004" y="6390566"/>
            <a:ext cx="6406788" cy="261610"/>
          </a:xfrm>
          <a:prstGeom prst="rect">
            <a:avLst/>
          </a:prstGeom>
        </p:spPr>
        <p:txBody>
          <a:bodyPr wrap="square">
            <a:spAutoFit/>
          </a:bodyPr>
          <a:lstStyle/>
          <a:p>
            <a:r>
              <a:rPr lang="en-US" sz="1100" dirty="0" err="1">
                <a:solidFill>
                  <a:schemeClr val="bg1"/>
                </a:solidFill>
                <a:latin typeface="Sitka Text" pitchFamily="2" charset="0"/>
              </a:rPr>
              <a:t>Zeiler</a:t>
            </a:r>
            <a:r>
              <a:rPr lang="en-US" sz="1100" dirty="0">
                <a:solidFill>
                  <a:schemeClr val="bg1"/>
                </a:solidFill>
                <a:latin typeface="Sitka Text" pitchFamily="2" charset="0"/>
              </a:rPr>
              <a:t>, Matthew D., and Rob Fergus. "Visualizing and understanding convolutional networks."</a:t>
            </a:r>
          </a:p>
        </p:txBody>
      </p:sp>
      <p:sp>
        <p:nvSpPr>
          <p:cNvPr id="10" name="Rectangle 9"/>
          <p:cNvSpPr/>
          <p:nvPr/>
        </p:nvSpPr>
        <p:spPr>
          <a:xfrm>
            <a:off x="1872615" y="6558996"/>
            <a:ext cx="10284177" cy="261610"/>
          </a:xfrm>
          <a:prstGeom prst="rect">
            <a:avLst/>
          </a:prstGeom>
        </p:spPr>
        <p:txBody>
          <a:bodyPr wrap="square">
            <a:spAutoFit/>
          </a:bodyPr>
          <a:lstStyle/>
          <a:p>
            <a:r>
              <a:rPr lang="en-US" sz="1100" dirty="0" err="1">
                <a:solidFill>
                  <a:schemeClr val="bg1"/>
                </a:solidFill>
                <a:latin typeface="Sitka Text" pitchFamily="2" charset="0"/>
              </a:rPr>
              <a:t>Simonyan</a:t>
            </a:r>
            <a:r>
              <a:rPr lang="en-US" sz="1100" dirty="0">
                <a:solidFill>
                  <a:schemeClr val="bg1"/>
                </a:solidFill>
                <a:latin typeface="Sitka Text" pitchFamily="2" charset="0"/>
              </a:rPr>
              <a:t>, Karen, and Andrew Zisserman. "Very deep convolutional networks for large-scale image recognition." </a:t>
            </a:r>
            <a:r>
              <a:rPr lang="en-US" sz="1100" i="1" dirty="0" err="1">
                <a:solidFill>
                  <a:schemeClr val="bg1"/>
                </a:solidFill>
                <a:latin typeface="Sitka Text" pitchFamily="2" charset="0"/>
              </a:rPr>
              <a:t>arXiv</a:t>
            </a:r>
            <a:r>
              <a:rPr lang="en-US" sz="1100" i="1" dirty="0">
                <a:solidFill>
                  <a:schemeClr val="bg1"/>
                </a:solidFill>
                <a:latin typeface="Sitka Text" pitchFamily="2" charset="0"/>
              </a:rPr>
              <a:t> preprint arXiv:1409.1556</a:t>
            </a:r>
            <a:r>
              <a:rPr lang="en-US" sz="1100" dirty="0">
                <a:solidFill>
                  <a:schemeClr val="bg1"/>
                </a:solidFill>
                <a:latin typeface="Sitka Text" pitchFamily="2" charset="0"/>
              </a:rPr>
              <a:t> (2014).</a:t>
            </a:r>
          </a:p>
        </p:txBody>
      </p:sp>
    </p:spTree>
    <p:extLst>
      <p:ext uri="{BB962C8B-B14F-4D97-AF65-F5344CB8AC3E}">
        <p14:creationId xmlns:p14="http://schemas.microsoft.com/office/powerpoint/2010/main" val="388439220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Region Proposal Network</a:t>
            </a:r>
            <a:endParaRPr lang="en-IN" dirty="0"/>
          </a:p>
        </p:txBody>
      </p:sp>
      <p:pic>
        <p:nvPicPr>
          <p:cNvPr id="4" name="Content Placeholder 3"/>
          <p:cNvPicPr>
            <a:picLocks noGrp="1"/>
          </p:cNvPicPr>
          <p:nvPr>
            <p:ph idx="1"/>
          </p:nvPr>
        </p:nvPicPr>
        <p:blipFill rotWithShape="1">
          <a:blip r:embed="rId3"/>
          <a:srcRect r="42834" b="16071"/>
          <a:stretch/>
        </p:blipFill>
        <p:spPr>
          <a:xfrm>
            <a:off x="3059290" y="2858181"/>
            <a:ext cx="5791199" cy="3378664"/>
          </a:xfrm>
          <a:prstGeom prst="rect">
            <a:avLst/>
          </a:prstGeom>
        </p:spPr>
      </p:pic>
      <p:sp>
        <p:nvSpPr>
          <p:cNvPr id="6" name="Rectangle 5"/>
          <p:cNvSpPr/>
          <p:nvPr/>
        </p:nvSpPr>
        <p:spPr>
          <a:xfrm>
            <a:off x="4907508" y="6458790"/>
            <a:ext cx="7137735" cy="261610"/>
          </a:xfrm>
          <a:prstGeom prst="rect">
            <a:avLst/>
          </a:prstGeom>
        </p:spPr>
        <p:txBody>
          <a:bodyPr wrap="square">
            <a:spAutoFit/>
          </a:bodyPr>
          <a:lstStyle/>
          <a:p>
            <a:r>
              <a:rPr lang="en-US" sz="1100" dirty="0">
                <a:solidFill>
                  <a:schemeClr val="bg1"/>
                </a:solidFill>
                <a:latin typeface="Sitka Text" pitchFamily="2" charset="0"/>
              </a:rPr>
              <a:t>Ren, </a:t>
            </a:r>
            <a:r>
              <a:rPr lang="en-US" sz="1100" dirty="0" err="1">
                <a:solidFill>
                  <a:schemeClr val="bg1"/>
                </a:solidFill>
                <a:latin typeface="Sitka Text" pitchFamily="2" charset="0"/>
              </a:rPr>
              <a:t>Shaoqing</a:t>
            </a:r>
            <a:r>
              <a:rPr lang="en-US" sz="1100" dirty="0">
                <a:solidFill>
                  <a:schemeClr val="bg1"/>
                </a:solidFill>
                <a:latin typeface="Sitka Text" pitchFamily="2" charset="0"/>
              </a:rPr>
              <a:t>, et al. "Faster R-CNN: Towards real-time object detection with region proposal networks</a:t>
            </a:r>
            <a:r>
              <a:rPr lang="en-US" sz="1100" dirty="0" smtClean="0">
                <a:solidFill>
                  <a:schemeClr val="bg1"/>
                </a:solidFill>
                <a:latin typeface="Sitka Text" pitchFamily="2" charset="0"/>
              </a:rPr>
              <a:t>."</a:t>
            </a:r>
            <a:endParaRPr lang="en-US" sz="1100" dirty="0">
              <a:solidFill>
                <a:schemeClr val="bg1"/>
              </a:solidFill>
              <a:latin typeface="Sitka Text" pitchFamily="2" charset="0"/>
            </a:endParaRPr>
          </a:p>
        </p:txBody>
      </p:sp>
      <p:sp>
        <p:nvSpPr>
          <p:cNvPr id="3" name="Rectangle 2"/>
          <p:cNvSpPr/>
          <p:nvPr/>
        </p:nvSpPr>
        <p:spPr>
          <a:xfrm>
            <a:off x="5380704" y="2562543"/>
            <a:ext cx="1795684" cy="369332"/>
          </a:xfrm>
          <a:prstGeom prst="rect">
            <a:avLst/>
          </a:prstGeom>
        </p:spPr>
        <p:txBody>
          <a:bodyPr wrap="none">
            <a:spAutoFit/>
          </a:bodyPr>
          <a:lstStyle/>
          <a:p>
            <a:r>
              <a:rPr lang="en-IN" dirty="0" smtClean="0">
                <a:solidFill>
                  <a:srgbClr val="FF0000"/>
                </a:solidFill>
                <a:latin typeface="Sitka Text" pitchFamily="2" charset="0"/>
                <a:ea typeface="Calibri" panose="020F0502020204030204" pitchFamily="34" charset="0"/>
                <a:cs typeface="Times New Roman" panose="02020603050405020304" pitchFamily="18" charset="0"/>
              </a:rPr>
              <a:t>box-regression</a:t>
            </a:r>
            <a:endParaRPr lang="en-US" dirty="0">
              <a:solidFill>
                <a:srgbClr val="FF0000"/>
              </a:solidFill>
            </a:endParaRPr>
          </a:p>
        </p:txBody>
      </p:sp>
      <p:sp>
        <p:nvSpPr>
          <p:cNvPr id="7" name="Rectangle 6"/>
          <p:cNvSpPr/>
          <p:nvPr/>
        </p:nvSpPr>
        <p:spPr>
          <a:xfrm>
            <a:off x="2002268" y="2480462"/>
            <a:ext cx="2149948" cy="369332"/>
          </a:xfrm>
          <a:prstGeom prst="rect">
            <a:avLst/>
          </a:prstGeom>
        </p:spPr>
        <p:txBody>
          <a:bodyPr wrap="none">
            <a:spAutoFit/>
          </a:bodyPr>
          <a:lstStyle/>
          <a:p>
            <a:r>
              <a:rPr lang="en-IN" dirty="0">
                <a:solidFill>
                  <a:srgbClr val="FF0000"/>
                </a:solidFill>
                <a:latin typeface="Sitka Text" pitchFamily="2" charset="0"/>
                <a:ea typeface="Calibri" panose="020F0502020204030204" pitchFamily="34" charset="0"/>
                <a:cs typeface="Times New Roman" panose="02020603050405020304" pitchFamily="18" charset="0"/>
              </a:rPr>
              <a:t>box-classification </a:t>
            </a:r>
            <a:endParaRPr lang="en-US" dirty="0">
              <a:solidFill>
                <a:srgbClr val="FF0000"/>
              </a:solidFill>
            </a:endParaRPr>
          </a:p>
        </p:txBody>
      </p:sp>
      <mc:AlternateContent xmlns:mc="http://schemas.openxmlformats.org/markup-compatibility/2006" xmlns:a14="http://schemas.microsoft.com/office/drawing/2010/main">
        <mc:Choice Requires="a14">
          <p:sp>
            <p:nvSpPr>
              <p:cNvPr id="8" name="Rectangle 7"/>
              <p:cNvSpPr/>
              <p:nvPr/>
            </p:nvSpPr>
            <p:spPr>
              <a:xfrm>
                <a:off x="2696948" y="4253185"/>
                <a:ext cx="1911036" cy="369332"/>
              </a:xfrm>
              <a:prstGeom prst="rect">
                <a:avLst/>
              </a:prstGeom>
            </p:spPr>
            <p:txBody>
              <a:bodyPr wrap="none">
                <a:spAutoFit/>
              </a:bodyPr>
              <a:lstStyle/>
              <a:p>
                <a14:m>
                  <m:oMath xmlns:m="http://schemas.openxmlformats.org/officeDocument/2006/math">
                    <m:r>
                      <a:rPr lang="en-IN" i="1" smtClean="0">
                        <a:solidFill>
                          <a:schemeClr val="accent5">
                            <a:lumMod val="75000"/>
                          </a:schemeClr>
                        </a:solidFill>
                        <a:latin typeface="Cambria Math" panose="02040503050406030204" pitchFamily="18" charset="0"/>
                        <a:ea typeface="Calibri" panose="020F0502020204030204" pitchFamily="34" charset="0"/>
                        <a:cs typeface="Times New Roman" panose="02020603050405020304" pitchFamily="18" charset="0"/>
                      </a:rPr>
                      <m:t>𝑛</m:t>
                    </m:r>
                    <m:r>
                      <a:rPr lang="en-IN" i="1" smtClean="0">
                        <a:solidFill>
                          <a:schemeClr val="accent5">
                            <a:lumMod val="75000"/>
                          </a:schemeClr>
                        </a:solidFill>
                        <a:latin typeface="Cambria Math" panose="02040503050406030204" pitchFamily="18" charset="0"/>
                        <a:ea typeface="Calibri" panose="020F0502020204030204" pitchFamily="34" charset="0"/>
                        <a:cs typeface="Times New Roman" panose="02020603050405020304" pitchFamily="18" charset="0"/>
                      </a:rPr>
                      <m:t>×</m:t>
                    </m:r>
                    <m:r>
                      <a:rPr lang="en-IN" i="1" smtClean="0">
                        <a:solidFill>
                          <a:schemeClr val="accent5">
                            <a:lumMod val="75000"/>
                          </a:schemeClr>
                        </a:solidFill>
                        <a:latin typeface="Cambria Math" panose="02040503050406030204" pitchFamily="18" charset="0"/>
                        <a:ea typeface="Calibri" panose="020F0502020204030204" pitchFamily="34" charset="0"/>
                        <a:cs typeface="Times New Roman" panose="02020603050405020304" pitchFamily="18" charset="0"/>
                      </a:rPr>
                      <m:t>𝑛</m:t>
                    </m:r>
                  </m:oMath>
                </a14:m>
                <a:r>
                  <a:rPr lang="en-IN" dirty="0">
                    <a:solidFill>
                      <a:schemeClr val="accent5">
                        <a:lumMod val="75000"/>
                      </a:schemeClr>
                    </a:solidFill>
                    <a:latin typeface="Sitka Text" pitchFamily="2" charset="0"/>
                    <a:ea typeface="Calibri" panose="020F0502020204030204" pitchFamily="34" charset="0"/>
                    <a:cs typeface="Times New Roman" panose="02020603050405020304" pitchFamily="18" charset="0"/>
                  </a:rPr>
                  <a:t> </a:t>
                </a:r>
                <a:r>
                  <a:rPr lang="en-IN" dirty="0" smtClean="0">
                    <a:solidFill>
                      <a:schemeClr val="accent5">
                        <a:lumMod val="75000"/>
                      </a:schemeClr>
                    </a:solidFill>
                    <a:latin typeface="Sitka Text" pitchFamily="2" charset="0"/>
                    <a:ea typeface="Calibri" panose="020F0502020204030204" pitchFamily="34" charset="0"/>
                    <a:cs typeface="Times New Roman" panose="02020603050405020304" pitchFamily="18" charset="0"/>
                  </a:rPr>
                  <a:t>conv </a:t>
                </a:r>
                <a:r>
                  <a:rPr lang="en-IN" dirty="0">
                    <a:solidFill>
                      <a:schemeClr val="accent5">
                        <a:lumMod val="75000"/>
                      </a:schemeClr>
                    </a:solidFill>
                    <a:latin typeface="Sitka Text" pitchFamily="2" charset="0"/>
                    <a:ea typeface="Calibri" panose="020F0502020204030204" pitchFamily="34" charset="0"/>
                    <a:cs typeface="Times New Roman" panose="02020603050405020304" pitchFamily="18" charset="0"/>
                  </a:rPr>
                  <a:t>layer</a:t>
                </a:r>
                <a:endParaRPr lang="en-US" dirty="0">
                  <a:solidFill>
                    <a:schemeClr val="accent5">
                      <a:lumMod val="75000"/>
                    </a:schemeClr>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2696948" y="4253185"/>
                <a:ext cx="1911036" cy="369332"/>
              </a:xfrm>
              <a:prstGeom prst="rect">
                <a:avLst/>
              </a:prstGeom>
              <a:blipFill>
                <a:blip r:embed="rId4"/>
                <a:stretch>
                  <a:fillRect t="-11667" r="-2229"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656407" y="3568142"/>
                <a:ext cx="1996059" cy="369332"/>
              </a:xfrm>
              <a:prstGeom prst="rect">
                <a:avLst/>
              </a:prstGeom>
            </p:spPr>
            <p:txBody>
              <a:bodyPr wrap="none">
                <a:spAutoFit/>
              </a:bodyPr>
              <a:lstStyle/>
              <a:p>
                <a14:m>
                  <m:oMath xmlns:m="http://schemas.openxmlformats.org/officeDocument/2006/math">
                    <m:r>
                      <a:rPr lang="en-IN" i="1" smtClean="0">
                        <a:solidFill>
                          <a:schemeClr val="accent5">
                            <a:lumMod val="75000"/>
                          </a:schemeClr>
                        </a:solidFill>
                        <a:latin typeface="Cambria Math" panose="02040503050406030204" pitchFamily="18" charset="0"/>
                        <a:ea typeface="Calibri" panose="020F0502020204030204" pitchFamily="34" charset="0"/>
                        <a:cs typeface="Times New Roman" panose="02020603050405020304" pitchFamily="18" charset="0"/>
                      </a:rPr>
                      <m:t>1 × 1</m:t>
                    </m:r>
                  </m:oMath>
                </a14:m>
                <a:r>
                  <a:rPr lang="en-IN" dirty="0">
                    <a:solidFill>
                      <a:schemeClr val="accent5">
                        <a:lumMod val="75000"/>
                      </a:schemeClr>
                    </a:solidFill>
                    <a:latin typeface="Sitka Text" pitchFamily="2" charset="0"/>
                    <a:ea typeface="Calibri" panose="020F0502020204030204" pitchFamily="34" charset="0"/>
                    <a:cs typeface="Times New Roman" panose="02020603050405020304" pitchFamily="18" charset="0"/>
                  </a:rPr>
                  <a:t> </a:t>
                </a:r>
                <a:r>
                  <a:rPr lang="en-IN" dirty="0" smtClean="0">
                    <a:solidFill>
                      <a:schemeClr val="accent5">
                        <a:lumMod val="75000"/>
                      </a:schemeClr>
                    </a:solidFill>
                    <a:latin typeface="Sitka Text" pitchFamily="2" charset="0"/>
                    <a:ea typeface="Calibri" panose="020F0502020204030204" pitchFamily="34" charset="0"/>
                    <a:cs typeface="Times New Roman" panose="02020603050405020304" pitchFamily="18" charset="0"/>
                  </a:rPr>
                  <a:t>conv layer</a:t>
                </a:r>
                <a:endParaRPr lang="en-US" dirty="0">
                  <a:solidFill>
                    <a:schemeClr val="accent5">
                      <a:lumMod val="75000"/>
                    </a:schemeClr>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1656407" y="3568142"/>
                <a:ext cx="1996059" cy="369332"/>
              </a:xfrm>
              <a:prstGeom prst="rect">
                <a:avLst/>
              </a:prstGeom>
              <a:blipFill>
                <a:blip r:embed="rId5"/>
                <a:stretch>
                  <a:fillRect t="-9836" r="-2141" b="-229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1220836" y="5558672"/>
                <a:ext cx="2555443" cy="369332"/>
              </a:xfrm>
              <a:prstGeom prst="rect">
                <a:avLst/>
              </a:prstGeom>
            </p:spPr>
            <p:txBody>
              <a:bodyPr wrap="none">
                <a:spAutoFit/>
              </a:bodyPr>
              <a:lstStyle/>
              <a:p>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𝑛</m:t>
                    </m:r>
                    <m:r>
                      <a:rPr lang="en-US" i="1">
                        <a:latin typeface="Cambria Math" panose="02040503050406030204" pitchFamily="18" charset="0"/>
                        <a:ea typeface="Calibri" panose="020F0502020204030204" pitchFamily="34" charset="0"/>
                        <a:cs typeface="Times New Roman" panose="02020603050405020304" pitchFamily="18" charset="0"/>
                      </a:rPr>
                      <m:t> × </m:t>
                    </m:r>
                    <m:r>
                      <a:rPr lang="en-US" i="1">
                        <a:latin typeface="Cambria Math" panose="02040503050406030204" pitchFamily="18" charset="0"/>
                        <a:ea typeface="Calibri" panose="020F0502020204030204" pitchFamily="34" charset="0"/>
                        <a:cs typeface="Times New Roman" panose="02020603050405020304" pitchFamily="18" charset="0"/>
                      </a:rPr>
                      <m:t>𝑛</m:t>
                    </m:r>
                  </m:oMath>
                </a14:m>
                <a:r>
                  <a:rPr lang="en-US" dirty="0">
                    <a:latin typeface="Sitka Text" pitchFamily="2" charset="0"/>
                    <a:ea typeface="Calibri" panose="020F0502020204030204" pitchFamily="34" charset="0"/>
                    <a:cs typeface="Times New Roman" panose="02020603050405020304" pitchFamily="18" charset="0"/>
                  </a:rPr>
                  <a:t> spatial window</a:t>
                </a:r>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1220836" y="5558672"/>
                <a:ext cx="2555443" cy="369332"/>
              </a:xfrm>
              <a:prstGeom prst="rect">
                <a:avLst/>
              </a:prstGeom>
              <a:blipFill>
                <a:blip r:embed="rId6"/>
                <a:stretch>
                  <a:fillRect t="-11667" r="-1671" b="-25000"/>
                </a:stretch>
              </a:blipFill>
            </p:spPr>
            <p:txBody>
              <a:bodyPr/>
              <a:lstStyle/>
              <a:p>
                <a:r>
                  <a:rPr lang="en-US">
                    <a:noFill/>
                  </a:rPr>
                  <a:t> </a:t>
                </a:r>
              </a:p>
            </p:txBody>
          </p:sp>
        </mc:Fallback>
      </mc:AlternateContent>
    </p:spTree>
    <p:extLst>
      <p:ext uri="{BB962C8B-B14F-4D97-AF65-F5344CB8AC3E}">
        <p14:creationId xmlns:p14="http://schemas.microsoft.com/office/powerpoint/2010/main" val="213579297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Sitka Text" pitchFamily="2" charset="0"/>
              </a:rPr>
              <a:t>Object Detector</a:t>
            </a:r>
            <a:endParaRPr lang="en-IN" dirty="0">
              <a:latin typeface="Sitka Text" pitchFamily="2" charset="0"/>
            </a:endParaRPr>
          </a:p>
        </p:txBody>
      </p:sp>
      <p:sp>
        <p:nvSpPr>
          <p:cNvPr id="3" name="Content Placeholder 2"/>
          <p:cNvSpPr>
            <a:spLocks noGrp="1"/>
          </p:cNvSpPr>
          <p:nvPr>
            <p:ph idx="1"/>
          </p:nvPr>
        </p:nvSpPr>
        <p:spPr/>
        <p:txBody>
          <a:bodyPr/>
          <a:lstStyle/>
          <a:p>
            <a:r>
              <a:rPr lang="en-IN" dirty="0" smtClean="0">
                <a:latin typeface="Sitka Text" pitchFamily="2" charset="0"/>
              </a:rPr>
              <a:t>The detector is a Fast </a:t>
            </a:r>
            <a:r>
              <a:rPr lang="en-IN" dirty="0">
                <a:latin typeface="Sitka Text" pitchFamily="2" charset="0"/>
              </a:rPr>
              <a:t>R-CNN network</a:t>
            </a:r>
          </a:p>
        </p:txBody>
      </p:sp>
      <p:sp>
        <p:nvSpPr>
          <p:cNvPr id="4" name="Rectangle 3"/>
          <p:cNvSpPr/>
          <p:nvPr/>
        </p:nvSpPr>
        <p:spPr>
          <a:xfrm>
            <a:off x="1097280" y="2727493"/>
            <a:ext cx="6096000" cy="1015663"/>
          </a:xfrm>
          <a:prstGeom prst="rect">
            <a:avLst/>
          </a:prstGeom>
        </p:spPr>
        <p:txBody>
          <a:bodyPr>
            <a:spAutoFit/>
          </a:bodyPr>
          <a:lstStyle/>
          <a:p>
            <a:pPr marL="342900" indent="-342900">
              <a:lnSpc>
                <a:spcPct val="150000"/>
              </a:lnSpc>
              <a:buFont typeface="Arial" panose="020B0604020202020204" pitchFamily="34" charset="0"/>
              <a:buChar char="•"/>
            </a:pPr>
            <a:r>
              <a:rPr lang="en-IN" sz="2000" dirty="0" smtClean="0">
                <a:latin typeface="Sitka Text" pitchFamily="2" charset="0"/>
                <a:ea typeface="Calibri" panose="020F0502020204030204" pitchFamily="34" charset="0"/>
                <a:cs typeface="Times New Roman" panose="02020603050405020304" pitchFamily="18" charset="0"/>
              </a:rPr>
              <a:t>Classification layer </a:t>
            </a:r>
          </a:p>
          <a:p>
            <a:pPr marL="342900" indent="-342900">
              <a:lnSpc>
                <a:spcPct val="150000"/>
              </a:lnSpc>
              <a:buFont typeface="Arial" panose="020B0604020202020204" pitchFamily="34" charset="0"/>
              <a:buChar char="•"/>
            </a:pPr>
            <a:r>
              <a:rPr lang="en-IN" sz="2000" dirty="0" smtClean="0">
                <a:latin typeface="Sitka Text" pitchFamily="2" charset="0"/>
                <a:ea typeface="Calibri" panose="020F0502020204030204" pitchFamily="34" charset="0"/>
                <a:cs typeface="Times New Roman" panose="02020603050405020304" pitchFamily="18" charset="0"/>
              </a:rPr>
              <a:t>Bounding box regression layer</a:t>
            </a:r>
            <a:endParaRPr lang="en-IN" sz="2000" dirty="0"/>
          </a:p>
        </p:txBody>
      </p:sp>
      <p:sp>
        <p:nvSpPr>
          <p:cNvPr id="5" name="Rectangle 4"/>
          <p:cNvSpPr/>
          <p:nvPr/>
        </p:nvSpPr>
        <p:spPr>
          <a:xfrm>
            <a:off x="1097280" y="4252127"/>
            <a:ext cx="3118161" cy="400110"/>
          </a:xfrm>
          <a:prstGeom prst="rect">
            <a:avLst/>
          </a:prstGeom>
        </p:spPr>
        <p:txBody>
          <a:bodyPr wrap="none">
            <a:spAutoFit/>
          </a:bodyPr>
          <a:lstStyle/>
          <a:p>
            <a:r>
              <a:rPr lang="en-IN" sz="2000" dirty="0" smtClean="0">
                <a:latin typeface="Sitka Text" pitchFamily="2" charset="0"/>
                <a:ea typeface="Calibri" panose="020F0502020204030204" pitchFamily="34" charset="0"/>
                <a:cs typeface="Times New Roman" panose="02020603050405020304" pitchFamily="18" charset="0"/>
              </a:rPr>
              <a:t>Multi-task loss function </a:t>
            </a:r>
            <a:endParaRPr lang="en-IN" sz="2000" dirty="0"/>
          </a:p>
        </p:txBody>
      </p:sp>
      <p:pic>
        <p:nvPicPr>
          <p:cNvPr id="6" name="Picture 5"/>
          <p:cNvPicPr/>
          <p:nvPr/>
        </p:nvPicPr>
        <p:blipFill>
          <a:blip r:embed="rId3"/>
          <a:stretch>
            <a:fillRect/>
          </a:stretch>
        </p:blipFill>
        <p:spPr>
          <a:xfrm>
            <a:off x="2829914" y="4589171"/>
            <a:ext cx="4363366" cy="1676163"/>
          </a:xfrm>
          <a:prstGeom prst="rect">
            <a:avLst/>
          </a:prstGeom>
        </p:spPr>
      </p:pic>
      <p:pic>
        <p:nvPicPr>
          <p:cNvPr id="7" name="Content Placeholder 3"/>
          <p:cNvPicPr>
            <a:picLocks/>
          </p:cNvPicPr>
          <p:nvPr/>
        </p:nvPicPr>
        <p:blipFill rotWithShape="1">
          <a:blip r:embed="rId4"/>
          <a:srcRect b="14392"/>
          <a:stretch/>
        </p:blipFill>
        <p:spPr>
          <a:xfrm>
            <a:off x="7779134" y="2078845"/>
            <a:ext cx="4269131" cy="4186489"/>
          </a:xfrm>
          <a:prstGeom prst="rect">
            <a:avLst/>
          </a:prstGeom>
        </p:spPr>
      </p:pic>
    </p:spTree>
    <p:extLst>
      <p:ext uri="{BB962C8B-B14F-4D97-AF65-F5344CB8AC3E}">
        <p14:creationId xmlns:p14="http://schemas.microsoft.com/office/powerpoint/2010/main" val="221962876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Sitka Text" pitchFamily="2" charset="0"/>
              </a:rPr>
              <a:t>Training</a:t>
            </a:r>
            <a:endParaRPr lang="en-IN" dirty="0">
              <a:latin typeface="Sitka Text" pitchFamily="2" charset="0"/>
            </a:endParaRPr>
          </a:p>
        </p:txBody>
      </p:sp>
      <p:pic>
        <p:nvPicPr>
          <p:cNvPr id="4" name="Content Placeholder 3"/>
          <p:cNvPicPr>
            <a:picLocks noGrp="1"/>
          </p:cNvPicPr>
          <p:nvPr>
            <p:ph idx="1"/>
          </p:nvPr>
        </p:nvPicPr>
        <p:blipFill rotWithShape="1">
          <a:blip r:embed="rId3"/>
          <a:srcRect b="13482"/>
          <a:stretch/>
        </p:blipFill>
        <p:spPr>
          <a:xfrm>
            <a:off x="6277370" y="697187"/>
            <a:ext cx="5399967" cy="5613672"/>
          </a:xfrm>
          <a:prstGeom prst="rect">
            <a:avLst/>
          </a:prstGeom>
        </p:spPr>
      </p:pic>
      <p:sp>
        <p:nvSpPr>
          <p:cNvPr id="3" name="Rectangle 2"/>
          <p:cNvSpPr/>
          <p:nvPr/>
        </p:nvSpPr>
        <p:spPr>
          <a:xfrm>
            <a:off x="1097280" y="2366510"/>
            <a:ext cx="3315331" cy="400110"/>
          </a:xfrm>
          <a:prstGeom prst="rect">
            <a:avLst/>
          </a:prstGeom>
        </p:spPr>
        <p:txBody>
          <a:bodyPr wrap="none">
            <a:spAutoFit/>
          </a:bodyPr>
          <a:lstStyle/>
          <a:p>
            <a:r>
              <a:rPr lang="en-IN" sz="2000" dirty="0">
                <a:latin typeface="Sitka Text" pitchFamily="2" charset="0"/>
                <a:ea typeface="Calibri" panose="020F0502020204030204" pitchFamily="34" charset="0"/>
                <a:cs typeface="Times New Roman" panose="02020603050405020304" pitchFamily="18" charset="0"/>
              </a:rPr>
              <a:t>4-step training algorithm </a:t>
            </a:r>
            <a:endParaRPr lang="en-US" sz="2000" dirty="0">
              <a:latin typeface="Sitka Text" pitchFamily="2" charset="0"/>
            </a:endParaRPr>
          </a:p>
        </p:txBody>
      </p:sp>
      <p:sp>
        <p:nvSpPr>
          <p:cNvPr id="7" name="Rectangle 6"/>
          <p:cNvSpPr/>
          <p:nvPr/>
        </p:nvSpPr>
        <p:spPr>
          <a:xfrm>
            <a:off x="534938" y="3054320"/>
            <a:ext cx="5742432" cy="2862322"/>
          </a:xfrm>
          <a:prstGeom prst="rect">
            <a:avLst/>
          </a:prstGeom>
        </p:spPr>
        <p:txBody>
          <a:bodyPr wrap="square">
            <a:spAutoFit/>
          </a:bodyPr>
          <a:lstStyle/>
          <a:p>
            <a:pPr marL="457200" indent="-457200">
              <a:lnSpc>
                <a:spcPct val="150000"/>
              </a:lnSpc>
              <a:buFont typeface="+mj-lt"/>
              <a:buAutoNum type="arabicPeriod"/>
            </a:pPr>
            <a:r>
              <a:rPr lang="en-IN" sz="2000" dirty="0">
                <a:latin typeface="Sitka Text" pitchFamily="2" charset="0"/>
                <a:ea typeface="Calibri" panose="020F0502020204030204" pitchFamily="34" charset="0"/>
                <a:cs typeface="Times New Roman" panose="02020603050405020304" pitchFamily="18" charset="0"/>
              </a:rPr>
              <a:t>RPN is trained </a:t>
            </a:r>
            <a:r>
              <a:rPr lang="en-IN" sz="2000" dirty="0" smtClean="0">
                <a:latin typeface="Sitka Text" pitchFamily="2" charset="0"/>
                <a:ea typeface="Calibri" panose="020F0502020204030204" pitchFamily="34" charset="0"/>
                <a:cs typeface="Times New Roman" panose="02020603050405020304" pitchFamily="18" charset="0"/>
              </a:rPr>
              <a:t>end-to-end</a:t>
            </a:r>
          </a:p>
          <a:p>
            <a:pPr marL="457200" indent="-457200">
              <a:lnSpc>
                <a:spcPct val="150000"/>
              </a:lnSpc>
              <a:buFont typeface="+mj-lt"/>
              <a:buAutoNum type="arabicPeriod"/>
            </a:pPr>
            <a:r>
              <a:rPr lang="en-IN" sz="2000" dirty="0">
                <a:latin typeface="Sitka Text" pitchFamily="2" charset="0"/>
              </a:rPr>
              <a:t>Fast R-CNN </a:t>
            </a:r>
            <a:r>
              <a:rPr lang="en-IN" sz="2000" dirty="0" smtClean="0">
                <a:latin typeface="Sitka Text" pitchFamily="2" charset="0"/>
              </a:rPr>
              <a:t>is trained using </a:t>
            </a:r>
            <a:r>
              <a:rPr lang="en-IN" sz="2000" dirty="0">
                <a:latin typeface="Sitka Text" pitchFamily="2" charset="0"/>
              </a:rPr>
              <a:t>the proposals generated by the RPN </a:t>
            </a:r>
            <a:endParaRPr lang="en-IN" sz="2000" dirty="0" smtClean="0">
              <a:latin typeface="Sitka Text" pitchFamily="2" charset="0"/>
            </a:endParaRPr>
          </a:p>
          <a:p>
            <a:pPr marL="457200" indent="-457200">
              <a:lnSpc>
                <a:spcPct val="150000"/>
              </a:lnSpc>
              <a:buFont typeface="+mj-lt"/>
              <a:buAutoNum type="arabicPeriod"/>
            </a:pPr>
            <a:r>
              <a:rPr lang="en-IN" sz="2000" dirty="0" smtClean="0">
                <a:latin typeface="Sitka Text" pitchFamily="2" charset="0"/>
              </a:rPr>
              <a:t>Initialize RPN with Fast R-CNN weights and fine-tune </a:t>
            </a:r>
            <a:r>
              <a:rPr lang="en-IN" sz="2000" dirty="0">
                <a:latin typeface="Sitka Text" pitchFamily="2" charset="0"/>
              </a:rPr>
              <a:t>the layers unique to </a:t>
            </a:r>
            <a:r>
              <a:rPr lang="en-IN" sz="2000" dirty="0" smtClean="0">
                <a:latin typeface="Sitka Text" pitchFamily="2" charset="0"/>
              </a:rPr>
              <a:t>RPN</a:t>
            </a:r>
          </a:p>
          <a:p>
            <a:pPr marL="457200" indent="-457200">
              <a:lnSpc>
                <a:spcPct val="150000"/>
              </a:lnSpc>
              <a:buFont typeface="+mj-lt"/>
              <a:buAutoNum type="arabicPeriod"/>
            </a:pPr>
            <a:r>
              <a:rPr lang="en-IN" sz="2000" dirty="0">
                <a:latin typeface="Sitka Text" pitchFamily="2" charset="0"/>
              </a:rPr>
              <a:t>F</a:t>
            </a:r>
            <a:r>
              <a:rPr lang="en-IN" sz="2000" dirty="0" smtClean="0">
                <a:latin typeface="Sitka Text" pitchFamily="2" charset="0"/>
              </a:rPr>
              <a:t>ine-tune </a:t>
            </a:r>
            <a:r>
              <a:rPr lang="en-IN" sz="2000" dirty="0">
                <a:latin typeface="Sitka Text" pitchFamily="2" charset="0"/>
              </a:rPr>
              <a:t>the unique layers of Fast R-CNN</a:t>
            </a:r>
            <a:endParaRPr lang="en-US" sz="2000" dirty="0">
              <a:latin typeface="Sitka Text" pitchFamily="2" charset="0"/>
            </a:endParaRPr>
          </a:p>
        </p:txBody>
      </p:sp>
    </p:spTree>
    <p:extLst>
      <p:ext uri="{BB962C8B-B14F-4D97-AF65-F5344CB8AC3E}">
        <p14:creationId xmlns:p14="http://schemas.microsoft.com/office/powerpoint/2010/main" val="351428045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Sitka Text" pitchFamily="2" charset="0"/>
              </a:rPr>
              <a:t>Results</a:t>
            </a:r>
            <a:endParaRPr lang="en-IN" dirty="0">
              <a:latin typeface="Sitka Text" pitchFamily="2" charset="0"/>
            </a:endParaRPr>
          </a:p>
        </p:txBody>
      </p:sp>
      <p:sp>
        <p:nvSpPr>
          <p:cNvPr id="5" name="Rectangle 4"/>
          <p:cNvSpPr/>
          <p:nvPr/>
        </p:nvSpPr>
        <p:spPr>
          <a:xfrm>
            <a:off x="8608695" y="6566023"/>
            <a:ext cx="3108543" cy="276999"/>
          </a:xfrm>
          <a:prstGeom prst="rect">
            <a:avLst/>
          </a:prstGeom>
        </p:spPr>
        <p:txBody>
          <a:bodyPr wrap="none">
            <a:spAutoFit/>
          </a:bodyPr>
          <a:lstStyle/>
          <a:p>
            <a:r>
              <a:rPr lang="en-US" sz="1200" dirty="0">
                <a:solidFill>
                  <a:schemeClr val="bg1"/>
                </a:solidFill>
                <a:latin typeface="Sitka Text" pitchFamily="2" charset="0"/>
              </a:rPr>
              <a:t>http://host.robots.ox.ac.uk/pascal/VOC/</a:t>
            </a:r>
          </a:p>
        </p:txBody>
      </p:sp>
      <p:sp>
        <p:nvSpPr>
          <p:cNvPr id="7" name="Rectangle 6"/>
          <p:cNvSpPr/>
          <p:nvPr/>
        </p:nvSpPr>
        <p:spPr>
          <a:xfrm>
            <a:off x="4907508" y="6413634"/>
            <a:ext cx="7137735" cy="261610"/>
          </a:xfrm>
          <a:prstGeom prst="rect">
            <a:avLst/>
          </a:prstGeom>
        </p:spPr>
        <p:txBody>
          <a:bodyPr wrap="square">
            <a:spAutoFit/>
          </a:bodyPr>
          <a:lstStyle/>
          <a:p>
            <a:r>
              <a:rPr lang="en-US" sz="1100" dirty="0">
                <a:solidFill>
                  <a:schemeClr val="bg1"/>
                </a:solidFill>
                <a:latin typeface="Sitka Text" pitchFamily="2" charset="0"/>
              </a:rPr>
              <a:t>Ren, </a:t>
            </a:r>
            <a:r>
              <a:rPr lang="en-US" sz="1100" dirty="0" err="1">
                <a:solidFill>
                  <a:schemeClr val="bg1"/>
                </a:solidFill>
                <a:latin typeface="Sitka Text" pitchFamily="2" charset="0"/>
              </a:rPr>
              <a:t>Shaoqing</a:t>
            </a:r>
            <a:r>
              <a:rPr lang="en-US" sz="1100" dirty="0">
                <a:solidFill>
                  <a:schemeClr val="bg1"/>
                </a:solidFill>
                <a:latin typeface="Sitka Text" pitchFamily="2" charset="0"/>
              </a:rPr>
              <a:t>, et al. "Faster R-CNN: Towards real-time object detection with region proposal networks</a:t>
            </a:r>
            <a:r>
              <a:rPr lang="en-US" sz="1100" dirty="0" smtClean="0">
                <a:solidFill>
                  <a:schemeClr val="bg1"/>
                </a:solidFill>
                <a:latin typeface="Sitka Text" pitchFamily="2" charset="0"/>
              </a:rPr>
              <a:t>."</a:t>
            </a:r>
            <a:endParaRPr lang="en-US" sz="1100" dirty="0">
              <a:solidFill>
                <a:schemeClr val="bg1"/>
              </a:solidFill>
              <a:latin typeface="Sitka Text" pitchFamily="2" charset="0"/>
            </a:endParaRPr>
          </a:p>
        </p:txBody>
      </p:sp>
      <p:pic>
        <p:nvPicPr>
          <p:cNvPr id="3" name="Picture 2"/>
          <p:cNvPicPr>
            <a:picLocks noChangeAspect="1"/>
          </p:cNvPicPr>
          <p:nvPr/>
        </p:nvPicPr>
        <p:blipFill>
          <a:blip r:embed="rId3"/>
          <a:stretch>
            <a:fillRect/>
          </a:stretch>
        </p:blipFill>
        <p:spPr>
          <a:xfrm>
            <a:off x="2192301" y="2260288"/>
            <a:ext cx="7868357" cy="3985568"/>
          </a:xfrm>
          <a:prstGeom prst="rect">
            <a:avLst/>
          </a:prstGeom>
        </p:spPr>
      </p:pic>
      <p:sp>
        <p:nvSpPr>
          <p:cNvPr id="8" name="Rectangle 7"/>
          <p:cNvSpPr/>
          <p:nvPr/>
        </p:nvSpPr>
        <p:spPr>
          <a:xfrm>
            <a:off x="1097280" y="1814158"/>
            <a:ext cx="3507692" cy="369332"/>
          </a:xfrm>
          <a:prstGeom prst="rect">
            <a:avLst/>
          </a:prstGeom>
        </p:spPr>
        <p:txBody>
          <a:bodyPr wrap="none">
            <a:spAutoFit/>
          </a:bodyPr>
          <a:lstStyle/>
          <a:p>
            <a:r>
              <a:rPr lang="en-US" dirty="0">
                <a:latin typeface="Sitka Text" pitchFamily="2" charset="0"/>
              </a:rPr>
              <a:t>73.2</a:t>
            </a:r>
            <a:r>
              <a:rPr lang="en-US" dirty="0" smtClean="0">
                <a:latin typeface="Sitka Text" pitchFamily="2" charset="0"/>
              </a:rPr>
              <a:t>% </a:t>
            </a:r>
            <a:r>
              <a:rPr lang="en-US" dirty="0" err="1" smtClean="0">
                <a:latin typeface="Sitka Text" pitchFamily="2" charset="0"/>
              </a:rPr>
              <a:t>mAP</a:t>
            </a:r>
            <a:r>
              <a:rPr lang="en-US" dirty="0" smtClean="0">
                <a:latin typeface="Sitka Text" pitchFamily="2" charset="0"/>
              </a:rPr>
              <a:t>: VOC 2007 test </a:t>
            </a:r>
            <a:r>
              <a:rPr lang="en-US" dirty="0">
                <a:latin typeface="Sitka Text" pitchFamily="2" charset="0"/>
              </a:rPr>
              <a:t>set</a:t>
            </a:r>
          </a:p>
        </p:txBody>
      </p:sp>
    </p:spTree>
    <p:extLst>
      <p:ext uri="{BB962C8B-B14F-4D97-AF65-F5344CB8AC3E}">
        <p14:creationId xmlns:p14="http://schemas.microsoft.com/office/powerpoint/2010/main" val="399766318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Results</a:t>
            </a:r>
            <a:endParaRPr lang="en-IN" dirty="0"/>
          </a:p>
        </p:txBody>
      </p:sp>
      <p:sp>
        <p:nvSpPr>
          <p:cNvPr id="6" name="Rectangle 5"/>
          <p:cNvSpPr/>
          <p:nvPr/>
        </p:nvSpPr>
        <p:spPr>
          <a:xfrm>
            <a:off x="4907508" y="6424923"/>
            <a:ext cx="7137735" cy="261610"/>
          </a:xfrm>
          <a:prstGeom prst="rect">
            <a:avLst/>
          </a:prstGeom>
        </p:spPr>
        <p:txBody>
          <a:bodyPr wrap="square">
            <a:spAutoFit/>
          </a:bodyPr>
          <a:lstStyle/>
          <a:p>
            <a:r>
              <a:rPr lang="en-US" sz="1100" dirty="0">
                <a:solidFill>
                  <a:schemeClr val="bg1"/>
                </a:solidFill>
                <a:latin typeface="Sitka Text" pitchFamily="2" charset="0"/>
              </a:rPr>
              <a:t>Ren, </a:t>
            </a:r>
            <a:r>
              <a:rPr lang="en-US" sz="1100" dirty="0" err="1">
                <a:solidFill>
                  <a:schemeClr val="bg1"/>
                </a:solidFill>
                <a:latin typeface="Sitka Text" pitchFamily="2" charset="0"/>
              </a:rPr>
              <a:t>Shaoqing</a:t>
            </a:r>
            <a:r>
              <a:rPr lang="en-US" sz="1100" dirty="0">
                <a:solidFill>
                  <a:schemeClr val="bg1"/>
                </a:solidFill>
                <a:latin typeface="Sitka Text" pitchFamily="2" charset="0"/>
              </a:rPr>
              <a:t>, et al. "Faster R-CNN: Towards real-time object detection with region proposal networks</a:t>
            </a:r>
            <a:r>
              <a:rPr lang="en-US" sz="1100" dirty="0" smtClean="0">
                <a:solidFill>
                  <a:schemeClr val="bg1"/>
                </a:solidFill>
                <a:latin typeface="Sitka Text" pitchFamily="2" charset="0"/>
              </a:rPr>
              <a:t>."</a:t>
            </a:r>
            <a:endParaRPr lang="en-US" sz="1100" dirty="0">
              <a:solidFill>
                <a:schemeClr val="bg1"/>
              </a:solidFill>
              <a:latin typeface="Sitka Text" pitchFamily="2" charset="0"/>
            </a:endParaRPr>
          </a:p>
        </p:txBody>
      </p:sp>
      <p:pic>
        <p:nvPicPr>
          <p:cNvPr id="7" name="Content Placeholder 6"/>
          <p:cNvPicPr>
            <a:picLocks noGrp="1" noChangeAspect="1"/>
          </p:cNvPicPr>
          <p:nvPr>
            <p:ph idx="1"/>
          </p:nvPr>
        </p:nvPicPr>
        <p:blipFill>
          <a:blip r:embed="rId3"/>
          <a:stretch>
            <a:fillRect/>
          </a:stretch>
        </p:blipFill>
        <p:spPr>
          <a:xfrm>
            <a:off x="2285367" y="2140522"/>
            <a:ext cx="7682226" cy="4087790"/>
          </a:xfrm>
          <a:prstGeom prst="rect">
            <a:avLst/>
          </a:prstGeom>
        </p:spPr>
      </p:pic>
      <p:sp>
        <p:nvSpPr>
          <p:cNvPr id="8" name="Rectangle 7"/>
          <p:cNvSpPr/>
          <p:nvPr/>
        </p:nvSpPr>
        <p:spPr>
          <a:xfrm>
            <a:off x="1097280" y="1735822"/>
            <a:ext cx="4501553" cy="369332"/>
          </a:xfrm>
          <a:prstGeom prst="rect">
            <a:avLst/>
          </a:prstGeom>
        </p:spPr>
        <p:txBody>
          <a:bodyPr wrap="none">
            <a:spAutoFit/>
          </a:bodyPr>
          <a:lstStyle/>
          <a:p>
            <a:r>
              <a:rPr lang="en-US" dirty="0">
                <a:latin typeface="Sitka Text" pitchFamily="2" charset="0"/>
              </a:rPr>
              <a:t>42.7</a:t>
            </a:r>
            <a:r>
              <a:rPr lang="en-US" dirty="0" smtClean="0">
                <a:latin typeface="Sitka Text" pitchFamily="2" charset="0"/>
              </a:rPr>
              <a:t>% mAP@0.5: MS COCO test-dev set</a:t>
            </a:r>
            <a:endParaRPr lang="en-US" dirty="0">
              <a:latin typeface="Sitka Text" pitchFamily="2" charset="0"/>
            </a:endParaRPr>
          </a:p>
        </p:txBody>
      </p:sp>
      <p:sp>
        <p:nvSpPr>
          <p:cNvPr id="9" name="Rectangle 8"/>
          <p:cNvSpPr/>
          <p:nvPr/>
        </p:nvSpPr>
        <p:spPr>
          <a:xfrm>
            <a:off x="9676514" y="6594246"/>
            <a:ext cx="2265364" cy="261610"/>
          </a:xfrm>
          <a:prstGeom prst="rect">
            <a:avLst/>
          </a:prstGeom>
        </p:spPr>
        <p:txBody>
          <a:bodyPr wrap="none">
            <a:spAutoFit/>
          </a:bodyPr>
          <a:lstStyle/>
          <a:p>
            <a:r>
              <a:rPr lang="en-US" sz="1100" dirty="0">
                <a:solidFill>
                  <a:schemeClr val="bg1"/>
                </a:solidFill>
                <a:latin typeface="Sitka Text" pitchFamily="2" charset="0"/>
              </a:rPr>
              <a:t>https://cocodataset.org/#home</a:t>
            </a:r>
          </a:p>
        </p:txBody>
      </p:sp>
    </p:spTree>
    <p:extLst>
      <p:ext uri="{BB962C8B-B14F-4D97-AF65-F5344CB8AC3E}">
        <p14:creationId xmlns:p14="http://schemas.microsoft.com/office/powerpoint/2010/main" val="56109660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Sitka Text" pitchFamily="2" charset="0"/>
              </a:rPr>
              <a:t>Comparison with R-CNN and Fast R-CNN</a:t>
            </a:r>
            <a:endParaRPr lang="en-US" sz="4000" dirty="0"/>
          </a:p>
        </p:txBody>
      </p:sp>
      <p:pic>
        <p:nvPicPr>
          <p:cNvPr id="4" name="Content Placeholder 3"/>
          <p:cNvPicPr>
            <a:picLocks noChangeAspect="1"/>
          </p:cNvPicPr>
          <p:nvPr/>
        </p:nvPicPr>
        <p:blipFill rotWithShape="1">
          <a:blip r:embed="rId3"/>
          <a:srcRect b="30345"/>
          <a:stretch/>
        </p:blipFill>
        <p:spPr>
          <a:xfrm>
            <a:off x="1118772" y="1983326"/>
            <a:ext cx="6288550" cy="1260258"/>
          </a:xfrm>
          <a:prstGeom prst="rect">
            <a:avLst/>
          </a:prstGeom>
        </p:spPr>
      </p:pic>
      <p:pic>
        <p:nvPicPr>
          <p:cNvPr id="5" name="Content Placeholder 3"/>
          <p:cNvPicPr>
            <a:picLocks/>
          </p:cNvPicPr>
          <p:nvPr/>
        </p:nvPicPr>
        <p:blipFill rotWithShape="1">
          <a:blip r:embed="rId4"/>
          <a:srcRect t="3367" b="45731"/>
          <a:stretch/>
        </p:blipFill>
        <p:spPr>
          <a:xfrm>
            <a:off x="1638145" y="4138136"/>
            <a:ext cx="5072887" cy="1506677"/>
          </a:xfrm>
          <a:prstGeom prst="rect">
            <a:avLst/>
          </a:prstGeom>
        </p:spPr>
      </p:pic>
      <p:sp>
        <p:nvSpPr>
          <p:cNvPr id="6" name="Rectangle 5"/>
          <p:cNvSpPr/>
          <p:nvPr/>
        </p:nvSpPr>
        <p:spPr>
          <a:xfrm>
            <a:off x="195121" y="2390699"/>
            <a:ext cx="923651" cy="369332"/>
          </a:xfrm>
          <a:prstGeom prst="rect">
            <a:avLst/>
          </a:prstGeom>
        </p:spPr>
        <p:txBody>
          <a:bodyPr wrap="none">
            <a:spAutoFit/>
          </a:bodyPr>
          <a:lstStyle/>
          <a:p>
            <a:r>
              <a:rPr lang="en-US" dirty="0">
                <a:latin typeface="Sitka Text" pitchFamily="2" charset="0"/>
              </a:rPr>
              <a:t>R-CNN</a:t>
            </a:r>
            <a:endParaRPr lang="en-US" dirty="0"/>
          </a:p>
        </p:txBody>
      </p:sp>
      <p:sp>
        <p:nvSpPr>
          <p:cNvPr id="7" name="Rectangle 6"/>
          <p:cNvSpPr/>
          <p:nvPr/>
        </p:nvSpPr>
        <p:spPr>
          <a:xfrm>
            <a:off x="195121" y="4706808"/>
            <a:ext cx="1443024" cy="369332"/>
          </a:xfrm>
          <a:prstGeom prst="rect">
            <a:avLst/>
          </a:prstGeom>
        </p:spPr>
        <p:txBody>
          <a:bodyPr wrap="none">
            <a:spAutoFit/>
          </a:bodyPr>
          <a:lstStyle/>
          <a:p>
            <a:r>
              <a:rPr lang="en-US" dirty="0" smtClean="0">
                <a:latin typeface="Sitka Text" pitchFamily="2" charset="0"/>
              </a:rPr>
              <a:t>Fast R-CNN</a:t>
            </a:r>
            <a:endParaRPr lang="en-US" dirty="0"/>
          </a:p>
        </p:txBody>
      </p:sp>
      <p:pic>
        <p:nvPicPr>
          <p:cNvPr id="8" name="Content Placeholder 3"/>
          <p:cNvPicPr>
            <a:picLocks noGrp="1"/>
          </p:cNvPicPr>
          <p:nvPr>
            <p:ph idx="1"/>
          </p:nvPr>
        </p:nvPicPr>
        <p:blipFill rotWithShape="1">
          <a:blip r:embed="rId5"/>
          <a:srcRect l="2088" t="1429" r="3222" b="15656"/>
          <a:stretch/>
        </p:blipFill>
        <p:spPr>
          <a:xfrm>
            <a:off x="9001958" y="2377284"/>
            <a:ext cx="3160889" cy="3849512"/>
          </a:xfrm>
          <a:prstGeom prst="rect">
            <a:avLst/>
          </a:prstGeom>
        </p:spPr>
      </p:pic>
      <p:sp>
        <p:nvSpPr>
          <p:cNvPr id="9" name="Rectangle 8"/>
          <p:cNvSpPr/>
          <p:nvPr/>
        </p:nvSpPr>
        <p:spPr>
          <a:xfrm>
            <a:off x="8167435" y="1904955"/>
            <a:ext cx="1669047" cy="369332"/>
          </a:xfrm>
          <a:prstGeom prst="rect">
            <a:avLst/>
          </a:prstGeom>
        </p:spPr>
        <p:txBody>
          <a:bodyPr wrap="none">
            <a:spAutoFit/>
          </a:bodyPr>
          <a:lstStyle/>
          <a:p>
            <a:r>
              <a:rPr lang="en-US" dirty="0" smtClean="0">
                <a:latin typeface="Sitka Text" pitchFamily="2" charset="0"/>
              </a:rPr>
              <a:t>Faster R-CNN</a:t>
            </a:r>
            <a:endParaRPr lang="en-US" dirty="0"/>
          </a:p>
        </p:txBody>
      </p:sp>
      <p:sp>
        <p:nvSpPr>
          <p:cNvPr id="10" name="Rectangle 9"/>
          <p:cNvSpPr/>
          <p:nvPr/>
        </p:nvSpPr>
        <p:spPr>
          <a:xfrm>
            <a:off x="7783613" y="2274287"/>
            <a:ext cx="2643672" cy="369332"/>
          </a:xfrm>
          <a:prstGeom prst="rect">
            <a:avLst/>
          </a:prstGeom>
        </p:spPr>
        <p:txBody>
          <a:bodyPr wrap="none">
            <a:spAutoFit/>
          </a:bodyPr>
          <a:lstStyle/>
          <a:p>
            <a:r>
              <a:rPr lang="en-IN" dirty="0" err="1" smtClean="0">
                <a:solidFill>
                  <a:srgbClr val="FF0000"/>
                </a:solidFill>
                <a:latin typeface="Sitka Text" pitchFamily="2" charset="0"/>
                <a:ea typeface="Calibri" panose="020F0502020204030204" pitchFamily="34" charset="0"/>
                <a:cs typeface="Times New Roman" panose="02020603050405020304" pitchFamily="18" charset="0"/>
              </a:rPr>
              <a:t>mAP</a:t>
            </a:r>
            <a:r>
              <a:rPr lang="en-IN" dirty="0" smtClean="0">
                <a:solidFill>
                  <a:srgbClr val="FF0000"/>
                </a:solidFill>
                <a:latin typeface="Sitka Text" pitchFamily="2" charset="0"/>
                <a:ea typeface="Calibri" panose="020F0502020204030204" pitchFamily="34" charset="0"/>
                <a:cs typeface="Times New Roman" panose="02020603050405020304" pitchFamily="18" charset="0"/>
              </a:rPr>
              <a:t> </a:t>
            </a:r>
            <a:r>
              <a:rPr lang="en-IN" dirty="0">
                <a:solidFill>
                  <a:srgbClr val="FF0000"/>
                </a:solidFill>
                <a:latin typeface="Sitka Text" pitchFamily="2" charset="0"/>
                <a:ea typeface="Calibri" panose="020F0502020204030204" pitchFamily="34" charset="0"/>
                <a:cs typeface="Times New Roman" panose="02020603050405020304" pitchFamily="18" charset="0"/>
              </a:rPr>
              <a:t>70.4</a:t>
            </a:r>
            <a:r>
              <a:rPr lang="en-IN" dirty="0" smtClean="0">
                <a:solidFill>
                  <a:srgbClr val="FF0000"/>
                </a:solidFill>
                <a:latin typeface="Sitka Text" pitchFamily="2" charset="0"/>
                <a:ea typeface="Calibri" panose="020F0502020204030204" pitchFamily="34" charset="0"/>
                <a:cs typeface="Times New Roman" panose="02020603050405020304" pitchFamily="18" charset="0"/>
              </a:rPr>
              <a:t>%: </a:t>
            </a:r>
            <a:r>
              <a:rPr lang="en-IN" dirty="0" smtClean="0">
                <a:solidFill>
                  <a:srgbClr val="FF0000"/>
                </a:solidFill>
                <a:latin typeface="Sitka Text" pitchFamily="2" charset="0"/>
              </a:rPr>
              <a:t>VOC 2012</a:t>
            </a:r>
            <a:endParaRPr lang="en-IN" dirty="0">
              <a:solidFill>
                <a:srgbClr val="FF0000"/>
              </a:solidFill>
              <a:latin typeface="Sitka Text" pitchFamily="2" charset="0"/>
            </a:endParaRPr>
          </a:p>
        </p:txBody>
      </p:sp>
      <p:sp>
        <p:nvSpPr>
          <p:cNvPr id="11" name="Rectangle 10"/>
          <p:cNvSpPr/>
          <p:nvPr/>
        </p:nvSpPr>
        <p:spPr>
          <a:xfrm>
            <a:off x="3113226" y="5644813"/>
            <a:ext cx="2343911" cy="646331"/>
          </a:xfrm>
          <a:prstGeom prst="rect">
            <a:avLst/>
          </a:prstGeom>
        </p:spPr>
        <p:txBody>
          <a:bodyPr wrap="none">
            <a:spAutoFit/>
          </a:bodyPr>
          <a:lstStyle/>
          <a:p>
            <a:r>
              <a:rPr lang="en-IN" dirty="0" err="1" smtClean="0">
                <a:solidFill>
                  <a:srgbClr val="0070C0"/>
                </a:solidFill>
                <a:latin typeface="Sitka Text" pitchFamily="2" charset="0"/>
                <a:ea typeface="Calibri" panose="020F0502020204030204" pitchFamily="34" charset="0"/>
                <a:cs typeface="Times New Roman" panose="02020603050405020304" pitchFamily="18" charset="0"/>
              </a:rPr>
              <a:t>mAP</a:t>
            </a:r>
            <a:r>
              <a:rPr lang="en-IN" dirty="0" smtClean="0">
                <a:solidFill>
                  <a:srgbClr val="0070C0"/>
                </a:solidFill>
                <a:latin typeface="Sitka Text" pitchFamily="2" charset="0"/>
                <a:ea typeface="Calibri" panose="020F0502020204030204" pitchFamily="34" charset="0"/>
                <a:cs typeface="Times New Roman" panose="02020603050405020304" pitchFamily="18" charset="0"/>
              </a:rPr>
              <a:t> </a:t>
            </a:r>
            <a:r>
              <a:rPr lang="en-IN" dirty="0">
                <a:solidFill>
                  <a:srgbClr val="0070C0"/>
                </a:solidFill>
                <a:latin typeface="Sitka Text" pitchFamily="2" charset="0"/>
                <a:ea typeface="Calibri" panose="020F0502020204030204" pitchFamily="34" charset="0"/>
                <a:cs typeface="Times New Roman" panose="02020603050405020304" pitchFamily="18" charset="0"/>
              </a:rPr>
              <a:t>65.7</a:t>
            </a:r>
            <a:r>
              <a:rPr lang="en-IN" dirty="0" smtClean="0">
                <a:solidFill>
                  <a:srgbClr val="0070C0"/>
                </a:solidFill>
                <a:latin typeface="Sitka Text" pitchFamily="2" charset="0"/>
                <a:ea typeface="Calibri" panose="020F0502020204030204" pitchFamily="34" charset="0"/>
                <a:cs typeface="Times New Roman" panose="02020603050405020304" pitchFamily="18" charset="0"/>
              </a:rPr>
              <a:t>%: VOC12 </a:t>
            </a:r>
          </a:p>
          <a:p>
            <a:r>
              <a:rPr lang="en-IN" dirty="0" err="1" smtClean="0">
                <a:solidFill>
                  <a:srgbClr val="0070C0"/>
                </a:solidFill>
                <a:latin typeface="Sitka Text" pitchFamily="2" charset="0"/>
                <a:ea typeface="Calibri" panose="020F0502020204030204" pitchFamily="34" charset="0"/>
                <a:cs typeface="Times New Roman" panose="02020603050405020304" pitchFamily="18" charset="0"/>
              </a:rPr>
              <a:t>mAP</a:t>
            </a:r>
            <a:r>
              <a:rPr lang="en-IN" dirty="0" smtClean="0">
                <a:solidFill>
                  <a:srgbClr val="0070C0"/>
                </a:solidFill>
                <a:latin typeface="Sitka Text" pitchFamily="2" charset="0"/>
                <a:ea typeface="Calibri" panose="020F0502020204030204" pitchFamily="34" charset="0"/>
                <a:cs typeface="Times New Roman" panose="02020603050405020304" pitchFamily="18" charset="0"/>
              </a:rPr>
              <a:t> 66.1%: VOC10</a:t>
            </a:r>
            <a:endParaRPr lang="en-US" dirty="0">
              <a:solidFill>
                <a:srgbClr val="0070C0"/>
              </a:solidFill>
            </a:endParaRPr>
          </a:p>
        </p:txBody>
      </p:sp>
      <p:sp>
        <p:nvSpPr>
          <p:cNvPr id="12" name="Rectangle 11"/>
          <p:cNvSpPr/>
          <p:nvPr/>
        </p:nvSpPr>
        <p:spPr>
          <a:xfrm>
            <a:off x="2082495" y="3286976"/>
            <a:ext cx="3374642" cy="369332"/>
          </a:xfrm>
          <a:prstGeom prst="rect">
            <a:avLst/>
          </a:prstGeom>
        </p:spPr>
        <p:txBody>
          <a:bodyPr wrap="none">
            <a:spAutoFit/>
          </a:bodyPr>
          <a:lstStyle/>
          <a:p>
            <a:r>
              <a:rPr lang="en-IN" dirty="0">
                <a:solidFill>
                  <a:schemeClr val="accent2">
                    <a:lumMod val="75000"/>
                  </a:schemeClr>
                </a:solidFill>
                <a:latin typeface="Sitka Text" pitchFamily="2" charset="0"/>
                <a:ea typeface="Calibri" panose="020F0502020204030204" pitchFamily="34" charset="0"/>
                <a:cs typeface="Times New Roman" panose="02020603050405020304" pitchFamily="18" charset="0"/>
              </a:rPr>
              <a:t>53.7%: PASCAL VOC 2010-12 </a:t>
            </a:r>
            <a:endParaRPr lang="en-US" dirty="0">
              <a:solidFill>
                <a:schemeClr val="accent2">
                  <a:lumMod val="75000"/>
                </a:schemeClr>
              </a:solidFill>
            </a:endParaRPr>
          </a:p>
        </p:txBody>
      </p:sp>
    </p:spTree>
    <p:extLst>
      <p:ext uri="{BB962C8B-B14F-4D97-AF65-F5344CB8AC3E}">
        <p14:creationId xmlns:p14="http://schemas.microsoft.com/office/powerpoint/2010/main" val="95115390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Sitka Text" pitchFamily="2" charset="0"/>
              </a:rPr>
              <a:t>Comparison with R-CNN and Fast R-CNN</a:t>
            </a:r>
            <a:endParaRPr lang="en-US" sz="4000" dirty="0">
              <a:latin typeface="Sitka Text" pitchFamily="2" charset="0"/>
            </a:endParaRPr>
          </a:p>
        </p:txBody>
      </p:sp>
      <p:graphicFrame>
        <p:nvGraphicFramePr>
          <p:cNvPr id="4" name="Content Placeholder 3"/>
          <p:cNvGraphicFramePr>
            <a:graphicFrameLocks noGrp="1"/>
          </p:cNvGraphicFramePr>
          <p:nvPr>
            <p:ph idx="1"/>
            <p:extLst/>
          </p:nvPr>
        </p:nvGraphicFramePr>
        <p:xfrm>
          <a:off x="247566" y="4409106"/>
          <a:ext cx="11576304" cy="1760220"/>
        </p:xfrm>
        <a:graphic>
          <a:graphicData uri="http://schemas.openxmlformats.org/drawingml/2006/table">
            <a:tbl>
              <a:tblPr/>
              <a:tblGrid>
                <a:gridCol w="3028476">
                  <a:extLst>
                    <a:ext uri="{9D8B030D-6E8A-4147-A177-3AD203B41FA5}">
                      <a16:colId xmlns:a16="http://schemas.microsoft.com/office/drawing/2014/main" val="1011872513"/>
                    </a:ext>
                  </a:extLst>
                </a:gridCol>
                <a:gridCol w="2044050">
                  <a:extLst>
                    <a:ext uri="{9D8B030D-6E8A-4147-A177-3AD203B41FA5}">
                      <a16:colId xmlns:a16="http://schemas.microsoft.com/office/drawing/2014/main" val="3759520276"/>
                    </a:ext>
                  </a:extLst>
                </a:gridCol>
                <a:gridCol w="3230226">
                  <a:extLst>
                    <a:ext uri="{9D8B030D-6E8A-4147-A177-3AD203B41FA5}">
                      <a16:colId xmlns:a16="http://schemas.microsoft.com/office/drawing/2014/main" val="3631159500"/>
                    </a:ext>
                  </a:extLst>
                </a:gridCol>
                <a:gridCol w="3273552">
                  <a:extLst>
                    <a:ext uri="{9D8B030D-6E8A-4147-A177-3AD203B41FA5}">
                      <a16:colId xmlns:a16="http://schemas.microsoft.com/office/drawing/2014/main" val="3801624935"/>
                    </a:ext>
                  </a:extLst>
                </a:gridCol>
              </a:tblGrid>
              <a:tr h="0">
                <a:tc>
                  <a:txBody>
                    <a:bodyPr/>
                    <a:lstStyle/>
                    <a:p>
                      <a:pPr latinLnBrk="1"/>
                      <a:endParaRPr lang="en-US" dirty="0">
                        <a:solidFill>
                          <a:schemeClr val="bg1"/>
                        </a:solidFill>
                        <a:effectLst/>
                        <a:latin typeface="Sitka Text" pitchFamily="2" charset="0"/>
                      </a:endParaRPr>
                    </a:p>
                  </a:txBody>
                  <a:tcPr marL="47625" marR="47625" marT="9525" marB="9525" anchor="ctr">
                    <a:lnL w="9525" cap="flat" cmpd="sng" algn="ctr">
                      <a:solidFill>
                        <a:srgbClr val="106D57"/>
                      </a:solidFill>
                      <a:prstDash val="solid"/>
                      <a:round/>
                      <a:headEnd type="none" w="med" len="med"/>
                      <a:tailEnd type="none" w="med" len="med"/>
                    </a:lnL>
                    <a:lnR w="9525" cap="flat" cmpd="sng" algn="ctr">
                      <a:solidFill>
                        <a:srgbClr val="D06A57"/>
                      </a:solidFill>
                      <a:prstDash val="solid"/>
                      <a:round/>
                      <a:headEnd type="none" w="med" len="med"/>
                      <a:tailEnd type="none" w="med" len="med"/>
                    </a:lnR>
                    <a:lnT w="9525" cap="flat" cmpd="sng" algn="ctr">
                      <a:solidFill>
                        <a:srgbClr val="306857"/>
                      </a:solidFill>
                      <a:prstDash val="solid"/>
                      <a:round/>
                      <a:headEnd type="none" w="med" len="med"/>
                      <a:tailEnd type="none" w="med" len="med"/>
                    </a:lnT>
                    <a:lnB w="9525" cap="flat" cmpd="sng" algn="ctr">
                      <a:solidFill>
                        <a:srgbClr val="B07857"/>
                      </a:solidFill>
                      <a:prstDash val="solid"/>
                      <a:round/>
                      <a:headEnd type="none" w="med" len="med"/>
                      <a:tailEnd type="none" w="med" len="med"/>
                    </a:lnB>
                    <a:solidFill>
                      <a:schemeClr val="accent1"/>
                    </a:solidFill>
                  </a:tcPr>
                </a:tc>
                <a:tc>
                  <a:txBody>
                    <a:bodyPr/>
                    <a:lstStyle/>
                    <a:p>
                      <a:pPr latinLnBrk="1"/>
                      <a:r>
                        <a:rPr lang="en-US" dirty="0">
                          <a:solidFill>
                            <a:schemeClr val="bg1"/>
                          </a:solidFill>
                          <a:effectLst/>
                          <a:latin typeface="Sitka Text" pitchFamily="2" charset="0"/>
                        </a:rPr>
                        <a:t>R-CNN</a:t>
                      </a:r>
                    </a:p>
                  </a:txBody>
                  <a:tcPr marL="47625" marR="47625" marT="9525" marB="9525" anchor="ctr">
                    <a:lnL w="9525" cap="flat" cmpd="sng" algn="ctr">
                      <a:solidFill>
                        <a:srgbClr val="D06A57"/>
                      </a:solidFill>
                      <a:prstDash val="solid"/>
                      <a:round/>
                      <a:headEnd type="none" w="med" len="med"/>
                      <a:tailEnd type="none" w="med" len="med"/>
                    </a:lnL>
                    <a:lnR w="9525" cap="flat" cmpd="sng" algn="ctr">
                      <a:solidFill>
                        <a:srgbClr val="F06E57"/>
                      </a:solidFill>
                      <a:prstDash val="solid"/>
                      <a:round/>
                      <a:headEnd type="none" w="med" len="med"/>
                      <a:tailEnd type="none" w="med" len="med"/>
                    </a:lnR>
                    <a:lnT w="9525" cap="flat" cmpd="sng" algn="ctr">
                      <a:solidFill>
                        <a:srgbClr val="306857"/>
                      </a:solidFill>
                      <a:prstDash val="solid"/>
                      <a:round/>
                      <a:headEnd type="none" w="med" len="med"/>
                      <a:tailEnd type="none" w="med" len="med"/>
                    </a:lnT>
                    <a:lnB w="9525" cap="flat" cmpd="sng" algn="ctr">
                      <a:solidFill>
                        <a:srgbClr val="B07257"/>
                      </a:solidFill>
                      <a:prstDash val="solid"/>
                      <a:round/>
                      <a:headEnd type="none" w="med" len="med"/>
                      <a:tailEnd type="none" w="med" len="med"/>
                    </a:lnB>
                    <a:solidFill>
                      <a:schemeClr val="accent1"/>
                    </a:solidFill>
                  </a:tcPr>
                </a:tc>
                <a:tc>
                  <a:txBody>
                    <a:bodyPr/>
                    <a:lstStyle/>
                    <a:p>
                      <a:pPr latinLnBrk="1"/>
                      <a:r>
                        <a:rPr lang="en-US" dirty="0">
                          <a:solidFill>
                            <a:schemeClr val="bg1"/>
                          </a:solidFill>
                          <a:effectLst/>
                          <a:latin typeface="Sitka Text" pitchFamily="2" charset="0"/>
                        </a:rPr>
                        <a:t>Fast R-CNN</a:t>
                      </a:r>
                    </a:p>
                  </a:txBody>
                  <a:tcPr marL="47625" marR="47625" marT="9525" marB="9525" anchor="ctr">
                    <a:lnL w="9525" cap="flat" cmpd="sng" algn="ctr">
                      <a:solidFill>
                        <a:srgbClr val="F06E57"/>
                      </a:solidFill>
                      <a:prstDash val="solid"/>
                      <a:round/>
                      <a:headEnd type="none" w="med" len="med"/>
                      <a:tailEnd type="none" w="med" len="med"/>
                    </a:lnL>
                    <a:lnR w="9525" cap="flat" cmpd="sng" algn="ctr">
                      <a:solidFill>
                        <a:srgbClr val="106D57"/>
                      </a:solidFill>
                      <a:prstDash val="solid"/>
                      <a:round/>
                      <a:headEnd type="none" w="med" len="med"/>
                      <a:tailEnd type="none" w="med" len="med"/>
                    </a:lnR>
                    <a:lnT w="9525" cap="flat" cmpd="sng" algn="ctr">
                      <a:solidFill>
                        <a:srgbClr val="D07357"/>
                      </a:solidFill>
                      <a:prstDash val="solid"/>
                      <a:round/>
                      <a:headEnd type="none" w="med" len="med"/>
                      <a:tailEnd type="none" w="med" len="med"/>
                    </a:lnT>
                    <a:lnB w="9525" cap="flat" cmpd="sng" algn="ctr">
                      <a:solidFill>
                        <a:srgbClr val="907157"/>
                      </a:solidFill>
                      <a:prstDash val="solid"/>
                      <a:round/>
                      <a:headEnd type="none" w="med" len="med"/>
                      <a:tailEnd type="none" w="med" len="med"/>
                    </a:lnB>
                    <a:solidFill>
                      <a:schemeClr val="accent1"/>
                    </a:solidFill>
                  </a:tcPr>
                </a:tc>
                <a:tc>
                  <a:txBody>
                    <a:bodyPr/>
                    <a:lstStyle/>
                    <a:p>
                      <a:pPr latinLnBrk="1"/>
                      <a:r>
                        <a:rPr lang="en-US" dirty="0">
                          <a:solidFill>
                            <a:schemeClr val="bg1"/>
                          </a:solidFill>
                          <a:effectLst/>
                          <a:latin typeface="Sitka Text" pitchFamily="2" charset="0"/>
                        </a:rPr>
                        <a:t>Faster R-CNN</a:t>
                      </a:r>
                    </a:p>
                  </a:txBody>
                  <a:tcPr marL="47625" marR="47625" marT="9525" marB="9525" anchor="ctr">
                    <a:lnL w="9525" cap="flat" cmpd="sng" algn="ctr">
                      <a:solidFill>
                        <a:srgbClr val="106D57"/>
                      </a:solidFill>
                      <a:prstDash val="solid"/>
                      <a:round/>
                      <a:headEnd type="none" w="med" len="med"/>
                      <a:tailEnd type="none" w="med" len="med"/>
                    </a:lnL>
                    <a:lnR w="9525" cap="flat" cmpd="sng" algn="ctr">
                      <a:solidFill>
                        <a:srgbClr val="306B57"/>
                      </a:solidFill>
                      <a:prstDash val="solid"/>
                      <a:round/>
                      <a:headEnd type="none" w="med" len="med"/>
                      <a:tailEnd type="none" w="med" len="med"/>
                    </a:lnR>
                    <a:lnT w="9525" cap="flat" cmpd="sng" algn="ctr">
                      <a:solidFill>
                        <a:srgbClr val="D06A57"/>
                      </a:solidFill>
                      <a:prstDash val="solid"/>
                      <a:round/>
                      <a:headEnd type="none" w="med" len="med"/>
                      <a:tailEnd type="none" w="med" len="med"/>
                    </a:lnT>
                    <a:lnB w="9525" cap="flat" cmpd="sng" algn="ctr">
                      <a:solidFill>
                        <a:srgbClr val="106D57"/>
                      </a:solidFill>
                      <a:prstDash val="solid"/>
                      <a:round/>
                      <a:headEnd type="none" w="med" len="med"/>
                      <a:tailEnd type="none" w="med" len="med"/>
                    </a:lnB>
                    <a:solidFill>
                      <a:schemeClr val="accent1"/>
                    </a:solidFill>
                  </a:tcPr>
                </a:tc>
                <a:extLst>
                  <a:ext uri="{0D108BD9-81ED-4DB2-BD59-A6C34878D82A}">
                    <a16:rowId xmlns:a16="http://schemas.microsoft.com/office/drawing/2014/main" val="138792545"/>
                  </a:ext>
                </a:extLst>
              </a:tr>
              <a:tr h="0">
                <a:tc>
                  <a:txBody>
                    <a:bodyPr/>
                    <a:lstStyle/>
                    <a:p>
                      <a:pPr latinLnBrk="1"/>
                      <a:r>
                        <a:rPr lang="en-US" b="1" dirty="0">
                          <a:effectLst/>
                          <a:latin typeface="Sitka Text" pitchFamily="2" charset="0"/>
                        </a:rPr>
                        <a:t>Region Proposals</a:t>
                      </a:r>
                      <a:endParaRPr lang="en-US" dirty="0">
                        <a:effectLst/>
                        <a:latin typeface="Sitka Text" pitchFamily="2" charset="0"/>
                      </a:endParaRPr>
                    </a:p>
                  </a:txBody>
                  <a:tcPr marL="47625" marR="47625" marT="9525" marB="9525" anchor="ctr">
                    <a:lnL w="9525" cap="flat" cmpd="sng" algn="ctr">
                      <a:solidFill>
                        <a:srgbClr val="D06A57"/>
                      </a:solidFill>
                      <a:prstDash val="solid"/>
                      <a:round/>
                      <a:headEnd type="none" w="med" len="med"/>
                      <a:tailEnd type="none" w="med" len="med"/>
                    </a:lnL>
                    <a:lnR w="9525" cap="flat" cmpd="sng" algn="ctr">
                      <a:solidFill>
                        <a:srgbClr val="106D57"/>
                      </a:solidFill>
                      <a:prstDash val="solid"/>
                      <a:round/>
                      <a:headEnd type="none" w="med" len="med"/>
                      <a:tailEnd type="none" w="med" len="med"/>
                    </a:lnR>
                    <a:lnT w="9525" cap="flat" cmpd="sng" algn="ctr">
                      <a:solidFill>
                        <a:srgbClr val="B07857"/>
                      </a:solidFill>
                      <a:prstDash val="solid"/>
                      <a:round/>
                      <a:headEnd type="none" w="med" len="med"/>
                      <a:tailEnd type="none" w="med" len="med"/>
                    </a:lnT>
                    <a:lnB w="9525" cap="flat" cmpd="sng" algn="ctr">
                      <a:solidFill>
                        <a:srgbClr val="F06E57"/>
                      </a:solidFill>
                      <a:prstDash val="solid"/>
                      <a:round/>
                      <a:headEnd type="none" w="med" len="med"/>
                      <a:tailEnd type="none" w="med" len="med"/>
                    </a:lnB>
                    <a:solidFill>
                      <a:schemeClr val="accent1">
                        <a:lumMod val="20000"/>
                        <a:lumOff val="80000"/>
                      </a:schemeClr>
                    </a:solidFill>
                  </a:tcPr>
                </a:tc>
                <a:tc>
                  <a:txBody>
                    <a:bodyPr/>
                    <a:lstStyle/>
                    <a:p>
                      <a:pPr latinLnBrk="1"/>
                      <a:r>
                        <a:rPr lang="en-US" dirty="0">
                          <a:effectLst/>
                          <a:latin typeface="Sitka Text" pitchFamily="2" charset="0"/>
                        </a:rPr>
                        <a:t>Selective Search</a:t>
                      </a:r>
                    </a:p>
                  </a:txBody>
                  <a:tcPr marL="47625" marR="47625" marT="9525" marB="9525" anchor="ctr">
                    <a:lnL w="9525" cap="flat" cmpd="sng" algn="ctr">
                      <a:solidFill>
                        <a:srgbClr val="106D57"/>
                      </a:solidFill>
                      <a:prstDash val="solid"/>
                      <a:round/>
                      <a:headEnd type="none" w="med" len="med"/>
                      <a:tailEnd type="none" w="med" len="med"/>
                    </a:lnL>
                    <a:lnR w="9525" cap="flat" cmpd="sng" algn="ctr">
                      <a:solidFill>
                        <a:srgbClr val="F07157"/>
                      </a:solidFill>
                      <a:prstDash val="solid"/>
                      <a:round/>
                      <a:headEnd type="none" w="med" len="med"/>
                      <a:tailEnd type="none" w="med" len="med"/>
                    </a:lnR>
                    <a:lnT w="9525" cap="flat" cmpd="sng" algn="ctr">
                      <a:solidFill>
                        <a:srgbClr val="B07257"/>
                      </a:solidFill>
                      <a:prstDash val="solid"/>
                      <a:round/>
                      <a:headEnd type="none" w="med" len="med"/>
                      <a:tailEnd type="none" w="med" len="med"/>
                    </a:lnT>
                    <a:lnB w="9525" cap="flat" cmpd="sng" algn="ctr">
                      <a:solidFill>
                        <a:srgbClr val="D06D57"/>
                      </a:solidFill>
                      <a:prstDash val="solid"/>
                      <a:round/>
                      <a:headEnd type="none" w="med" len="med"/>
                      <a:tailEnd type="none" w="med" len="med"/>
                    </a:lnB>
                    <a:solidFill>
                      <a:schemeClr val="accent1">
                        <a:lumMod val="20000"/>
                        <a:lumOff val="80000"/>
                      </a:schemeClr>
                    </a:solidFill>
                  </a:tcPr>
                </a:tc>
                <a:tc>
                  <a:txBody>
                    <a:bodyPr/>
                    <a:lstStyle/>
                    <a:p>
                      <a:pPr latinLnBrk="1"/>
                      <a:r>
                        <a:rPr lang="en-US" dirty="0">
                          <a:effectLst/>
                          <a:latin typeface="Sitka Text" pitchFamily="2" charset="0"/>
                        </a:rPr>
                        <a:t>Selective Search</a:t>
                      </a:r>
                    </a:p>
                  </a:txBody>
                  <a:tcPr marL="47625" marR="47625" marT="9525" marB="9525" anchor="ctr">
                    <a:lnL w="9525" cap="flat" cmpd="sng" algn="ctr">
                      <a:solidFill>
                        <a:srgbClr val="F07157"/>
                      </a:solidFill>
                      <a:prstDash val="solid"/>
                      <a:round/>
                      <a:headEnd type="none" w="med" len="med"/>
                      <a:tailEnd type="none" w="med" len="med"/>
                    </a:lnL>
                    <a:lnR w="9525" cap="flat" cmpd="sng" algn="ctr">
                      <a:solidFill>
                        <a:srgbClr val="107657"/>
                      </a:solidFill>
                      <a:prstDash val="solid"/>
                      <a:round/>
                      <a:headEnd type="none" w="med" len="med"/>
                      <a:tailEnd type="none" w="med" len="med"/>
                    </a:lnR>
                    <a:lnT w="9525" cap="flat" cmpd="sng" algn="ctr">
                      <a:solidFill>
                        <a:srgbClr val="907157"/>
                      </a:solidFill>
                      <a:prstDash val="solid"/>
                      <a:round/>
                      <a:headEnd type="none" w="med" len="med"/>
                      <a:tailEnd type="none" w="med" len="med"/>
                    </a:lnT>
                    <a:lnB w="9525" cap="flat" cmpd="sng" algn="ctr">
                      <a:solidFill>
                        <a:srgbClr val="306B57"/>
                      </a:solidFill>
                      <a:prstDash val="solid"/>
                      <a:round/>
                      <a:headEnd type="none" w="med" len="med"/>
                      <a:tailEnd type="none" w="med" len="med"/>
                    </a:lnB>
                    <a:solidFill>
                      <a:schemeClr val="accent1">
                        <a:lumMod val="20000"/>
                        <a:lumOff val="80000"/>
                      </a:schemeClr>
                    </a:solidFill>
                  </a:tcPr>
                </a:tc>
                <a:tc>
                  <a:txBody>
                    <a:bodyPr/>
                    <a:lstStyle/>
                    <a:p>
                      <a:pPr latinLnBrk="1"/>
                      <a:r>
                        <a:rPr lang="en-US" dirty="0">
                          <a:effectLst/>
                          <a:latin typeface="Sitka Text" pitchFamily="2" charset="0"/>
                        </a:rPr>
                        <a:t>Region Proposal </a:t>
                      </a:r>
                      <a:r>
                        <a:rPr lang="en-US" dirty="0" smtClean="0">
                          <a:effectLst/>
                          <a:latin typeface="Sitka Text" pitchFamily="2" charset="0"/>
                        </a:rPr>
                        <a:t>Network</a:t>
                      </a:r>
                      <a:endParaRPr lang="en-US" dirty="0">
                        <a:effectLst/>
                        <a:latin typeface="Sitka Text" pitchFamily="2" charset="0"/>
                      </a:endParaRPr>
                    </a:p>
                  </a:txBody>
                  <a:tcPr marL="47625" marR="47625" marT="9525" marB="9525" anchor="ctr">
                    <a:lnL w="9525" cap="flat" cmpd="sng" algn="ctr">
                      <a:solidFill>
                        <a:srgbClr val="107657"/>
                      </a:solidFill>
                      <a:prstDash val="solid"/>
                      <a:round/>
                      <a:headEnd type="none" w="med" len="med"/>
                      <a:tailEnd type="none" w="med" len="med"/>
                    </a:lnL>
                    <a:lnR w="9525" cap="flat" cmpd="sng" algn="ctr">
                      <a:solidFill>
                        <a:srgbClr val="D06A57"/>
                      </a:solidFill>
                      <a:prstDash val="solid"/>
                      <a:round/>
                      <a:headEnd type="none" w="med" len="med"/>
                      <a:tailEnd type="none" w="med" len="med"/>
                    </a:lnR>
                    <a:lnT w="9525" cap="flat" cmpd="sng" algn="ctr">
                      <a:solidFill>
                        <a:srgbClr val="106D57"/>
                      </a:solidFill>
                      <a:prstDash val="solid"/>
                      <a:round/>
                      <a:headEnd type="none" w="med" len="med"/>
                      <a:tailEnd type="none" w="med" len="med"/>
                    </a:lnT>
                    <a:lnB w="9525" cap="flat" cmpd="sng" algn="ctr">
                      <a:solidFill>
                        <a:srgbClr val="F06B57"/>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70940654"/>
                  </a:ext>
                </a:extLst>
              </a:tr>
              <a:tr h="0">
                <a:tc>
                  <a:txBody>
                    <a:bodyPr/>
                    <a:lstStyle/>
                    <a:p>
                      <a:pPr latinLnBrk="1"/>
                      <a:r>
                        <a:rPr lang="en-US" b="1" dirty="0">
                          <a:effectLst/>
                          <a:latin typeface="Sitka Text" pitchFamily="2" charset="0"/>
                        </a:rPr>
                        <a:t>Feature </a:t>
                      </a:r>
                      <a:r>
                        <a:rPr lang="en-US" b="1" dirty="0" smtClean="0">
                          <a:effectLst/>
                          <a:latin typeface="Sitka Text" pitchFamily="2" charset="0"/>
                        </a:rPr>
                        <a:t>Sharing</a:t>
                      </a:r>
                      <a:endParaRPr lang="en-US" dirty="0">
                        <a:effectLst/>
                        <a:latin typeface="Sitka Text" pitchFamily="2" charset="0"/>
                      </a:endParaRPr>
                    </a:p>
                  </a:txBody>
                  <a:tcPr marL="47625" marR="47625" marT="9525" marB="9525" anchor="ctr">
                    <a:lnL w="9525" cap="flat" cmpd="sng" algn="ctr">
                      <a:solidFill>
                        <a:srgbClr val="306857"/>
                      </a:solidFill>
                      <a:prstDash val="solid"/>
                      <a:round/>
                      <a:headEnd type="none" w="med" len="med"/>
                      <a:tailEnd type="none" w="med" len="med"/>
                    </a:lnL>
                    <a:lnR w="9525" cap="flat" cmpd="sng" algn="ctr">
                      <a:solidFill>
                        <a:srgbClr val="F06B57"/>
                      </a:solidFill>
                      <a:prstDash val="solid"/>
                      <a:round/>
                      <a:headEnd type="none" w="med" len="med"/>
                      <a:tailEnd type="none" w="med" len="med"/>
                    </a:lnR>
                    <a:lnT w="9525" cap="flat" cmpd="sng" algn="ctr">
                      <a:solidFill>
                        <a:srgbClr val="F06E57"/>
                      </a:solidFill>
                      <a:prstDash val="solid"/>
                      <a:round/>
                      <a:headEnd type="none" w="med" len="med"/>
                      <a:tailEnd type="none" w="med" len="med"/>
                    </a:lnT>
                    <a:lnB w="9525" cap="flat" cmpd="sng" algn="ctr">
                      <a:solidFill>
                        <a:srgbClr val="B07857"/>
                      </a:solidFill>
                      <a:prstDash val="solid"/>
                      <a:round/>
                      <a:headEnd type="none" w="med" len="med"/>
                      <a:tailEnd type="none" w="med" len="med"/>
                    </a:lnB>
                    <a:solidFill>
                      <a:schemeClr val="accent1">
                        <a:lumMod val="20000"/>
                        <a:lumOff val="80000"/>
                      </a:schemeClr>
                    </a:solidFill>
                  </a:tcPr>
                </a:tc>
                <a:tc>
                  <a:txBody>
                    <a:bodyPr/>
                    <a:lstStyle/>
                    <a:p>
                      <a:pPr latinLnBrk="1"/>
                      <a:r>
                        <a:rPr lang="en-US" dirty="0" smtClean="0">
                          <a:effectLst/>
                          <a:latin typeface="Sitka Text" pitchFamily="2" charset="0"/>
                        </a:rPr>
                        <a:t>No</a:t>
                      </a:r>
                      <a:endParaRPr lang="en-US" dirty="0">
                        <a:effectLst/>
                        <a:latin typeface="Sitka Text" pitchFamily="2" charset="0"/>
                      </a:endParaRPr>
                    </a:p>
                  </a:txBody>
                  <a:tcPr marL="47625" marR="47625" marT="9525" marB="9525" anchor="ctr">
                    <a:lnL w="9525" cap="flat" cmpd="sng" algn="ctr">
                      <a:solidFill>
                        <a:srgbClr val="F06B57"/>
                      </a:solidFill>
                      <a:prstDash val="solid"/>
                      <a:round/>
                      <a:headEnd type="none" w="med" len="med"/>
                      <a:tailEnd type="none" w="med" len="med"/>
                    </a:lnL>
                    <a:lnR w="9525" cap="flat" cmpd="sng" algn="ctr">
                      <a:solidFill>
                        <a:srgbClr val="F06B57"/>
                      </a:solidFill>
                      <a:prstDash val="solid"/>
                      <a:round/>
                      <a:headEnd type="none" w="med" len="med"/>
                      <a:tailEnd type="none" w="med" len="med"/>
                    </a:lnR>
                    <a:lnT w="9525" cap="flat" cmpd="sng" algn="ctr">
                      <a:solidFill>
                        <a:srgbClr val="D06D57"/>
                      </a:solidFill>
                      <a:prstDash val="solid"/>
                      <a:round/>
                      <a:headEnd type="none" w="med" len="med"/>
                      <a:tailEnd type="none" w="med" len="med"/>
                    </a:lnT>
                    <a:lnB w="9525" cap="flat" cmpd="sng" algn="ctr">
                      <a:solidFill>
                        <a:srgbClr val="F06E57"/>
                      </a:solidFill>
                      <a:prstDash val="solid"/>
                      <a:round/>
                      <a:headEnd type="none" w="med" len="med"/>
                      <a:tailEnd type="none" w="med" len="med"/>
                    </a:lnB>
                    <a:solidFill>
                      <a:schemeClr val="accent1">
                        <a:lumMod val="20000"/>
                        <a:lumOff val="80000"/>
                      </a:schemeClr>
                    </a:solidFill>
                  </a:tcPr>
                </a:tc>
                <a:tc>
                  <a:txBody>
                    <a:bodyPr/>
                    <a:lstStyle/>
                    <a:p>
                      <a:pPr latinLnBrk="1"/>
                      <a:r>
                        <a:rPr lang="en-US" dirty="0">
                          <a:effectLst/>
                          <a:latin typeface="Sitka Text" pitchFamily="2" charset="0"/>
                        </a:rPr>
                        <a:t>Shared for the entire image</a:t>
                      </a:r>
                    </a:p>
                  </a:txBody>
                  <a:tcPr marL="47625" marR="47625" marT="9525" marB="9525" anchor="ctr">
                    <a:lnL w="9525" cap="flat" cmpd="sng" algn="ctr">
                      <a:solidFill>
                        <a:srgbClr val="F06B57"/>
                      </a:solidFill>
                      <a:prstDash val="solid"/>
                      <a:round/>
                      <a:headEnd type="none" w="med" len="med"/>
                      <a:tailEnd type="none" w="med" len="med"/>
                    </a:lnL>
                    <a:lnR w="9525" cap="flat" cmpd="sng" algn="ctr">
                      <a:solidFill>
                        <a:srgbClr val="306857"/>
                      </a:solidFill>
                      <a:prstDash val="solid"/>
                      <a:round/>
                      <a:headEnd type="none" w="med" len="med"/>
                      <a:tailEnd type="none" w="med" len="med"/>
                    </a:lnR>
                    <a:lnT w="9525" cap="flat" cmpd="sng" algn="ctr">
                      <a:solidFill>
                        <a:srgbClr val="306B57"/>
                      </a:solidFill>
                      <a:prstDash val="solid"/>
                      <a:round/>
                      <a:headEnd type="none" w="med" len="med"/>
                      <a:tailEnd type="none" w="med" len="med"/>
                    </a:lnT>
                    <a:lnB w="9525" cap="flat" cmpd="sng" algn="ctr">
                      <a:solidFill>
                        <a:srgbClr val="F06B57"/>
                      </a:solidFill>
                      <a:prstDash val="solid"/>
                      <a:round/>
                      <a:headEnd type="none" w="med" len="med"/>
                      <a:tailEnd type="none" w="med" len="med"/>
                    </a:lnB>
                    <a:solidFill>
                      <a:schemeClr val="accent1">
                        <a:lumMod val="20000"/>
                        <a:lumOff val="80000"/>
                      </a:schemeClr>
                    </a:solidFill>
                  </a:tcPr>
                </a:tc>
                <a:tc>
                  <a:txBody>
                    <a:bodyPr/>
                    <a:lstStyle/>
                    <a:p>
                      <a:pPr latinLnBrk="1"/>
                      <a:r>
                        <a:rPr lang="en-US" dirty="0">
                          <a:effectLst/>
                          <a:latin typeface="Sitka Text" pitchFamily="2" charset="0"/>
                        </a:rPr>
                        <a:t>Shared for the entire image</a:t>
                      </a:r>
                    </a:p>
                  </a:txBody>
                  <a:tcPr marL="47625" marR="47625" marT="9525" marB="9525" anchor="ctr">
                    <a:lnL w="9525" cap="flat" cmpd="sng" algn="ctr">
                      <a:solidFill>
                        <a:srgbClr val="306857"/>
                      </a:solidFill>
                      <a:prstDash val="solid"/>
                      <a:round/>
                      <a:headEnd type="none" w="med" len="med"/>
                      <a:tailEnd type="none" w="med" len="med"/>
                    </a:lnL>
                    <a:lnR w="9525" cap="flat" cmpd="sng" algn="ctr">
                      <a:solidFill>
                        <a:srgbClr val="F07157"/>
                      </a:solidFill>
                      <a:prstDash val="solid"/>
                      <a:round/>
                      <a:headEnd type="none" w="med" len="med"/>
                      <a:tailEnd type="none" w="med" len="med"/>
                    </a:lnR>
                    <a:lnT w="9525" cap="flat" cmpd="sng" algn="ctr">
                      <a:solidFill>
                        <a:srgbClr val="F06B57"/>
                      </a:solidFill>
                      <a:prstDash val="solid"/>
                      <a:round/>
                      <a:headEnd type="none" w="med" len="med"/>
                      <a:tailEnd type="none" w="med" len="med"/>
                    </a:lnT>
                    <a:lnB w="9525" cap="flat" cmpd="sng" algn="ctr">
                      <a:solidFill>
                        <a:srgbClr val="F06857"/>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8079453"/>
                  </a:ext>
                </a:extLst>
              </a:tr>
              <a:tr h="0">
                <a:tc>
                  <a:txBody>
                    <a:bodyPr/>
                    <a:lstStyle/>
                    <a:p>
                      <a:pPr latinLnBrk="1"/>
                      <a:r>
                        <a:rPr lang="en-US" b="1" dirty="0">
                          <a:effectLst/>
                          <a:latin typeface="Sitka Text" pitchFamily="2" charset="0"/>
                        </a:rPr>
                        <a:t>Classification</a:t>
                      </a:r>
                      <a:endParaRPr lang="en-US" dirty="0">
                        <a:effectLst/>
                        <a:latin typeface="Sitka Text" pitchFamily="2" charset="0"/>
                      </a:endParaRPr>
                    </a:p>
                  </a:txBody>
                  <a:tcPr marL="47625" marR="47625" marT="9525" marB="9525" anchor="ctr">
                    <a:lnL w="9525" cap="flat" cmpd="sng" algn="ctr">
                      <a:solidFill>
                        <a:srgbClr val="106D57"/>
                      </a:solidFill>
                      <a:prstDash val="solid"/>
                      <a:round/>
                      <a:headEnd type="none" w="med" len="med"/>
                      <a:tailEnd type="none" w="med" len="med"/>
                    </a:lnL>
                    <a:lnR w="9525" cap="flat" cmpd="sng" algn="ctr">
                      <a:solidFill>
                        <a:srgbClr val="F06B57"/>
                      </a:solidFill>
                      <a:prstDash val="solid"/>
                      <a:round/>
                      <a:headEnd type="none" w="med" len="med"/>
                      <a:tailEnd type="none" w="med" len="med"/>
                    </a:lnR>
                    <a:lnT w="9525" cap="flat" cmpd="sng" algn="ctr">
                      <a:solidFill>
                        <a:srgbClr val="B07857"/>
                      </a:solidFill>
                      <a:prstDash val="solid"/>
                      <a:round/>
                      <a:headEnd type="none" w="med" len="med"/>
                      <a:tailEnd type="none" w="med" len="med"/>
                    </a:lnT>
                    <a:lnB w="9525" cap="flat" cmpd="sng" algn="ctr">
                      <a:solidFill>
                        <a:srgbClr val="707657"/>
                      </a:solidFill>
                      <a:prstDash val="solid"/>
                      <a:round/>
                      <a:headEnd type="none" w="med" len="med"/>
                      <a:tailEnd type="none" w="med" len="med"/>
                    </a:lnB>
                    <a:solidFill>
                      <a:schemeClr val="accent1">
                        <a:lumMod val="20000"/>
                        <a:lumOff val="80000"/>
                      </a:schemeClr>
                    </a:solidFill>
                  </a:tcPr>
                </a:tc>
                <a:tc>
                  <a:txBody>
                    <a:bodyPr/>
                    <a:lstStyle/>
                    <a:p>
                      <a:pPr latinLnBrk="1"/>
                      <a:r>
                        <a:rPr lang="en-US" dirty="0">
                          <a:effectLst/>
                          <a:latin typeface="Sitka Text" pitchFamily="2" charset="0"/>
                        </a:rPr>
                        <a:t>SVMs</a:t>
                      </a:r>
                    </a:p>
                  </a:txBody>
                  <a:tcPr marL="47625" marR="47625" marT="9525" marB="9525" anchor="ctr">
                    <a:lnL w="9525" cap="flat" cmpd="sng" algn="ctr">
                      <a:solidFill>
                        <a:srgbClr val="F06B57"/>
                      </a:solidFill>
                      <a:prstDash val="solid"/>
                      <a:round/>
                      <a:headEnd type="none" w="med" len="med"/>
                      <a:tailEnd type="none" w="med" len="med"/>
                    </a:lnL>
                    <a:lnR w="9525" cap="flat" cmpd="sng" algn="ctr">
                      <a:solidFill>
                        <a:srgbClr val="F07157"/>
                      </a:solidFill>
                      <a:prstDash val="solid"/>
                      <a:round/>
                      <a:headEnd type="none" w="med" len="med"/>
                      <a:tailEnd type="none" w="med" len="med"/>
                    </a:lnR>
                    <a:lnT w="9525" cap="flat" cmpd="sng" algn="ctr">
                      <a:solidFill>
                        <a:srgbClr val="F06E57"/>
                      </a:solidFill>
                      <a:prstDash val="solid"/>
                      <a:round/>
                      <a:headEnd type="none" w="med" len="med"/>
                      <a:tailEnd type="none" w="med" len="med"/>
                    </a:lnT>
                    <a:lnB w="9525" cap="flat" cmpd="sng" algn="ctr">
                      <a:solidFill>
                        <a:srgbClr val="306857"/>
                      </a:solidFill>
                      <a:prstDash val="solid"/>
                      <a:round/>
                      <a:headEnd type="none" w="med" len="med"/>
                      <a:tailEnd type="none" w="med" len="med"/>
                    </a:lnB>
                    <a:solidFill>
                      <a:schemeClr val="accent1">
                        <a:lumMod val="20000"/>
                        <a:lumOff val="80000"/>
                      </a:schemeClr>
                    </a:solidFill>
                  </a:tcPr>
                </a:tc>
                <a:tc>
                  <a:txBody>
                    <a:bodyPr/>
                    <a:lstStyle/>
                    <a:p>
                      <a:pPr latinLnBrk="1"/>
                      <a:r>
                        <a:rPr lang="en-US" sz="1800" b="0" i="0" kern="1200" dirty="0" smtClean="0">
                          <a:solidFill>
                            <a:schemeClr val="tx1"/>
                          </a:solidFill>
                          <a:effectLst/>
                          <a:latin typeface="Sitka Text" pitchFamily="2" charset="0"/>
                          <a:ea typeface="+mn-ea"/>
                          <a:cs typeface="+mn-cs"/>
                        </a:rPr>
                        <a:t>Integrated into the network</a:t>
                      </a:r>
                      <a:endParaRPr lang="en-US" sz="1800" dirty="0">
                        <a:effectLst/>
                        <a:latin typeface="Sitka Text" pitchFamily="2" charset="0"/>
                      </a:endParaRPr>
                    </a:p>
                  </a:txBody>
                  <a:tcPr marL="47625" marR="47625" marT="9525" marB="9525" anchor="ctr">
                    <a:lnL w="9525" cap="flat" cmpd="sng" algn="ctr">
                      <a:solidFill>
                        <a:srgbClr val="F07157"/>
                      </a:solidFill>
                      <a:prstDash val="solid"/>
                      <a:round/>
                      <a:headEnd type="none" w="med" len="med"/>
                      <a:tailEnd type="none" w="med" len="med"/>
                    </a:lnL>
                    <a:lnR w="9525" cap="flat" cmpd="sng" algn="ctr">
                      <a:solidFill>
                        <a:srgbClr val="D07357"/>
                      </a:solidFill>
                      <a:prstDash val="solid"/>
                      <a:round/>
                      <a:headEnd type="none" w="med" len="med"/>
                      <a:tailEnd type="none" w="med" len="med"/>
                    </a:lnR>
                    <a:lnT w="9525" cap="flat" cmpd="sng" algn="ctr">
                      <a:solidFill>
                        <a:srgbClr val="F06B57"/>
                      </a:solidFill>
                      <a:prstDash val="solid"/>
                      <a:round/>
                      <a:headEnd type="none" w="med" len="med"/>
                      <a:tailEnd type="none" w="med" len="med"/>
                    </a:lnT>
                    <a:lnB w="9525" cap="flat" cmpd="sng" algn="ctr">
                      <a:solidFill>
                        <a:srgbClr val="F06E57"/>
                      </a:solidFill>
                      <a:prstDash val="solid"/>
                      <a:round/>
                      <a:headEnd type="none" w="med" len="med"/>
                      <a:tailEnd type="none" w="med" len="med"/>
                    </a:lnB>
                    <a:solidFill>
                      <a:schemeClr val="accent1">
                        <a:lumMod val="20000"/>
                        <a:lumOff val="80000"/>
                      </a:schemeClr>
                    </a:solidFill>
                  </a:tcPr>
                </a:tc>
                <a:tc>
                  <a:txBody>
                    <a:bodyPr/>
                    <a:lstStyle/>
                    <a:p>
                      <a:pPr latinLnBrk="1"/>
                      <a:r>
                        <a:rPr lang="en-US" sz="1800" b="0" i="0" kern="1200" dirty="0" smtClean="0">
                          <a:solidFill>
                            <a:schemeClr val="tx1"/>
                          </a:solidFill>
                          <a:effectLst/>
                          <a:latin typeface="Sitka Text" pitchFamily="2" charset="0"/>
                          <a:ea typeface="+mn-ea"/>
                          <a:cs typeface="+mn-cs"/>
                        </a:rPr>
                        <a:t>Integrated into the network</a:t>
                      </a:r>
                      <a:endParaRPr lang="en-US" sz="1800" dirty="0">
                        <a:effectLst/>
                        <a:latin typeface="Sitka Text" pitchFamily="2" charset="0"/>
                      </a:endParaRPr>
                    </a:p>
                  </a:txBody>
                  <a:tcPr marL="47625" marR="47625" marT="9525" marB="9525" anchor="ctr">
                    <a:lnL w="9525" cap="flat" cmpd="sng" algn="ctr">
                      <a:solidFill>
                        <a:srgbClr val="D07357"/>
                      </a:solidFill>
                      <a:prstDash val="solid"/>
                      <a:round/>
                      <a:headEnd type="none" w="med" len="med"/>
                      <a:tailEnd type="none" w="med" len="med"/>
                    </a:lnL>
                    <a:lnR w="9525" cap="flat" cmpd="sng" algn="ctr">
                      <a:solidFill>
                        <a:srgbClr val="F06B57"/>
                      </a:solidFill>
                      <a:prstDash val="solid"/>
                      <a:round/>
                      <a:headEnd type="none" w="med" len="med"/>
                      <a:tailEnd type="none" w="med" len="med"/>
                    </a:lnR>
                    <a:lnT w="9525" cap="flat" cmpd="sng" algn="ctr">
                      <a:solidFill>
                        <a:srgbClr val="F06857"/>
                      </a:solidFill>
                      <a:prstDash val="solid"/>
                      <a:round/>
                      <a:headEnd type="none" w="med" len="med"/>
                      <a:tailEnd type="none" w="med" len="med"/>
                    </a:lnT>
                    <a:lnB w="9525" cap="flat" cmpd="sng" algn="ctr">
                      <a:solidFill>
                        <a:srgbClr val="907157"/>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86980951"/>
                  </a:ext>
                </a:extLst>
              </a:tr>
              <a:tr h="0">
                <a:tc>
                  <a:txBody>
                    <a:bodyPr/>
                    <a:lstStyle/>
                    <a:p>
                      <a:pPr latinLnBrk="1"/>
                      <a:r>
                        <a:rPr lang="en-US" b="1" dirty="0">
                          <a:effectLst/>
                          <a:latin typeface="Sitka Text" pitchFamily="2" charset="0"/>
                        </a:rPr>
                        <a:t>Bounding Box Regression</a:t>
                      </a:r>
                      <a:endParaRPr lang="en-US" dirty="0">
                        <a:effectLst/>
                        <a:latin typeface="Sitka Text" pitchFamily="2" charset="0"/>
                      </a:endParaRPr>
                    </a:p>
                  </a:txBody>
                  <a:tcPr marL="47625" marR="47625" marT="9525" marB="9525" anchor="ctr">
                    <a:lnL w="9525" cap="flat" cmpd="sng" algn="ctr">
                      <a:solidFill>
                        <a:srgbClr val="306B57"/>
                      </a:solidFill>
                      <a:prstDash val="solid"/>
                      <a:round/>
                      <a:headEnd type="none" w="med" len="med"/>
                      <a:tailEnd type="none" w="med" len="med"/>
                    </a:lnL>
                    <a:lnR w="9525" cap="flat" cmpd="sng" algn="ctr">
                      <a:solidFill>
                        <a:srgbClr val="F06857"/>
                      </a:solidFill>
                      <a:prstDash val="solid"/>
                      <a:round/>
                      <a:headEnd type="none" w="med" len="med"/>
                      <a:tailEnd type="none" w="med" len="med"/>
                    </a:lnR>
                    <a:lnT w="9525" cap="flat" cmpd="sng" algn="ctr">
                      <a:solidFill>
                        <a:srgbClr val="707657"/>
                      </a:solidFill>
                      <a:prstDash val="solid"/>
                      <a:round/>
                      <a:headEnd type="none" w="med" len="med"/>
                      <a:tailEnd type="none" w="med" len="med"/>
                    </a:lnT>
                    <a:lnB w="9525" cap="flat" cmpd="sng" algn="ctr">
                      <a:solidFill>
                        <a:srgbClr val="D06A57"/>
                      </a:solidFill>
                      <a:prstDash val="solid"/>
                      <a:round/>
                      <a:headEnd type="none" w="med" len="med"/>
                      <a:tailEnd type="none" w="med" len="med"/>
                    </a:lnB>
                    <a:solidFill>
                      <a:schemeClr val="accent1">
                        <a:lumMod val="20000"/>
                        <a:lumOff val="80000"/>
                      </a:schemeClr>
                    </a:solidFill>
                  </a:tcPr>
                </a:tc>
                <a:tc>
                  <a:txBody>
                    <a:bodyPr/>
                    <a:lstStyle/>
                    <a:p>
                      <a:pPr latinLnBrk="1"/>
                      <a:r>
                        <a:rPr lang="en-US">
                          <a:effectLst/>
                          <a:latin typeface="Sitka Text" pitchFamily="2" charset="0"/>
                        </a:rPr>
                        <a:t>Separate step</a:t>
                      </a:r>
                    </a:p>
                  </a:txBody>
                  <a:tcPr marL="47625" marR="47625" marT="9525" marB="9525" anchor="ctr">
                    <a:lnL w="9525" cap="flat" cmpd="sng" algn="ctr">
                      <a:solidFill>
                        <a:srgbClr val="F06857"/>
                      </a:solidFill>
                      <a:prstDash val="solid"/>
                      <a:round/>
                      <a:headEnd type="none" w="med" len="med"/>
                      <a:tailEnd type="none" w="med" len="med"/>
                    </a:lnL>
                    <a:lnR w="9525" cap="flat" cmpd="sng" algn="ctr">
                      <a:solidFill>
                        <a:srgbClr val="107357"/>
                      </a:solidFill>
                      <a:prstDash val="solid"/>
                      <a:round/>
                      <a:headEnd type="none" w="med" len="med"/>
                      <a:tailEnd type="none" w="med" len="med"/>
                    </a:lnR>
                    <a:lnT w="9525" cap="flat" cmpd="sng" algn="ctr">
                      <a:solidFill>
                        <a:srgbClr val="306857"/>
                      </a:solidFill>
                      <a:prstDash val="solid"/>
                      <a:round/>
                      <a:headEnd type="none" w="med" len="med"/>
                      <a:tailEnd type="none" w="med" len="med"/>
                    </a:lnT>
                    <a:lnB w="9525" cap="flat" cmpd="sng" algn="ctr">
                      <a:solidFill>
                        <a:srgbClr val="B07257"/>
                      </a:solidFill>
                      <a:prstDash val="solid"/>
                      <a:round/>
                      <a:headEnd type="none" w="med" len="med"/>
                      <a:tailEnd type="none" w="med" len="med"/>
                    </a:lnB>
                    <a:solidFill>
                      <a:schemeClr val="accent1">
                        <a:lumMod val="20000"/>
                        <a:lumOff val="80000"/>
                      </a:schemeClr>
                    </a:solidFill>
                  </a:tcPr>
                </a:tc>
                <a:tc>
                  <a:txBody>
                    <a:bodyPr/>
                    <a:lstStyle/>
                    <a:p>
                      <a:pPr latinLnBrk="1"/>
                      <a:r>
                        <a:rPr lang="en-US" sz="1800" b="0" i="0" kern="1200" dirty="0" smtClean="0">
                          <a:solidFill>
                            <a:schemeClr val="tx1"/>
                          </a:solidFill>
                          <a:effectLst/>
                          <a:latin typeface="Sitka Text" pitchFamily="2" charset="0"/>
                          <a:ea typeface="+mn-ea"/>
                          <a:cs typeface="+mn-cs"/>
                        </a:rPr>
                        <a:t>Integrated into the network</a:t>
                      </a:r>
                      <a:endParaRPr lang="en-US" sz="1800" dirty="0">
                        <a:effectLst/>
                        <a:latin typeface="Sitka Text" pitchFamily="2" charset="0"/>
                      </a:endParaRPr>
                    </a:p>
                  </a:txBody>
                  <a:tcPr marL="47625" marR="47625" marT="9525" marB="9525" anchor="ctr">
                    <a:lnL w="9525" cap="flat" cmpd="sng" algn="ctr">
                      <a:solidFill>
                        <a:srgbClr val="107357"/>
                      </a:solidFill>
                      <a:prstDash val="solid"/>
                      <a:round/>
                      <a:headEnd type="none" w="med" len="med"/>
                      <a:tailEnd type="none" w="med" len="med"/>
                    </a:lnL>
                    <a:lnR w="9525" cap="flat" cmpd="sng" algn="ctr">
                      <a:solidFill>
                        <a:srgbClr val="F07157"/>
                      </a:solidFill>
                      <a:prstDash val="solid"/>
                      <a:round/>
                      <a:headEnd type="none" w="med" len="med"/>
                      <a:tailEnd type="none" w="med" len="med"/>
                    </a:lnR>
                    <a:lnT w="9525" cap="flat" cmpd="sng" algn="ctr">
                      <a:solidFill>
                        <a:srgbClr val="F06E57"/>
                      </a:solidFill>
                      <a:prstDash val="solid"/>
                      <a:round/>
                      <a:headEnd type="none" w="med" len="med"/>
                      <a:tailEnd type="none" w="med" len="med"/>
                    </a:lnT>
                    <a:lnB w="9525" cap="flat" cmpd="sng" algn="ctr">
                      <a:solidFill>
                        <a:srgbClr val="F06B57"/>
                      </a:solidFill>
                      <a:prstDash val="solid"/>
                      <a:round/>
                      <a:headEnd type="none" w="med" len="med"/>
                      <a:tailEnd type="none" w="med" len="med"/>
                    </a:lnB>
                    <a:solidFill>
                      <a:schemeClr val="accent1">
                        <a:lumMod val="20000"/>
                        <a:lumOff val="80000"/>
                      </a:schemeClr>
                    </a:solidFill>
                  </a:tcPr>
                </a:tc>
                <a:tc>
                  <a:txBody>
                    <a:bodyPr/>
                    <a:lstStyle/>
                    <a:p>
                      <a:pPr latinLnBrk="1"/>
                      <a:r>
                        <a:rPr lang="en-US" sz="1800" b="0" i="0" kern="1200" dirty="0" smtClean="0">
                          <a:solidFill>
                            <a:schemeClr val="tx1"/>
                          </a:solidFill>
                          <a:effectLst/>
                          <a:latin typeface="Sitka Text" pitchFamily="2" charset="0"/>
                          <a:ea typeface="+mn-ea"/>
                          <a:cs typeface="+mn-cs"/>
                        </a:rPr>
                        <a:t>Integrated into the network</a:t>
                      </a:r>
                      <a:endParaRPr lang="en-US" sz="1800" dirty="0">
                        <a:effectLst/>
                        <a:latin typeface="Sitka Text" pitchFamily="2" charset="0"/>
                      </a:endParaRPr>
                    </a:p>
                  </a:txBody>
                  <a:tcPr marL="47625" marR="47625" marT="9525" marB="9525" anchor="ctr">
                    <a:lnL w="9525" cap="flat" cmpd="sng" algn="ctr">
                      <a:solidFill>
                        <a:srgbClr val="F07157"/>
                      </a:solidFill>
                      <a:prstDash val="solid"/>
                      <a:round/>
                      <a:headEnd type="none" w="med" len="med"/>
                      <a:tailEnd type="none" w="med" len="med"/>
                    </a:lnL>
                    <a:lnR w="9525" cap="flat" cmpd="sng" algn="ctr">
                      <a:solidFill>
                        <a:srgbClr val="306B57"/>
                      </a:solidFill>
                      <a:prstDash val="solid"/>
                      <a:round/>
                      <a:headEnd type="none" w="med" len="med"/>
                      <a:tailEnd type="none" w="med" len="med"/>
                    </a:lnR>
                    <a:lnT w="9525" cap="flat" cmpd="sng" algn="ctr">
                      <a:solidFill>
                        <a:srgbClr val="907157"/>
                      </a:solidFill>
                      <a:prstDash val="solid"/>
                      <a:round/>
                      <a:headEnd type="none" w="med" len="med"/>
                      <a:tailEnd type="none" w="med" len="med"/>
                    </a:lnT>
                    <a:lnB w="9525" cap="flat" cmpd="sng" algn="ctr">
                      <a:solidFill>
                        <a:srgbClr val="306857"/>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3459456"/>
                  </a:ext>
                </a:extLst>
              </a:tr>
              <a:tr h="0">
                <a:tc>
                  <a:txBody>
                    <a:bodyPr/>
                    <a:lstStyle/>
                    <a:p>
                      <a:pPr latinLnBrk="1"/>
                      <a:r>
                        <a:rPr lang="en-US" b="1" dirty="0">
                          <a:effectLst/>
                          <a:latin typeface="Sitka Text" pitchFamily="2" charset="0"/>
                        </a:rPr>
                        <a:t>Speed</a:t>
                      </a:r>
                      <a:endParaRPr lang="en-US" dirty="0">
                        <a:effectLst/>
                        <a:latin typeface="Sitka Text" pitchFamily="2" charset="0"/>
                      </a:endParaRPr>
                    </a:p>
                  </a:txBody>
                  <a:tcPr marL="47625" marR="47625" marT="9525" marB="9525" anchor="ctr">
                    <a:lnL w="9525" cap="flat" cmpd="sng" algn="ctr">
                      <a:solidFill>
                        <a:srgbClr val="307457"/>
                      </a:solidFill>
                      <a:prstDash val="solid"/>
                      <a:round/>
                      <a:headEnd type="none" w="med" len="med"/>
                      <a:tailEnd type="none" w="med" len="med"/>
                    </a:lnL>
                    <a:lnR w="9525" cap="flat" cmpd="sng" algn="ctr">
                      <a:solidFill>
                        <a:srgbClr val="106D57"/>
                      </a:solidFill>
                      <a:prstDash val="solid"/>
                      <a:round/>
                      <a:headEnd type="none" w="med" len="med"/>
                      <a:tailEnd type="none" w="med" len="med"/>
                    </a:lnR>
                    <a:lnT w="9525" cap="flat" cmpd="sng" algn="ctr">
                      <a:solidFill>
                        <a:srgbClr val="D06A57"/>
                      </a:solidFill>
                      <a:prstDash val="solid"/>
                      <a:round/>
                      <a:headEnd type="none" w="med" len="med"/>
                      <a:tailEnd type="none" w="med" len="med"/>
                    </a:lnT>
                    <a:lnB w="9525" cap="flat" cmpd="sng" algn="ctr">
                      <a:solidFill>
                        <a:srgbClr val="307757"/>
                      </a:solidFill>
                      <a:prstDash val="solid"/>
                      <a:round/>
                      <a:headEnd type="none" w="med" len="med"/>
                      <a:tailEnd type="none" w="med" len="med"/>
                    </a:lnB>
                    <a:solidFill>
                      <a:schemeClr val="accent1">
                        <a:lumMod val="20000"/>
                        <a:lumOff val="80000"/>
                      </a:schemeClr>
                    </a:solidFill>
                  </a:tcPr>
                </a:tc>
                <a:tc>
                  <a:txBody>
                    <a:bodyPr/>
                    <a:lstStyle/>
                    <a:p>
                      <a:pPr latinLnBrk="1"/>
                      <a:r>
                        <a:rPr lang="en-US" dirty="0">
                          <a:effectLst/>
                          <a:latin typeface="Sitka Text" pitchFamily="2" charset="0"/>
                        </a:rPr>
                        <a:t>Slow</a:t>
                      </a:r>
                    </a:p>
                  </a:txBody>
                  <a:tcPr marL="47625" marR="47625" marT="9525" marB="9525" anchor="ctr">
                    <a:lnL w="9525" cap="flat" cmpd="sng" algn="ctr">
                      <a:solidFill>
                        <a:srgbClr val="106D57"/>
                      </a:solidFill>
                      <a:prstDash val="solid"/>
                      <a:round/>
                      <a:headEnd type="none" w="med" len="med"/>
                      <a:tailEnd type="none" w="med" len="med"/>
                    </a:lnL>
                    <a:lnR w="9525" cap="flat" cmpd="sng" algn="ctr">
                      <a:solidFill>
                        <a:srgbClr val="306857"/>
                      </a:solidFill>
                      <a:prstDash val="solid"/>
                      <a:round/>
                      <a:headEnd type="none" w="med" len="med"/>
                      <a:tailEnd type="none" w="med" len="med"/>
                    </a:lnR>
                    <a:lnT w="9525" cap="flat" cmpd="sng" algn="ctr">
                      <a:solidFill>
                        <a:srgbClr val="B07257"/>
                      </a:solidFill>
                      <a:prstDash val="solid"/>
                      <a:round/>
                      <a:headEnd type="none" w="med" len="med"/>
                      <a:tailEnd type="none" w="med" len="med"/>
                    </a:lnT>
                    <a:lnB w="9525" cap="flat" cmpd="sng" algn="ctr">
                      <a:solidFill>
                        <a:srgbClr val="306857"/>
                      </a:solidFill>
                      <a:prstDash val="solid"/>
                      <a:round/>
                      <a:headEnd type="none" w="med" len="med"/>
                      <a:tailEnd type="none" w="med" len="med"/>
                    </a:lnB>
                    <a:solidFill>
                      <a:schemeClr val="accent1">
                        <a:lumMod val="20000"/>
                        <a:lumOff val="80000"/>
                      </a:schemeClr>
                    </a:solidFill>
                  </a:tcPr>
                </a:tc>
                <a:tc>
                  <a:txBody>
                    <a:bodyPr/>
                    <a:lstStyle/>
                    <a:p>
                      <a:pPr latinLnBrk="1"/>
                      <a:r>
                        <a:rPr lang="en-US" dirty="0" smtClean="0">
                          <a:effectLst/>
                          <a:latin typeface="Sitka Text" pitchFamily="2" charset="0"/>
                        </a:rPr>
                        <a:t>Fast</a:t>
                      </a:r>
                      <a:endParaRPr lang="en-US" dirty="0">
                        <a:effectLst/>
                        <a:latin typeface="Sitka Text" pitchFamily="2" charset="0"/>
                      </a:endParaRPr>
                    </a:p>
                  </a:txBody>
                  <a:tcPr marL="47625" marR="47625" marT="9525" marB="9525" anchor="ctr">
                    <a:lnL w="9525" cap="flat" cmpd="sng" algn="ctr">
                      <a:solidFill>
                        <a:srgbClr val="306857"/>
                      </a:solidFill>
                      <a:prstDash val="solid"/>
                      <a:round/>
                      <a:headEnd type="none" w="med" len="med"/>
                      <a:tailEnd type="none" w="med" len="med"/>
                    </a:lnL>
                    <a:lnR w="9525" cap="flat" cmpd="sng" algn="ctr">
                      <a:solidFill>
                        <a:srgbClr val="F06E57"/>
                      </a:solidFill>
                      <a:prstDash val="solid"/>
                      <a:round/>
                      <a:headEnd type="none" w="med" len="med"/>
                      <a:tailEnd type="none" w="med" len="med"/>
                    </a:lnR>
                    <a:lnT w="9525" cap="flat" cmpd="sng" algn="ctr">
                      <a:solidFill>
                        <a:srgbClr val="F06B57"/>
                      </a:solidFill>
                      <a:prstDash val="solid"/>
                      <a:round/>
                      <a:headEnd type="none" w="med" len="med"/>
                      <a:tailEnd type="none" w="med" len="med"/>
                    </a:lnT>
                    <a:lnB w="9525" cap="flat" cmpd="sng" algn="ctr">
                      <a:solidFill>
                        <a:srgbClr val="F07157"/>
                      </a:solidFill>
                      <a:prstDash val="solid"/>
                      <a:round/>
                      <a:headEnd type="none" w="med" len="med"/>
                      <a:tailEnd type="none" w="med" len="med"/>
                    </a:lnB>
                    <a:solidFill>
                      <a:schemeClr val="accent1">
                        <a:lumMod val="20000"/>
                        <a:lumOff val="80000"/>
                      </a:schemeClr>
                    </a:solidFill>
                  </a:tcPr>
                </a:tc>
                <a:tc>
                  <a:txBody>
                    <a:bodyPr/>
                    <a:lstStyle/>
                    <a:p>
                      <a:pPr latinLnBrk="1"/>
                      <a:r>
                        <a:rPr lang="en-US" dirty="0" smtClean="0">
                          <a:effectLst/>
                          <a:latin typeface="Sitka Text" pitchFamily="2" charset="0"/>
                        </a:rPr>
                        <a:t>Faster</a:t>
                      </a:r>
                      <a:endParaRPr lang="en-US" dirty="0">
                        <a:effectLst/>
                        <a:latin typeface="Sitka Text" pitchFamily="2" charset="0"/>
                      </a:endParaRPr>
                    </a:p>
                  </a:txBody>
                  <a:tcPr marL="47625" marR="47625" marT="9525" marB="9525" anchor="ctr">
                    <a:lnL w="9525" cap="flat" cmpd="sng" algn="ctr">
                      <a:solidFill>
                        <a:srgbClr val="F06E57"/>
                      </a:solidFill>
                      <a:prstDash val="solid"/>
                      <a:round/>
                      <a:headEnd type="none" w="med" len="med"/>
                      <a:tailEnd type="none" w="med" len="med"/>
                    </a:lnL>
                    <a:lnR w="9525" cap="flat" cmpd="sng" algn="ctr">
                      <a:solidFill>
                        <a:srgbClr val="107657"/>
                      </a:solidFill>
                      <a:prstDash val="solid"/>
                      <a:round/>
                      <a:headEnd type="none" w="med" len="med"/>
                      <a:tailEnd type="none" w="med" len="med"/>
                    </a:lnR>
                    <a:lnT w="9525" cap="flat" cmpd="sng" algn="ctr">
                      <a:solidFill>
                        <a:srgbClr val="306857"/>
                      </a:solidFill>
                      <a:prstDash val="solid"/>
                      <a:round/>
                      <a:headEnd type="none" w="med" len="med"/>
                      <a:tailEnd type="none" w="med" len="med"/>
                    </a:lnT>
                    <a:lnB w="9525" cap="flat" cmpd="sng" algn="ctr">
                      <a:solidFill>
                        <a:srgbClr val="106D57"/>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899198117"/>
                  </a:ext>
                </a:extLst>
              </a:tr>
            </a:tbl>
          </a:graphicData>
        </a:graphic>
      </p:graphicFrame>
      <p:pic>
        <p:nvPicPr>
          <p:cNvPr id="5" name="Content Placeholder 3"/>
          <p:cNvPicPr>
            <a:picLocks noChangeAspect="1"/>
          </p:cNvPicPr>
          <p:nvPr/>
        </p:nvPicPr>
        <p:blipFill rotWithShape="1">
          <a:blip r:embed="rId3"/>
          <a:srcRect b="30345"/>
          <a:stretch/>
        </p:blipFill>
        <p:spPr>
          <a:xfrm>
            <a:off x="146304" y="1893328"/>
            <a:ext cx="5449824" cy="1092173"/>
          </a:xfrm>
          <a:prstGeom prst="rect">
            <a:avLst/>
          </a:prstGeom>
        </p:spPr>
      </p:pic>
      <p:pic>
        <p:nvPicPr>
          <p:cNvPr id="6" name="Content Placeholder 3"/>
          <p:cNvPicPr>
            <a:picLocks/>
          </p:cNvPicPr>
          <p:nvPr/>
        </p:nvPicPr>
        <p:blipFill rotWithShape="1">
          <a:blip r:embed="rId4"/>
          <a:srcRect t="3367" b="45731"/>
          <a:stretch/>
        </p:blipFill>
        <p:spPr>
          <a:xfrm>
            <a:off x="4818100" y="3021783"/>
            <a:ext cx="4088156" cy="1248791"/>
          </a:xfrm>
          <a:prstGeom prst="rect">
            <a:avLst/>
          </a:prstGeom>
        </p:spPr>
      </p:pic>
      <p:pic>
        <p:nvPicPr>
          <p:cNvPr id="7" name="Content Placeholder 3"/>
          <p:cNvPicPr>
            <a:picLocks/>
          </p:cNvPicPr>
          <p:nvPr/>
        </p:nvPicPr>
        <p:blipFill rotWithShape="1">
          <a:blip r:embed="rId5"/>
          <a:srcRect b="13482"/>
          <a:stretch/>
        </p:blipFill>
        <p:spPr>
          <a:xfrm>
            <a:off x="9363457" y="1812210"/>
            <a:ext cx="2084832" cy="2522046"/>
          </a:xfrm>
          <a:prstGeom prst="rect">
            <a:avLst/>
          </a:prstGeom>
        </p:spPr>
      </p:pic>
    </p:spTree>
    <p:extLst>
      <p:ext uri="{BB962C8B-B14F-4D97-AF65-F5344CB8AC3E}">
        <p14:creationId xmlns:p14="http://schemas.microsoft.com/office/powerpoint/2010/main" val="214739067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Sitka Text" pitchFamily="2" charset="0"/>
              </a:rPr>
              <a:t>Single </a:t>
            </a:r>
            <a:r>
              <a:rPr lang="en-IN" dirty="0">
                <a:latin typeface="Sitka Text" pitchFamily="2" charset="0"/>
              </a:rPr>
              <a:t>Shot MultiBox </a:t>
            </a:r>
            <a:r>
              <a:rPr lang="en-IN" dirty="0" smtClean="0">
                <a:latin typeface="Sitka Text" pitchFamily="2" charset="0"/>
              </a:rPr>
              <a:t>Detector</a:t>
            </a:r>
            <a:endParaRPr lang="en-US" dirty="0">
              <a:latin typeface="Sitka Text" pitchFamily="2" charset="0"/>
            </a:endParaRPr>
          </a:p>
        </p:txBody>
      </p:sp>
      <p:sp>
        <p:nvSpPr>
          <p:cNvPr id="3" name="Rectangle 2"/>
          <p:cNvSpPr/>
          <p:nvPr/>
        </p:nvSpPr>
        <p:spPr>
          <a:xfrm>
            <a:off x="5584165" y="6436909"/>
            <a:ext cx="6786114" cy="276999"/>
          </a:xfrm>
          <a:prstGeom prst="rect">
            <a:avLst/>
          </a:prstGeom>
        </p:spPr>
        <p:txBody>
          <a:bodyPr wrap="square">
            <a:spAutoFit/>
          </a:bodyPr>
          <a:lstStyle/>
          <a:p>
            <a:r>
              <a:rPr lang="en-US" sz="1200" dirty="0">
                <a:solidFill>
                  <a:schemeClr val="bg1"/>
                </a:solidFill>
                <a:latin typeface="Sitka Text" pitchFamily="2" charset="0"/>
              </a:rPr>
              <a:t>Liu, Wei, et al. "</a:t>
            </a:r>
            <a:r>
              <a:rPr lang="en-US" sz="1200" dirty="0" err="1">
                <a:solidFill>
                  <a:schemeClr val="bg1"/>
                </a:solidFill>
                <a:latin typeface="Sitka Text" pitchFamily="2" charset="0"/>
              </a:rPr>
              <a:t>Ssd</a:t>
            </a:r>
            <a:r>
              <a:rPr lang="en-US" sz="1200" dirty="0">
                <a:solidFill>
                  <a:schemeClr val="bg1"/>
                </a:solidFill>
                <a:latin typeface="Sitka Text" pitchFamily="2" charset="0"/>
              </a:rPr>
              <a:t>: Single shot </a:t>
            </a:r>
            <a:r>
              <a:rPr lang="en-US" sz="1200" dirty="0" err="1">
                <a:solidFill>
                  <a:schemeClr val="bg1"/>
                </a:solidFill>
                <a:latin typeface="Sitka Text" pitchFamily="2" charset="0"/>
              </a:rPr>
              <a:t>multibox</a:t>
            </a:r>
            <a:r>
              <a:rPr lang="en-US" sz="1200" dirty="0">
                <a:solidFill>
                  <a:schemeClr val="bg1"/>
                </a:solidFill>
                <a:latin typeface="Sitka Text" pitchFamily="2" charset="0"/>
              </a:rPr>
              <a:t> detector." </a:t>
            </a:r>
            <a:r>
              <a:rPr lang="en-US" sz="1200" i="1" dirty="0">
                <a:solidFill>
                  <a:schemeClr val="bg1"/>
                </a:solidFill>
                <a:latin typeface="Sitka Text" pitchFamily="2" charset="0"/>
              </a:rPr>
              <a:t>Computer Vision–ECCV </a:t>
            </a:r>
            <a:r>
              <a:rPr lang="en-US" sz="1200" i="1" dirty="0" smtClean="0">
                <a:solidFill>
                  <a:schemeClr val="bg1"/>
                </a:solidFill>
                <a:latin typeface="Sitka Text" pitchFamily="2" charset="0"/>
              </a:rPr>
              <a:t>2016</a:t>
            </a:r>
            <a:endParaRPr lang="en-US" sz="1200" dirty="0">
              <a:solidFill>
                <a:schemeClr val="bg1"/>
              </a:solidFill>
              <a:latin typeface="Sitka Text" pitchFamily="2" charset="0"/>
            </a:endParaRPr>
          </a:p>
        </p:txBody>
      </p:sp>
      <p:sp>
        <p:nvSpPr>
          <p:cNvPr id="5" name="Rectangle 4"/>
          <p:cNvSpPr/>
          <p:nvPr/>
        </p:nvSpPr>
        <p:spPr>
          <a:xfrm>
            <a:off x="1097280" y="1949464"/>
            <a:ext cx="1895071" cy="400110"/>
          </a:xfrm>
          <a:prstGeom prst="rect">
            <a:avLst/>
          </a:prstGeom>
        </p:spPr>
        <p:txBody>
          <a:bodyPr wrap="none">
            <a:spAutoFit/>
          </a:bodyPr>
          <a:lstStyle/>
          <a:p>
            <a:r>
              <a:rPr lang="en-IN" sz="2000" dirty="0">
                <a:latin typeface="Sitka Text" pitchFamily="2" charset="0"/>
                <a:ea typeface="Calibri" panose="020F0502020204030204" pitchFamily="34" charset="0"/>
                <a:cs typeface="Times New Roman" panose="02020603050405020304" pitchFamily="18" charset="0"/>
              </a:rPr>
              <a:t>Liu et </a:t>
            </a:r>
            <a:r>
              <a:rPr lang="en-IN" sz="2000" dirty="0" smtClean="0">
                <a:latin typeface="Sitka Text" pitchFamily="2" charset="0"/>
                <a:ea typeface="Calibri" panose="020F0502020204030204" pitchFamily="34" charset="0"/>
                <a:cs typeface="Times New Roman" panose="02020603050405020304" pitchFamily="18" charset="0"/>
              </a:rPr>
              <a:t>al, 2016</a:t>
            </a:r>
            <a:endParaRPr lang="en-US" sz="2000" dirty="0"/>
          </a:p>
        </p:txBody>
      </p:sp>
      <p:sp>
        <p:nvSpPr>
          <p:cNvPr id="7" name="TextBox 6"/>
          <p:cNvSpPr txBox="1"/>
          <p:nvPr/>
        </p:nvSpPr>
        <p:spPr>
          <a:xfrm>
            <a:off x="9509075" y="4727916"/>
            <a:ext cx="1646605" cy="707886"/>
          </a:xfrm>
          <a:prstGeom prst="rect">
            <a:avLst/>
          </a:prstGeom>
          <a:noFill/>
        </p:spPr>
        <p:txBody>
          <a:bodyPr wrap="square" rtlCol="0">
            <a:spAutoFit/>
          </a:bodyPr>
          <a:lstStyle/>
          <a:p>
            <a:r>
              <a:rPr lang="en-IN" sz="2000" dirty="0" smtClean="0">
                <a:latin typeface="Sitka Text" pitchFamily="2" charset="0"/>
              </a:rPr>
              <a:t>Final Detections</a:t>
            </a:r>
            <a:endParaRPr lang="en-IN" sz="2000" dirty="0">
              <a:latin typeface="Sitka Text" pitchFamily="2" charset="0"/>
            </a:endParaRPr>
          </a:p>
        </p:txBody>
      </p:sp>
      <p:sp>
        <p:nvSpPr>
          <p:cNvPr id="9" name="TextBox 8"/>
          <p:cNvSpPr txBox="1"/>
          <p:nvPr/>
        </p:nvSpPr>
        <p:spPr>
          <a:xfrm>
            <a:off x="5769342" y="4727916"/>
            <a:ext cx="2172390" cy="707886"/>
          </a:xfrm>
          <a:prstGeom prst="rect">
            <a:avLst/>
          </a:prstGeom>
          <a:noFill/>
        </p:spPr>
        <p:txBody>
          <a:bodyPr wrap="none" rtlCol="0">
            <a:spAutoFit/>
          </a:bodyPr>
          <a:lstStyle/>
          <a:p>
            <a:pPr algn="ctr"/>
            <a:r>
              <a:rPr lang="en-IN" sz="2000" dirty="0" smtClean="0">
                <a:latin typeface="Sitka Text" pitchFamily="2" charset="0"/>
              </a:rPr>
              <a:t>Bounding Boxes </a:t>
            </a:r>
          </a:p>
          <a:p>
            <a:pPr algn="ctr"/>
            <a:r>
              <a:rPr lang="en-IN" sz="2000" dirty="0" smtClean="0">
                <a:latin typeface="Sitka Text" pitchFamily="2" charset="0"/>
              </a:rPr>
              <a:t>and Scores</a:t>
            </a:r>
            <a:endParaRPr lang="en-IN" sz="2000" dirty="0">
              <a:latin typeface="Sitka Text" pitchFamily="2" charset="0"/>
            </a:endParaRPr>
          </a:p>
        </p:txBody>
      </p:sp>
      <p:cxnSp>
        <p:nvCxnSpPr>
          <p:cNvPr id="12" name="Straight Arrow Connector 11"/>
          <p:cNvCxnSpPr>
            <a:stCxn id="14" idx="3"/>
          </p:cNvCxnSpPr>
          <p:nvPr/>
        </p:nvCxnSpPr>
        <p:spPr>
          <a:xfrm>
            <a:off x="6163734" y="4226028"/>
            <a:ext cx="111759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4" name="Rounded Rectangle 13"/>
          <p:cNvSpPr/>
          <p:nvPr/>
        </p:nvSpPr>
        <p:spPr>
          <a:xfrm>
            <a:off x="3804892" y="3768828"/>
            <a:ext cx="2358842" cy="914400"/>
          </a:xfrm>
          <a:prstGeom prst="roundRect">
            <a:avLst/>
          </a:prstGeom>
          <a:solidFill>
            <a:schemeClr val="accent4">
              <a:lumMod val="60000"/>
              <a:lumOff val="4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ysClr val="windowText" lastClr="000000"/>
                </a:solidFill>
                <a:latin typeface="Sitka Text" pitchFamily="2" charset="0"/>
              </a:rPr>
              <a:t>SSD</a:t>
            </a:r>
            <a:endParaRPr lang="en-IN" sz="2000" dirty="0">
              <a:solidFill>
                <a:sysClr val="windowText" lastClr="000000"/>
              </a:solidFill>
              <a:latin typeface="Sitka Text" pitchFamily="2" charset="0"/>
            </a:endParaRPr>
          </a:p>
        </p:txBody>
      </p:sp>
      <p:cxnSp>
        <p:nvCxnSpPr>
          <p:cNvPr id="15" name="Straight Arrow Connector 14"/>
          <p:cNvCxnSpPr>
            <a:endCxn id="14" idx="1"/>
          </p:cNvCxnSpPr>
          <p:nvPr/>
        </p:nvCxnSpPr>
        <p:spPr>
          <a:xfrm>
            <a:off x="3081867" y="4226028"/>
            <a:ext cx="72302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2" name="Rounded Rectangle 21"/>
          <p:cNvSpPr/>
          <p:nvPr/>
        </p:nvSpPr>
        <p:spPr>
          <a:xfrm>
            <a:off x="7281333" y="3768828"/>
            <a:ext cx="1332089" cy="914400"/>
          </a:xfrm>
          <a:prstGeom prst="roundRect">
            <a:avLst/>
          </a:prstGeom>
          <a:solidFill>
            <a:schemeClr val="tx2">
              <a:lumMod val="40000"/>
              <a:lumOff val="6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smtClean="0">
                <a:solidFill>
                  <a:sysClr val="windowText" lastClr="000000"/>
                </a:solidFill>
                <a:latin typeface="Sitka Text" pitchFamily="2" charset="0"/>
              </a:rPr>
              <a:t>NMS</a:t>
            </a:r>
            <a:endParaRPr lang="en-IN" sz="2000" dirty="0">
              <a:solidFill>
                <a:sysClr val="windowText" lastClr="000000"/>
              </a:solidFill>
              <a:latin typeface="Sitka Text" pitchFamily="2" charset="0"/>
            </a:endParaRPr>
          </a:p>
        </p:txBody>
      </p:sp>
      <p:cxnSp>
        <p:nvCxnSpPr>
          <p:cNvPr id="23" name="Straight Arrow Connector 22"/>
          <p:cNvCxnSpPr/>
          <p:nvPr/>
        </p:nvCxnSpPr>
        <p:spPr>
          <a:xfrm>
            <a:off x="8613422" y="4226028"/>
            <a:ext cx="111759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1689530" y="3687024"/>
            <a:ext cx="1646605" cy="400110"/>
          </a:xfrm>
          <a:prstGeom prst="rect">
            <a:avLst/>
          </a:prstGeom>
          <a:noFill/>
        </p:spPr>
        <p:txBody>
          <a:bodyPr wrap="square" rtlCol="0">
            <a:spAutoFit/>
          </a:bodyPr>
          <a:lstStyle/>
          <a:p>
            <a:r>
              <a:rPr lang="en-IN" sz="2000" dirty="0" smtClean="0">
                <a:latin typeface="Sitka Text" pitchFamily="2" charset="0"/>
              </a:rPr>
              <a:t>Input Image</a:t>
            </a:r>
            <a:endParaRPr lang="en-IN" sz="2000" dirty="0">
              <a:latin typeface="Sitka Text" pitchFamily="2" charset="0"/>
            </a:endParaRPr>
          </a:p>
        </p:txBody>
      </p:sp>
    </p:spTree>
    <p:extLst>
      <p:ext uri="{BB962C8B-B14F-4D97-AF65-F5344CB8AC3E}">
        <p14:creationId xmlns:p14="http://schemas.microsoft.com/office/powerpoint/2010/main" val="158916320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Single Shot MultiBox Detector</a:t>
            </a:r>
            <a:endParaRPr lang="en-US" dirty="0"/>
          </a:p>
        </p:txBody>
      </p:sp>
      <p:sp>
        <p:nvSpPr>
          <p:cNvPr id="3" name="Content Placeholder 2"/>
          <p:cNvSpPr>
            <a:spLocks noGrp="1"/>
          </p:cNvSpPr>
          <p:nvPr>
            <p:ph idx="1"/>
          </p:nvPr>
        </p:nvSpPr>
        <p:spPr/>
        <p:txBody>
          <a:bodyPr/>
          <a:lstStyle/>
          <a:p>
            <a:pPr marL="0" indent="0">
              <a:lnSpc>
                <a:spcPct val="150000"/>
              </a:lnSpc>
              <a:buNone/>
            </a:pPr>
            <a:r>
              <a:rPr lang="en-IN" dirty="0">
                <a:latin typeface="Sitka Text" pitchFamily="2" charset="0"/>
              </a:rPr>
              <a:t>Base Network </a:t>
            </a:r>
            <a:endParaRPr lang="en-IN" dirty="0" smtClean="0">
              <a:latin typeface="Sitka Text" pitchFamily="2" charset="0"/>
            </a:endParaRPr>
          </a:p>
          <a:p>
            <a:pPr marL="0" indent="0">
              <a:lnSpc>
                <a:spcPct val="150000"/>
              </a:lnSpc>
              <a:buNone/>
            </a:pPr>
            <a:r>
              <a:rPr lang="en-IN" dirty="0">
                <a:latin typeface="Sitka Text" pitchFamily="2" charset="0"/>
              </a:rPr>
              <a:t>A</a:t>
            </a:r>
            <a:r>
              <a:rPr lang="en-IN" dirty="0" smtClean="0">
                <a:latin typeface="Sitka Text" pitchFamily="2" charset="0"/>
              </a:rPr>
              <a:t>uxiliary </a:t>
            </a:r>
            <a:r>
              <a:rPr lang="en-IN" dirty="0">
                <a:latin typeface="Sitka Text" pitchFamily="2" charset="0"/>
              </a:rPr>
              <a:t>structure </a:t>
            </a:r>
            <a:endParaRPr lang="en-IN" dirty="0" smtClean="0">
              <a:latin typeface="Sitka Text" pitchFamily="2" charset="0"/>
            </a:endParaRPr>
          </a:p>
          <a:p>
            <a:pPr marL="201168" lvl="1" indent="0">
              <a:lnSpc>
                <a:spcPct val="150000"/>
              </a:lnSpc>
              <a:buNone/>
            </a:pPr>
            <a:r>
              <a:rPr lang="en-IN" sz="2000" dirty="0" smtClean="0">
                <a:latin typeface="Sitka Text" pitchFamily="2" charset="0"/>
              </a:rPr>
              <a:t>	Multi-scale </a:t>
            </a:r>
            <a:r>
              <a:rPr lang="en-IN" sz="2000" dirty="0">
                <a:latin typeface="Sitka Text" pitchFamily="2" charset="0"/>
              </a:rPr>
              <a:t>feature maps for </a:t>
            </a:r>
            <a:r>
              <a:rPr lang="en-IN" sz="2000" dirty="0" smtClean="0">
                <a:latin typeface="Sitka Text" pitchFamily="2" charset="0"/>
              </a:rPr>
              <a:t>detection</a:t>
            </a:r>
          </a:p>
          <a:p>
            <a:pPr marL="201168" lvl="1" indent="0">
              <a:lnSpc>
                <a:spcPct val="150000"/>
              </a:lnSpc>
              <a:buNone/>
            </a:pPr>
            <a:r>
              <a:rPr lang="en-IN" sz="2000" dirty="0" smtClean="0">
                <a:latin typeface="Sitka Text" pitchFamily="2" charset="0"/>
              </a:rPr>
              <a:t>	Convolutional </a:t>
            </a:r>
            <a:r>
              <a:rPr lang="en-IN" sz="2000" dirty="0">
                <a:latin typeface="Sitka Text" pitchFamily="2" charset="0"/>
              </a:rPr>
              <a:t>predictors for </a:t>
            </a:r>
            <a:r>
              <a:rPr lang="en-IN" sz="2000" dirty="0" smtClean="0">
                <a:latin typeface="Sitka Text" pitchFamily="2" charset="0"/>
              </a:rPr>
              <a:t>detection</a:t>
            </a:r>
          </a:p>
          <a:p>
            <a:pPr marL="201168" lvl="1" indent="0">
              <a:lnSpc>
                <a:spcPct val="150000"/>
              </a:lnSpc>
              <a:buNone/>
            </a:pPr>
            <a:r>
              <a:rPr lang="en-IN" sz="2000" dirty="0" smtClean="0">
                <a:latin typeface="Sitka Text" pitchFamily="2" charset="0"/>
              </a:rPr>
              <a:t>	Default </a:t>
            </a:r>
            <a:r>
              <a:rPr lang="en-IN" sz="2000" dirty="0">
                <a:latin typeface="Sitka Text" pitchFamily="2" charset="0"/>
              </a:rPr>
              <a:t>boxes and aspect ratios</a:t>
            </a:r>
            <a:endParaRPr lang="en-US" sz="2000" dirty="0">
              <a:latin typeface="Sitka Text" pitchFamily="2" charset="0"/>
            </a:endParaRPr>
          </a:p>
        </p:txBody>
      </p:sp>
    </p:spTree>
    <p:extLst>
      <p:ext uri="{BB962C8B-B14F-4D97-AF65-F5344CB8AC3E}">
        <p14:creationId xmlns:p14="http://schemas.microsoft.com/office/powerpoint/2010/main" val="270834225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Single Shot MultiBox Detector</a:t>
            </a:r>
            <a:endParaRPr lang="en-IN" dirty="0"/>
          </a:p>
        </p:txBody>
      </p:sp>
      <p:pic>
        <p:nvPicPr>
          <p:cNvPr id="4" name="Content Placeholder 3"/>
          <p:cNvPicPr>
            <a:picLocks noGrp="1"/>
          </p:cNvPicPr>
          <p:nvPr>
            <p:ph idx="1"/>
          </p:nvPr>
        </p:nvPicPr>
        <p:blipFill>
          <a:blip r:embed="rId3"/>
          <a:stretch>
            <a:fillRect/>
          </a:stretch>
        </p:blipFill>
        <p:spPr>
          <a:xfrm>
            <a:off x="1013051" y="2658402"/>
            <a:ext cx="10142629" cy="3142484"/>
          </a:xfrm>
          <a:prstGeom prst="rect">
            <a:avLst/>
          </a:prstGeom>
        </p:spPr>
      </p:pic>
      <p:sp>
        <p:nvSpPr>
          <p:cNvPr id="3" name="Rectangle 2"/>
          <p:cNvSpPr/>
          <p:nvPr/>
        </p:nvSpPr>
        <p:spPr>
          <a:xfrm>
            <a:off x="1097279" y="1949895"/>
            <a:ext cx="8645032" cy="369332"/>
          </a:xfrm>
          <a:prstGeom prst="rect">
            <a:avLst/>
          </a:prstGeom>
        </p:spPr>
        <p:txBody>
          <a:bodyPr wrap="square">
            <a:spAutoFit/>
          </a:bodyPr>
          <a:lstStyle/>
          <a:p>
            <a:r>
              <a:rPr lang="en-IN" dirty="0">
                <a:latin typeface="Sitka Text" pitchFamily="2" charset="0"/>
              </a:rPr>
              <a:t>Base </a:t>
            </a:r>
            <a:r>
              <a:rPr lang="en-IN" dirty="0" smtClean="0">
                <a:latin typeface="Sitka Text" pitchFamily="2" charset="0"/>
              </a:rPr>
              <a:t>Network: </a:t>
            </a:r>
            <a:r>
              <a:rPr lang="en-IN" dirty="0" smtClean="0">
                <a:latin typeface="Sitka Text" pitchFamily="2" charset="0"/>
                <a:ea typeface="Calibri" panose="020F0502020204030204" pitchFamily="34" charset="0"/>
                <a:cs typeface="Times New Roman" panose="02020603050405020304" pitchFamily="18" charset="0"/>
              </a:rPr>
              <a:t>VGG16</a:t>
            </a:r>
            <a:r>
              <a:rPr lang="en-IN" dirty="0">
                <a:latin typeface="Sitka Text" pitchFamily="2" charset="0"/>
                <a:ea typeface="Calibri" panose="020F0502020204030204" pitchFamily="34" charset="0"/>
                <a:cs typeface="Times New Roman" panose="02020603050405020304" pitchFamily="18" charset="0"/>
              </a:rPr>
              <a:t>, which is pre-trained on the ILSVRC CLS-LOC dataset</a:t>
            </a:r>
            <a:endParaRPr lang="en-US" dirty="0"/>
          </a:p>
        </p:txBody>
      </p:sp>
      <p:sp>
        <p:nvSpPr>
          <p:cNvPr id="5" name="Rectangle 4"/>
          <p:cNvSpPr/>
          <p:nvPr/>
        </p:nvSpPr>
        <p:spPr>
          <a:xfrm>
            <a:off x="8494105" y="6596390"/>
            <a:ext cx="3344185" cy="261610"/>
          </a:xfrm>
          <a:prstGeom prst="rect">
            <a:avLst/>
          </a:prstGeom>
        </p:spPr>
        <p:txBody>
          <a:bodyPr wrap="none">
            <a:spAutoFit/>
          </a:bodyPr>
          <a:lstStyle/>
          <a:p>
            <a:r>
              <a:rPr lang="en-US" sz="1100" dirty="0">
                <a:solidFill>
                  <a:schemeClr val="bg1"/>
                </a:solidFill>
                <a:latin typeface="Sitka Text" pitchFamily="2" charset="0"/>
              </a:rPr>
              <a:t>https://image-net.org/challenges/LSVRC/2017/</a:t>
            </a:r>
          </a:p>
        </p:txBody>
      </p:sp>
      <mc:AlternateContent xmlns:mc="http://schemas.openxmlformats.org/markup-compatibility/2006" xmlns:a14="http://schemas.microsoft.com/office/drawing/2010/main">
        <mc:Choice Requires="a14">
          <p:sp>
            <p:nvSpPr>
              <p:cNvPr id="6" name="Rectangle 5"/>
              <p:cNvSpPr/>
              <p:nvPr/>
            </p:nvSpPr>
            <p:spPr>
              <a:xfrm>
                <a:off x="1360398" y="5698953"/>
                <a:ext cx="2216889" cy="369332"/>
              </a:xfrm>
              <a:prstGeom prst="rect">
                <a:avLst/>
              </a:prstGeom>
            </p:spPr>
            <p:txBody>
              <a:bodyPr wrap="none">
                <a:spAutoFit/>
              </a:bodyPr>
              <a:lstStyle/>
              <a:p>
                <a14:m>
                  <m:oMath xmlns:m="http://schemas.openxmlformats.org/officeDocument/2006/math">
                    <m:r>
                      <a:rPr lang="en-US" i="1" dirty="0" smtClean="0">
                        <a:latin typeface="Cambria Math" panose="02040503050406030204" pitchFamily="18" charset="0"/>
                      </a:rPr>
                      <m:t>300</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300 </m:t>
                    </m:r>
                  </m:oMath>
                </a14:m>
                <a:r>
                  <a:rPr lang="en-US" dirty="0"/>
                  <a:t>input size</a:t>
                </a:r>
              </a:p>
            </p:txBody>
          </p:sp>
        </mc:Choice>
        <mc:Fallback xmlns="">
          <p:sp>
            <p:nvSpPr>
              <p:cNvPr id="6" name="Rectangle 5"/>
              <p:cNvSpPr>
                <a:spLocks noRot="1" noChangeAspect="1" noMove="1" noResize="1" noEditPoints="1" noAdjustHandles="1" noChangeArrowheads="1" noChangeShapeType="1" noTextEdit="1"/>
              </p:cNvSpPr>
              <p:nvPr/>
            </p:nvSpPr>
            <p:spPr>
              <a:xfrm>
                <a:off x="1360398" y="5698953"/>
                <a:ext cx="2216889" cy="369332"/>
              </a:xfrm>
              <a:prstGeom prst="rect">
                <a:avLst/>
              </a:prstGeom>
              <a:blipFill>
                <a:blip r:embed="rId4"/>
                <a:stretch>
                  <a:fillRect t="-10000" b="-26667"/>
                </a:stretch>
              </a:blipFill>
            </p:spPr>
            <p:txBody>
              <a:bodyPr/>
              <a:lstStyle/>
              <a:p>
                <a:r>
                  <a:rPr lang="en-US">
                    <a:noFill/>
                  </a:rPr>
                  <a:t> </a:t>
                </a:r>
              </a:p>
            </p:txBody>
          </p:sp>
        </mc:Fallback>
      </mc:AlternateContent>
      <p:sp>
        <p:nvSpPr>
          <p:cNvPr id="7" name="Rectangle 6"/>
          <p:cNvSpPr/>
          <p:nvPr/>
        </p:nvSpPr>
        <p:spPr>
          <a:xfrm>
            <a:off x="0" y="6396334"/>
            <a:ext cx="12271022" cy="253916"/>
          </a:xfrm>
          <a:prstGeom prst="rect">
            <a:avLst/>
          </a:prstGeom>
        </p:spPr>
        <p:txBody>
          <a:bodyPr wrap="square">
            <a:spAutoFit/>
          </a:bodyPr>
          <a:lstStyle/>
          <a:p>
            <a:r>
              <a:rPr lang="en-US" sz="1050" dirty="0" err="1">
                <a:solidFill>
                  <a:schemeClr val="bg1"/>
                </a:solidFill>
                <a:latin typeface="Sitka Text" pitchFamily="2" charset="0"/>
              </a:rPr>
              <a:t>Russakovsky</a:t>
            </a:r>
            <a:r>
              <a:rPr lang="en-US" sz="1050" dirty="0">
                <a:solidFill>
                  <a:schemeClr val="bg1"/>
                </a:solidFill>
                <a:latin typeface="Sitka Text" pitchFamily="2" charset="0"/>
              </a:rPr>
              <a:t>, O., Deng, J., Su, H., Krause, J., </a:t>
            </a:r>
            <a:r>
              <a:rPr lang="en-US" sz="1050" dirty="0" err="1">
                <a:solidFill>
                  <a:schemeClr val="bg1"/>
                </a:solidFill>
                <a:latin typeface="Sitka Text" pitchFamily="2" charset="0"/>
              </a:rPr>
              <a:t>Satheesh</a:t>
            </a:r>
            <a:r>
              <a:rPr lang="en-US" sz="1050" dirty="0">
                <a:solidFill>
                  <a:schemeClr val="bg1"/>
                </a:solidFill>
                <a:latin typeface="Sitka Text" pitchFamily="2" charset="0"/>
              </a:rPr>
              <a:t>, S., Ma, S., Huang, Z., </a:t>
            </a:r>
            <a:r>
              <a:rPr lang="en-US" sz="1050" dirty="0" err="1">
                <a:solidFill>
                  <a:schemeClr val="bg1"/>
                </a:solidFill>
                <a:latin typeface="Sitka Text" pitchFamily="2" charset="0"/>
              </a:rPr>
              <a:t>Karpathy</a:t>
            </a:r>
            <a:r>
              <a:rPr lang="en-US" sz="1050" dirty="0">
                <a:solidFill>
                  <a:schemeClr val="bg1"/>
                </a:solidFill>
                <a:latin typeface="Sitka Text" pitchFamily="2" charset="0"/>
              </a:rPr>
              <a:t>, A., Khosla, A., Bernstein, M., Berg, A.C., </a:t>
            </a:r>
            <a:r>
              <a:rPr lang="en-US" sz="1050" dirty="0" err="1">
                <a:solidFill>
                  <a:schemeClr val="bg1"/>
                </a:solidFill>
                <a:latin typeface="Sitka Text" pitchFamily="2" charset="0"/>
              </a:rPr>
              <a:t>Fei-Fei</a:t>
            </a:r>
            <a:r>
              <a:rPr lang="en-US" sz="1050" dirty="0">
                <a:solidFill>
                  <a:schemeClr val="bg1"/>
                </a:solidFill>
                <a:latin typeface="Sitka Text" pitchFamily="2" charset="0"/>
              </a:rPr>
              <a:t>, L.: </a:t>
            </a:r>
            <a:r>
              <a:rPr lang="en-US" sz="1050" dirty="0" err="1">
                <a:solidFill>
                  <a:schemeClr val="bg1"/>
                </a:solidFill>
                <a:latin typeface="Sitka Text" pitchFamily="2" charset="0"/>
              </a:rPr>
              <a:t>Imagenet</a:t>
            </a:r>
            <a:r>
              <a:rPr lang="en-US" sz="1050" dirty="0">
                <a:solidFill>
                  <a:schemeClr val="bg1"/>
                </a:solidFill>
                <a:latin typeface="Sitka Text" pitchFamily="2" charset="0"/>
              </a:rPr>
              <a:t> large scale visual recognition challenge</a:t>
            </a:r>
            <a:r>
              <a:rPr lang="en-US" sz="1050" dirty="0" smtClean="0">
                <a:solidFill>
                  <a:schemeClr val="bg1"/>
                </a:solidFill>
                <a:latin typeface="Sitka Text" pitchFamily="2" charset="0"/>
              </a:rPr>
              <a:t>.</a:t>
            </a:r>
            <a:endParaRPr lang="en-US" sz="1050" dirty="0">
              <a:solidFill>
                <a:schemeClr val="bg1"/>
              </a:solidFill>
              <a:latin typeface="Sitka Text" pitchFamily="2" charset="0"/>
            </a:endParaRPr>
          </a:p>
        </p:txBody>
      </p:sp>
      <mc:AlternateContent xmlns:mc="http://schemas.openxmlformats.org/markup-compatibility/2006" xmlns:a14="http://schemas.microsoft.com/office/drawing/2010/main">
        <mc:Choice Requires="a14">
          <p:sp>
            <p:nvSpPr>
              <p:cNvPr id="8" name="Rectangle 7"/>
              <p:cNvSpPr/>
              <p:nvPr/>
            </p:nvSpPr>
            <p:spPr>
              <a:xfrm>
                <a:off x="6624652" y="5919507"/>
                <a:ext cx="5016117" cy="369332"/>
              </a:xfrm>
              <a:prstGeom prst="rect">
                <a:avLst/>
              </a:prstGeom>
            </p:spPr>
            <p:txBody>
              <a:bodyPr wrap="none">
                <a:spAutoFit/>
              </a:bodyPr>
              <a:lstStyle/>
              <a:p>
                <a14:m>
                  <m:oMath xmlns:m="http://schemas.openxmlformats.org/officeDocument/2006/math">
                    <m:r>
                      <a:rPr lang="en-IN" i="1">
                        <a:latin typeface="Cambria Math" panose="02040503050406030204" pitchFamily="18" charset="0"/>
                        <a:ea typeface="Calibri" panose="020F0502020204030204" pitchFamily="34" charset="0"/>
                        <a:cs typeface="Times New Roman" panose="02020603050405020304" pitchFamily="18" charset="0"/>
                      </a:rPr>
                      <m:t>(</m:t>
                    </m:r>
                    <m:r>
                      <a:rPr lang="en-IN" i="1">
                        <a:latin typeface="Cambria Math" panose="02040503050406030204" pitchFamily="18" charset="0"/>
                        <a:ea typeface="Calibri" panose="020F0502020204030204" pitchFamily="34" charset="0"/>
                        <a:cs typeface="Times New Roman" panose="02020603050405020304" pitchFamily="18" charset="0"/>
                      </a:rPr>
                      <m:t>𝑐</m:t>
                    </m:r>
                    <m:r>
                      <a:rPr lang="en-IN" i="1">
                        <a:latin typeface="Cambria Math" panose="02040503050406030204" pitchFamily="18" charset="0"/>
                        <a:ea typeface="Calibri" panose="020F0502020204030204" pitchFamily="34" charset="0"/>
                        <a:cs typeface="Times New Roman" panose="02020603050405020304" pitchFamily="18" charset="0"/>
                      </a:rPr>
                      <m:t> + 4)</m:t>
                    </m:r>
                    <m:r>
                      <a:rPr lang="en-IN" i="1">
                        <a:latin typeface="Cambria Math" panose="02040503050406030204" pitchFamily="18" charset="0"/>
                        <a:ea typeface="Calibri" panose="020F0502020204030204" pitchFamily="34" charset="0"/>
                        <a:cs typeface="Times New Roman" panose="02020603050405020304" pitchFamily="18" charset="0"/>
                      </a:rPr>
                      <m:t>𝑘𝑚𝑛</m:t>
                    </m:r>
                  </m:oMath>
                </a14:m>
                <a:r>
                  <a:rPr lang="en-IN" dirty="0">
                    <a:latin typeface="Sitka Text" pitchFamily="2" charset="0"/>
                    <a:ea typeface="Calibri" panose="020F0502020204030204" pitchFamily="34" charset="0"/>
                    <a:cs typeface="Times New Roman" panose="02020603050405020304" pitchFamily="18" charset="0"/>
                  </a:rPr>
                  <a:t> outputs for a </a:t>
                </a:r>
                <a14:m>
                  <m:oMath xmlns:m="http://schemas.openxmlformats.org/officeDocument/2006/math">
                    <m:r>
                      <a:rPr lang="en-IN" i="1">
                        <a:latin typeface="Cambria Math" panose="02040503050406030204" pitchFamily="18" charset="0"/>
                        <a:ea typeface="Calibri" panose="020F0502020204030204" pitchFamily="34" charset="0"/>
                        <a:cs typeface="Times New Roman" panose="02020603050405020304" pitchFamily="18" charset="0"/>
                      </a:rPr>
                      <m:t>𝑚</m:t>
                    </m:r>
                    <m:r>
                      <a:rPr lang="en-IN" i="1">
                        <a:latin typeface="Cambria Math" panose="02040503050406030204" pitchFamily="18" charset="0"/>
                        <a:ea typeface="Calibri" panose="020F0502020204030204" pitchFamily="34" charset="0"/>
                        <a:cs typeface="Times New Roman" panose="02020603050405020304" pitchFamily="18" charset="0"/>
                      </a:rPr>
                      <m:t>× </m:t>
                    </m:r>
                    <m:r>
                      <a:rPr lang="en-IN" i="1">
                        <a:latin typeface="Cambria Math" panose="02040503050406030204" pitchFamily="18" charset="0"/>
                        <a:ea typeface="Calibri" panose="020F0502020204030204" pitchFamily="34" charset="0"/>
                        <a:cs typeface="Times New Roman" panose="02020603050405020304" pitchFamily="18" charset="0"/>
                      </a:rPr>
                      <m:t>𝑛</m:t>
                    </m:r>
                  </m:oMath>
                </a14:m>
                <a:r>
                  <a:rPr lang="en-IN" dirty="0">
                    <a:latin typeface="Sitka Text" pitchFamily="2" charset="0"/>
                    <a:ea typeface="Calibri" panose="020F0502020204030204" pitchFamily="34" charset="0"/>
                    <a:cs typeface="Times New Roman" panose="02020603050405020304" pitchFamily="18" charset="0"/>
                  </a:rPr>
                  <a:t> feature map</a:t>
                </a:r>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6624652" y="5919507"/>
                <a:ext cx="5016117" cy="369332"/>
              </a:xfrm>
              <a:prstGeom prst="rect">
                <a:avLst/>
              </a:prstGeom>
              <a:blipFill>
                <a:blip r:embed="rId5"/>
                <a:stretch>
                  <a:fillRect l="-365" t="-9836" b="-22951"/>
                </a:stretch>
              </a:blipFill>
            </p:spPr>
            <p:txBody>
              <a:bodyPr/>
              <a:lstStyle/>
              <a:p>
                <a:r>
                  <a:rPr lang="en-US">
                    <a:noFill/>
                  </a:rPr>
                  <a:t> </a:t>
                </a:r>
              </a:p>
            </p:txBody>
          </p:sp>
        </mc:Fallback>
      </mc:AlternateContent>
    </p:spTree>
    <p:extLst>
      <p:ext uri="{BB962C8B-B14F-4D97-AF65-F5344CB8AC3E}">
        <p14:creationId xmlns:p14="http://schemas.microsoft.com/office/powerpoint/2010/main" val="270040218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Single Shot MultiBox Detector</a:t>
            </a:r>
            <a:endParaRPr lang="en-US" dirty="0"/>
          </a:p>
        </p:txBody>
      </p:sp>
      <p:sp>
        <p:nvSpPr>
          <p:cNvPr id="3" name="Content Placeholder 2"/>
          <p:cNvSpPr>
            <a:spLocks noGrp="1"/>
          </p:cNvSpPr>
          <p:nvPr>
            <p:ph idx="1"/>
          </p:nvPr>
        </p:nvSpPr>
        <p:spPr/>
        <p:txBody>
          <a:bodyPr/>
          <a:lstStyle/>
          <a:p>
            <a:pPr>
              <a:lnSpc>
                <a:spcPct val="150000"/>
              </a:lnSpc>
            </a:pPr>
            <a:r>
              <a:rPr lang="en-US" dirty="0">
                <a:latin typeface="Sitka Text" pitchFamily="2" charset="0"/>
              </a:rPr>
              <a:t>The overall </a:t>
            </a:r>
            <a:r>
              <a:rPr lang="en-US" dirty="0" smtClean="0">
                <a:latin typeface="Sitka Text" pitchFamily="2" charset="0"/>
              </a:rPr>
              <a:t>loss </a:t>
            </a:r>
            <a:r>
              <a:rPr lang="en-US" dirty="0">
                <a:latin typeface="Sitka Text" pitchFamily="2" charset="0"/>
              </a:rPr>
              <a:t>function is a weighted sum of the localization loss </a:t>
            </a:r>
            <a:r>
              <a:rPr lang="en-US" dirty="0" smtClean="0">
                <a:latin typeface="Sitka Text" pitchFamily="2" charset="0"/>
              </a:rPr>
              <a:t>and </a:t>
            </a:r>
            <a:r>
              <a:rPr lang="en-US" dirty="0">
                <a:latin typeface="Sitka Text" pitchFamily="2" charset="0"/>
              </a:rPr>
              <a:t>the </a:t>
            </a:r>
            <a:r>
              <a:rPr lang="en-US" dirty="0" smtClean="0">
                <a:latin typeface="Sitka Text" pitchFamily="2" charset="0"/>
              </a:rPr>
              <a:t>confidence loss.</a:t>
            </a:r>
            <a:endParaRPr lang="en-US" dirty="0">
              <a:latin typeface="Sitka Text" pitchFamily="2" charset="0"/>
            </a:endParaRPr>
          </a:p>
        </p:txBody>
      </p:sp>
      <p:pic>
        <p:nvPicPr>
          <p:cNvPr id="5" name="Picture 4"/>
          <p:cNvPicPr>
            <a:picLocks noChangeAspect="1"/>
          </p:cNvPicPr>
          <p:nvPr/>
        </p:nvPicPr>
        <p:blipFill>
          <a:blip r:embed="rId3"/>
          <a:stretch>
            <a:fillRect/>
          </a:stretch>
        </p:blipFill>
        <p:spPr>
          <a:xfrm>
            <a:off x="2982005" y="3139874"/>
            <a:ext cx="5071781" cy="619326"/>
          </a:xfrm>
          <a:prstGeom prst="rect">
            <a:avLst/>
          </a:prstGeom>
        </p:spPr>
      </p:pic>
      <p:sp>
        <p:nvSpPr>
          <p:cNvPr id="6" name="Rectangle 5"/>
          <p:cNvSpPr/>
          <p:nvPr/>
        </p:nvSpPr>
        <p:spPr>
          <a:xfrm>
            <a:off x="6551607" y="3867574"/>
            <a:ext cx="4701928" cy="369332"/>
          </a:xfrm>
          <a:prstGeom prst="rect">
            <a:avLst/>
          </a:prstGeom>
        </p:spPr>
        <p:txBody>
          <a:bodyPr wrap="none">
            <a:spAutoFit/>
          </a:bodyPr>
          <a:lstStyle/>
          <a:p>
            <a:r>
              <a:rPr lang="en-US" dirty="0">
                <a:latin typeface="Sitka Text" pitchFamily="2" charset="0"/>
              </a:rPr>
              <a:t>N is the number of matched default boxes</a:t>
            </a:r>
          </a:p>
        </p:txBody>
      </p:sp>
      <p:sp>
        <p:nvSpPr>
          <p:cNvPr id="4" name="Rectangle 3"/>
          <p:cNvSpPr/>
          <p:nvPr/>
        </p:nvSpPr>
        <p:spPr>
          <a:xfrm>
            <a:off x="1097279" y="4446179"/>
            <a:ext cx="8769209" cy="1338828"/>
          </a:xfrm>
          <a:prstGeom prst="rect">
            <a:avLst/>
          </a:prstGeom>
        </p:spPr>
        <p:txBody>
          <a:bodyPr wrap="square">
            <a:spAutoFit/>
          </a:bodyPr>
          <a:lstStyle/>
          <a:p>
            <a:pPr>
              <a:lnSpc>
                <a:spcPct val="150000"/>
              </a:lnSpc>
            </a:pPr>
            <a:r>
              <a:rPr lang="en-IN" dirty="0" smtClean="0">
                <a:latin typeface="Sitka Text" pitchFamily="2" charset="0"/>
              </a:rPr>
              <a:t>Utilizes </a:t>
            </a:r>
            <a:r>
              <a:rPr lang="en-IN" dirty="0" smtClean="0">
                <a:latin typeface="Sitka Text" pitchFamily="2" charset="0"/>
                <a:ea typeface="Calibri" panose="020F0502020204030204" pitchFamily="34" charset="0"/>
                <a:cs typeface="Times New Roman" panose="02020603050405020304" pitchFamily="18" charset="0"/>
              </a:rPr>
              <a:t>feature </a:t>
            </a:r>
            <a:r>
              <a:rPr lang="en-IN" dirty="0">
                <a:latin typeface="Sitka Text" pitchFamily="2" charset="0"/>
                <a:ea typeface="Calibri" panose="020F0502020204030204" pitchFamily="34" charset="0"/>
                <a:cs typeface="Times New Roman" panose="02020603050405020304" pitchFamily="18" charset="0"/>
              </a:rPr>
              <a:t>maps from several different layers in a single network </a:t>
            </a:r>
          </a:p>
          <a:p>
            <a:pPr>
              <a:lnSpc>
                <a:spcPct val="150000"/>
              </a:lnSpc>
            </a:pPr>
            <a:r>
              <a:rPr lang="en-IN" dirty="0" smtClean="0">
                <a:latin typeface="Sitka Text" pitchFamily="2" charset="0"/>
              </a:rPr>
              <a:t>	handles </a:t>
            </a:r>
            <a:r>
              <a:rPr lang="en-IN" dirty="0">
                <a:latin typeface="Sitka Text" pitchFamily="2" charset="0"/>
              </a:rPr>
              <a:t>different object </a:t>
            </a:r>
            <a:r>
              <a:rPr lang="en-IN" dirty="0" smtClean="0">
                <a:latin typeface="Sitka Text" pitchFamily="2" charset="0"/>
              </a:rPr>
              <a:t>scales</a:t>
            </a:r>
            <a:endParaRPr lang="en-IN" dirty="0">
              <a:latin typeface="Sitka Text" pitchFamily="2" charset="0"/>
              <a:ea typeface="Calibri" panose="020F0502020204030204" pitchFamily="34" charset="0"/>
              <a:cs typeface="Times New Roman" panose="02020603050405020304" pitchFamily="18" charset="0"/>
            </a:endParaRPr>
          </a:p>
          <a:p>
            <a:pPr>
              <a:lnSpc>
                <a:spcPct val="150000"/>
              </a:lnSpc>
            </a:pPr>
            <a:r>
              <a:rPr lang="en-IN" dirty="0" smtClean="0">
                <a:latin typeface="Sitka Text" pitchFamily="2" charset="0"/>
                <a:ea typeface="Calibri" panose="020F0502020204030204" pitchFamily="34" charset="0"/>
                <a:cs typeface="Times New Roman" panose="02020603050405020304" pitchFamily="18" charset="0"/>
              </a:rPr>
              <a:t>	shares </a:t>
            </a:r>
            <a:r>
              <a:rPr lang="en-IN" dirty="0">
                <a:latin typeface="Sitka Text" pitchFamily="2" charset="0"/>
                <a:ea typeface="Calibri" panose="020F0502020204030204" pitchFamily="34" charset="0"/>
                <a:cs typeface="Times New Roman" panose="02020603050405020304" pitchFamily="18" charset="0"/>
              </a:rPr>
              <a:t>parameters across all object </a:t>
            </a:r>
            <a:r>
              <a:rPr lang="en-IN" dirty="0" smtClean="0">
                <a:latin typeface="Sitka Text" pitchFamily="2" charset="0"/>
                <a:ea typeface="Calibri" panose="020F0502020204030204" pitchFamily="34" charset="0"/>
                <a:cs typeface="Times New Roman" panose="02020603050405020304" pitchFamily="18" charset="0"/>
              </a:rPr>
              <a:t>scales</a:t>
            </a:r>
            <a:endParaRPr lang="en-US" dirty="0">
              <a:latin typeface="Sitka Text" pitchFamily="2" charset="0"/>
            </a:endParaRPr>
          </a:p>
        </p:txBody>
      </p:sp>
    </p:spTree>
    <p:extLst>
      <p:ext uri="{BB962C8B-B14F-4D97-AF65-F5344CB8AC3E}">
        <p14:creationId xmlns:p14="http://schemas.microsoft.com/office/powerpoint/2010/main" val="39896230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Single Shot MultiBox Detector</a:t>
            </a:r>
            <a:endParaRPr lang="en-US" dirty="0"/>
          </a:p>
        </p:txBody>
      </p:sp>
      <p:pic>
        <p:nvPicPr>
          <p:cNvPr id="4" name="Content Placeholder 3"/>
          <p:cNvPicPr>
            <a:picLocks/>
          </p:cNvPicPr>
          <p:nvPr/>
        </p:nvPicPr>
        <p:blipFill rotWithShape="1">
          <a:blip r:embed="rId2"/>
          <a:srcRect b="52026"/>
          <a:stretch/>
        </p:blipFill>
        <p:spPr>
          <a:xfrm>
            <a:off x="837635" y="2364168"/>
            <a:ext cx="9990667" cy="3504669"/>
          </a:xfrm>
          <a:prstGeom prst="rect">
            <a:avLst/>
          </a:prstGeom>
        </p:spPr>
      </p:pic>
    </p:spTree>
    <p:extLst>
      <p:ext uri="{BB962C8B-B14F-4D97-AF65-F5344CB8AC3E}">
        <p14:creationId xmlns:p14="http://schemas.microsoft.com/office/powerpoint/2010/main" val="127313148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Single Shot MultiBox Detector</a:t>
            </a:r>
            <a:endParaRPr lang="en-IN" dirty="0"/>
          </a:p>
        </p:txBody>
      </p:sp>
      <p:pic>
        <p:nvPicPr>
          <p:cNvPr id="4" name="Content Placeholder 3"/>
          <p:cNvPicPr>
            <a:picLocks noGrp="1"/>
          </p:cNvPicPr>
          <p:nvPr>
            <p:ph idx="1"/>
          </p:nvPr>
        </p:nvPicPr>
        <p:blipFill>
          <a:blip r:embed="rId2"/>
          <a:stretch>
            <a:fillRect/>
          </a:stretch>
        </p:blipFill>
        <p:spPr>
          <a:xfrm>
            <a:off x="1463394" y="2100436"/>
            <a:ext cx="8287594" cy="4022725"/>
          </a:xfrm>
          <a:prstGeom prst="rect">
            <a:avLst/>
          </a:prstGeom>
        </p:spPr>
      </p:pic>
      <p:sp>
        <p:nvSpPr>
          <p:cNvPr id="5" name="Rectangle 4"/>
          <p:cNvSpPr/>
          <p:nvPr/>
        </p:nvSpPr>
        <p:spPr>
          <a:xfrm>
            <a:off x="5271911" y="6486238"/>
            <a:ext cx="6423378" cy="261610"/>
          </a:xfrm>
          <a:prstGeom prst="rect">
            <a:avLst/>
          </a:prstGeom>
        </p:spPr>
        <p:txBody>
          <a:bodyPr wrap="square">
            <a:spAutoFit/>
          </a:bodyPr>
          <a:lstStyle/>
          <a:p>
            <a:r>
              <a:rPr lang="en-US" sz="1100" dirty="0">
                <a:solidFill>
                  <a:schemeClr val="bg1"/>
                </a:solidFill>
                <a:latin typeface="Sitka Text" pitchFamily="2" charset="0"/>
              </a:rPr>
              <a:t>Lin, </a:t>
            </a:r>
            <a:r>
              <a:rPr lang="en-US" sz="1100" dirty="0" err="1">
                <a:solidFill>
                  <a:schemeClr val="bg1"/>
                </a:solidFill>
                <a:latin typeface="Sitka Text" pitchFamily="2" charset="0"/>
              </a:rPr>
              <a:t>Tsung</a:t>
            </a:r>
            <a:r>
              <a:rPr lang="en-US" sz="1100" dirty="0">
                <a:solidFill>
                  <a:schemeClr val="bg1"/>
                </a:solidFill>
                <a:latin typeface="Sitka Text" pitchFamily="2" charset="0"/>
              </a:rPr>
              <a:t>-Yi, et al. "Microsoft coco: Common objects in context." </a:t>
            </a:r>
            <a:r>
              <a:rPr lang="en-US" sz="1100" i="1" dirty="0">
                <a:solidFill>
                  <a:schemeClr val="bg1"/>
                </a:solidFill>
                <a:latin typeface="Sitka Text" pitchFamily="2" charset="0"/>
              </a:rPr>
              <a:t>Computer Vision–ECCV 2014</a:t>
            </a:r>
            <a:endParaRPr lang="en-US" sz="1100" dirty="0">
              <a:solidFill>
                <a:schemeClr val="bg1"/>
              </a:solidFill>
              <a:latin typeface="Sitka Text" pitchFamily="2" charset="0"/>
            </a:endParaRPr>
          </a:p>
        </p:txBody>
      </p:sp>
    </p:spTree>
    <p:extLst>
      <p:ext uri="{BB962C8B-B14F-4D97-AF65-F5344CB8AC3E}">
        <p14:creationId xmlns:p14="http://schemas.microsoft.com/office/powerpoint/2010/main" val="365362186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Comparison with </a:t>
            </a:r>
            <a:r>
              <a:rPr lang="en-US" dirty="0" smtClean="0">
                <a:latin typeface="Sitka Text" pitchFamily="2" charset="0"/>
              </a:rPr>
              <a:t>Faster R-CNN</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lnSpc>
                    <a:spcPct val="150000"/>
                  </a:lnSpc>
                  <a:buNone/>
                </a:pPr>
                <a:r>
                  <a:rPr lang="en-IN" dirty="0" smtClean="0">
                    <a:solidFill>
                      <a:srgbClr val="FF0000"/>
                    </a:solidFill>
                    <a:latin typeface="Sitka Text" pitchFamily="2" charset="0"/>
                    <a:ea typeface="Calibri" panose="020F0502020204030204" pitchFamily="34" charset="0"/>
                    <a:cs typeface="Times New Roman" panose="02020603050405020304" pitchFamily="18" charset="0"/>
                  </a:rPr>
                  <a:t>SSD</a:t>
                </a:r>
              </a:p>
              <a:p>
                <a:pPr marL="201168" lvl="1" indent="0">
                  <a:lnSpc>
                    <a:spcPct val="150000"/>
                  </a:lnSpc>
                  <a:buNone/>
                </a:pPr>
                <a:r>
                  <a:rPr lang="en-IN" dirty="0" smtClean="0">
                    <a:solidFill>
                      <a:srgbClr val="FF0000"/>
                    </a:solidFill>
                    <a:latin typeface="Sitka Text" pitchFamily="2" charset="0"/>
                    <a:ea typeface="Calibri" panose="020F0502020204030204" pitchFamily="34" charset="0"/>
                    <a:cs typeface="Times New Roman" panose="02020603050405020304" pitchFamily="18" charset="0"/>
                  </a:rPr>
                  <a:t>74.3</a:t>
                </a:r>
                <a:r>
                  <a:rPr lang="en-IN" dirty="0">
                    <a:solidFill>
                      <a:srgbClr val="FF0000"/>
                    </a:solidFill>
                    <a:latin typeface="Sitka Text" pitchFamily="2" charset="0"/>
                    <a:ea typeface="Calibri" panose="020F0502020204030204" pitchFamily="34" charset="0"/>
                    <a:cs typeface="Times New Roman" panose="02020603050405020304" pitchFamily="18" charset="0"/>
                  </a:rPr>
                  <a:t>% </a:t>
                </a:r>
                <a:r>
                  <a:rPr lang="en-IN" dirty="0" err="1">
                    <a:solidFill>
                      <a:srgbClr val="FF0000"/>
                    </a:solidFill>
                    <a:latin typeface="Sitka Text" pitchFamily="2" charset="0"/>
                    <a:ea typeface="Calibri" panose="020F0502020204030204" pitchFamily="34" charset="0"/>
                    <a:cs typeface="Times New Roman" panose="02020603050405020304" pitchFamily="18" charset="0"/>
                  </a:rPr>
                  <a:t>mAP</a:t>
                </a:r>
                <a:r>
                  <a:rPr lang="en-IN" dirty="0">
                    <a:solidFill>
                      <a:srgbClr val="FF0000"/>
                    </a:solidFill>
                    <a:latin typeface="Sitka Text" pitchFamily="2" charset="0"/>
                    <a:ea typeface="Calibri" panose="020F0502020204030204" pitchFamily="34" charset="0"/>
                    <a:cs typeface="Times New Roman" panose="02020603050405020304" pitchFamily="18" charset="0"/>
                  </a:rPr>
                  <a:t> on VOC2007 test </a:t>
                </a:r>
                <a:endParaRPr lang="en-IN" dirty="0" smtClean="0">
                  <a:solidFill>
                    <a:srgbClr val="FF0000"/>
                  </a:solidFill>
                  <a:latin typeface="Sitka Text" pitchFamily="2" charset="0"/>
                  <a:ea typeface="Calibri" panose="020F0502020204030204" pitchFamily="34" charset="0"/>
                  <a:cs typeface="Times New Roman" panose="02020603050405020304" pitchFamily="18" charset="0"/>
                </a:endParaRPr>
              </a:p>
              <a:p>
                <a:pPr marL="201168" lvl="1" indent="0">
                  <a:lnSpc>
                    <a:spcPct val="150000"/>
                  </a:lnSpc>
                  <a:buNone/>
                </a:pPr>
                <a:r>
                  <a:rPr lang="en-IN" dirty="0" smtClean="0">
                    <a:solidFill>
                      <a:srgbClr val="FF0000"/>
                    </a:solidFill>
                    <a:latin typeface="Sitka Text" pitchFamily="2" charset="0"/>
                  </a:rPr>
                  <a:t>59 </a:t>
                </a:r>
                <a:r>
                  <a:rPr lang="en-IN" dirty="0">
                    <a:solidFill>
                      <a:srgbClr val="FF0000"/>
                    </a:solidFill>
                    <a:latin typeface="Sitka Text" pitchFamily="2" charset="0"/>
                  </a:rPr>
                  <a:t>FPS on a </a:t>
                </a:r>
                <a:r>
                  <a:rPr lang="en-IN" dirty="0" err="1">
                    <a:solidFill>
                      <a:srgbClr val="FF0000"/>
                    </a:solidFill>
                    <a:latin typeface="Sitka Text" pitchFamily="2" charset="0"/>
                  </a:rPr>
                  <a:t>Nvidia</a:t>
                </a:r>
                <a:r>
                  <a:rPr lang="en-IN" dirty="0">
                    <a:solidFill>
                      <a:srgbClr val="FF0000"/>
                    </a:solidFill>
                    <a:latin typeface="Sitka Text" pitchFamily="2" charset="0"/>
                  </a:rPr>
                  <a:t> Titan </a:t>
                </a:r>
                <a:r>
                  <a:rPr lang="en-IN" dirty="0" err="1">
                    <a:solidFill>
                      <a:srgbClr val="FF0000"/>
                    </a:solidFill>
                    <a:latin typeface="Sitka Text" pitchFamily="2" charset="0"/>
                  </a:rPr>
                  <a:t>Xand</a:t>
                </a:r>
                <a:r>
                  <a:rPr lang="en-IN" dirty="0">
                    <a:solidFill>
                      <a:srgbClr val="FF0000"/>
                    </a:solidFill>
                    <a:latin typeface="Sitka Text" pitchFamily="2" charset="0"/>
                  </a:rPr>
                  <a:t> for </a:t>
                </a:r>
                <a14:m>
                  <m:oMath xmlns:m="http://schemas.openxmlformats.org/officeDocument/2006/math">
                    <m:r>
                      <a:rPr lang="en-IN" i="1">
                        <a:solidFill>
                          <a:srgbClr val="FF0000"/>
                        </a:solidFill>
                        <a:latin typeface="Cambria Math" panose="02040503050406030204" pitchFamily="18" charset="0"/>
                      </a:rPr>
                      <m:t>512×512</m:t>
                    </m:r>
                  </m:oMath>
                </a14:m>
                <a:r>
                  <a:rPr lang="en-IN" dirty="0">
                    <a:solidFill>
                      <a:srgbClr val="FF0000"/>
                    </a:solidFill>
                    <a:latin typeface="Sitka Text" pitchFamily="2" charset="0"/>
                  </a:rPr>
                  <a:t> input</a:t>
                </a:r>
                <a:endParaRPr lang="en-US" dirty="0">
                  <a:solidFill>
                    <a:srgbClr val="FF0000"/>
                  </a:solidFill>
                  <a:latin typeface="Sitka Text" pitchFamily="2" charset="0"/>
                </a:endParaRPr>
              </a:p>
              <a:p>
                <a:pPr marL="0" indent="0">
                  <a:lnSpc>
                    <a:spcPct val="150000"/>
                  </a:lnSpc>
                  <a:buNone/>
                </a:pPr>
                <a:r>
                  <a:rPr lang="en-US" dirty="0">
                    <a:solidFill>
                      <a:srgbClr val="0070C0"/>
                    </a:solidFill>
                    <a:latin typeface="Sitka Text" pitchFamily="2" charset="0"/>
                  </a:rPr>
                  <a:t>Faster </a:t>
                </a:r>
                <a:r>
                  <a:rPr lang="en-US" dirty="0" smtClean="0">
                    <a:solidFill>
                      <a:srgbClr val="0070C0"/>
                    </a:solidFill>
                    <a:latin typeface="Sitka Text" pitchFamily="2" charset="0"/>
                  </a:rPr>
                  <a:t>R-CNN</a:t>
                </a:r>
              </a:p>
              <a:p>
                <a:pPr marL="201168" lvl="1" indent="0">
                  <a:lnSpc>
                    <a:spcPct val="150000"/>
                  </a:lnSpc>
                  <a:buNone/>
                </a:pPr>
                <a:r>
                  <a:rPr lang="en-IN" dirty="0" err="1" smtClean="0">
                    <a:solidFill>
                      <a:srgbClr val="0070C0"/>
                    </a:solidFill>
                    <a:latin typeface="Sitka Text" pitchFamily="2" charset="0"/>
                  </a:rPr>
                  <a:t>mAP</a:t>
                </a:r>
                <a:r>
                  <a:rPr lang="en-IN" dirty="0" smtClean="0">
                    <a:solidFill>
                      <a:srgbClr val="0070C0"/>
                    </a:solidFill>
                    <a:latin typeface="Sitka Text" pitchFamily="2" charset="0"/>
                  </a:rPr>
                  <a:t> </a:t>
                </a:r>
                <a:r>
                  <a:rPr lang="en-IN" dirty="0">
                    <a:solidFill>
                      <a:srgbClr val="0070C0"/>
                    </a:solidFill>
                    <a:latin typeface="Sitka Text" pitchFamily="2" charset="0"/>
                  </a:rPr>
                  <a:t>of 73.2</a:t>
                </a:r>
                <a:r>
                  <a:rPr lang="en-IN" dirty="0" smtClean="0">
                    <a:solidFill>
                      <a:srgbClr val="0070C0"/>
                    </a:solidFill>
                    <a:latin typeface="Sitka Text" pitchFamily="2" charset="0"/>
                  </a:rPr>
                  <a:t>% </a:t>
                </a:r>
                <a:r>
                  <a:rPr lang="en-IN" dirty="0">
                    <a:solidFill>
                      <a:srgbClr val="0070C0"/>
                    </a:solidFill>
                    <a:latin typeface="Sitka Text" pitchFamily="2" charset="0"/>
                  </a:rPr>
                  <a:t>VOC2007 test </a:t>
                </a:r>
                <a:r>
                  <a:rPr lang="en-IN" dirty="0" smtClean="0">
                    <a:solidFill>
                      <a:srgbClr val="0070C0"/>
                    </a:solidFill>
                    <a:latin typeface="Sitka Text" pitchFamily="2" charset="0"/>
                  </a:rPr>
                  <a:t>dataset</a:t>
                </a:r>
              </a:p>
              <a:p>
                <a:pPr marL="201168" lvl="1" indent="0">
                  <a:lnSpc>
                    <a:spcPct val="150000"/>
                  </a:lnSpc>
                  <a:buNone/>
                </a:pPr>
                <a:r>
                  <a:rPr lang="en-IN" dirty="0" smtClean="0">
                    <a:solidFill>
                      <a:srgbClr val="0070C0"/>
                    </a:solidFill>
                    <a:latin typeface="Sitka Text" pitchFamily="2" charset="0"/>
                  </a:rPr>
                  <a:t>7 FPS</a:t>
                </a:r>
                <a:endParaRPr lang="en-US" dirty="0" smtClean="0">
                  <a:solidFill>
                    <a:srgbClr val="0070C0"/>
                  </a:solidFill>
                  <a:latin typeface="Sitka Text" pitchFamily="2"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515"/>
                </a:stretch>
              </a:blipFill>
            </p:spPr>
            <p:txBody>
              <a:bodyPr/>
              <a:lstStyle/>
              <a:p>
                <a:r>
                  <a:rPr lang="en-US">
                    <a:noFill/>
                  </a:rPr>
                  <a:t> </a:t>
                </a:r>
              </a:p>
            </p:txBody>
          </p:sp>
        </mc:Fallback>
      </mc:AlternateContent>
    </p:spTree>
    <p:extLst>
      <p:ext uri="{BB962C8B-B14F-4D97-AF65-F5344CB8AC3E}">
        <p14:creationId xmlns:p14="http://schemas.microsoft.com/office/powerpoint/2010/main" val="351444039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YOLO (You Only Look Once)</a:t>
            </a:r>
            <a:endParaRPr lang="en-US" dirty="0">
              <a:latin typeface="Sitka Text" pitchFamily="2" charset="0"/>
            </a:endParaRPr>
          </a:p>
        </p:txBody>
      </p:sp>
      <p:pic>
        <p:nvPicPr>
          <p:cNvPr id="4" name="Content Placeholder 3"/>
          <p:cNvPicPr>
            <a:picLocks noGrp="1"/>
          </p:cNvPicPr>
          <p:nvPr>
            <p:ph idx="1"/>
          </p:nvPr>
        </p:nvPicPr>
        <p:blipFill rotWithShape="1">
          <a:blip r:embed="rId3"/>
          <a:srcRect b="54669"/>
          <a:stretch/>
        </p:blipFill>
        <p:spPr>
          <a:xfrm>
            <a:off x="1402080" y="2725566"/>
            <a:ext cx="9448799" cy="2811634"/>
          </a:xfrm>
          <a:prstGeom prst="rect">
            <a:avLst/>
          </a:prstGeom>
        </p:spPr>
      </p:pic>
      <p:sp>
        <p:nvSpPr>
          <p:cNvPr id="3" name="Rectangle 2"/>
          <p:cNvSpPr/>
          <p:nvPr/>
        </p:nvSpPr>
        <p:spPr>
          <a:xfrm>
            <a:off x="1097279" y="1908297"/>
            <a:ext cx="9864231" cy="707886"/>
          </a:xfrm>
          <a:prstGeom prst="rect">
            <a:avLst/>
          </a:prstGeom>
        </p:spPr>
        <p:txBody>
          <a:bodyPr wrap="square">
            <a:spAutoFit/>
          </a:bodyPr>
          <a:lstStyle/>
          <a:p>
            <a:r>
              <a:rPr lang="en-IN" sz="2000" dirty="0">
                <a:latin typeface="Sitka Text" pitchFamily="2" charset="0"/>
                <a:ea typeface="Calibri" panose="020F0502020204030204" pitchFamily="34" charset="0"/>
                <a:cs typeface="Times New Roman" panose="02020603050405020304" pitchFamily="18" charset="0"/>
              </a:rPr>
              <a:t>Using YOLO, </a:t>
            </a:r>
            <a:r>
              <a:rPr lang="en-IN" sz="2000" dirty="0">
                <a:solidFill>
                  <a:srgbClr val="FF0000"/>
                </a:solidFill>
                <a:latin typeface="Sitka Text" pitchFamily="2" charset="0"/>
                <a:ea typeface="Calibri" panose="020F0502020204030204" pitchFamily="34" charset="0"/>
                <a:cs typeface="Times New Roman" panose="02020603050405020304" pitchFamily="18" charset="0"/>
              </a:rPr>
              <a:t>you only look once </a:t>
            </a:r>
            <a:r>
              <a:rPr lang="en-IN" sz="2000" dirty="0">
                <a:latin typeface="Sitka Text" pitchFamily="2" charset="0"/>
                <a:ea typeface="Calibri" panose="020F0502020204030204" pitchFamily="34" charset="0"/>
                <a:cs typeface="Times New Roman" panose="02020603050405020304" pitchFamily="18" charset="0"/>
              </a:rPr>
              <a:t>at an image to predict what objects are present and where they </a:t>
            </a:r>
            <a:r>
              <a:rPr lang="en-IN" sz="2000" dirty="0" smtClean="0">
                <a:latin typeface="Sitka Text" pitchFamily="2" charset="0"/>
                <a:ea typeface="Calibri" panose="020F0502020204030204" pitchFamily="34" charset="0"/>
                <a:cs typeface="Times New Roman" panose="02020603050405020304" pitchFamily="18" charset="0"/>
              </a:rPr>
              <a:t>are.</a:t>
            </a:r>
            <a:endParaRPr lang="en-US" sz="2000" dirty="0"/>
          </a:p>
        </p:txBody>
      </p:sp>
      <p:sp>
        <p:nvSpPr>
          <p:cNvPr id="5" name="Rectangle 4"/>
          <p:cNvSpPr/>
          <p:nvPr/>
        </p:nvSpPr>
        <p:spPr>
          <a:xfrm>
            <a:off x="565571" y="6427113"/>
            <a:ext cx="11141007" cy="261610"/>
          </a:xfrm>
          <a:prstGeom prst="rect">
            <a:avLst/>
          </a:prstGeom>
        </p:spPr>
        <p:txBody>
          <a:bodyPr wrap="square">
            <a:spAutoFit/>
          </a:bodyPr>
          <a:lstStyle/>
          <a:p>
            <a:r>
              <a:rPr lang="en-US" sz="1100" dirty="0" err="1">
                <a:solidFill>
                  <a:schemeClr val="bg1"/>
                </a:solidFill>
                <a:latin typeface="Sitka Text" pitchFamily="2" charset="0"/>
              </a:rPr>
              <a:t>Redmon</a:t>
            </a:r>
            <a:r>
              <a:rPr lang="en-US" sz="1100" dirty="0">
                <a:solidFill>
                  <a:schemeClr val="bg1"/>
                </a:solidFill>
                <a:latin typeface="Sitka Text" pitchFamily="2" charset="0"/>
              </a:rPr>
              <a:t>, Joseph, et al. "You only look once: Unified, real-time object detection." </a:t>
            </a:r>
            <a:r>
              <a:rPr lang="en-US" sz="1100" i="1" dirty="0">
                <a:solidFill>
                  <a:schemeClr val="bg1"/>
                </a:solidFill>
                <a:latin typeface="Sitka Text" pitchFamily="2" charset="0"/>
              </a:rPr>
              <a:t>Proceedings of the IEEE conference on computer vision and pattern recognition</a:t>
            </a:r>
            <a:r>
              <a:rPr lang="en-US" sz="1100" dirty="0">
                <a:solidFill>
                  <a:schemeClr val="bg1"/>
                </a:solidFill>
                <a:latin typeface="Sitka Text" pitchFamily="2" charset="0"/>
              </a:rPr>
              <a:t>. 2016.</a:t>
            </a:r>
          </a:p>
        </p:txBody>
      </p:sp>
      <mc:AlternateContent xmlns:mc="http://schemas.openxmlformats.org/markup-compatibility/2006" xmlns:a14="http://schemas.microsoft.com/office/drawing/2010/main">
        <mc:Choice Requires="a14">
          <p:sp>
            <p:nvSpPr>
              <p:cNvPr id="6" name="TextBox 5"/>
              <p:cNvSpPr txBox="1"/>
              <p:nvPr/>
            </p:nvSpPr>
            <p:spPr>
              <a:xfrm>
                <a:off x="2404532" y="5352534"/>
                <a:ext cx="12747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448</m:t>
                      </m:r>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448</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404532" y="5352534"/>
                <a:ext cx="1274708" cy="36933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0825714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YOLO (You Only Look Once)</a:t>
            </a:r>
            <a:endParaRPr lang="en-IN" dirty="0"/>
          </a:p>
        </p:txBody>
      </p:sp>
      <p:pic>
        <p:nvPicPr>
          <p:cNvPr id="4" name="Content Placeholder 3"/>
          <p:cNvPicPr>
            <a:picLocks noGrp="1"/>
          </p:cNvPicPr>
          <p:nvPr>
            <p:ph idx="1"/>
          </p:nvPr>
        </p:nvPicPr>
        <p:blipFill rotWithShape="1">
          <a:blip r:embed="rId3"/>
          <a:srcRect b="32125"/>
          <a:stretch/>
        </p:blipFill>
        <p:spPr>
          <a:xfrm>
            <a:off x="5800491" y="2074259"/>
            <a:ext cx="6280878" cy="4059862"/>
          </a:xfrm>
          <a:prstGeom prst="rect">
            <a:avLst/>
          </a:prstGeom>
        </p:spPr>
      </p:pic>
      <p:sp>
        <p:nvSpPr>
          <p:cNvPr id="3" name="Rectangle 2"/>
          <p:cNvSpPr/>
          <p:nvPr/>
        </p:nvSpPr>
        <p:spPr>
          <a:xfrm>
            <a:off x="1097280" y="1769259"/>
            <a:ext cx="6165470" cy="1421736"/>
          </a:xfrm>
          <a:prstGeom prst="rect">
            <a:avLst/>
          </a:prstGeom>
        </p:spPr>
        <p:txBody>
          <a:bodyPr wrap="none">
            <a:spAutoFit/>
          </a:bodyPr>
          <a:lstStyle/>
          <a:p>
            <a:pPr marL="285750" indent="-285750">
              <a:lnSpc>
                <a:spcPct val="150000"/>
              </a:lnSpc>
              <a:buFont typeface="Arial" panose="020B0604020202020204" pitchFamily="34" charset="0"/>
              <a:buChar char="•"/>
            </a:pPr>
            <a:r>
              <a:rPr lang="en-IN" sz="2000" dirty="0" smtClean="0">
                <a:latin typeface="Sitka Text" pitchFamily="2" charset="0"/>
                <a:ea typeface="Calibri" panose="020F0502020204030204" pitchFamily="34" charset="0"/>
                <a:cs typeface="Times New Roman" panose="02020603050405020304" pitchFamily="18" charset="0"/>
              </a:rPr>
              <a:t>Extremely fast</a:t>
            </a:r>
          </a:p>
          <a:p>
            <a:pPr marL="285750" indent="-285750">
              <a:lnSpc>
                <a:spcPct val="150000"/>
              </a:lnSpc>
              <a:buFont typeface="Arial" panose="020B0604020202020204" pitchFamily="34" charset="0"/>
              <a:buChar char="•"/>
            </a:pPr>
            <a:r>
              <a:rPr lang="en-IN" sz="2000" dirty="0" smtClean="0">
                <a:latin typeface="Sitka Text" pitchFamily="2" charset="0"/>
              </a:rPr>
              <a:t>Reasons globally about the image </a:t>
            </a:r>
          </a:p>
          <a:p>
            <a:pPr marL="285750" indent="-285750">
              <a:lnSpc>
                <a:spcPct val="150000"/>
              </a:lnSpc>
              <a:buFont typeface="Arial" panose="020B0604020202020204" pitchFamily="34" charset="0"/>
              <a:buChar char="•"/>
            </a:pPr>
            <a:r>
              <a:rPr lang="en-IN" sz="2000" dirty="0" smtClean="0">
                <a:latin typeface="Sitka Text" pitchFamily="2" charset="0"/>
              </a:rPr>
              <a:t>Learns generalizable representations of objects</a:t>
            </a:r>
            <a:endParaRPr lang="en-US" sz="2000" dirty="0">
              <a:latin typeface="Sitka Text" pitchFamily="2" charset="0"/>
            </a:endParaRPr>
          </a:p>
        </p:txBody>
      </p:sp>
      <p:sp>
        <p:nvSpPr>
          <p:cNvPr id="5" name="Rectangle 4"/>
          <p:cNvSpPr/>
          <p:nvPr/>
        </p:nvSpPr>
        <p:spPr>
          <a:xfrm>
            <a:off x="565571" y="6427113"/>
            <a:ext cx="11141007" cy="261610"/>
          </a:xfrm>
          <a:prstGeom prst="rect">
            <a:avLst/>
          </a:prstGeom>
        </p:spPr>
        <p:txBody>
          <a:bodyPr wrap="square">
            <a:spAutoFit/>
          </a:bodyPr>
          <a:lstStyle/>
          <a:p>
            <a:r>
              <a:rPr lang="en-US" sz="1100" dirty="0" err="1">
                <a:solidFill>
                  <a:schemeClr val="bg1"/>
                </a:solidFill>
                <a:latin typeface="Sitka Text" pitchFamily="2" charset="0"/>
              </a:rPr>
              <a:t>Redmon</a:t>
            </a:r>
            <a:r>
              <a:rPr lang="en-US" sz="1100" dirty="0">
                <a:solidFill>
                  <a:schemeClr val="bg1"/>
                </a:solidFill>
                <a:latin typeface="Sitka Text" pitchFamily="2" charset="0"/>
              </a:rPr>
              <a:t>, Joseph, et al. "You only look once: Unified, real-time object detection." </a:t>
            </a:r>
            <a:r>
              <a:rPr lang="en-US" sz="1100" i="1" dirty="0">
                <a:solidFill>
                  <a:schemeClr val="bg1"/>
                </a:solidFill>
                <a:latin typeface="Sitka Text" pitchFamily="2" charset="0"/>
              </a:rPr>
              <a:t>Proceedings of the IEEE conference on computer vision and pattern recognition</a:t>
            </a:r>
            <a:r>
              <a:rPr lang="en-US" sz="1100" dirty="0">
                <a:solidFill>
                  <a:schemeClr val="bg1"/>
                </a:solidFill>
                <a:latin typeface="Sitka Text" pitchFamily="2" charset="0"/>
              </a:rPr>
              <a:t>. 2016.</a:t>
            </a:r>
          </a:p>
        </p:txBody>
      </p:sp>
      <p:sp>
        <p:nvSpPr>
          <p:cNvPr id="6" name="Rectangle 5"/>
          <p:cNvSpPr/>
          <p:nvPr/>
        </p:nvSpPr>
        <p:spPr>
          <a:xfrm>
            <a:off x="0" y="5911285"/>
            <a:ext cx="10272889" cy="369332"/>
          </a:xfrm>
          <a:prstGeom prst="rect">
            <a:avLst/>
          </a:prstGeom>
        </p:spPr>
        <p:txBody>
          <a:bodyPr wrap="square">
            <a:spAutoFit/>
          </a:bodyPr>
          <a:lstStyle/>
          <a:p>
            <a:r>
              <a:rPr lang="en-IN" dirty="0" smtClean="0">
                <a:solidFill>
                  <a:srgbClr val="FF0000"/>
                </a:solidFill>
                <a:latin typeface="Sitka Text" pitchFamily="2" charset="0"/>
                <a:ea typeface="Calibri" panose="020F0502020204030204" pitchFamily="34" charset="0"/>
                <a:cs typeface="Times New Roman" panose="02020603050405020304" pitchFamily="18" charset="0"/>
              </a:rPr>
              <a:t>Predicts all </a:t>
            </a:r>
            <a:r>
              <a:rPr lang="en-IN" dirty="0">
                <a:solidFill>
                  <a:srgbClr val="FF0000"/>
                </a:solidFill>
                <a:latin typeface="Sitka Text" pitchFamily="2" charset="0"/>
                <a:ea typeface="Calibri" panose="020F0502020204030204" pitchFamily="34" charset="0"/>
                <a:cs typeface="Times New Roman" panose="02020603050405020304" pitchFamily="18" charset="0"/>
              </a:rPr>
              <a:t>bounding boxes across all </a:t>
            </a:r>
            <a:r>
              <a:rPr lang="en-IN" dirty="0" smtClean="0">
                <a:solidFill>
                  <a:srgbClr val="FF0000"/>
                </a:solidFill>
                <a:latin typeface="Sitka Text" pitchFamily="2" charset="0"/>
                <a:ea typeface="Calibri" panose="020F0502020204030204" pitchFamily="34" charset="0"/>
                <a:cs typeface="Times New Roman" panose="02020603050405020304" pitchFamily="18" charset="0"/>
              </a:rPr>
              <a:t>classes for </a:t>
            </a:r>
            <a:r>
              <a:rPr lang="en-IN" dirty="0">
                <a:solidFill>
                  <a:srgbClr val="FF0000"/>
                </a:solidFill>
                <a:latin typeface="Sitka Text" pitchFamily="2" charset="0"/>
                <a:ea typeface="Calibri" panose="020F0502020204030204" pitchFamily="34" charset="0"/>
                <a:cs typeface="Times New Roman" panose="02020603050405020304" pitchFamily="18" charset="0"/>
              </a:rPr>
              <a:t>an image simultaneously</a:t>
            </a:r>
            <a:endParaRPr lang="en-US" dirty="0">
              <a:solidFill>
                <a:srgbClr val="FF0000"/>
              </a:solidFill>
            </a:endParaRPr>
          </a:p>
        </p:txBody>
      </p:sp>
      <mc:AlternateContent xmlns:mc="http://schemas.openxmlformats.org/markup-compatibility/2006" xmlns:p14="http://schemas.microsoft.com/office/powerpoint/2010/main">
        <mc:Choice Requires="p14">
          <p:contentPart p14:bwMode="auto" r:id="rId4">
            <p14:nvContentPartPr>
              <p14:cNvPr id="115" name="Ink 114"/>
              <p14:cNvContentPartPr/>
              <p14:nvPr/>
            </p14:nvContentPartPr>
            <p14:xfrm>
              <a:off x="10319697" y="3573845"/>
              <a:ext cx="1314720" cy="61200"/>
            </p14:xfrm>
          </p:contentPart>
        </mc:Choice>
        <mc:Fallback xmlns="">
          <p:pic>
            <p:nvPicPr>
              <p:cNvPr id="115" name="Ink 114"/>
              <p:cNvPicPr/>
              <p:nvPr/>
            </p:nvPicPr>
            <p:blipFill>
              <a:blip r:embed="rId23"/>
              <a:stretch>
                <a:fillRect/>
              </a:stretch>
            </p:blipFill>
            <p:spPr>
              <a:xfrm>
                <a:off x="10316817" y="3571685"/>
                <a:ext cx="131976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0" name="Ink 119"/>
              <p14:cNvContentPartPr/>
              <p14:nvPr/>
            </p14:nvContentPartPr>
            <p14:xfrm>
              <a:off x="10358937" y="4369445"/>
              <a:ext cx="1330560" cy="92160"/>
            </p14:xfrm>
          </p:contentPart>
        </mc:Choice>
        <mc:Fallback xmlns="">
          <p:pic>
            <p:nvPicPr>
              <p:cNvPr id="120" name="Ink 119"/>
              <p:cNvPicPr/>
              <p:nvPr/>
            </p:nvPicPr>
            <p:blipFill>
              <a:blip r:embed="rId27"/>
              <a:stretch>
                <a:fillRect/>
              </a:stretch>
            </p:blipFill>
            <p:spPr>
              <a:xfrm>
                <a:off x="10352097" y="4363685"/>
                <a:ext cx="1350000" cy="108000"/>
              </a:xfrm>
              <a:prstGeom prst="rect">
                <a:avLst/>
              </a:prstGeom>
            </p:spPr>
          </p:pic>
        </mc:Fallback>
      </mc:AlternateContent>
    </p:spTree>
    <p:extLst>
      <p:ext uri="{BB962C8B-B14F-4D97-AF65-F5344CB8AC3E}">
        <p14:creationId xmlns:p14="http://schemas.microsoft.com/office/powerpoint/2010/main" val="425558464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YOLO (You Only Look Once)</a:t>
            </a:r>
            <a:endParaRPr lang="en-IN" dirty="0"/>
          </a:p>
        </p:txBody>
      </p:sp>
      <mc:AlternateContent xmlns:mc="http://schemas.openxmlformats.org/markup-compatibility/2006" xmlns:a14="http://schemas.microsoft.com/office/drawing/2010/main">
        <mc:Choice Requires="a14">
          <p:sp>
            <p:nvSpPr>
              <p:cNvPr id="4" name="Rectangle 3"/>
              <p:cNvSpPr/>
              <p:nvPr/>
            </p:nvSpPr>
            <p:spPr>
              <a:xfrm>
                <a:off x="1761991" y="5502286"/>
                <a:ext cx="7685513" cy="4743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solidFill>
                            <a:schemeClr val="accent2"/>
                          </a:solidFill>
                          <a:latin typeface="Cambria Math" panose="02040503050406030204" pitchFamily="18" charset="0"/>
                        </a:rPr>
                        <m:t>𝑃𝑟</m:t>
                      </m:r>
                      <m:d>
                        <m:dPr>
                          <m:ctrlPr>
                            <a:rPr lang="en-US" sz="2000" i="1">
                              <a:solidFill>
                                <a:schemeClr val="accent2"/>
                              </a:solidFill>
                              <a:latin typeface="Cambria Math" panose="02040503050406030204" pitchFamily="18" charset="0"/>
                            </a:rPr>
                          </m:ctrlPr>
                        </m:dPr>
                        <m:e>
                          <m:sSub>
                            <m:sSubPr>
                              <m:ctrlPr>
                                <a:rPr lang="en-US" sz="2000" i="1">
                                  <a:solidFill>
                                    <a:schemeClr val="accent2"/>
                                  </a:solidFill>
                                  <a:latin typeface="Cambria Math" panose="02040503050406030204" pitchFamily="18" charset="0"/>
                                </a:rPr>
                              </m:ctrlPr>
                            </m:sSubPr>
                            <m:e>
                              <m:r>
                                <a:rPr lang="en-US" sz="2000" i="1">
                                  <a:solidFill>
                                    <a:schemeClr val="accent2"/>
                                  </a:solidFill>
                                  <a:latin typeface="Cambria Math" panose="02040503050406030204" pitchFamily="18" charset="0"/>
                                </a:rPr>
                                <m:t>𝐶𝑙𝑎𝑠𝑠</m:t>
                              </m:r>
                            </m:e>
                            <m:sub>
                              <m:r>
                                <a:rPr lang="en-US" sz="2000" i="1">
                                  <a:solidFill>
                                    <a:schemeClr val="accent2"/>
                                  </a:solidFill>
                                  <a:latin typeface="Cambria Math" panose="02040503050406030204" pitchFamily="18" charset="0"/>
                                </a:rPr>
                                <m:t>𝑖</m:t>
                              </m:r>
                            </m:sub>
                          </m:sSub>
                        </m:e>
                        <m:e>
                          <m:r>
                            <a:rPr lang="en-US" sz="2000" i="1">
                              <a:solidFill>
                                <a:schemeClr val="accent2"/>
                              </a:solidFill>
                              <a:latin typeface="Cambria Math" panose="02040503050406030204" pitchFamily="18" charset="0"/>
                            </a:rPr>
                            <m:t>𝑂𝑏𝑗𝑒𝑐𝑡</m:t>
                          </m:r>
                        </m:e>
                      </m:d>
                      <m:r>
                        <a:rPr lang="en-US" sz="2000" i="0">
                          <a:solidFill>
                            <a:schemeClr val="accent2"/>
                          </a:solidFill>
                          <a:latin typeface="Cambria Math" panose="02040503050406030204" pitchFamily="18" charset="0"/>
                        </a:rPr>
                        <m:t>∗ </m:t>
                      </m:r>
                      <m:r>
                        <a:rPr lang="en-US" sz="2000" i="1">
                          <a:solidFill>
                            <a:schemeClr val="accent2"/>
                          </a:solidFill>
                          <a:latin typeface="Cambria Math" panose="02040503050406030204" pitchFamily="18" charset="0"/>
                        </a:rPr>
                        <m:t>𝑃𝑟</m:t>
                      </m:r>
                      <m:d>
                        <m:dPr>
                          <m:ctrlPr>
                            <a:rPr lang="en-US" sz="2000" i="1">
                              <a:solidFill>
                                <a:schemeClr val="accent2"/>
                              </a:solidFill>
                              <a:latin typeface="Cambria Math" panose="02040503050406030204" pitchFamily="18" charset="0"/>
                            </a:rPr>
                          </m:ctrlPr>
                        </m:dPr>
                        <m:e>
                          <m:r>
                            <a:rPr lang="en-US" sz="2000" i="1">
                              <a:solidFill>
                                <a:schemeClr val="accent2"/>
                              </a:solidFill>
                              <a:latin typeface="Cambria Math" panose="02040503050406030204" pitchFamily="18" charset="0"/>
                            </a:rPr>
                            <m:t>𝑂𝑏𝑗𝑒𝑐𝑡</m:t>
                          </m:r>
                        </m:e>
                      </m:d>
                      <m:r>
                        <a:rPr lang="en-US" sz="2000" i="0">
                          <a:solidFill>
                            <a:schemeClr val="accent2"/>
                          </a:solidFill>
                          <a:latin typeface="Cambria Math" panose="02040503050406030204" pitchFamily="18" charset="0"/>
                        </a:rPr>
                        <m:t>∗</m:t>
                      </m:r>
                      <m:sSubSup>
                        <m:sSubSupPr>
                          <m:ctrlPr>
                            <a:rPr lang="en-US" sz="2000" i="1">
                              <a:solidFill>
                                <a:schemeClr val="accent2"/>
                              </a:solidFill>
                              <a:latin typeface="Cambria Math" panose="02040503050406030204" pitchFamily="18" charset="0"/>
                            </a:rPr>
                          </m:ctrlPr>
                        </m:sSubSupPr>
                        <m:e>
                          <m:r>
                            <a:rPr lang="en-US" sz="2000" i="1">
                              <a:solidFill>
                                <a:schemeClr val="accent2"/>
                              </a:solidFill>
                              <a:latin typeface="Cambria Math" panose="02040503050406030204" pitchFamily="18" charset="0"/>
                            </a:rPr>
                            <m:t>𝐼𝑂𝑈</m:t>
                          </m:r>
                        </m:e>
                        <m:sub>
                          <m:r>
                            <m:rPr>
                              <m:sty m:val="p"/>
                            </m:rPr>
                            <a:rPr lang="en-US" sz="2000" i="0">
                              <a:solidFill>
                                <a:schemeClr val="accent2"/>
                              </a:solidFill>
                              <a:latin typeface="Cambria Math" panose="02040503050406030204" pitchFamily="18" charset="0"/>
                            </a:rPr>
                            <m:t>pred</m:t>
                          </m:r>
                        </m:sub>
                        <m:sup>
                          <m:r>
                            <m:rPr>
                              <m:sty m:val="p"/>
                            </m:rPr>
                            <a:rPr lang="en-US" sz="2000" i="0">
                              <a:solidFill>
                                <a:schemeClr val="accent2"/>
                              </a:solidFill>
                              <a:latin typeface="Cambria Math" panose="02040503050406030204" pitchFamily="18" charset="0"/>
                            </a:rPr>
                            <m:t>truth</m:t>
                          </m:r>
                        </m:sup>
                      </m:sSubSup>
                      <m:r>
                        <a:rPr lang="en-US" sz="2000" i="0">
                          <a:solidFill>
                            <a:schemeClr val="accent2"/>
                          </a:solidFill>
                          <a:latin typeface="Cambria Math" panose="02040503050406030204" pitchFamily="18" charset="0"/>
                        </a:rPr>
                        <m:t>=</m:t>
                      </m:r>
                      <m:r>
                        <a:rPr lang="en-US" sz="2000" i="1">
                          <a:solidFill>
                            <a:schemeClr val="accent2"/>
                          </a:solidFill>
                          <a:latin typeface="Cambria Math" panose="02040503050406030204" pitchFamily="18" charset="0"/>
                        </a:rPr>
                        <m:t>𝑃𝑟</m:t>
                      </m:r>
                      <m:d>
                        <m:dPr>
                          <m:ctrlPr>
                            <a:rPr lang="en-US" sz="2000" i="1">
                              <a:solidFill>
                                <a:schemeClr val="accent2"/>
                              </a:solidFill>
                              <a:latin typeface="Cambria Math" panose="02040503050406030204" pitchFamily="18" charset="0"/>
                            </a:rPr>
                          </m:ctrlPr>
                        </m:dPr>
                        <m:e>
                          <m:sSub>
                            <m:sSubPr>
                              <m:ctrlPr>
                                <a:rPr lang="en-US" sz="2000" i="1">
                                  <a:solidFill>
                                    <a:schemeClr val="accent2"/>
                                  </a:solidFill>
                                  <a:latin typeface="Cambria Math" panose="02040503050406030204" pitchFamily="18" charset="0"/>
                                </a:rPr>
                              </m:ctrlPr>
                            </m:sSubPr>
                            <m:e>
                              <m:r>
                                <a:rPr lang="en-US" sz="2000" i="1">
                                  <a:solidFill>
                                    <a:schemeClr val="accent2"/>
                                  </a:solidFill>
                                  <a:latin typeface="Cambria Math" panose="02040503050406030204" pitchFamily="18" charset="0"/>
                                </a:rPr>
                                <m:t>𝐶𝑙𝑎𝑠𝑠</m:t>
                              </m:r>
                            </m:e>
                            <m:sub>
                              <m:r>
                                <a:rPr lang="en-US" sz="2000" i="1">
                                  <a:solidFill>
                                    <a:schemeClr val="accent2"/>
                                  </a:solidFill>
                                  <a:latin typeface="Cambria Math" panose="02040503050406030204" pitchFamily="18" charset="0"/>
                                </a:rPr>
                                <m:t>𝑖</m:t>
                              </m:r>
                            </m:sub>
                          </m:sSub>
                        </m:e>
                      </m:d>
                      <m:r>
                        <a:rPr lang="en-US" sz="2000" i="0">
                          <a:solidFill>
                            <a:schemeClr val="accent2"/>
                          </a:solidFill>
                          <a:latin typeface="Cambria Math" panose="02040503050406030204" pitchFamily="18" charset="0"/>
                        </a:rPr>
                        <m:t>∗</m:t>
                      </m:r>
                      <m:sSubSup>
                        <m:sSubSupPr>
                          <m:ctrlPr>
                            <a:rPr lang="en-US" sz="2000" i="1">
                              <a:solidFill>
                                <a:schemeClr val="accent2"/>
                              </a:solidFill>
                              <a:latin typeface="Cambria Math" panose="02040503050406030204" pitchFamily="18" charset="0"/>
                            </a:rPr>
                          </m:ctrlPr>
                        </m:sSubSupPr>
                        <m:e>
                          <m:r>
                            <a:rPr lang="en-US" sz="2000" i="1">
                              <a:solidFill>
                                <a:schemeClr val="accent2"/>
                              </a:solidFill>
                              <a:latin typeface="Cambria Math" panose="02040503050406030204" pitchFamily="18" charset="0"/>
                            </a:rPr>
                            <m:t>𝐼𝑂𝑈</m:t>
                          </m:r>
                        </m:e>
                        <m:sub>
                          <m:r>
                            <m:rPr>
                              <m:sty m:val="p"/>
                            </m:rPr>
                            <a:rPr lang="en-US" sz="2000" i="0">
                              <a:solidFill>
                                <a:schemeClr val="accent2"/>
                              </a:solidFill>
                              <a:latin typeface="Cambria Math" panose="02040503050406030204" pitchFamily="18" charset="0"/>
                            </a:rPr>
                            <m:t>pred</m:t>
                          </m:r>
                        </m:sub>
                        <m:sup>
                          <m:r>
                            <m:rPr>
                              <m:sty m:val="p"/>
                            </m:rPr>
                            <a:rPr lang="en-US" sz="2000" i="0">
                              <a:solidFill>
                                <a:schemeClr val="accent2"/>
                              </a:solidFill>
                              <a:latin typeface="Cambria Math" panose="02040503050406030204" pitchFamily="18" charset="0"/>
                            </a:rPr>
                            <m:t>truth</m:t>
                          </m:r>
                        </m:sup>
                      </m:sSubSup>
                    </m:oMath>
                  </m:oMathPara>
                </a14:m>
                <a:endParaRPr lang="en-US" sz="2000" dirty="0">
                  <a:solidFill>
                    <a:schemeClr val="accent2"/>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1761991" y="5502286"/>
                <a:ext cx="7685513" cy="474361"/>
              </a:xfrm>
              <a:prstGeom prst="rect">
                <a:avLst/>
              </a:prstGeom>
              <a:blipFill>
                <a:blip r:embed="rId3"/>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097280" y="3133080"/>
                <a:ext cx="4111767" cy="474361"/>
              </a:xfrm>
              <a:prstGeom prst="rect">
                <a:avLst/>
              </a:prstGeom>
            </p:spPr>
            <p:txBody>
              <a:bodyPr wrap="none">
                <a:spAutoFit/>
              </a:bodyPr>
              <a:lstStyle/>
              <a:p>
                <a:r>
                  <a:rPr lang="en-IN" sz="2000" dirty="0" smtClean="0">
                    <a:latin typeface="Sitka Text" pitchFamily="2" charset="0"/>
                    <a:ea typeface="Calibri" panose="020F0502020204030204" pitchFamily="34" charset="0"/>
                    <a:cs typeface="Times New Roman" panose="02020603050405020304" pitchFamily="18" charset="0"/>
                  </a:rPr>
                  <a:t>Confidence: </a:t>
                </a:r>
                <a14:m>
                  <m:oMath xmlns:m="http://schemas.openxmlformats.org/officeDocument/2006/math">
                    <m:r>
                      <a:rPr lang="en-IN" sz="2000" i="1">
                        <a:latin typeface="Cambria Math" panose="02040503050406030204" pitchFamily="18" charset="0"/>
                        <a:ea typeface="Calibri" panose="020F0502020204030204" pitchFamily="34" charset="0"/>
                        <a:cs typeface="Times New Roman" panose="02020603050405020304" pitchFamily="18" charset="0"/>
                      </a:rPr>
                      <m:t>𝑃𝑟</m:t>
                    </m:r>
                    <m:d>
                      <m:dPr>
                        <m:ctrlPr>
                          <a:rPr lang="en-IN" sz="2000" i="1">
                            <a:effectLst/>
                            <a:latin typeface="Cambria Math" panose="02040503050406030204" pitchFamily="18" charset="0"/>
                          </a:rPr>
                        </m:ctrlPr>
                      </m:dPr>
                      <m:e>
                        <m:r>
                          <a:rPr lang="en-IN" sz="2000" i="1">
                            <a:latin typeface="Cambria Math" panose="02040503050406030204" pitchFamily="18" charset="0"/>
                            <a:ea typeface="Calibri" panose="020F0502020204030204" pitchFamily="34" charset="0"/>
                            <a:cs typeface="Times New Roman" panose="02020603050405020304" pitchFamily="18" charset="0"/>
                          </a:rPr>
                          <m:t>𝑂𝑏𝑗𝑒𝑐𝑡</m:t>
                        </m:r>
                      </m:e>
                    </m:d>
                    <m:r>
                      <a:rPr lang="en-IN" sz="2000" i="1">
                        <a:latin typeface="Cambria Math" panose="02040503050406030204" pitchFamily="18" charset="0"/>
                        <a:ea typeface="Calibri" panose="020F0502020204030204" pitchFamily="34" charset="0"/>
                        <a:cs typeface="Times New Roman" panose="02020603050405020304" pitchFamily="18" charset="0"/>
                      </a:rPr>
                      <m:t>∗</m:t>
                    </m:r>
                    <m:sSubSup>
                      <m:sSubSupPr>
                        <m:ctrlPr>
                          <a:rPr lang="en-IN" sz="2000" i="1">
                            <a:effectLst/>
                            <a:latin typeface="Cambria Math" panose="02040503050406030204" pitchFamily="18" charset="0"/>
                          </a:rPr>
                        </m:ctrlPr>
                      </m:sSubSupPr>
                      <m:e>
                        <m:r>
                          <a:rPr lang="en-IN" sz="2000" i="1">
                            <a:latin typeface="Cambria Math" panose="02040503050406030204" pitchFamily="18" charset="0"/>
                            <a:ea typeface="Calibri" panose="020F0502020204030204" pitchFamily="34" charset="0"/>
                            <a:cs typeface="Times New Roman" panose="02020603050405020304" pitchFamily="18" charset="0"/>
                          </a:rPr>
                          <m:t>𝐼𝑂𝑈</m:t>
                        </m:r>
                      </m:e>
                      <m:sub>
                        <m:r>
                          <m:rPr>
                            <m:sty m:val="p"/>
                          </m:rPr>
                          <a:rPr lang="en-IN" sz="2000">
                            <a:latin typeface="Cambria Math" panose="02040503050406030204" pitchFamily="18" charset="0"/>
                            <a:ea typeface="Calibri" panose="020F0502020204030204" pitchFamily="34" charset="0"/>
                            <a:cs typeface="Times New Roman" panose="02020603050405020304" pitchFamily="18" charset="0"/>
                          </a:rPr>
                          <m:t>pred</m:t>
                        </m:r>
                      </m:sub>
                      <m:sup>
                        <m:r>
                          <m:rPr>
                            <m:sty m:val="p"/>
                          </m:rPr>
                          <a:rPr lang="en-IN" sz="2000">
                            <a:latin typeface="Cambria Math" panose="02040503050406030204" pitchFamily="18" charset="0"/>
                            <a:ea typeface="Calibri" panose="020F0502020204030204" pitchFamily="34" charset="0"/>
                            <a:cs typeface="Times New Roman" panose="02020603050405020304" pitchFamily="18" charset="0"/>
                          </a:rPr>
                          <m:t>truth</m:t>
                        </m:r>
                      </m:sup>
                    </m:sSubSup>
                  </m:oMath>
                </a14:m>
                <a:endParaRPr lang="en-IN" sz="2000" dirty="0"/>
              </a:p>
            </p:txBody>
          </p:sp>
        </mc:Choice>
        <mc:Fallback xmlns="">
          <p:sp>
            <p:nvSpPr>
              <p:cNvPr id="5" name="Rectangle 4"/>
              <p:cNvSpPr>
                <a:spLocks noRot="1" noChangeAspect="1" noMove="1" noResize="1" noEditPoints="1" noAdjustHandles="1" noChangeArrowheads="1" noChangeShapeType="1" noTextEdit="1"/>
              </p:cNvSpPr>
              <p:nvPr/>
            </p:nvSpPr>
            <p:spPr>
              <a:xfrm>
                <a:off x="1097280" y="3133080"/>
                <a:ext cx="4111767" cy="474361"/>
              </a:xfrm>
              <a:prstGeom prst="rect">
                <a:avLst/>
              </a:prstGeom>
              <a:blipFill>
                <a:blip r:embed="rId4"/>
                <a:stretch>
                  <a:fillRect l="-1481" t="-1282" b="-128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97280" y="3910085"/>
                <a:ext cx="6519990" cy="400110"/>
              </a:xfrm>
              <a:prstGeom prst="rect">
                <a:avLst/>
              </a:prstGeom>
            </p:spPr>
            <p:txBody>
              <a:bodyPr wrap="none">
                <a:spAutoFit/>
              </a:bodyPr>
              <a:lstStyle/>
              <a:p>
                <a:r>
                  <a:rPr lang="en-IN" sz="2000" dirty="0" smtClean="0">
                    <a:solidFill>
                      <a:srgbClr val="FF0000"/>
                    </a:solidFill>
                    <a:latin typeface="Sitka Text" pitchFamily="2" charset="0"/>
                    <a:ea typeface="Calibri" panose="020F0502020204030204" pitchFamily="34" charset="0"/>
                    <a:cs typeface="Times New Roman" panose="02020603050405020304" pitchFamily="18" charset="0"/>
                  </a:rPr>
                  <a:t>and Conditional class </a:t>
                </a:r>
                <a:r>
                  <a:rPr lang="en-IN" sz="2000" dirty="0">
                    <a:solidFill>
                      <a:srgbClr val="FF0000"/>
                    </a:solidFill>
                    <a:latin typeface="Sitka Text" pitchFamily="2" charset="0"/>
                    <a:ea typeface="Calibri" panose="020F0502020204030204" pitchFamily="34" charset="0"/>
                    <a:cs typeface="Times New Roman" panose="02020603050405020304" pitchFamily="18" charset="0"/>
                  </a:rPr>
                  <a:t>probabilities, </a:t>
                </a:r>
                <a14:m>
                  <m:oMath xmlns:m="http://schemas.openxmlformats.org/officeDocument/2006/math">
                    <m:r>
                      <a:rPr lang="en-IN" sz="2000"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𝑃𝑟</m:t>
                    </m:r>
                    <m:r>
                      <a:rPr lang="en-IN" sz="2000" i="1">
                        <a:solidFill>
                          <a:srgbClr val="FF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IN" sz="2000" i="1">
                            <a:solidFill>
                              <a:srgbClr val="FF0000"/>
                            </a:solidFill>
                            <a:effectLst/>
                            <a:latin typeface="Cambria Math" panose="02040503050406030204" pitchFamily="18" charset="0"/>
                          </a:rPr>
                        </m:ctrlPr>
                      </m:sSubPr>
                      <m:e>
                        <m:r>
                          <a:rPr lang="en-IN" sz="2000"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𝐶𝑙𝑎𝑠𝑠</m:t>
                        </m:r>
                      </m:e>
                      <m:sub>
                        <m:r>
                          <a:rPr lang="en-IN" sz="2000"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𝑖</m:t>
                        </m:r>
                      </m:sub>
                    </m:sSub>
                    <m:r>
                      <a:rPr lang="en-IN" sz="2000" i="1">
                        <a:solidFill>
                          <a:srgbClr val="FF0000"/>
                        </a:solidFill>
                        <a:latin typeface="Cambria Math" panose="02040503050406030204" pitchFamily="18" charset="0"/>
                        <a:ea typeface="Calibri" panose="020F0502020204030204" pitchFamily="34" charset="0"/>
                        <a:cs typeface="Times New Roman" panose="02020603050405020304" pitchFamily="18" charset="0"/>
                      </a:rPr>
                      <m:t>|</m:t>
                    </m:r>
                    <m:r>
                      <a:rPr lang="en-IN" sz="2000"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𝑂𝑏𝑗𝑒𝑐𝑡</m:t>
                    </m:r>
                    <m:r>
                      <a:rPr lang="en-IN" sz="2000" i="1">
                        <a:solidFill>
                          <a:srgbClr val="FF0000"/>
                        </a:solidFill>
                        <a:latin typeface="Cambria Math" panose="02040503050406030204" pitchFamily="18" charset="0"/>
                        <a:ea typeface="Calibri" panose="020F0502020204030204" pitchFamily="34" charset="0"/>
                        <a:cs typeface="Times New Roman" panose="02020603050405020304" pitchFamily="18" charset="0"/>
                      </a:rPr>
                      <m:t>)</m:t>
                    </m:r>
                  </m:oMath>
                </a14:m>
                <a:endParaRPr lang="en-IN" sz="20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1097280" y="3910085"/>
                <a:ext cx="6519990" cy="400110"/>
              </a:xfrm>
              <a:prstGeom prst="rect">
                <a:avLst/>
              </a:prstGeom>
              <a:blipFill>
                <a:blip r:embed="rId5"/>
                <a:stretch>
                  <a:fillRect l="-935" t="-9091" b="-24242"/>
                </a:stretch>
              </a:blipFill>
            </p:spPr>
            <p:txBody>
              <a:bodyPr/>
              <a:lstStyle/>
              <a:p>
                <a:r>
                  <a:rPr lang="en-US">
                    <a:noFill/>
                  </a:rPr>
                  <a:t> </a:t>
                </a:r>
              </a:p>
            </p:txBody>
          </p:sp>
        </mc:Fallback>
      </mc:AlternateContent>
      <p:sp>
        <p:nvSpPr>
          <p:cNvPr id="7" name="Rectangle 6"/>
          <p:cNvSpPr/>
          <p:nvPr/>
        </p:nvSpPr>
        <p:spPr>
          <a:xfrm>
            <a:off x="1097280" y="4988043"/>
            <a:ext cx="4012637" cy="400110"/>
          </a:xfrm>
          <a:prstGeom prst="rect">
            <a:avLst/>
          </a:prstGeom>
        </p:spPr>
        <p:txBody>
          <a:bodyPr wrap="none">
            <a:spAutoFit/>
          </a:bodyPr>
          <a:lstStyle/>
          <a:p>
            <a:r>
              <a:rPr lang="en-IN" sz="2000" dirty="0" smtClean="0">
                <a:solidFill>
                  <a:schemeClr val="accent2"/>
                </a:solidFill>
                <a:latin typeface="Sitka Text" pitchFamily="2" charset="0"/>
                <a:ea typeface="Calibri" panose="020F0502020204030204" pitchFamily="34" charset="0"/>
                <a:cs typeface="Times New Roman" panose="02020603050405020304" pitchFamily="18" charset="0"/>
              </a:rPr>
              <a:t>Class-specific confidence scores</a:t>
            </a:r>
            <a:endParaRPr lang="en-IN" sz="2000" dirty="0">
              <a:solidFill>
                <a:schemeClr val="accent2"/>
              </a:solidFill>
            </a:endParaRPr>
          </a:p>
        </p:txBody>
      </p:sp>
      <mc:AlternateContent xmlns:mc="http://schemas.openxmlformats.org/markup-compatibility/2006" xmlns:a14="http://schemas.microsoft.com/office/drawing/2010/main">
        <mc:Choice Requires="a14">
          <p:sp>
            <p:nvSpPr>
              <p:cNvPr id="8" name="Content Placeholder 2"/>
              <p:cNvSpPr>
                <a:spLocks noGrp="1"/>
              </p:cNvSpPr>
              <p:nvPr>
                <p:ph idx="1"/>
              </p:nvPr>
            </p:nvSpPr>
            <p:spPr>
              <a:xfrm>
                <a:off x="1097280" y="1845734"/>
                <a:ext cx="10058400" cy="1259014"/>
              </a:xfrm>
            </p:spPr>
            <p:txBody>
              <a:bodyPr/>
              <a:lstStyle/>
              <a:p>
                <a:r>
                  <a:rPr lang="en-IN" dirty="0" smtClean="0">
                    <a:latin typeface="Sitka Text" pitchFamily="2" charset="0"/>
                  </a:rPr>
                  <a:t>Divides the input image into an </a:t>
                </a:r>
                <a14:m>
                  <m:oMath xmlns:m="http://schemas.openxmlformats.org/officeDocument/2006/math">
                    <m:r>
                      <a:rPr lang="en-IN" i="1">
                        <a:latin typeface="Cambria Math" panose="02040503050406030204" pitchFamily="18" charset="0"/>
                      </a:rPr>
                      <m:t>𝑆</m:t>
                    </m:r>
                    <m:r>
                      <a:rPr lang="en-IN" i="1">
                        <a:latin typeface="Cambria Math" panose="02040503050406030204" pitchFamily="18" charset="0"/>
                      </a:rPr>
                      <m:t>×</m:t>
                    </m:r>
                    <m:r>
                      <a:rPr lang="en-IN" i="1">
                        <a:latin typeface="Cambria Math" panose="02040503050406030204" pitchFamily="18" charset="0"/>
                      </a:rPr>
                      <m:t>𝑆</m:t>
                    </m:r>
                  </m:oMath>
                </a14:m>
                <a:r>
                  <a:rPr lang="en-IN" dirty="0">
                    <a:latin typeface="Sitka Text" pitchFamily="2" charset="0"/>
                  </a:rPr>
                  <a:t> </a:t>
                </a:r>
                <a:r>
                  <a:rPr lang="en-IN" dirty="0" smtClean="0">
                    <a:latin typeface="Sitka Text" pitchFamily="2" charset="0"/>
                  </a:rPr>
                  <a:t>grid</a:t>
                </a:r>
              </a:p>
              <a:p>
                <a:r>
                  <a:rPr lang="en-IN" dirty="0" smtClean="0">
                    <a:solidFill>
                      <a:srgbClr val="FF0000"/>
                    </a:solidFill>
                    <a:latin typeface="Sitka Text" pitchFamily="2" charset="0"/>
                  </a:rPr>
                  <a:t>Each </a:t>
                </a:r>
                <a:r>
                  <a:rPr lang="en-IN" dirty="0">
                    <a:solidFill>
                      <a:srgbClr val="FF0000"/>
                    </a:solidFill>
                    <a:latin typeface="Sitka Text" pitchFamily="2" charset="0"/>
                  </a:rPr>
                  <a:t>grid cell predicts </a:t>
                </a:r>
                <a14:m>
                  <m:oMath xmlns:m="http://schemas.openxmlformats.org/officeDocument/2006/math">
                    <m:r>
                      <a:rPr lang="en-IN" i="1">
                        <a:solidFill>
                          <a:srgbClr val="FF0000"/>
                        </a:solidFill>
                        <a:latin typeface="Cambria Math" panose="02040503050406030204" pitchFamily="18" charset="0"/>
                      </a:rPr>
                      <m:t>𝐵</m:t>
                    </m:r>
                  </m:oMath>
                </a14:m>
                <a:r>
                  <a:rPr lang="en-IN" dirty="0">
                    <a:solidFill>
                      <a:srgbClr val="FF0000"/>
                    </a:solidFill>
                    <a:latin typeface="Sitka Text" pitchFamily="2" charset="0"/>
                  </a:rPr>
                  <a:t> bounding </a:t>
                </a:r>
                <a:r>
                  <a:rPr lang="en-IN" dirty="0" smtClean="0">
                    <a:solidFill>
                      <a:srgbClr val="FF0000"/>
                    </a:solidFill>
                    <a:latin typeface="Sitka Text" pitchFamily="2" charset="0"/>
                  </a:rPr>
                  <a:t>boxes, corresponding confidence scores</a:t>
                </a:r>
                <a:endParaRPr lang="en-US" dirty="0">
                  <a:solidFill>
                    <a:srgbClr val="FF0000"/>
                  </a:solidFill>
                  <a:latin typeface="Sitka Text" pitchFamily="2" charset="0"/>
                </a:endParaRPr>
              </a:p>
            </p:txBody>
          </p:sp>
        </mc:Choice>
        <mc:Fallback xmlns="">
          <p:sp>
            <p:nvSpPr>
              <p:cNvPr id="8" name="Content Placeholder 2"/>
              <p:cNvSpPr>
                <a:spLocks noGrp="1" noRot="1" noChangeAspect="1" noMove="1" noResize="1" noEditPoints="1" noAdjustHandles="1" noChangeArrowheads="1" noChangeShapeType="1" noTextEdit="1"/>
              </p:cNvSpPr>
              <p:nvPr>
                <p:ph idx="1"/>
              </p:nvPr>
            </p:nvSpPr>
            <p:spPr>
              <a:xfrm>
                <a:off x="1097280" y="1845734"/>
                <a:ext cx="10058400" cy="1259014"/>
              </a:xfrm>
              <a:blipFill>
                <a:blip r:embed="rId6"/>
                <a:stretch>
                  <a:fillRect l="-606" t="-53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5209047" y="2735416"/>
                <a:ext cx="2573974" cy="369332"/>
              </a:xfrm>
              <a:prstGeom prst="rect">
                <a:avLst/>
              </a:prstGeom>
            </p:spPr>
            <p:txBody>
              <a:bodyPr wrap="none">
                <a:spAutoFit/>
              </a:bodyPr>
              <a:lstStyle/>
              <a:p>
                <a14:m>
                  <m:oMath xmlns:m="http://schemas.openxmlformats.org/officeDocument/2006/math">
                    <m:r>
                      <a:rPr lang="en-US" i="1"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m:t>
                    </m:r>
                    <m:r>
                      <a:rPr lang="en-IN"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𝑥</m:t>
                    </m:r>
                    <m:r>
                      <a:rPr lang="en-IN" i="1">
                        <a:solidFill>
                          <a:srgbClr val="FF0000"/>
                        </a:solidFill>
                        <a:latin typeface="Cambria Math" panose="02040503050406030204" pitchFamily="18" charset="0"/>
                        <a:ea typeface="Calibri" panose="020F0502020204030204" pitchFamily="34" charset="0"/>
                        <a:cs typeface="Times New Roman" panose="02020603050405020304" pitchFamily="18" charset="0"/>
                      </a:rPr>
                      <m:t>, </m:t>
                    </m:r>
                    <m:r>
                      <a:rPr lang="en-IN"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𝑦</m:t>
                    </m:r>
                    <m:r>
                      <a:rPr lang="en-IN" i="1">
                        <a:solidFill>
                          <a:srgbClr val="FF0000"/>
                        </a:solidFill>
                        <a:latin typeface="Cambria Math" panose="02040503050406030204" pitchFamily="18" charset="0"/>
                        <a:ea typeface="Calibri" panose="020F0502020204030204" pitchFamily="34" charset="0"/>
                        <a:cs typeface="Times New Roman" panose="02020603050405020304" pitchFamily="18" charset="0"/>
                      </a:rPr>
                      <m:t>, </m:t>
                    </m:r>
                    <m:r>
                      <a:rPr lang="en-IN" i="1">
                        <a:solidFill>
                          <a:srgbClr val="FF0000"/>
                        </a:solidFill>
                        <a:latin typeface="Cambria Math" panose="02040503050406030204" pitchFamily="18" charset="0"/>
                        <a:ea typeface="Calibri" panose="020F0502020204030204" pitchFamily="34" charset="0"/>
                        <a:cs typeface="Times New Roman" panose="02020603050405020304" pitchFamily="18" charset="0"/>
                      </a:rPr>
                      <m:t>𝑤</m:t>
                    </m:r>
                    <m:r>
                      <a:rPr lang="en-IN" i="1">
                        <a:solidFill>
                          <a:srgbClr val="FF0000"/>
                        </a:solidFill>
                        <a:latin typeface="Cambria Math" panose="02040503050406030204" pitchFamily="18" charset="0"/>
                        <a:ea typeface="Calibri" panose="020F0502020204030204" pitchFamily="34" charset="0"/>
                        <a:cs typeface="Times New Roman" panose="02020603050405020304" pitchFamily="18" charset="0"/>
                      </a:rPr>
                      <m:t>, </m:t>
                    </m:r>
                    <m:r>
                      <a:rPr lang="en-IN" i="1">
                        <a:solidFill>
                          <a:srgbClr val="FF0000"/>
                        </a:solidFill>
                        <a:latin typeface="Cambria Math" panose="02040503050406030204" pitchFamily="18" charset="0"/>
                        <a:ea typeface="Calibri" panose="020F0502020204030204" pitchFamily="34" charset="0"/>
                        <a:cs typeface="Times New Roman" panose="02020603050405020304" pitchFamily="18" charset="0"/>
                      </a:rPr>
                      <m:t>h</m:t>
                    </m:r>
                  </m:oMath>
                </a14:m>
                <a:r>
                  <a:rPr lang="en-IN" dirty="0" smtClean="0">
                    <a:solidFill>
                      <a:srgbClr val="FF0000"/>
                    </a:solidFill>
                    <a:latin typeface="Sitka Text" pitchFamily="2" charset="0"/>
                    <a:ea typeface="Calibri" panose="020F0502020204030204" pitchFamily="34" charset="0"/>
                    <a:cs typeface="Times New Roman" panose="02020603050405020304" pitchFamily="18" charset="0"/>
                  </a:rPr>
                  <a:t>, confidence)</a:t>
                </a:r>
                <a:endParaRPr lang="en-US" dirty="0">
                  <a:solidFill>
                    <a:srgbClr val="FF000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5209047" y="2735416"/>
                <a:ext cx="2573974" cy="369332"/>
              </a:xfrm>
              <a:prstGeom prst="rect">
                <a:avLst/>
              </a:prstGeom>
              <a:blipFill>
                <a:blip r:embed="rId7"/>
                <a:stretch>
                  <a:fillRect l="-711" t="-11667" b="-25000"/>
                </a:stretch>
              </a:blipFill>
            </p:spPr>
            <p:txBody>
              <a:bodyPr/>
              <a:lstStyle/>
              <a:p>
                <a:r>
                  <a:rPr lang="en-US">
                    <a:noFill/>
                  </a:rPr>
                  <a:t> </a:t>
                </a:r>
              </a:p>
            </p:txBody>
          </p:sp>
        </mc:Fallback>
      </mc:AlternateContent>
      <p:sp>
        <p:nvSpPr>
          <p:cNvPr id="9" name="Rectangle 8"/>
          <p:cNvSpPr/>
          <p:nvPr/>
        </p:nvSpPr>
        <p:spPr>
          <a:xfrm>
            <a:off x="334612" y="4473800"/>
            <a:ext cx="2337499" cy="400110"/>
          </a:xfrm>
          <a:prstGeom prst="rect">
            <a:avLst/>
          </a:prstGeom>
        </p:spPr>
        <p:txBody>
          <a:bodyPr wrap="none">
            <a:spAutoFit/>
          </a:bodyPr>
          <a:lstStyle/>
          <a:p>
            <a:r>
              <a:rPr lang="en-IN" sz="2000" dirty="0" smtClean="0">
                <a:solidFill>
                  <a:schemeClr val="accent2"/>
                </a:solidFill>
                <a:latin typeface="Sitka Text" pitchFamily="2" charset="0"/>
                <a:ea typeface="Calibri" panose="020F0502020204030204" pitchFamily="34" charset="0"/>
                <a:cs typeface="Times New Roman" panose="02020603050405020304" pitchFamily="18" charset="0"/>
              </a:rPr>
              <a:t>Testing/Inference</a:t>
            </a:r>
            <a:endParaRPr lang="en-IN" sz="2000" dirty="0">
              <a:solidFill>
                <a:schemeClr val="accent2"/>
              </a:solidFill>
            </a:endParaRPr>
          </a:p>
        </p:txBody>
      </p:sp>
      <p:sp>
        <p:nvSpPr>
          <p:cNvPr id="10" name="Rectangle 9"/>
          <p:cNvSpPr/>
          <p:nvPr/>
        </p:nvSpPr>
        <p:spPr>
          <a:xfrm>
            <a:off x="7318011" y="3075761"/>
            <a:ext cx="4482637" cy="523220"/>
          </a:xfrm>
          <a:prstGeom prst="rect">
            <a:avLst/>
          </a:prstGeom>
        </p:spPr>
        <p:txBody>
          <a:bodyPr wrap="none">
            <a:spAutoFit/>
          </a:bodyPr>
          <a:lstStyle/>
          <a:p>
            <a:r>
              <a:rPr lang="en-US" sz="1400" dirty="0"/>
              <a:t>center of the box relative to the bounds of the grid </a:t>
            </a:r>
            <a:r>
              <a:rPr lang="en-US" sz="1400" dirty="0" smtClean="0"/>
              <a:t>cell</a:t>
            </a:r>
          </a:p>
          <a:p>
            <a:r>
              <a:rPr lang="en-US" sz="1400" dirty="0"/>
              <a:t>width and height are predicted relative to the whole image</a:t>
            </a:r>
          </a:p>
        </p:txBody>
      </p:sp>
    </p:spTree>
    <p:extLst>
      <p:ext uri="{BB962C8B-B14F-4D97-AF65-F5344CB8AC3E}">
        <p14:creationId xmlns:p14="http://schemas.microsoft.com/office/powerpoint/2010/main" val="150700165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YOLO (You Only Look Once)</a:t>
            </a:r>
            <a:endParaRPr lang="en-IN" dirty="0"/>
          </a:p>
        </p:txBody>
      </p:sp>
      <p:pic>
        <p:nvPicPr>
          <p:cNvPr id="4" name="Content Placeholder 3"/>
          <p:cNvPicPr>
            <a:picLocks noGrp="1"/>
          </p:cNvPicPr>
          <p:nvPr>
            <p:ph idx="1"/>
          </p:nvPr>
        </p:nvPicPr>
        <p:blipFill>
          <a:blip r:embed="rId3"/>
          <a:stretch>
            <a:fillRect/>
          </a:stretch>
        </p:blipFill>
        <p:spPr>
          <a:xfrm>
            <a:off x="1387062" y="1846263"/>
            <a:ext cx="9478202" cy="4022725"/>
          </a:xfrm>
          <a:prstGeom prst="rect">
            <a:avLst/>
          </a:prstGeom>
        </p:spPr>
      </p:pic>
      <p:sp>
        <p:nvSpPr>
          <p:cNvPr id="5" name="Rectangle 4"/>
          <p:cNvSpPr/>
          <p:nvPr/>
        </p:nvSpPr>
        <p:spPr>
          <a:xfrm>
            <a:off x="565571" y="6427113"/>
            <a:ext cx="11141007" cy="261610"/>
          </a:xfrm>
          <a:prstGeom prst="rect">
            <a:avLst/>
          </a:prstGeom>
        </p:spPr>
        <p:txBody>
          <a:bodyPr wrap="square">
            <a:spAutoFit/>
          </a:bodyPr>
          <a:lstStyle/>
          <a:p>
            <a:r>
              <a:rPr lang="en-US" sz="1100" dirty="0" err="1">
                <a:solidFill>
                  <a:schemeClr val="bg1"/>
                </a:solidFill>
                <a:latin typeface="Sitka Text" pitchFamily="2" charset="0"/>
              </a:rPr>
              <a:t>Redmon</a:t>
            </a:r>
            <a:r>
              <a:rPr lang="en-US" sz="1100" dirty="0">
                <a:solidFill>
                  <a:schemeClr val="bg1"/>
                </a:solidFill>
                <a:latin typeface="Sitka Text" pitchFamily="2" charset="0"/>
              </a:rPr>
              <a:t>, Joseph, et al. "You only look once: Unified, real-time object detection." </a:t>
            </a:r>
            <a:r>
              <a:rPr lang="en-US" sz="1100" i="1" dirty="0">
                <a:solidFill>
                  <a:schemeClr val="bg1"/>
                </a:solidFill>
                <a:latin typeface="Sitka Text" pitchFamily="2" charset="0"/>
              </a:rPr>
              <a:t>Proceedings of the IEEE conference on computer vision and pattern recognition</a:t>
            </a:r>
            <a:r>
              <a:rPr lang="en-US" sz="1100" dirty="0">
                <a:solidFill>
                  <a:schemeClr val="bg1"/>
                </a:solidFill>
                <a:latin typeface="Sitka Text" pitchFamily="2" charset="0"/>
              </a:rPr>
              <a:t>. 2016.</a:t>
            </a:r>
          </a:p>
        </p:txBody>
      </p:sp>
      <p:sp>
        <p:nvSpPr>
          <p:cNvPr id="3" name="Rectangle 2"/>
          <p:cNvSpPr/>
          <p:nvPr/>
        </p:nvSpPr>
        <p:spPr>
          <a:xfrm>
            <a:off x="8704426" y="6596390"/>
            <a:ext cx="2866490" cy="261610"/>
          </a:xfrm>
          <a:prstGeom prst="rect">
            <a:avLst/>
          </a:prstGeom>
        </p:spPr>
        <p:txBody>
          <a:bodyPr wrap="none">
            <a:spAutoFit/>
          </a:bodyPr>
          <a:lstStyle/>
          <a:p>
            <a:r>
              <a:rPr lang="en-US" sz="1100" dirty="0">
                <a:solidFill>
                  <a:schemeClr val="bg1"/>
                </a:solidFill>
                <a:latin typeface="Sitka Text" pitchFamily="2" charset="0"/>
              </a:rPr>
              <a:t>http://host.robots.ox.ac.uk/pascal/VOC/</a:t>
            </a:r>
          </a:p>
        </p:txBody>
      </p:sp>
      <mc:AlternateContent xmlns:mc="http://schemas.openxmlformats.org/markup-compatibility/2006" xmlns:a14="http://schemas.microsoft.com/office/drawing/2010/main">
        <mc:Choice Requires="a14">
          <p:sp>
            <p:nvSpPr>
              <p:cNvPr id="6" name="Rectangle 5"/>
              <p:cNvSpPr/>
              <p:nvPr/>
            </p:nvSpPr>
            <p:spPr>
              <a:xfrm>
                <a:off x="8473222" y="4587712"/>
                <a:ext cx="3403496" cy="369332"/>
              </a:xfrm>
              <a:prstGeom prst="rect">
                <a:avLst/>
              </a:prstGeom>
            </p:spPr>
            <p:txBody>
              <a:bodyPr wrap="none">
                <a:spAutoFit/>
              </a:bodyPr>
              <a:lstStyle/>
              <a:p>
                <a14:m>
                  <m:oMath xmlns:m="http://schemas.openxmlformats.org/officeDocument/2006/math">
                    <m:r>
                      <a:rPr lang="en-IN" i="1">
                        <a:latin typeface="Cambria Math" panose="02040503050406030204" pitchFamily="18" charset="0"/>
                        <a:ea typeface="Calibri" panose="020F0502020204030204" pitchFamily="34" charset="0"/>
                        <a:cs typeface="Times New Roman" panose="02020603050405020304" pitchFamily="18" charset="0"/>
                      </a:rPr>
                      <m:t>7×7×30</m:t>
                    </m:r>
                  </m:oMath>
                </a14:m>
                <a:r>
                  <a:rPr lang="en-IN" dirty="0">
                    <a:latin typeface="Sitka Text" pitchFamily="2" charset="0"/>
                    <a:ea typeface="Calibri" panose="020F0502020204030204" pitchFamily="34" charset="0"/>
                    <a:cs typeface="Times New Roman" panose="02020603050405020304" pitchFamily="18" charset="0"/>
                  </a:rPr>
                  <a:t> tensor </a:t>
                </a:r>
                <a:r>
                  <a:rPr lang="en-IN" dirty="0" smtClean="0">
                    <a:latin typeface="Sitka Text" pitchFamily="2" charset="0"/>
                    <a:ea typeface="Calibri" panose="020F0502020204030204" pitchFamily="34" charset="0"/>
                    <a:cs typeface="Times New Roman" panose="02020603050405020304" pitchFamily="18" charset="0"/>
                  </a:rPr>
                  <a:t>predictions</a:t>
                </a:r>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8473222" y="4587712"/>
                <a:ext cx="3403496" cy="369332"/>
              </a:xfrm>
              <a:prstGeom prst="rect">
                <a:avLst/>
              </a:prstGeom>
              <a:blipFill>
                <a:blip r:embed="rId4"/>
                <a:stretch>
                  <a:fillRect t="-11667" b="-25000"/>
                </a:stretch>
              </a:blipFill>
            </p:spPr>
            <p:txBody>
              <a:bodyPr/>
              <a:lstStyle/>
              <a:p>
                <a:r>
                  <a:rPr lang="en-US">
                    <a:noFill/>
                  </a:rPr>
                  <a:t> </a:t>
                </a:r>
              </a:p>
            </p:txBody>
          </p:sp>
        </mc:Fallback>
      </mc:AlternateContent>
      <p:sp>
        <p:nvSpPr>
          <p:cNvPr id="7" name="Rectangle 6"/>
          <p:cNvSpPr/>
          <p:nvPr/>
        </p:nvSpPr>
        <p:spPr>
          <a:xfrm>
            <a:off x="5656426" y="1831993"/>
            <a:ext cx="5914490" cy="923330"/>
          </a:xfrm>
          <a:prstGeom prst="rect">
            <a:avLst/>
          </a:prstGeom>
        </p:spPr>
        <p:txBody>
          <a:bodyPr wrap="square">
            <a:spAutoFit/>
          </a:bodyPr>
          <a:lstStyle/>
          <a:p>
            <a:pPr>
              <a:buFont typeface="Arial" panose="020B0604020202020204" pitchFamily="34" charset="0"/>
              <a:buChar char="•"/>
            </a:pPr>
            <a:r>
              <a:rPr lang="en-US" dirty="0">
                <a:solidFill>
                  <a:srgbClr val="242424"/>
                </a:solidFill>
                <a:latin typeface="Sitka Text" pitchFamily="2" charset="0"/>
              </a:rPr>
              <a:t>2 bounding boxes per cell, each with 5 predictions (4 coordinates + 1 confidence score) = 2 * 5 = 10</a:t>
            </a:r>
          </a:p>
          <a:p>
            <a:pPr>
              <a:buFont typeface="Arial" panose="020B0604020202020204" pitchFamily="34" charset="0"/>
              <a:buChar char="•"/>
            </a:pPr>
            <a:r>
              <a:rPr lang="en-US" dirty="0">
                <a:solidFill>
                  <a:srgbClr val="242424"/>
                </a:solidFill>
                <a:latin typeface="Sitka Text" pitchFamily="2" charset="0"/>
              </a:rPr>
              <a:t>20 class probabilities for each cell</a:t>
            </a:r>
            <a:endParaRPr lang="en-US" b="0" i="0" dirty="0">
              <a:solidFill>
                <a:srgbClr val="242424"/>
              </a:solidFill>
              <a:effectLst/>
              <a:latin typeface="Sitka Text" pitchFamily="2" charset="0"/>
            </a:endParaRPr>
          </a:p>
        </p:txBody>
      </p:sp>
    </p:spTree>
    <p:extLst>
      <p:ext uri="{BB962C8B-B14F-4D97-AF65-F5344CB8AC3E}">
        <p14:creationId xmlns:p14="http://schemas.microsoft.com/office/powerpoint/2010/main" val="167436703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YOLO (You Only Look Once)</a:t>
            </a:r>
            <a:endParaRPr lang="en-IN" dirty="0"/>
          </a:p>
        </p:txBody>
      </p:sp>
      <p:pic>
        <p:nvPicPr>
          <p:cNvPr id="4" name="Content Placeholder 3"/>
          <p:cNvPicPr>
            <a:picLocks noGrp="1"/>
          </p:cNvPicPr>
          <p:nvPr>
            <p:ph idx="1"/>
          </p:nvPr>
        </p:nvPicPr>
        <p:blipFill>
          <a:blip r:embed="rId3"/>
          <a:stretch>
            <a:fillRect/>
          </a:stretch>
        </p:blipFill>
        <p:spPr>
          <a:xfrm>
            <a:off x="1965396" y="2255540"/>
            <a:ext cx="8341356" cy="4022725"/>
          </a:xfrm>
          <a:prstGeom prst="rect">
            <a:avLst/>
          </a:prstGeom>
        </p:spPr>
      </p:pic>
      <p:sp>
        <p:nvSpPr>
          <p:cNvPr id="5" name="Rectangle 4"/>
          <p:cNvSpPr/>
          <p:nvPr/>
        </p:nvSpPr>
        <p:spPr>
          <a:xfrm>
            <a:off x="565571" y="6427113"/>
            <a:ext cx="11141007" cy="261610"/>
          </a:xfrm>
          <a:prstGeom prst="rect">
            <a:avLst/>
          </a:prstGeom>
        </p:spPr>
        <p:txBody>
          <a:bodyPr wrap="square">
            <a:spAutoFit/>
          </a:bodyPr>
          <a:lstStyle/>
          <a:p>
            <a:r>
              <a:rPr lang="en-US" sz="1100" dirty="0" err="1">
                <a:solidFill>
                  <a:schemeClr val="bg1"/>
                </a:solidFill>
                <a:latin typeface="Sitka Text" pitchFamily="2" charset="0"/>
              </a:rPr>
              <a:t>Redmon</a:t>
            </a:r>
            <a:r>
              <a:rPr lang="en-US" sz="1100" dirty="0">
                <a:solidFill>
                  <a:schemeClr val="bg1"/>
                </a:solidFill>
                <a:latin typeface="Sitka Text" pitchFamily="2" charset="0"/>
              </a:rPr>
              <a:t>, Joseph, et al. "You only look once: Unified, real-time object detection." </a:t>
            </a:r>
            <a:r>
              <a:rPr lang="en-US" sz="1100" i="1" dirty="0">
                <a:solidFill>
                  <a:schemeClr val="bg1"/>
                </a:solidFill>
                <a:latin typeface="Sitka Text" pitchFamily="2" charset="0"/>
              </a:rPr>
              <a:t>Proceedings of the IEEE conference on computer vision and pattern recognition</a:t>
            </a:r>
            <a:r>
              <a:rPr lang="en-US" sz="1100" dirty="0">
                <a:solidFill>
                  <a:schemeClr val="bg1"/>
                </a:solidFill>
                <a:latin typeface="Sitka Text" pitchFamily="2" charset="0"/>
              </a:rPr>
              <a:t>. 2016.</a:t>
            </a:r>
          </a:p>
        </p:txBody>
      </p:sp>
      <p:sp>
        <p:nvSpPr>
          <p:cNvPr id="6" name="Rectangle 5"/>
          <p:cNvSpPr/>
          <p:nvPr/>
        </p:nvSpPr>
        <p:spPr>
          <a:xfrm>
            <a:off x="1097280" y="1886208"/>
            <a:ext cx="3541354" cy="369332"/>
          </a:xfrm>
          <a:prstGeom prst="rect">
            <a:avLst/>
          </a:prstGeom>
        </p:spPr>
        <p:txBody>
          <a:bodyPr wrap="none">
            <a:spAutoFit/>
          </a:bodyPr>
          <a:lstStyle/>
          <a:p>
            <a:r>
              <a:rPr lang="en-IN" dirty="0">
                <a:latin typeface="Sitka Text" pitchFamily="2" charset="0"/>
                <a:ea typeface="Calibri" panose="020F0502020204030204" pitchFamily="34" charset="0"/>
                <a:cs typeface="Times New Roman" panose="02020603050405020304" pitchFamily="18" charset="0"/>
              </a:rPr>
              <a:t>VOC 2012 test set: 57.9% </a:t>
            </a:r>
            <a:r>
              <a:rPr lang="en-IN" dirty="0" err="1">
                <a:latin typeface="Sitka Text" pitchFamily="2" charset="0"/>
                <a:ea typeface="Calibri" panose="020F0502020204030204" pitchFamily="34" charset="0"/>
                <a:cs typeface="Times New Roman" panose="02020603050405020304" pitchFamily="18" charset="0"/>
              </a:rPr>
              <a:t>mAP</a:t>
            </a:r>
            <a:r>
              <a:rPr lang="en-IN" dirty="0">
                <a:latin typeface="Sitka Text" pitchFamily="2" charset="0"/>
                <a:ea typeface="Calibri" panose="020F0502020204030204" pitchFamily="34" charset="0"/>
                <a:cs typeface="Times New Roman" panose="02020603050405020304" pitchFamily="18" charset="0"/>
              </a:rPr>
              <a:t>.</a:t>
            </a:r>
            <a:endParaRPr lang="en-US" dirty="0"/>
          </a:p>
        </p:txBody>
      </p:sp>
    </p:spTree>
    <p:extLst>
      <p:ext uri="{BB962C8B-B14F-4D97-AF65-F5344CB8AC3E}">
        <p14:creationId xmlns:p14="http://schemas.microsoft.com/office/powerpoint/2010/main" val="323417499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Comparison with SSD</a:t>
            </a:r>
            <a:endParaRPr lang="en-US" dirty="0"/>
          </a:p>
        </p:txBody>
      </p:sp>
      <p:graphicFrame>
        <p:nvGraphicFramePr>
          <p:cNvPr id="4" name="Content Placeholder 3"/>
          <p:cNvGraphicFramePr>
            <a:graphicFrameLocks noGrp="1"/>
          </p:cNvGraphicFramePr>
          <p:nvPr>
            <p:ph idx="1"/>
            <p:extLst/>
          </p:nvPr>
        </p:nvGraphicFramePr>
        <p:xfrm>
          <a:off x="835377" y="2089915"/>
          <a:ext cx="10577689" cy="3804256"/>
        </p:xfrm>
        <a:graphic>
          <a:graphicData uri="http://schemas.openxmlformats.org/drawingml/2006/table">
            <a:tbl>
              <a:tblPr/>
              <a:tblGrid>
                <a:gridCol w="2575911">
                  <a:extLst>
                    <a:ext uri="{9D8B030D-6E8A-4147-A177-3AD203B41FA5}">
                      <a16:colId xmlns:a16="http://schemas.microsoft.com/office/drawing/2014/main" val="3723506634"/>
                    </a:ext>
                  </a:extLst>
                </a:gridCol>
                <a:gridCol w="4140979">
                  <a:extLst>
                    <a:ext uri="{9D8B030D-6E8A-4147-A177-3AD203B41FA5}">
                      <a16:colId xmlns:a16="http://schemas.microsoft.com/office/drawing/2014/main" val="3711654629"/>
                    </a:ext>
                  </a:extLst>
                </a:gridCol>
                <a:gridCol w="3860799">
                  <a:extLst>
                    <a:ext uri="{9D8B030D-6E8A-4147-A177-3AD203B41FA5}">
                      <a16:colId xmlns:a16="http://schemas.microsoft.com/office/drawing/2014/main" val="1582733445"/>
                    </a:ext>
                  </a:extLst>
                </a:gridCol>
              </a:tblGrid>
              <a:tr h="360607">
                <a:tc>
                  <a:txBody>
                    <a:bodyPr/>
                    <a:lstStyle/>
                    <a:p>
                      <a:pPr latinLnBrk="1"/>
                      <a:endParaRPr lang="en-US" sz="1400" dirty="0">
                        <a:solidFill>
                          <a:schemeClr val="bg1"/>
                        </a:solidFill>
                        <a:effectLst/>
                        <a:latin typeface="Sitka Text" pitchFamily="2" charset="0"/>
                      </a:endParaRPr>
                    </a:p>
                  </a:txBody>
                  <a:tcPr marL="30963" marR="30963" marT="6193" marB="6193" anchor="ctr">
                    <a:lnL w="9525" cap="flat" cmpd="sng" algn="ctr">
                      <a:solidFill>
                        <a:srgbClr val="40AB99"/>
                      </a:solidFill>
                      <a:prstDash val="solid"/>
                      <a:round/>
                      <a:headEnd type="none" w="med" len="med"/>
                      <a:tailEnd type="none" w="med" len="med"/>
                    </a:lnL>
                    <a:lnR w="9525" cap="flat" cmpd="sng" algn="ctr">
                      <a:solidFill>
                        <a:srgbClr val="20A799"/>
                      </a:solidFill>
                      <a:prstDash val="solid"/>
                      <a:round/>
                      <a:headEnd type="none" w="med" len="med"/>
                      <a:tailEnd type="none" w="med" len="med"/>
                    </a:lnR>
                    <a:lnT w="9525" cap="flat" cmpd="sng" algn="ctr">
                      <a:solidFill>
                        <a:srgbClr val="60A399"/>
                      </a:solidFill>
                      <a:prstDash val="solid"/>
                      <a:round/>
                      <a:headEnd type="none" w="med" len="med"/>
                      <a:tailEnd type="none" w="med" len="med"/>
                    </a:lnT>
                    <a:lnB w="9525" cap="flat" cmpd="sng" algn="ctr">
                      <a:solidFill>
                        <a:srgbClr val="60A099"/>
                      </a:solidFill>
                      <a:prstDash val="solid"/>
                      <a:round/>
                      <a:headEnd type="none" w="med" len="med"/>
                      <a:tailEnd type="none" w="med" len="med"/>
                    </a:lnB>
                    <a:solidFill>
                      <a:srgbClr val="00B0F0"/>
                    </a:solidFill>
                  </a:tcPr>
                </a:tc>
                <a:tc>
                  <a:txBody>
                    <a:bodyPr/>
                    <a:lstStyle/>
                    <a:p>
                      <a:pPr latinLnBrk="1"/>
                      <a:r>
                        <a:rPr lang="en-US" sz="1400" dirty="0">
                          <a:solidFill>
                            <a:schemeClr val="bg1"/>
                          </a:solidFill>
                          <a:effectLst/>
                          <a:latin typeface="Sitka Text" pitchFamily="2" charset="0"/>
                        </a:rPr>
                        <a:t>SSD (Single Shot MultiBox Detector)</a:t>
                      </a:r>
                    </a:p>
                  </a:txBody>
                  <a:tcPr marL="30963" marR="30963" marT="6193" marB="6193" anchor="ctr">
                    <a:lnL w="9525" cap="flat" cmpd="sng" algn="ctr">
                      <a:solidFill>
                        <a:srgbClr val="20A799"/>
                      </a:solidFill>
                      <a:prstDash val="solid"/>
                      <a:round/>
                      <a:headEnd type="none" w="med" len="med"/>
                      <a:tailEnd type="none" w="med" len="med"/>
                    </a:lnL>
                    <a:lnR w="9525" cap="flat" cmpd="sng" algn="ctr">
                      <a:solidFill>
                        <a:srgbClr val="00A399"/>
                      </a:solidFill>
                      <a:prstDash val="solid"/>
                      <a:round/>
                      <a:headEnd type="none" w="med" len="med"/>
                      <a:tailEnd type="none" w="med" len="med"/>
                    </a:lnR>
                    <a:lnT w="9525" cap="flat" cmpd="sng" algn="ctr">
                      <a:solidFill>
                        <a:srgbClr val="E0A199"/>
                      </a:solidFill>
                      <a:prstDash val="solid"/>
                      <a:round/>
                      <a:headEnd type="none" w="med" len="med"/>
                      <a:tailEnd type="none" w="med" len="med"/>
                    </a:lnT>
                    <a:lnB w="9525" cap="flat" cmpd="sng" algn="ctr">
                      <a:solidFill>
                        <a:srgbClr val="40AB99"/>
                      </a:solidFill>
                      <a:prstDash val="solid"/>
                      <a:round/>
                      <a:headEnd type="none" w="med" len="med"/>
                      <a:tailEnd type="none" w="med" len="med"/>
                    </a:lnB>
                    <a:solidFill>
                      <a:srgbClr val="00B0F0"/>
                    </a:solidFill>
                  </a:tcPr>
                </a:tc>
                <a:tc>
                  <a:txBody>
                    <a:bodyPr/>
                    <a:lstStyle/>
                    <a:p>
                      <a:pPr latinLnBrk="1"/>
                      <a:r>
                        <a:rPr lang="en-US" sz="1400" dirty="0">
                          <a:solidFill>
                            <a:schemeClr val="bg1"/>
                          </a:solidFill>
                          <a:effectLst/>
                          <a:latin typeface="Sitka Text" pitchFamily="2" charset="0"/>
                        </a:rPr>
                        <a:t>YOLO (You Only Look Once)</a:t>
                      </a:r>
                    </a:p>
                  </a:txBody>
                  <a:tcPr marL="30963" marR="30963" marT="6193" marB="6193" anchor="ctr">
                    <a:lnL w="9525" cap="flat" cmpd="sng" algn="ctr">
                      <a:solidFill>
                        <a:srgbClr val="00A399"/>
                      </a:solidFill>
                      <a:prstDash val="solid"/>
                      <a:round/>
                      <a:headEnd type="none" w="med" len="med"/>
                      <a:tailEnd type="none" w="med" len="med"/>
                    </a:lnL>
                    <a:lnR w="9525" cap="flat" cmpd="sng" algn="ctr">
                      <a:solidFill>
                        <a:srgbClr val="E0A199"/>
                      </a:solidFill>
                      <a:prstDash val="solid"/>
                      <a:round/>
                      <a:headEnd type="none" w="med" len="med"/>
                      <a:tailEnd type="none" w="med" len="med"/>
                    </a:lnR>
                    <a:lnT w="9525" cap="flat" cmpd="sng" algn="ctr">
                      <a:solidFill>
                        <a:srgbClr val="40AB99"/>
                      </a:solidFill>
                      <a:prstDash val="solid"/>
                      <a:round/>
                      <a:headEnd type="none" w="med" len="med"/>
                      <a:tailEnd type="none" w="med" len="med"/>
                    </a:lnT>
                    <a:lnB w="9525" cap="flat" cmpd="sng" algn="ctr">
                      <a:solidFill>
                        <a:srgbClr val="00A399"/>
                      </a:solidFill>
                      <a:prstDash val="solid"/>
                      <a:round/>
                      <a:headEnd type="none" w="med" len="med"/>
                      <a:tailEnd type="none" w="med" len="med"/>
                    </a:lnB>
                    <a:solidFill>
                      <a:srgbClr val="00B0F0"/>
                    </a:solidFill>
                  </a:tcPr>
                </a:tc>
                <a:extLst>
                  <a:ext uri="{0D108BD9-81ED-4DB2-BD59-A6C34878D82A}">
                    <a16:rowId xmlns:a16="http://schemas.microsoft.com/office/drawing/2014/main" val="229726422"/>
                  </a:ext>
                </a:extLst>
              </a:tr>
              <a:tr h="709113">
                <a:tc>
                  <a:txBody>
                    <a:bodyPr/>
                    <a:lstStyle/>
                    <a:p>
                      <a:pPr latinLnBrk="1"/>
                      <a:r>
                        <a:rPr lang="en-US" sz="1400" b="1" dirty="0">
                          <a:effectLst/>
                          <a:latin typeface="Sitka Text" pitchFamily="2" charset="0"/>
                        </a:rPr>
                        <a:t>Architecture</a:t>
                      </a:r>
                      <a:endParaRPr lang="en-US" sz="1400" dirty="0">
                        <a:effectLst/>
                        <a:latin typeface="Sitka Text" pitchFamily="2" charset="0"/>
                      </a:endParaRPr>
                    </a:p>
                  </a:txBody>
                  <a:tcPr marL="30963" marR="30963" marT="6193" marB="6193" anchor="ctr">
                    <a:lnL w="9525" cap="flat" cmpd="sng" algn="ctr">
                      <a:solidFill>
                        <a:srgbClr val="E0B999"/>
                      </a:solidFill>
                      <a:prstDash val="solid"/>
                      <a:round/>
                      <a:headEnd type="none" w="med" len="med"/>
                      <a:tailEnd type="none" w="med" len="med"/>
                    </a:lnL>
                    <a:lnR w="9525" cap="flat" cmpd="sng" algn="ctr">
                      <a:solidFill>
                        <a:srgbClr val="60C799"/>
                      </a:solidFill>
                      <a:prstDash val="solid"/>
                      <a:round/>
                      <a:headEnd type="none" w="med" len="med"/>
                      <a:tailEnd type="none" w="med" len="med"/>
                    </a:lnR>
                    <a:lnT w="9525" cap="flat" cmpd="sng" algn="ctr">
                      <a:solidFill>
                        <a:srgbClr val="60A099"/>
                      </a:solidFill>
                      <a:prstDash val="solid"/>
                      <a:round/>
                      <a:headEnd type="none" w="med" len="med"/>
                      <a:tailEnd type="none" w="med" len="med"/>
                    </a:lnT>
                    <a:lnB w="9525" cap="flat" cmpd="sng" algn="ctr">
                      <a:solidFill>
                        <a:srgbClr val="40AB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Uses a feed-forward convolutional network with additional convolutional layers for multi-scale </a:t>
                      </a:r>
                      <a:endParaRPr lang="en-US" sz="1400" dirty="0" smtClean="0">
                        <a:effectLst/>
                        <a:latin typeface="Sitka Text" pitchFamily="2" charset="0"/>
                      </a:endParaRPr>
                    </a:p>
                    <a:p>
                      <a:pPr latinLnBrk="1"/>
                      <a:r>
                        <a:rPr lang="en-US" sz="1400" dirty="0" smtClean="0">
                          <a:effectLst/>
                          <a:latin typeface="Sitka Text" pitchFamily="2" charset="0"/>
                        </a:rPr>
                        <a:t>feature maps</a:t>
                      </a:r>
                      <a:endParaRPr lang="en-US" sz="1400" dirty="0">
                        <a:effectLst/>
                        <a:latin typeface="Sitka Text" pitchFamily="2" charset="0"/>
                      </a:endParaRPr>
                    </a:p>
                  </a:txBody>
                  <a:tcPr marL="30963" marR="30963" marT="6193" marB="6193" anchor="ctr">
                    <a:lnL w="9525" cap="flat" cmpd="sng" algn="ctr">
                      <a:solidFill>
                        <a:srgbClr val="60C799"/>
                      </a:solidFill>
                      <a:prstDash val="solid"/>
                      <a:round/>
                      <a:headEnd type="none" w="med" len="med"/>
                      <a:tailEnd type="none" w="med" len="med"/>
                    </a:lnL>
                    <a:lnR w="9525" cap="flat" cmpd="sng" algn="ctr">
                      <a:solidFill>
                        <a:srgbClr val="E0B999"/>
                      </a:solidFill>
                      <a:prstDash val="solid"/>
                      <a:round/>
                      <a:headEnd type="none" w="med" len="med"/>
                      <a:tailEnd type="none" w="med" len="med"/>
                    </a:lnR>
                    <a:lnT w="9525" cap="flat" cmpd="sng" algn="ctr">
                      <a:solidFill>
                        <a:srgbClr val="40AB99"/>
                      </a:solidFill>
                      <a:prstDash val="solid"/>
                      <a:round/>
                      <a:headEnd type="none" w="med" len="med"/>
                      <a:tailEnd type="none" w="med" len="med"/>
                    </a:lnT>
                    <a:lnB w="9525" cap="flat" cmpd="sng" algn="ctr">
                      <a:solidFill>
                        <a:srgbClr val="E0AD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Uses a single convolutional network inspired by </a:t>
                      </a:r>
                      <a:r>
                        <a:rPr lang="en-US" sz="1400" dirty="0" err="1" smtClean="0">
                          <a:effectLst/>
                          <a:latin typeface="Sitka Text" pitchFamily="2" charset="0"/>
                        </a:rPr>
                        <a:t>GoogLeNet</a:t>
                      </a:r>
                      <a:r>
                        <a:rPr lang="en-US" sz="1400" dirty="0">
                          <a:effectLst/>
                          <a:latin typeface="Sitka Text" pitchFamily="2" charset="0"/>
                        </a:rPr>
                        <a:t>, with 24 convolutional layers </a:t>
                      </a:r>
                      <a:endParaRPr lang="en-US" sz="1400" dirty="0" smtClean="0">
                        <a:effectLst/>
                        <a:latin typeface="Sitka Text" pitchFamily="2" charset="0"/>
                      </a:endParaRPr>
                    </a:p>
                    <a:p>
                      <a:pPr latinLnBrk="1"/>
                      <a:r>
                        <a:rPr lang="en-US" sz="1400" dirty="0" smtClean="0">
                          <a:effectLst/>
                          <a:latin typeface="Sitka Text" pitchFamily="2" charset="0"/>
                        </a:rPr>
                        <a:t>followed </a:t>
                      </a:r>
                      <a:r>
                        <a:rPr lang="en-US" sz="1400" dirty="0">
                          <a:effectLst/>
                          <a:latin typeface="Sitka Text" pitchFamily="2" charset="0"/>
                        </a:rPr>
                        <a:t>by 2 fully connected </a:t>
                      </a:r>
                      <a:r>
                        <a:rPr lang="en-US" sz="1400" dirty="0" smtClean="0">
                          <a:effectLst/>
                          <a:latin typeface="Sitka Text" pitchFamily="2" charset="0"/>
                        </a:rPr>
                        <a:t>layers</a:t>
                      </a:r>
                      <a:endParaRPr lang="en-US" sz="1400" dirty="0">
                        <a:effectLst/>
                        <a:latin typeface="Sitka Text" pitchFamily="2" charset="0"/>
                      </a:endParaRPr>
                    </a:p>
                  </a:txBody>
                  <a:tcPr marL="30963" marR="30963" marT="6193" marB="6193" anchor="ctr">
                    <a:lnL w="9525" cap="flat" cmpd="sng" algn="ctr">
                      <a:solidFill>
                        <a:srgbClr val="E0B999"/>
                      </a:solidFill>
                      <a:prstDash val="solid"/>
                      <a:round/>
                      <a:headEnd type="none" w="med" len="med"/>
                      <a:tailEnd type="none" w="med" len="med"/>
                    </a:lnL>
                    <a:lnR w="9525" cap="flat" cmpd="sng" algn="ctr">
                      <a:solidFill>
                        <a:srgbClr val="20A799"/>
                      </a:solidFill>
                      <a:prstDash val="solid"/>
                      <a:round/>
                      <a:headEnd type="none" w="med" len="med"/>
                      <a:tailEnd type="none" w="med" len="med"/>
                    </a:lnR>
                    <a:lnT w="9525" cap="flat" cmpd="sng" algn="ctr">
                      <a:solidFill>
                        <a:srgbClr val="00A399"/>
                      </a:solidFill>
                      <a:prstDash val="solid"/>
                      <a:round/>
                      <a:headEnd type="none" w="med" len="med"/>
                      <a:tailEnd type="none" w="med" len="med"/>
                    </a:lnT>
                    <a:lnB w="9525" cap="flat" cmpd="sng" algn="ctr">
                      <a:solidFill>
                        <a:srgbClr val="60A099"/>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45074442"/>
                  </a:ext>
                </a:extLst>
              </a:tr>
              <a:tr h="274471">
                <a:tc>
                  <a:txBody>
                    <a:bodyPr/>
                    <a:lstStyle/>
                    <a:p>
                      <a:pPr latinLnBrk="1"/>
                      <a:r>
                        <a:rPr lang="en-US" sz="1400" b="1" dirty="0">
                          <a:effectLst/>
                          <a:latin typeface="Sitka Text" pitchFamily="2" charset="0"/>
                        </a:rPr>
                        <a:t>Speed</a:t>
                      </a:r>
                      <a:endParaRPr lang="en-US" sz="1400" dirty="0">
                        <a:effectLst/>
                        <a:latin typeface="Sitka Text" pitchFamily="2" charset="0"/>
                      </a:endParaRPr>
                    </a:p>
                  </a:txBody>
                  <a:tcPr marL="30963" marR="30963" marT="6193" marB="6193" anchor="ctr">
                    <a:lnL w="9525" cap="flat" cmpd="sng" algn="ctr">
                      <a:solidFill>
                        <a:srgbClr val="60C799"/>
                      </a:solidFill>
                      <a:prstDash val="solid"/>
                      <a:round/>
                      <a:headEnd type="none" w="med" len="med"/>
                      <a:tailEnd type="none" w="med" len="med"/>
                    </a:lnL>
                    <a:lnR w="9525" cap="flat" cmpd="sng" algn="ctr">
                      <a:solidFill>
                        <a:srgbClr val="E0B999"/>
                      </a:solidFill>
                      <a:prstDash val="solid"/>
                      <a:round/>
                      <a:headEnd type="none" w="med" len="med"/>
                      <a:tailEnd type="none" w="med" len="med"/>
                    </a:lnR>
                    <a:lnT w="9525" cap="flat" cmpd="sng" algn="ctr">
                      <a:solidFill>
                        <a:srgbClr val="40AB99"/>
                      </a:solidFill>
                      <a:prstDash val="solid"/>
                      <a:round/>
                      <a:headEnd type="none" w="med" len="med"/>
                      <a:tailEnd type="none" w="med" len="med"/>
                    </a:lnT>
                    <a:lnB w="9525" cap="flat" cmpd="sng" algn="ctr">
                      <a:solidFill>
                        <a:srgbClr val="40AB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Very fast, suitable for real-time </a:t>
                      </a:r>
                      <a:r>
                        <a:rPr lang="en-US" sz="1400" dirty="0" smtClean="0">
                          <a:effectLst/>
                          <a:latin typeface="Sitka Text" pitchFamily="2" charset="0"/>
                        </a:rPr>
                        <a:t>applications</a:t>
                      </a:r>
                      <a:endParaRPr lang="en-US" sz="1400" dirty="0">
                        <a:effectLst/>
                        <a:latin typeface="Sitka Text" pitchFamily="2" charset="0"/>
                      </a:endParaRPr>
                    </a:p>
                  </a:txBody>
                  <a:tcPr marL="30963" marR="30963" marT="6193" marB="6193" anchor="ctr">
                    <a:lnL w="9525" cap="flat" cmpd="sng" algn="ctr">
                      <a:solidFill>
                        <a:srgbClr val="E0B999"/>
                      </a:solidFill>
                      <a:prstDash val="solid"/>
                      <a:round/>
                      <a:headEnd type="none" w="med" len="med"/>
                      <a:tailEnd type="none" w="med" len="med"/>
                    </a:lnL>
                    <a:lnR w="9525" cap="flat" cmpd="sng" algn="ctr">
                      <a:solidFill>
                        <a:srgbClr val="60C799"/>
                      </a:solidFill>
                      <a:prstDash val="solid"/>
                      <a:round/>
                      <a:headEnd type="none" w="med" len="med"/>
                      <a:tailEnd type="none" w="med" len="med"/>
                    </a:lnR>
                    <a:lnT w="9525" cap="flat" cmpd="sng" algn="ctr">
                      <a:solidFill>
                        <a:srgbClr val="E0AD99"/>
                      </a:solidFill>
                      <a:prstDash val="solid"/>
                      <a:round/>
                      <a:headEnd type="none" w="med" len="med"/>
                      <a:tailEnd type="none" w="med" len="med"/>
                    </a:lnT>
                    <a:lnB w="9525" cap="flat" cmpd="sng" algn="ctr">
                      <a:solidFill>
                        <a:srgbClr val="60A3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smtClean="0">
                          <a:effectLst/>
                          <a:latin typeface="Sitka Text" pitchFamily="2" charset="0"/>
                        </a:rPr>
                        <a:t>Faster than SSD, </a:t>
                      </a:r>
                      <a:r>
                        <a:rPr lang="en-US" sz="1400" dirty="0">
                          <a:effectLst/>
                          <a:latin typeface="Sitka Text" pitchFamily="2" charset="0"/>
                        </a:rPr>
                        <a:t>capable of real-time </a:t>
                      </a:r>
                      <a:endParaRPr lang="en-US" sz="1400" dirty="0" smtClean="0">
                        <a:effectLst/>
                        <a:latin typeface="Sitka Text" pitchFamily="2" charset="0"/>
                      </a:endParaRPr>
                    </a:p>
                    <a:p>
                      <a:pPr latinLnBrk="1"/>
                      <a:r>
                        <a:rPr lang="en-US" sz="1400" dirty="0" smtClean="0">
                          <a:effectLst/>
                          <a:latin typeface="Sitka Text" pitchFamily="2" charset="0"/>
                        </a:rPr>
                        <a:t>Processing</a:t>
                      </a:r>
                      <a:endParaRPr lang="en-US" sz="1400" dirty="0">
                        <a:effectLst/>
                        <a:latin typeface="Sitka Text" pitchFamily="2" charset="0"/>
                      </a:endParaRPr>
                    </a:p>
                  </a:txBody>
                  <a:tcPr marL="30963" marR="30963" marT="6193" marB="6193" anchor="ctr">
                    <a:lnL w="9525" cap="flat" cmpd="sng" algn="ctr">
                      <a:solidFill>
                        <a:srgbClr val="60C799"/>
                      </a:solidFill>
                      <a:prstDash val="solid"/>
                      <a:round/>
                      <a:headEnd type="none" w="med" len="med"/>
                      <a:tailEnd type="none" w="med" len="med"/>
                    </a:lnL>
                    <a:lnR w="9525" cap="flat" cmpd="sng" algn="ctr">
                      <a:solidFill>
                        <a:srgbClr val="00A399"/>
                      </a:solidFill>
                      <a:prstDash val="solid"/>
                      <a:round/>
                      <a:headEnd type="none" w="med" len="med"/>
                      <a:tailEnd type="none" w="med" len="med"/>
                    </a:lnR>
                    <a:lnT w="9525" cap="flat" cmpd="sng" algn="ctr">
                      <a:solidFill>
                        <a:srgbClr val="60A099"/>
                      </a:solidFill>
                      <a:prstDash val="solid"/>
                      <a:round/>
                      <a:headEnd type="none" w="med" len="med"/>
                      <a:tailEnd type="none" w="med" len="med"/>
                    </a:lnT>
                    <a:lnB w="9525" cap="flat" cmpd="sng" algn="ctr">
                      <a:solidFill>
                        <a:srgbClr val="60A099"/>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58572324"/>
                  </a:ext>
                </a:extLst>
              </a:tr>
              <a:tr h="399172">
                <a:tc>
                  <a:txBody>
                    <a:bodyPr/>
                    <a:lstStyle/>
                    <a:p>
                      <a:pPr latinLnBrk="1"/>
                      <a:r>
                        <a:rPr lang="en-US" sz="1400" b="1" dirty="0">
                          <a:effectLst/>
                          <a:latin typeface="Sitka Text" pitchFamily="2" charset="0"/>
                        </a:rPr>
                        <a:t>Accuracy</a:t>
                      </a:r>
                      <a:endParaRPr lang="en-US" sz="1400" dirty="0">
                        <a:effectLst/>
                        <a:latin typeface="Sitka Text" pitchFamily="2" charset="0"/>
                      </a:endParaRPr>
                    </a:p>
                  </a:txBody>
                  <a:tcPr marL="30963" marR="30963" marT="6193" marB="6193" anchor="ctr">
                    <a:lnL w="9525" cap="flat" cmpd="sng" algn="ctr">
                      <a:solidFill>
                        <a:srgbClr val="C0C199"/>
                      </a:solidFill>
                      <a:prstDash val="solid"/>
                      <a:round/>
                      <a:headEnd type="none" w="med" len="med"/>
                      <a:tailEnd type="none" w="med" len="med"/>
                    </a:lnL>
                    <a:lnR w="9525" cap="flat" cmpd="sng" algn="ctr">
                      <a:solidFill>
                        <a:srgbClr val="E0B999"/>
                      </a:solidFill>
                      <a:prstDash val="solid"/>
                      <a:round/>
                      <a:headEnd type="none" w="med" len="med"/>
                      <a:tailEnd type="none" w="med" len="med"/>
                    </a:lnR>
                    <a:lnT w="9525" cap="flat" cmpd="sng" algn="ctr">
                      <a:solidFill>
                        <a:srgbClr val="40AB99"/>
                      </a:solidFill>
                      <a:prstDash val="solid"/>
                      <a:round/>
                      <a:headEnd type="none" w="med" len="med"/>
                      <a:tailEnd type="none" w="med" len="med"/>
                    </a:lnT>
                    <a:lnB w="9525" cap="flat" cmpd="sng" algn="ctr">
                      <a:solidFill>
                        <a:srgbClr val="E0AD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High accuracy, especially for objects of varying </a:t>
                      </a:r>
                      <a:endParaRPr lang="en-US" sz="1400" dirty="0" smtClean="0">
                        <a:effectLst/>
                        <a:latin typeface="Sitka Text" pitchFamily="2" charset="0"/>
                      </a:endParaRPr>
                    </a:p>
                    <a:p>
                      <a:pPr latinLnBrk="1"/>
                      <a:r>
                        <a:rPr lang="en-US" sz="1400" dirty="0" smtClean="0">
                          <a:effectLst/>
                          <a:latin typeface="Sitka Text" pitchFamily="2" charset="0"/>
                        </a:rPr>
                        <a:t>sizes due to multi-scale feature maps</a:t>
                      </a:r>
                      <a:endParaRPr lang="en-US" sz="1400" dirty="0">
                        <a:effectLst/>
                        <a:latin typeface="Sitka Text" pitchFamily="2" charset="0"/>
                      </a:endParaRPr>
                    </a:p>
                  </a:txBody>
                  <a:tcPr marL="30963" marR="30963" marT="6193" marB="6193" anchor="ctr">
                    <a:lnL w="9525" cap="flat" cmpd="sng" algn="ctr">
                      <a:solidFill>
                        <a:srgbClr val="E0B999"/>
                      </a:solidFill>
                      <a:prstDash val="solid"/>
                      <a:round/>
                      <a:headEnd type="none" w="med" len="med"/>
                      <a:tailEnd type="none" w="med" len="med"/>
                    </a:lnL>
                    <a:lnR w="9525" cap="flat" cmpd="sng" algn="ctr">
                      <a:solidFill>
                        <a:srgbClr val="E0B999"/>
                      </a:solidFill>
                      <a:prstDash val="solid"/>
                      <a:round/>
                      <a:headEnd type="none" w="med" len="med"/>
                      <a:tailEnd type="none" w="med" len="med"/>
                    </a:lnR>
                    <a:lnT w="9525" cap="flat" cmpd="sng" algn="ctr">
                      <a:solidFill>
                        <a:srgbClr val="60A399"/>
                      </a:solidFill>
                      <a:prstDash val="solid"/>
                      <a:round/>
                      <a:headEnd type="none" w="med" len="med"/>
                      <a:tailEnd type="none" w="med" len="med"/>
                    </a:lnT>
                    <a:lnB w="9525" cap="flat" cmpd="sng" algn="ctr">
                      <a:solidFill>
                        <a:srgbClr val="E0AD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High accuracy, but may struggle with small </a:t>
                      </a:r>
                      <a:endParaRPr lang="en-US" sz="1400" dirty="0" smtClean="0">
                        <a:effectLst/>
                        <a:latin typeface="Sitka Text" pitchFamily="2" charset="0"/>
                      </a:endParaRPr>
                    </a:p>
                    <a:p>
                      <a:pPr latinLnBrk="1"/>
                      <a:r>
                        <a:rPr lang="en-US" sz="1400" dirty="0" smtClean="0">
                          <a:effectLst/>
                          <a:latin typeface="Sitka Text" pitchFamily="2" charset="0"/>
                        </a:rPr>
                        <a:t>objects </a:t>
                      </a:r>
                      <a:r>
                        <a:rPr lang="en-US" sz="1400" dirty="0">
                          <a:effectLst/>
                          <a:latin typeface="Sitka Text" pitchFamily="2" charset="0"/>
                        </a:rPr>
                        <a:t>compared to </a:t>
                      </a:r>
                      <a:r>
                        <a:rPr lang="en-US" sz="1400" dirty="0" smtClean="0">
                          <a:effectLst/>
                          <a:latin typeface="Sitka Text" pitchFamily="2" charset="0"/>
                        </a:rPr>
                        <a:t>SSD</a:t>
                      </a:r>
                      <a:endParaRPr lang="en-US" sz="1400" dirty="0">
                        <a:effectLst/>
                        <a:latin typeface="Sitka Text" pitchFamily="2" charset="0"/>
                      </a:endParaRPr>
                    </a:p>
                  </a:txBody>
                  <a:tcPr marL="30963" marR="30963" marT="6193" marB="6193" anchor="ctr">
                    <a:lnL w="9525" cap="flat" cmpd="sng" algn="ctr">
                      <a:solidFill>
                        <a:srgbClr val="E0B999"/>
                      </a:solidFill>
                      <a:prstDash val="solid"/>
                      <a:round/>
                      <a:headEnd type="none" w="med" len="med"/>
                      <a:tailEnd type="none" w="med" len="med"/>
                    </a:lnL>
                    <a:lnR w="9525" cap="flat" cmpd="sng" algn="ctr">
                      <a:solidFill>
                        <a:srgbClr val="60A399"/>
                      </a:solidFill>
                      <a:prstDash val="solid"/>
                      <a:round/>
                      <a:headEnd type="none" w="med" len="med"/>
                      <a:tailEnd type="none" w="med" len="med"/>
                    </a:lnR>
                    <a:lnT w="9525" cap="flat" cmpd="sng" algn="ctr">
                      <a:solidFill>
                        <a:srgbClr val="60A099"/>
                      </a:solidFill>
                      <a:prstDash val="solid"/>
                      <a:round/>
                      <a:headEnd type="none" w="med" len="med"/>
                      <a:tailEnd type="none" w="med" len="med"/>
                    </a:lnT>
                    <a:lnB w="9525" cap="flat" cmpd="sng" algn="ctr">
                      <a:solidFill>
                        <a:srgbClr val="E0AD99"/>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15394998"/>
                  </a:ext>
                </a:extLst>
              </a:tr>
              <a:tr h="534859">
                <a:tc>
                  <a:txBody>
                    <a:bodyPr/>
                    <a:lstStyle/>
                    <a:p>
                      <a:pPr latinLnBrk="1"/>
                      <a:r>
                        <a:rPr lang="en-US" sz="1400" b="1" dirty="0">
                          <a:effectLst/>
                          <a:latin typeface="Sitka Text" pitchFamily="2" charset="0"/>
                        </a:rPr>
                        <a:t>Grid Division</a:t>
                      </a:r>
                      <a:endParaRPr lang="en-US" sz="1400" dirty="0">
                        <a:effectLst/>
                        <a:latin typeface="Sitka Text" pitchFamily="2" charset="0"/>
                      </a:endParaRPr>
                    </a:p>
                  </a:txBody>
                  <a:tcPr marL="30963" marR="30963" marT="6193" marB="6193" anchor="ctr">
                    <a:lnL w="9525" cap="flat" cmpd="sng" algn="ctr">
                      <a:solidFill>
                        <a:srgbClr val="C0C199"/>
                      </a:solidFill>
                      <a:prstDash val="solid"/>
                      <a:round/>
                      <a:headEnd type="none" w="med" len="med"/>
                      <a:tailEnd type="none" w="med" len="med"/>
                    </a:lnL>
                    <a:lnR w="9525" cap="flat" cmpd="sng" algn="ctr">
                      <a:solidFill>
                        <a:srgbClr val="C0C199"/>
                      </a:solidFill>
                      <a:prstDash val="solid"/>
                      <a:round/>
                      <a:headEnd type="none" w="med" len="med"/>
                      <a:tailEnd type="none" w="med" len="med"/>
                    </a:lnR>
                    <a:lnT w="9525" cap="flat" cmpd="sng" algn="ctr">
                      <a:solidFill>
                        <a:srgbClr val="E0AD99"/>
                      </a:solidFill>
                      <a:prstDash val="solid"/>
                      <a:round/>
                      <a:headEnd type="none" w="med" len="med"/>
                      <a:tailEnd type="none" w="med" len="med"/>
                    </a:lnT>
                    <a:lnB w="9525" cap="flat" cmpd="sng" algn="ctr">
                      <a:solidFill>
                        <a:srgbClr val="60A0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Does not use a fixed grid; instead, </a:t>
                      </a:r>
                      <a:r>
                        <a:rPr lang="en-US" sz="1400" dirty="0" smtClean="0">
                          <a:effectLst/>
                          <a:latin typeface="Sitka Text" pitchFamily="2" charset="0"/>
                        </a:rPr>
                        <a:t>predicts </a:t>
                      </a:r>
                    </a:p>
                    <a:p>
                      <a:pPr latinLnBrk="1"/>
                      <a:r>
                        <a:rPr lang="en-US" sz="1400" dirty="0" smtClean="0">
                          <a:effectLst/>
                          <a:latin typeface="Sitka Text" pitchFamily="2" charset="0"/>
                        </a:rPr>
                        <a:t>bounding </a:t>
                      </a:r>
                      <a:r>
                        <a:rPr lang="en-US" sz="1400" dirty="0">
                          <a:effectLst/>
                          <a:latin typeface="Sitka Text" pitchFamily="2" charset="0"/>
                        </a:rPr>
                        <a:t>boxes at multiple </a:t>
                      </a:r>
                      <a:r>
                        <a:rPr lang="en-US" sz="1400" dirty="0" smtClean="0">
                          <a:effectLst/>
                          <a:latin typeface="Sitka Text" pitchFamily="2" charset="0"/>
                        </a:rPr>
                        <a:t>scales</a:t>
                      </a:r>
                      <a:endParaRPr lang="en-US" sz="1400" dirty="0">
                        <a:effectLst/>
                        <a:latin typeface="Sitka Text" pitchFamily="2" charset="0"/>
                      </a:endParaRPr>
                    </a:p>
                  </a:txBody>
                  <a:tcPr marL="30963" marR="30963" marT="6193" marB="6193" anchor="ctr">
                    <a:lnL w="9525" cap="flat" cmpd="sng" algn="ctr">
                      <a:solidFill>
                        <a:srgbClr val="C0C199"/>
                      </a:solidFill>
                      <a:prstDash val="solid"/>
                      <a:round/>
                      <a:headEnd type="none" w="med" len="med"/>
                      <a:tailEnd type="none" w="med" len="med"/>
                    </a:lnL>
                    <a:lnR w="9525" cap="flat" cmpd="sng" algn="ctr">
                      <a:solidFill>
                        <a:srgbClr val="A0C399"/>
                      </a:solidFill>
                      <a:prstDash val="solid"/>
                      <a:round/>
                      <a:headEnd type="none" w="med" len="med"/>
                      <a:tailEnd type="none" w="med" len="med"/>
                    </a:lnR>
                    <a:lnT w="9525" cap="flat" cmpd="sng" algn="ctr">
                      <a:solidFill>
                        <a:srgbClr val="E0AD99"/>
                      </a:solidFill>
                      <a:prstDash val="solid"/>
                      <a:round/>
                      <a:headEnd type="none" w="med" len="med"/>
                      <a:tailEnd type="none" w="med" len="med"/>
                    </a:lnT>
                    <a:lnB w="9525" cap="flat" cmpd="sng" algn="ctr">
                      <a:solidFill>
                        <a:srgbClr val="60A0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Divides the input image into a fixed grid </a:t>
                      </a:r>
                      <a:r>
                        <a:rPr lang="en-US" sz="1400" dirty="0" smtClean="0">
                          <a:effectLst/>
                          <a:latin typeface="Sitka Text" pitchFamily="2" charset="0"/>
                        </a:rPr>
                        <a:t>and </a:t>
                      </a:r>
                    </a:p>
                    <a:p>
                      <a:pPr latinLnBrk="1"/>
                      <a:r>
                        <a:rPr lang="en-US" sz="1400" dirty="0" smtClean="0">
                          <a:effectLst/>
                          <a:latin typeface="Sitka Text" pitchFamily="2" charset="0"/>
                        </a:rPr>
                        <a:t>predicts </a:t>
                      </a:r>
                      <a:r>
                        <a:rPr lang="en-US" sz="1400" dirty="0">
                          <a:effectLst/>
                          <a:latin typeface="Sitka Text" pitchFamily="2" charset="0"/>
                        </a:rPr>
                        <a:t>bounding boxes for each grid </a:t>
                      </a:r>
                      <a:r>
                        <a:rPr lang="en-US" sz="1400" dirty="0" smtClean="0">
                          <a:effectLst/>
                          <a:latin typeface="Sitka Text" pitchFamily="2" charset="0"/>
                        </a:rPr>
                        <a:t>cell</a:t>
                      </a:r>
                      <a:endParaRPr lang="en-US" sz="1400" dirty="0">
                        <a:effectLst/>
                        <a:latin typeface="Sitka Text" pitchFamily="2" charset="0"/>
                      </a:endParaRPr>
                    </a:p>
                  </a:txBody>
                  <a:tcPr marL="30963" marR="30963" marT="6193" marB="6193" anchor="ctr">
                    <a:lnL w="9525" cap="flat" cmpd="sng" algn="ctr">
                      <a:solidFill>
                        <a:srgbClr val="A0C399"/>
                      </a:solidFill>
                      <a:prstDash val="solid"/>
                      <a:round/>
                      <a:headEnd type="none" w="med" len="med"/>
                      <a:tailEnd type="none" w="med" len="med"/>
                    </a:lnL>
                    <a:lnR w="9525" cap="flat" cmpd="sng" algn="ctr">
                      <a:solidFill>
                        <a:srgbClr val="20A799"/>
                      </a:solidFill>
                      <a:prstDash val="solid"/>
                      <a:round/>
                      <a:headEnd type="none" w="med" len="med"/>
                      <a:tailEnd type="none" w="med" len="med"/>
                    </a:lnR>
                    <a:lnT w="9525" cap="flat" cmpd="sng" algn="ctr">
                      <a:solidFill>
                        <a:srgbClr val="E0AD99"/>
                      </a:solidFill>
                      <a:prstDash val="solid"/>
                      <a:round/>
                      <a:headEnd type="none" w="med" len="med"/>
                      <a:tailEnd type="none" w="med" len="med"/>
                    </a:lnT>
                    <a:lnB w="9525" cap="flat" cmpd="sng" algn="ctr">
                      <a:solidFill>
                        <a:srgbClr val="40AB99"/>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697602439"/>
                  </a:ext>
                </a:extLst>
              </a:tr>
              <a:tr h="534859">
                <a:tc>
                  <a:txBody>
                    <a:bodyPr/>
                    <a:lstStyle/>
                    <a:p>
                      <a:pPr latinLnBrk="1"/>
                      <a:r>
                        <a:rPr lang="en-US" sz="1400" b="1">
                          <a:effectLst/>
                          <a:latin typeface="Sitka Text" pitchFamily="2" charset="0"/>
                        </a:rPr>
                        <a:t>Bounding Boxes</a:t>
                      </a:r>
                      <a:endParaRPr lang="en-US" sz="1400">
                        <a:effectLst/>
                        <a:latin typeface="Sitka Text" pitchFamily="2" charset="0"/>
                      </a:endParaRPr>
                    </a:p>
                  </a:txBody>
                  <a:tcPr marL="30963" marR="30963" marT="6193" marB="6193" anchor="ctr">
                    <a:lnL w="9525" cap="flat" cmpd="sng" algn="ctr">
                      <a:solidFill>
                        <a:srgbClr val="E0B999"/>
                      </a:solidFill>
                      <a:prstDash val="solid"/>
                      <a:round/>
                      <a:headEnd type="none" w="med" len="med"/>
                      <a:tailEnd type="none" w="med" len="med"/>
                    </a:lnL>
                    <a:lnR w="9525" cap="flat" cmpd="sng" algn="ctr">
                      <a:solidFill>
                        <a:srgbClr val="C0C199"/>
                      </a:solidFill>
                      <a:prstDash val="solid"/>
                      <a:round/>
                      <a:headEnd type="none" w="med" len="med"/>
                      <a:tailEnd type="none" w="med" len="med"/>
                    </a:lnR>
                    <a:lnT w="9525" cap="flat" cmpd="sng" algn="ctr">
                      <a:solidFill>
                        <a:srgbClr val="60A099"/>
                      </a:solidFill>
                      <a:prstDash val="solid"/>
                      <a:round/>
                      <a:headEnd type="none" w="med" len="med"/>
                      <a:tailEnd type="none" w="med" len="med"/>
                    </a:lnT>
                    <a:lnB w="9525" cap="flat" cmpd="sng" algn="ctr">
                      <a:solidFill>
                        <a:srgbClr val="E0A1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Predicts </a:t>
                      </a:r>
                      <a:r>
                        <a:rPr lang="en-US" sz="1400" dirty="0" smtClean="0">
                          <a:effectLst/>
                          <a:latin typeface="Sitka Text" pitchFamily="2" charset="0"/>
                        </a:rPr>
                        <a:t>fixed </a:t>
                      </a:r>
                      <a:r>
                        <a:rPr lang="en-US" sz="1400" dirty="0">
                          <a:effectLst/>
                          <a:latin typeface="Sitka Text" pitchFamily="2" charset="0"/>
                        </a:rPr>
                        <a:t>number of default boxes for </a:t>
                      </a:r>
                      <a:r>
                        <a:rPr lang="en-US" sz="1400" dirty="0" smtClean="0">
                          <a:effectLst/>
                          <a:latin typeface="Sitka Text" pitchFamily="2" charset="0"/>
                        </a:rPr>
                        <a:t>each  feature </a:t>
                      </a:r>
                      <a:r>
                        <a:rPr lang="en-US" sz="1400" dirty="0">
                          <a:effectLst/>
                          <a:latin typeface="Sitka Text" pitchFamily="2" charset="0"/>
                        </a:rPr>
                        <a:t>map location, refined during </a:t>
                      </a:r>
                      <a:r>
                        <a:rPr lang="en-US" sz="1400" dirty="0" smtClean="0">
                          <a:effectLst/>
                          <a:latin typeface="Sitka Text" pitchFamily="2" charset="0"/>
                        </a:rPr>
                        <a:t>training</a:t>
                      </a:r>
                      <a:endParaRPr lang="en-US" sz="1400" dirty="0">
                        <a:effectLst/>
                        <a:latin typeface="Sitka Text" pitchFamily="2" charset="0"/>
                      </a:endParaRPr>
                    </a:p>
                  </a:txBody>
                  <a:tcPr marL="30963" marR="30963" marT="6193" marB="6193" anchor="ctr">
                    <a:lnL w="9525" cap="flat" cmpd="sng" algn="ctr">
                      <a:solidFill>
                        <a:srgbClr val="C0C199"/>
                      </a:solidFill>
                      <a:prstDash val="solid"/>
                      <a:round/>
                      <a:headEnd type="none" w="med" len="med"/>
                      <a:tailEnd type="none" w="med" len="med"/>
                    </a:lnL>
                    <a:lnR w="9525" cap="flat" cmpd="sng" algn="ctr">
                      <a:solidFill>
                        <a:srgbClr val="00B299"/>
                      </a:solidFill>
                      <a:prstDash val="solid"/>
                      <a:round/>
                      <a:headEnd type="none" w="med" len="med"/>
                      <a:tailEnd type="none" w="med" len="med"/>
                    </a:lnR>
                    <a:lnT w="9525" cap="flat" cmpd="sng" algn="ctr">
                      <a:solidFill>
                        <a:srgbClr val="60A099"/>
                      </a:solidFill>
                      <a:prstDash val="solid"/>
                      <a:round/>
                      <a:headEnd type="none" w="med" len="med"/>
                      <a:tailEnd type="none" w="med" len="med"/>
                    </a:lnT>
                    <a:lnB w="9525" cap="flat" cmpd="sng" algn="ctr">
                      <a:solidFill>
                        <a:srgbClr val="E0AD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Each grid cell predicts a fixed number of </a:t>
                      </a:r>
                      <a:endParaRPr lang="en-US" sz="1400" dirty="0" smtClean="0">
                        <a:effectLst/>
                        <a:latin typeface="Sitka Text" pitchFamily="2" charset="0"/>
                      </a:endParaRPr>
                    </a:p>
                    <a:p>
                      <a:pPr latinLnBrk="1"/>
                      <a:r>
                        <a:rPr lang="en-US" sz="1400" dirty="0" smtClean="0">
                          <a:effectLst/>
                          <a:latin typeface="Sitka Text" pitchFamily="2" charset="0"/>
                        </a:rPr>
                        <a:t>bounding </a:t>
                      </a:r>
                      <a:r>
                        <a:rPr lang="en-US" sz="1400" dirty="0">
                          <a:effectLst/>
                          <a:latin typeface="Sitka Text" pitchFamily="2" charset="0"/>
                        </a:rPr>
                        <a:t>boxes and their confidence </a:t>
                      </a:r>
                      <a:r>
                        <a:rPr lang="en-US" sz="1400" dirty="0" smtClean="0">
                          <a:effectLst/>
                          <a:latin typeface="Sitka Text" pitchFamily="2" charset="0"/>
                        </a:rPr>
                        <a:t>scores</a:t>
                      </a:r>
                      <a:endParaRPr lang="en-US" sz="1400" dirty="0">
                        <a:effectLst/>
                        <a:latin typeface="Sitka Text" pitchFamily="2" charset="0"/>
                      </a:endParaRPr>
                    </a:p>
                  </a:txBody>
                  <a:tcPr marL="30963" marR="30963" marT="6193" marB="6193" anchor="ctr">
                    <a:lnL w="9525" cap="flat" cmpd="sng" algn="ctr">
                      <a:solidFill>
                        <a:srgbClr val="00B299"/>
                      </a:solidFill>
                      <a:prstDash val="solid"/>
                      <a:round/>
                      <a:headEnd type="none" w="med" len="med"/>
                      <a:tailEnd type="none" w="med" len="med"/>
                    </a:lnL>
                    <a:lnR w="9525" cap="flat" cmpd="sng" algn="ctr">
                      <a:solidFill>
                        <a:srgbClr val="60A399"/>
                      </a:solidFill>
                      <a:prstDash val="solid"/>
                      <a:round/>
                      <a:headEnd type="none" w="med" len="med"/>
                      <a:tailEnd type="none" w="med" len="med"/>
                    </a:lnR>
                    <a:lnT w="9525" cap="flat" cmpd="sng" algn="ctr">
                      <a:solidFill>
                        <a:srgbClr val="40AB99"/>
                      </a:solidFill>
                      <a:prstDash val="solid"/>
                      <a:round/>
                      <a:headEnd type="none" w="med" len="med"/>
                      <a:tailEnd type="none" w="med" len="med"/>
                    </a:lnT>
                    <a:lnB w="9525" cap="flat" cmpd="sng" algn="ctr">
                      <a:solidFill>
                        <a:srgbClr val="E0AD99"/>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92108948"/>
                  </a:ext>
                </a:extLst>
              </a:tr>
              <a:tr h="251747">
                <a:tc>
                  <a:txBody>
                    <a:bodyPr/>
                    <a:lstStyle/>
                    <a:p>
                      <a:pPr latinLnBrk="1"/>
                      <a:r>
                        <a:rPr lang="en-US" sz="1400" b="1">
                          <a:effectLst/>
                          <a:latin typeface="Sitka Text" pitchFamily="2" charset="0"/>
                        </a:rPr>
                        <a:t>Class Probabilities</a:t>
                      </a:r>
                      <a:endParaRPr lang="en-US" sz="1400">
                        <a:effectLst/>
                        <a:latin typeface="Sitka Text" pitchFamily="2" charset="0"/>
                      </a:endParaRPr>
                    </a:p>
                  </a:txBody>
                  <a:tcPr marL="30963" marR="30963" marT="6193" marB="6193" anchor="ctr">
                    <a:lnL w="9525" cap="flat" cmpd="sng" algn="ctr">
                      <a:solidFill>
                        <a:srgbClr val="60C799"/>
                      </a:solidFill>
                      <a:prstDash val="solid"/>
                      <a:round/>
                      <a:headEnd type="none" w="med" len="med"/>
                      <a:tailEnd type="none" w="med" len="med"/>
                    </a:lnL>
                    <a:lnR w="9525" cap="flat" cmpd="sng" algn="ctr">
                      <a:solidFill>
                        <a:srgbClr val="C0C199"/>
                      </a:solidFill>
                      <a:prstDash val="solid"/>
                      <a:round/>
                      <a:headEnd type="none" w="med" len="med"/>
                      <a:tailEnd type="none" w="med" len="med"/>
                    </a:lnR>
                    <a:lnT w="9525" cap="flat" cmpd="sng" algn="ctr">
                      <a:solidFill>
                        <a:srgbClr val="E0A199"/>
                      </a:solidFill>
                      <a:prstDash val="solid"/>
                      <a:round/>
                      <a:headEnd type="none" w="med" len="med"/>
                      <a:tailEnd type="none" w="med" len="med"/>
                    </a:lnT>
                    <a:lnB w="9525" cap="flat" cmpd="sng" algn="ctr">
                      <a:solidFill>
                        <a:srgbClr val="20A7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Predicts class probabilities for each default </a:t>
                      </a:r>
                      <a:r>
                        <a:rPr lang="en-US" sz="1400" dirty="0" smtClean="0">
                          <a:effectLst/>
                          <a:latin typeface="Sitka Text" pitchFamily="2" charset="0"/>
                        </a:rPr>
                        <a:t>box</a:t>
                      </a:r>
                      <a:endParaRPr lang="en-US" sz="1400" dirty="0">
                        <a:effectLst/>
                        <a:latin typeface="Sitka Text" pitchFamily="2" charset="0"/>
                      </a:endParaRPr>
                    </a:p>
                  </a:txBody>
                  <a:tcPr marL="30963" marR="30963" marT="6193" marB="6193" anchor="ctr">
                    <a:lnL w="9525" cap="flat" cmpd="sng" algn="ctr">
                      <a:solidFill>
                        <a:srgbClr val="C0C199"/>
                      </a:solidFill>
                      <a:prstDash val="solid"/>
                      <a:round/>
                      <a:headEnd type="none" w="med" len="med"/>
                      <a:tailEnd type="none" w="med" len="med"/>
                    </a:lnL>
                    <a:lnR w="9525" cap="flat" cmpd="sng" algn="ctr">
                      <a:solidFill>
                        <a:srgbClr val="E0B999"/>
                      </a:solidFill>
                      <a:prstDash val="solid"/>
                      <a:round/>
                      <a:headEnd type="none" w="med" len="med"/>
                      <a:tailEnd type="none" w="med" len="med"/>
                    </a:lnR>
                    <a:lnT w="9525" cap="flat" cmpd="sng" algn="ctr">
                      <a:solidFill>
                        <a:srgbClr val="E0AD99"/>
                      </a:solidFill>
                      <a:prstDash val="solid"/>
                      <a:round/>
                      <a:headEnd type="none" w="med" len="med"/>
                      <a:tailEnd type="none" w="med" len="med"/>
                    </a:lnT>
                    <a:lnB w="9525" cap="flat" cmpd="sng" algn="ctr">
                      <a:solidFill>
                        <a:srgbClr val="20A7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Predicts class probabilities for each grid </a:t>
                      </a:r>
                      <a:r>
                        <a:rPr lang="en-US" sz="1400" dirty="0" smtClean="0">
                          <a:effectLst/>
                          <a:latin typeface="Sitka Text" pitchFamily="2" charset="0"/>
                        </a:rPr>
                        <a:t>cell</a:t>
                      </a:r>
                      <a:endParaRPr lang="en-US" sz="1400" dirty="0">
                        <a:effectLst/>
                        <a:latin typeface="Sitka Text" pitchFamily="2" charset="0"/>
                      </a:endParaRPr>
                    </a:p>
                  </a:txBody>
                  <a:tcPr marL="30963" marR="30963" marT="6193" marB="6193" anchor="ctr">
                    <a:lnL w="9525" cap="flat" cmpd="sng" algn="ctr">
                      <a:solidFill>
                        <a:srgbClr val="E0B999"/>
                      </a:solidFill>
                      <a:prstDash val="solid"/>
                      <a:round/>
                      <a:headEnd type="none" w="med" len="med"/>
                      <a:tailEnd type="none" w="med" len="med"/>
                    </a:lnL>
                    <a:lnR w="9525" cap="flat" cmpd="sng" algn="ctr">
                      <a:solidFill>
                        <a:srgbClr val="60A399"/>
                      </a:solidFill>
                      <a:prstDash val="solid"/>
                      <a:round/>
                      <a:headEnd type="none" w="med" len="med"/>
                      <a:tailEnd type="none" w="med" len="med"/>
                    </a:lnR>
                    <a:lnT w="9525" cap="flat" cmpd="sng" algn="ctr">
                      <a:solidFill>
                        <a:srgbClr val="E0AD99"/>
                      </a:solidFill>
                      <a:prstDash val="solid"/>
                      <a:round/>
                      <a:headEnd type="none" w="med" len="med"/>
                      <a:tailEnd type="none" w="med" len="med"/>
                    </a:lnT>
                    <a:lnB w="9525" cap="flat" cmpd="sng" algn="ctr">
                      <a:solidFill>
                        <a:srgbClr val="60A399"/>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77836227"/>
                  </a:ext>
                </a:extLst>
              </a:tr>
              <a:tr h="534859">
                <a:tc>
                  <a:txBody>
                    <a:bodyPr/>
                    <a:lstStyle/>
                    <a:p>
                      <a:pPr latinLnBrk="1"/>
                      <a:r>
                        <a:rPr lang="en-US" sz="1400" b="1" dirty="0">
                          <a:effectLst/>
                          <a:latin typeface="Sitka Text" pitchFamily="2" charset="0"/>
                        </a:rPr>
                        <a:t>Non-Maximum </a:t>
                      </a:r>
                      <a:r>
                        <a:rPr lang="en-US" sz="1400" b="1" dirty="0" smtClean="0">
                          <a:effectLst/>
                          <a:latin typeface="Sitka Text" pitchFamily="2" charset="0"/>
                        </a:rPr>
                        <a:t>Suppression</a:t>
                      </a:r>
                      <a:endParaRPr lang="en-US" sz="1400" dirty="0">
                        <a:effectLst/>
                        <a:latin typeface="Sitka Text" pitchFamily="2" charset="0"/>
                      </a:endParaRPr>
                    </a:p>
                  </a:txBody>
                  <a:tcPr marL="30963" marR="30963" marT="6193" marB="6193" anchor="ctr">
                    <a:lnL w="9525" cap="flat" cmpd="sng" algn="ctr">
                      <a:solidFill>
                        <a:srgbClr val="C0C199"/>
                      </a:solidFill>
                      <a:prstDash val="solid"/>
                      <a:round/>
                      <a:headEnd type="none" w="med" len="med"/>
                      <a:tailEnd type="none" w="med" len="med"/>
                    </a:lnL>
                    <a:lnR w="9525" cap="flat" cmpd="sng" algn="ctr">
                      <a:solidFill>
                        <a:srgbClr val="00B299"/>
                      </a:solidFill>
                      <a:prstDash val="solid"/>
                      <a:round/>
                      <a:headEnd type="none" w="med" len="med"/>
                      <a:tailEnd type="none" w="med" len="med"/>
                    </a:lnR>
                    <a:lnT w="9525" cap="flat" cmpd="sng" algn="ctr">
                      <a:solidFill>
                        <a:srgbClr val="20A799"/>
                      </a:solidFill>
                      <a:prstDash val="solid"/>
                      <a:round/>
                      <a:headEnd type="none" w="med" len="med"/>
                      <a:tailEnd type="none" w="med" len="med"/>
                    </a:lnT>
                    <a:lnB w="9525" cap="flat" cmpd="sng" algn="ctr">
                      <a:solidFill>
                        <a:srgbClr val="60A0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Applies NMS to remove redundant bounding </a:t>
                      </a:r>
                      <a:endParaRPr lang="en-US" sz="1400" dirty="0" smtClean="0">
                        <a:effectLst/>
                        <a:latin typeface="Sitka Text" pitchFamily="2" charset="0"/>
                      </a:endParaRPr>
                    </a:p>
                    <a:p>
                      <a:pPr latinLnBrk="1"/>
                      <a:r>
                        <a:rPr lang="en-US" sz="1400" dirty="0" smtClean="0">
                          <a:effectLst/>
                          <a:latin typeface="Sitka Text" pitchFamily="2" charset="0"/>
                        </a:rPr>
                        <a:t>boxes </a:t>
                      </a:r>
                      <a:r>
                        <a:rPr lang="en-US" sz="1400" dirty="0">
                          <a:effectLst/>
                          <a:latin typeface="Sitka Text" pitchFamily="2" charset="0"/>
                        </a:rPr>
                        <a:t>with low confidence </a:t>
                      </a:r>
                      <a:r>
                        <a:rPr lang="en-US" sz="1400" dirty="0" smtClean="0">
                          <a:effectLst/>
                          <a:latin typeface="Sitka Text" pitchFamily="2" charset="0"/>
                        </a:rPr>
                        <a:t>scores</a:t>
                      </a:r>
                      <a:endParaRPr lang="en-US" sz="1400" dirty="0">
                        <a:effectLst/>
                        <a:latin typeface="Sitka Text" pitchFamily="2" charset="0"/>
                      </a:endParaRPr>
                    </a:p>
                  </a:txBody>
                  <a:tcPr marL="30963" marR="30963" marT="6193" marB="6193" anchor="ctr">
                    <a:lnL w="9525" cap="flat" cmpd="sng" algn="ctr">
                      <a:solidFill>
                        <a:srgbClr val="00B299"/>
                      </a:solidFill>
                      <a:prstDash val="solid"/>
                      <a:round/>
                      <a:headEnd type="none" w="med" len="med"/>
                      <a:tailEnd type="none" w="med" len="med"/>
                    </a:lnL>
                    <a:lnR w="9525" cap="flat" cmpd="sng" algn="ctr">
                      <a:solidFill>
                        <a:srgbClr val="C0C199"/>
                      </a:solidFill>
                      <a:prstDash val="solid"/>
                      <a:round/>
                      <a:headEnd type="none" w="med" len="med"/>
                      <a:tailEnd type="none" w="med" len="med"/>
                    </a:lnR>
                    <a:lnT w="9525" cap="flat" cmpd="sng" algn="ctr">
                      <a:solidFill>
                        <a:srgbClr val="20A799"/>
                      </a:solidFill>
                      <a:prstDash val="solid"/>
                      <a:round/>
                      <a:headEnd type="none" w="med" len="med"/>
                      <a:tailEnd type="none" w="med" len="med"/>
                    </a:lnT>
                    <a:lnB w="9525" cap="flat" cmpd="sng" algn="ctr">
                      <a:solidFill>
                        <a:srgbClr val="E0AD99"/>
                      </a:solidFill>
                      <a:prstDash val="solid"/>
                      <a:round/>
                      <a:headEnd type="none" w="med" len="med"/>
                      <a:tailEnd type="none" w="med" len="med"/>
                    </a:lnB>
                    <a:solidFill>
                      <a:schemeClr val="accent1">
                        <a:lumMod val="20000"/>
                        <a:lumOff val="80000"/>
                      </a:schemeClr>
                    </a:solidFill>
                  </a:tcPr>
                </a:tc>
                <a:tc>
                  <a:txBody>
                    <a:bodyPr/>
                    <a:lstStyle/>
                    <a:p>
                      <a:pPr latinLnBrk="1"/>
                      <a:r>
                        <a:rPr lang="en-US" sz="1400" dirty="0">
                          <a:effectLst/>
                          <a:latin typeface="Sitka Text" pitchFamily="2" charset="0"/>
                        </a:rPr>
                        <a:t>Applies NMS to remove overlapping </a:t>
                      </a:r>
                      <a:endParaRPr lang="en-US" sz="1400" dirty="0" smtClean="0">
                        <a:effectLst/>
                        <a:latin typeface="Sitka Text" pitchFamily="2" charset="0"/>
                      </a:endParaRPr>
                    </a:p>
                    <a:p>
                      <a:pPr latinLnBrk="1"/>
                      <a:r>
                        <a:rPr lang="en-US" sz="1400" dirty="0" smtClean="0">
                          <a:effectLst/>
                          <a:latin typeface="Sitka Text" pitchFamily="2" charset="0"/>
                        </a:rPr>
                        <a:t>bounding boxes </a:t>
                      </a:r>
                      <a:r>
                        <a:rPr lang="en-US" sz="1400" dirty="0">
                          <a:effectLst/>
                          <a:latin typeface="Sitka Text" pitchFamily="2" charset="0"/>
                        </a:rPr>
                        <a:t>with lower confidence </a:t>
                      </a:r>
                      <a:r>
                        <a:rPr lang="en-US" sz="1400" dirty="0" smtClean="0">
                          <a:effectLst/>
                          <a:latin typeface="Sitka Text" pitchFamily="2" charset="0"/>
                        </a:rPr>
                        <a:t>scores</a:t>
                      </a:r>
                      <a:endParaRPr lang="en-US" sz="1400" dirty="0">
                        <a:effectLst/>
                        <a:latin typeface="Sitka Text" pitchFamily="2" charset="0"/>
                      </a:endParaRPr>
                    </a:p>
                  </a:txBody>
                  <a:tcPr marL="30963" marR="30963" marT="6193" marB="6193" anchor="ctr">
                    <a:lnL w="9525" cap="flat" cmpd="sng" algn="ctr">
                      <a:solidFill>
                        <a:srgbClr val="C0C199"/>
                      </a:solidFill>
                      <a:prstDash val="solid"/>
                      <a:round/>
                      <a:headEnd type="none" w="med" len="med"/>
                      <a:tailEnd type="none" w="med" len="med"/>
                    </a:lnL>
                    <a:lnR w="9525" cap="flat" cmpd="sng" algn="ctr">
                      <a:solidFill>
                        <a:srgbClr val="20A799"/>
                      </a:solidFill>
                      <a:prstDash val="solid"/>
                      <a:round/>
                      <a:headEnd type="none" w="med" len="med"/>
                      <a:tailEnd type="none" w="med" len="med"/>
                    </a:lnR>
                    <a:lnT w="9525" cap="flat" cmpd="sng" algn="ctr">
                      <a:solidFill>
                        <a:srgbClr val="60A399"/>
                      </a:solidFill>
                      <a:prstDash val="solid"/>
                      <a:round/>
                      <a:headEnd type="none" w="med" len="med"/>
                      <a:tailEnd type="none" w="med" len="med"/>
                    </a:lnT>
                    <a:lnB w="9525" cap="flat" cmpd="sng" algn="ctr">
                      <a:solidFill>
                        <a:srgbClr val="E0AD99"/>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4323911"/>
                  </a:ext>
                </a:extLst>
              </a:tr>
            </a:tbl>
          </a:graphicData>
        </a:graphic>
      </p:graphicFrame>
    </p:spTree>
    <p:extLst>
      <p:ext uri="{BB962C8B-B14F-4D97-AF65-F5344CB8AC3E}">
        <p14:creationId xmlns:p14="http://schemas.microsoft.com/office/powerpoint/2010/main" val="301012411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Evolution of YOLO Models</a:t>
            </a:r>
            <a:endParaRPr lang="en-US" dirty="0">
              <a:latin typeface="Sitka Text" pitchFamily="2" charset="0"/>
            </a:endParaRPr>
          </a:p>
        </p:txBody>
      </p:sp>
      <p:sp>
        <p:nvSpPr>
          <p:cNvPr id="3" name="Content Placeholder 2"/>
          <p:cNvSpPr>
            <a:spLocks noGrp="1"/>
          </p:cNvSpPr>
          <p:nvPr>
            <p:ph idx="1"/>
          </p:nvPr>
        </p:nvSpPr>
        <p:spPr/>
        <p:txBody>
          <a:bodyPr/>
          <a:lstStyle/>
          <a:p>
            <a:pPr>
              <a:lnSpc>
                <a:spcPct val="150000"/>
              </a:lnSpc>
              <a:buFont typeface="Arial" panose="020B0604020202020204" pitchFamily="34" charset="0"/>
              <a:buChar char="•"/>
            </a:pPr>
            <a:r>
              <a:rPr lang="en-IN" dirty="0">
                <a:solidFill>
                  <a:srgbClr val="FF0000"/>
                </a:solidFill>
                <a:latin typeface="Sitka Text" pitchFamily="2" charset="0"/>
              </a:rPr>
              <a:t>YOLOv1</a:t>
            </a:r>
            <a:r>
              <a:rPr lang="en-IN" dirty="0">
                <a:latin typeface="Sitka Text" pitchFamily="2" charset="0"/>
              </a:rPr>
              <a:t>: Introduced in </a:t>
            </a:r>
            <a:r>
              <a:rPr lang="en-IN" dirty="0" smtClean="0">
                <a:latin typeface="Sitka Text" pitchFamily="2" charset="0"/>
              </a:rPr>
              <a:t>2015 </a:t>
            </a:r>
          </a:p>
          <a:p>
            <a:pPr>
              <a:lnSpc>
                <a:spcPct val="150000"/>
              </a:lnSpc>
              <a:buFont typeface="Arial" panose="020B0604020202020204" pitchFamily="34" charset="0"/>
              <a:buChar char="•"/>
            </a:pPr>
            <a:r>
              <a:rPr lang="en-IN" dirty="0" smtClean="0">
                <a:solidFill>
                  <a:srgbClr val="FF0000"/>
                </a:solidFill>
                <a:latin typeface="Sitka Text" pitchFamily="2" charset="0"/>
              </a:rPr>
              <a:t>YOLOv2</a:t>
            </a:r>
            <a:r>
              <a:rPr lang="en-IN" dirty="0" smtClean="0">
                <a:latin typeface="Sitka Text" pitchFamily="2" charset="0"/>
              </a:rPr>
              <a:t> </a:t>
            </a:r>
            <a:r>
              <a:rPr lang="en-IN" dirty="0">
                <a:latin typeface="Sitka Text" pitchFamily="2" charset="0"/>
              </a:rPr>
              <a:t>(YOLO9000): Improved accuracy and speed, introduced batch normalization and anchor boxes. </a:t>
            </a:r>
            <a:endParaRPr lang="en-IN" dirty="0" smtClean="0">
              <a:latin typeface="Sitka Text" pitchFamily="2" charset="0"/>
            </a:endParaRPr>
          </a:p>
          <a:p>
            <a:pPr>
              <a:lnSpc>
                <a:spcPct val="150000"/>
              </a:lnSpc>
              <a:buFont typeface="Arial" panose="020B0604020202020204" pitchFamily="34" charset="0"/>
              <a:buChar char="•"/>
            </a:pPr>
            <a:r>
              <a:rPr lang="en-IN" dirty="0" smtClean="0">
                <a:solidFill>
                  <a:srgbClr val="FF0000"/>
                </a:solidFill>
                <a:latin typeface="Sitka Text" pitchFamily="2" charset="0"/>
              </a:rPr>
              <a:t>YOLOv3</a:t>
            </a:r>
            <a:r>
              <a:rPr lang="en-IN" dirty="0">
                <a:latin typeface="Sitka Text" pitchFamily="2" charset="0"/>
              </a:rPr>
              <a:t>: Enhanced with multi-scale predictions and better performance on small objects. </a:t>
            </a:r>
            <a:endParaRPr lang="en-IN" dirty="0" smtClean="0">
              <a:latin typeface="Sitka Text" pitchFamily="2" charset="0"/>
            </a:endParaRPr>
          </a:p>
          <a:p>
            <a:pPr>
              <a:lnSpc>
                <a:spcPct val="150000"/>
              </a:lnSpc>
              <a:buFont typeface="Arial" panose="020B0604020202020204" pitchFamily="34" charset="0"/>
              <a:buChar char="•"/>
            </a:pPr>
            <a:r>
              <a:rPr lang="en-IN" dirty="0" smtClean="0">
                <a:solidFill>
                  <a:srgbClr val="FF0000"/>
                </a:solidFill>
                <a:latin typeface="Sitka Text" pitchFamily="2" charset="0"/>
              </a:rPr>
              <a:t>YOLOv4 </a:t>
            </a:r>
            <a:r>
              <a:rPr lang="en-IN" dirty="0">
                <a:solidFill>
                  <a:srgbClr val="FF0000"/>
                </a:solidFill>
                <a:latin typeface="Sitka Text" pitchFamily="2" charset="0"/>
              </a:rPr>
              <a:t>and </a:t>
            </a:r>
            <a:r>
              <a:rPr lang="en-IN" dirty="0" smtClean="0">
                <a:solidFill>
                  <a:srgbClr val="FF0000"/>
                </a:solidFill>
                <a:latin typeface="Sitka Text" pitchFamily="2" charset="0"/>
              </a:rPr>
              <a:t>beyond</a:t>
            </a:r>
            <a:r>
              <a:rPr lang="en-IN" dirty="0" smtClean="0">
                <a:latin typeface="Sitka Text" pitchFamily="2" charset="0"/>
              </a:rPr>
              <a:t>: </a:t>
            </a:r>
            <a:r>
              <a:rPr lang="en-IN" dirty="0">
                <a:latin typeface="Sitka Text" pitchFamily="2" charset="0"/>
              </a:rPr>
              <a:t>Further improvements in speed and accuracy</a:t>
            </a:r>
            <a:endParaRPr lang="en-US" dirty="0">
              <a:latin typeface="Sitka Text" pitchFamily="2" charset="0"/>
            </a:endParaRPr>
          </a:p>
        </p:txBody>
      </p:sp>
    </p:spTree>
    <p:extLst>
      <p:ext uri="{BB962C8B-B14F-4D97-AF65-F5344CB8AC3E}">
        <p14:creationId xmlns:p14="http://schemas.microsoft.com/office/powerpoint/2010/main" val="143449646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References</a:t>
            </a:r>
          </a:p>
        </p:txBody>
      </p:sp>
      <p:sp>
        <p:nvSpPr>
          <p:cNvPr id="3" name="Content Placeholder 2"/>
          <p:cNvSpPr>
            <a:spLocks noGrp="1"/>
          </p:cNvSpPr>
          <p:nvPr>
            <p:ph idx="1"/>
          </p:nvPr>
        </p:nvSpPr>
        <p:spPr/>
        <p:txBody>
          <a:bodyPr>
            <a:normAutofit fontScale="62500" lnSpcReduction="20000"/>
          </a:bodyPr>
          <a:lstStyle/>
          <a:p>
            <a:pPr algn="just">
              <a:lnSpc>
                <a:spcPct val="150000"/>
              </a:lnSpc>
              <a:buFont typeface="Wingdings" panose="05000000000000000000" pitchFamily="2" charset="2"/>
              <a:buChar char="q"/>
            </a:pPr>
            <a:r>
              <a:rPr lang="en-IN" dirty="0">
                <a:latin typeface="Sitka Text" pitchFamily="2" charset="0"/>
              </a:rPr>
              <a:t> “</a:t>
            </a:r>
            <a:r>
              <a:rPr lang="en-US" dirty="0">
                <a:latin typeface="Sitka Text" pitchFamily="2" charset="0"/>
              </a:rPr>
              <a:t>Deep Learning”, An MIT Press book, Ian </a:t>
            </a:r>
            <a:r>
              <a:rPr lang="en-US" dirty="0" err="1">
                <a:latin typeface="Sitka Text" pitchFamily="2" charset="0"/>
              </a:rPr>
              <a:t>Goodfellow</a:t>
            </a:r>
            <a:r>
              <a:rPr lang="en-US" dirty="0">
                <a:latin typeface="Sitka Text" pitchFamily="2" charset="0"/>
              </a:rPr>
              <a:t> and </a:t>
            </a:r>
            <a:r>
              <a:rPr lang="en-US" dirty="0" err="1">
                <a:latin typeface="Sitka Text" pitchFamily="2" charset="0"/>
              </a:rPr>
              <a:t>Yoshua</a:t>
            </a:r>
            <a:r>
              <a:rPr lang="en-US" dirty="0">
                <a:latin typeface="Sitka Text" pitchFamily="2" charset="0"/>
              </a:rPr>
              <a:t> </a:t>
            </a:r>
            <a:r>
              <a:rPr lang="en-US" dirty="0" err="1">
                <a:latin typeface="Sitka Text" pitchFamily="2" charset="0"/>
              </a:rPr>
              <a:t>Bengio</a:t>
            </a:r>
            <a:r>
              <a:rPr lang="en-US" dirty="0">
                <a:latin typeface="Sitka Text" pitchFamily="2" charset="0"/>
              </a:rPr>
              <a:t> and Aaron </a:t>
            </a:r>
            <a:r>
              <a:rPr lang="en-US" dirty="0" err="1">
                <a:latin typeface="Sitka Text" pitchFamily="2" charset="0"/>
              </a:rPr>
              <a:t>Courville</a:t>
            </a:r>
            <a:r>
              <a:rPr lang="en-US" dirty="0">
                <a:latin typeface="Sitka Text" pitchFamily="2" charset="0"/>
              </a:rPr>
              <a:t>, </a:t>
            </a:r>
            <a:r>
              <a:rPr lang="en-US" dirty="0">
                <a:latin typeface="Sitka Text" pitchFamily="2" charset="0"/>
                <a:hlinkClick r:id="rId2"/>
              </a:rPr>
              <a:t>http://www.deeplearningbook.org</a:t>
            </a:r>
            <a:endParaRPr lang="en-US" dirty="0">
              <a:latin typeface="Sitka Text" pitchFamily="2" charset="0"/>
            </a:endParaRPr>
          </a:p>
          <a:p>
            <a:pPr algn="just">
              <a:lnSpc>
                <a:spcPct val="150000"/>
              </a:lnSpc>
              <a:buFont typeface="Wingdings" panose="05000000000000000000" pitchFamily="2" charset="2"/>
              <a:buChar char="q"/>
            </a:pPr>
            <a:r>
              <a:rPr lang="en-IN" dirty="0">
                <a:latin typeface="Sitka Text" pitchFamily="2" charset="0"/>
              </a:rPr>
              <a:t> </a:t>
            </a:r>
            <a:r>
              <a:rPr lang="en-IN" dirty="0">
                <a:latin typeface="Sitka Text" pitchFamily="2" charset="0"/>
                <a:hlinkClick r:id="rId3"/>
              </a:rPr>
              <a:t>https://onlinecourses.nptel.ac.in/noc22_cs124/preview</a:t>
            </a:r>
            <a:endParaRPr lang="en-IN" dirty="0">
              <a:latin typeface="Sitka Text" pitchFamily="2" charset="0"/>
            </a:endParaRPr>
          </a:p>
          <a:p>
            <a:pPr algn="just">
              <a:lnSpc>
                <a:spcPct val="150000"/>
              </a:lnSpc>
              <a:buFont typeface="Wingdings" panose="05000000000000000000" pitchFamily="2" charset="2"/>
              <a:buChar char="q"/>
            </a:pPr>
            <a:r>
              <a:rPr lang="en-US" dirty="0">
                <a:latin typeface="Sitka Text" pitchFamily="2" charset="0"/>
              </a:rPr>
              <a:t> “Neural Networks and Deep Learning”, Aggarwal, C. C. , 2018. </a:t>
            </a:r>
            <a:endParaRPr lang="en-US" dirty="0" smtClean="0">
              <a:latin typeface="Sitka Text" pitchFamily="2" charset="0"/>
            </a:endParaRPr>
          </a:p>
          <a:p>
            <a:pPr algn="just">
              <a:lnSpc>
                <a:spcPct val="150000"/>
              </a:lnSpc>
              <a:buFont typeface="Wingdings" panose="05000000000000000000" pitchFamily="2" charset="2"/>
              <a:buChar char="q"/>
            </a:pPr>
            <a:r>
              <a:rPr lang="en-US" dirty="0" smtClean="0">
                <a:latin typeface="Sitka Text" pitchFamily="2" charset="0"/>
              </a:rPr>
              <a:t> </a:t>
            </a:r>
            <a:r>
              <a:rPr lang="en-US" dirty="0" err="1" smtClean="0">
                <a:latin typeface="Sitka Text" pitchFamily="2" charset="0"/>
              </a:rPr>
              <a:t>Girshick</a:t>
            </a:r>
            <a:r>
              <a:rPr lang="en-US" dirty="0">
                <a:latin typeface="Sitka Text" pitchFamily="2" charset="0"/>
              </a:rPr>
              <a:t>, Ross, et al. </a:t>
            </a:r>
            <a:r>
              <a:rPr lang="en-US" dirty="0" smtClean="0">
                <a:latin typeface="Sitka Text" pitchFamily="2" charset="0"/>
              </a:rPr>
              <a:t>“Rich </a:t>
            </a:r>
            <a:r>
              <a:rPr lang="en-US" dirty="0">
                <a:latin typeface="Sitka Text" pitchFamily="2" charset="0"/>
              </a:rPr>
              <a:t>feature hierarchies for accurate object detection and semantic segmentation</a:t>
            </a:r>
            <a:r>
              <a:rPr lang="en-US" dirty="0" smtClean="0">
                <a:latin typeface="Sitka Text" pitchFamily="2" charset="0"/>
              </a:rPr>
              <a:t>.”</a:t>
            </a:r>
            <a:endParaRPr lang="en-IN" dirty="0">
              <a:latin typeface="Sitka Text" pitchFamily="2" charset="0"/>
            </a:endParaRPr>
          </a:p>
          <a:p>
            <a:pPr algn="just">
              <a:lnSpc>
                <a:spcPct val="150000"/>
              </a:lnSpc>
              <a:buFont typeface="Wingdings" panose="05000000000000000000" pitchFamily="2" charset="2"/>
              <a:buChar char="q"/>
            </a:pPr>
            <a:r>
              <a:rPr lang="en-IN" dirty="0">
                <a:latin typeface="Sitka Text" pitchFamily="2" charset="0"/>
              </a:rPr>
              <a:t> </a:t>
            </a:r>
            <a:r>
              <a:rPr lang="en-IN" dirty="0" err="1">
                <a:latin typeface="Sitka Text" pitchFamily="2" charset="0"/>
              </a:rPr>
              <a:t>Girshick</a:t>
            </a:r>
            <a:r>
              <a:rPr lang="en-IN" dirty="0">
                <a:latin typeface="Sitka Text" pitchFamily="2" charset="0"/>
              </a:rPr>
              <a:t>, Ross. </a:t>
            </a:r>
            <a:r>
              <a:rPr lang="en-IN" dirty="0" smtClean="0">
                <a:latin typeface="Sitka Text" pitchFamily="2" charset="0"/>
              </a:rPr>
              <a:t>“Fast </a:t>
            </a:r>
            <a:r>
              <a:rPr lang="en-IN" dirty="0">
                <a:latin typeface="Sitka Text" pitchFamily="2" charset="0"/>
              </a:rPr>
              <a:t>r-</a:t>
            </a:r>
            <a:r>
              <a:rPr lang="en-IN" dirty="0" err="1">
                <a:latin typeface="Sitka Text" pitchFamily="2" charset="0"/>
              </a:rPr>
              <a:t>cnn</a:t>
            </a:r>
            <a:r>
              <a:rPr lang="en-IN" dirty="0" smtClean="0">
                <a:latin typeface="Sitka Text" pitchFamily="2" charset="0"/>
              </a:rPr>
              <a:t>.”</a:t>
            </a:r>
            <a:r>
              <a:rPr lang="en-IN" dirty="0">
                <a:latin typeface="Sitka Text" pitchFamily="2" charset="0"/>
              </a:rPr>
              <a:t> </a:t>
            </a:r>
            <a:r>
              <a:rPr lang="en-IN" dirty="0" err="1">
                <a:latin typeface="Sitka Text" pitchFamily="2" charset="0"/>
              </a:rPr>
              <a:t>arXiv</a:t>
            </a:r>
            <a:r>
              <a:rPr lang="en-IN" dirty="0">
                <a:latin typeface="Sitka Text" pitchFamily="2" charset="0"/>
              </a:rPr>
              <a:t> preprint arXiv:1504.08083 (2015).</a:t>
            </a:r>
          </a:p>
          <a:p>
            <a:pPr algn="just">
              <a:lnSpc>
                <a:spcPct val="150000"/>
              </a:lnSpc>
              <a:buFont typeface="Wingdings" panose="05000000000000000000" pitchFamily="2" charset="2"/>
              <a:buChar char="q"/>
            </a:pPr>
            <a:r>
              <a:rPr lang="en-IN" dirty="0" smtClean="0">
                <a:latin typeface="Sitka Text" pitchFamily="2" charset="0"/>
              </a:rPr>
              <a:t> Ren</a:t>
            </a:r>
            <a:r>
              <a:rPr lang="en-IN" dirty="0">
                <a:latin typeface="Sitka Text" pitchFamily="2" charset="0"/>
              </a:rPr>
              <a:t>, </a:t>
            </a:r>
            <a:r>
              <a:rPr lang="en-IN" dirty="0" err="1">
                <a:latin typeface="Sitka Text" pitchFamily="2" charset="0"/>
              </a:rPr>
              <a:t>Shaoqing</a:t>
            </a:r>
            <a:r>
              <a:rPr lang="en-IN" dirty="0">
                <a:latin typeface="Sitka Text" pitchFamily="2" charset="0"/>
              </a:rPr>
              <a:t>, et al. </a:t>
            </a:r>
            <a:r>
              <a:rPr lang="en-IN" dirty="0" smtClean="0">
                <a:latin typeface="Sitka Text" pitchFamily="2" charset="0"/>
              </a:rPr>
              <a:t>“Faster </a:t>
            </a:r>
            <a:r>
              <a:rPr lang="en-IN" dirty="0">
                <a:latin typeface="Sitka Text" pitchFamily="2" charset="0"/>
              </a:rPr>
              <a:t>R-CNN: Towards real-time object detection with region proposal networks</a:t>
            </a:r>
            <a:r>
              <a:rPr lang="en-IN" dirty="0" smtClean="0">
                <a:latin typeface="Sitka Text" pitchFamily="2" charset="0"/>
              </a:rPr>
              <a:t>.”</a:t>
            </a:r>
            <a:endParaRPr lang="en-IN" dirty="0">
              <a:latin typeface="Sitka Text" pitchFamily="2" charset="0"/>
            </a:endParaRPr>
          </a:p>
          <a:p>
            <a:pPr algn="just">
              <a:lnSpc>
                <a:spcPct val="150000"/>
              </a:lnSpc>
              <a:buFont typeface="Wingdings" panose="05000000000000000000" pitchFamily="2" charset="2"/>
              <a:buChar char="q"/>
            </a:pPr>
            <a:r>
              <a:rPr lang="en-IN" dirty="0" smtClean="0">
                <a:latin typeface="Sitka Text" pitchFamily="2" charset="0"/>
              </a:rPr>
              <a:t> Liu</a:t>
            </a:r>
            <a:r>
              <a:rPr lang="en-IN" dirty="0">
                <a:latin typeface="Sitka Text" pitchFamily="2" charset="0"/>
              </a:rPr>
              <a:t>, Wei, et al. </a:t>
            </a:r>
            <a:r>
              <a:rPr lang="en-IN" dirty="0" smtClean="0">
                <a:latin typeface="Sitka Text" pitchFamily="2" charset="0"/>
              </a:rPr>
              <a:t>“</a:t>
            </a:r>
            <a:r>
              <a:rPr lang="en-IN" dirty="0" err="1" smtClean="0">
                <a:latin typeface="Sitka Text" pitchFamily="2" charset="0"/>
              </a:rPr>
              <a:t>Ssd</a:t>
            </a:r>
            <a:r>
              <a:rPr lang="en-IN" dirty="0">
                <a:latin typeface="Sitka Text" pitchFamily="2" charset="0"/>
              </a:rPr>
              <a:t>: Single shot </a:t>
            </a:r>
            <a:r>
              <a:rPr lang="en-IN" dirty="0" err="1">
                <a:latin typeface="Sitka Text" pitchFamily="2" charset="0"/>
              </a:rPr>
              <a:t>multibox</a:t>
            </a:r>
            <a:r>
              <a:rPr lang="en-IN" dirty="0">
                <a:latin typeface="Sitka Text" pitchFamily="2" charset="0"/>
              </a:rPr>
              <a:t> detector</a:t>
            </a:r>
            <a:r>
              <a:rPr lang="en-IN" dirty="0" smtClean="0">
                <a:latin typeface="Sitka Text" pitchFamily="2" charset="0"/>
              </a:rPr>
              <a:t>.”</a:t>
            </a:r>
            <a:r>
              <a:rPr lang="en-IN" dirty="0">
                <a:latin typeface="Sitka Text" pitchFamily="2" charset="0"/>
              </a:rPr>
              <a:t> Computer Vision–ECCV 2016</a:t>
            </a:r>
          </a:p>
          <a:p>
            <a:pPr algn="just">
              <a:lnSpc>
                <a:spcPct val="150000"/>
              </a:lnSpc>
              <a:buFont typeface="Wingdings" panose="05000000000000000000" pitchFamily="2" charset="2"/>
              <a:buChar char="q"/>
            </a:pPr>
            <a:r>
              <a:rPr lang="en-IN" dirty="0" smtClean="0">
                <a:latin typeface="Sitka Text" pitchFamily="2" charset="0"/>
              </a:rPr>
              <a:t> </a:t>
            </a:r>
            <a:r>
              <a:rPr lang="en-IN" dirty="0" err="1" smtClean="0">
                <a:latin typeface="Sitka Text" pitchFamily="2" charset="0"/>
              </a:rPr>
              <a:t>Redmon</a:t>
            </a:r>
            <a:r>
              <a:rPr lang="en-IN" dirty="0">
                <a:latin typeface="Sitka Text" pitchFamily="2" charset="0"/>
              </a:rPr>
              <a:t>, Joseph, et al. </a:t>
            </a:r>
            <a:r>
              <a:rPr lang="en-IN" dirty="0" smtClean="0">
                <a:latin typeface="Sitka Text" pitchFamily="2" charset="0"/>
              </a:rPr>
              <a:t>“You </a:t>
            </a:r>
            <a:r>
              <a:rPr lang="en-IN" dirty="0">
                <a:latin typeface="Sitka Text" pitchFamily="2" charset="0"/>
              </a:rPr>
              <a:t>only look once: Unified, real-time object detection</a:t>
            </a:r>
            <a:r>
              <a:rPr lang="en-IN" dirty="0" smtClean="0">
                <a:latin typeface="Sitka Text" pitchFamily="2" charset="0"/>
              </a:rPr>
              <a:t>.”</a:t>
            </a:r>
            <a:r>
              <a:rPr lang="en-IN" dirty="0">
                <a:latin typeface="Sitka Text" pitchFamily="2" charset="0"/>
              </a:rPr>
              <a:t> Proceedings of the IEEE conference on computer vision and pattern recognition. 2016</a:t>
            </a:r>
            <a:r>
              <a:rPr lang="en-IN" dirty="0" smtClean="0">
                <a:latin typeface="Sitka Text" pitchFamily="2" charset="0"/>
              </a:rPr>
              <a:t>.</a:t>
            </a:r>
            <a:endParaRPr lang="en-IN" dirty="0">
              <a:latin typeface="Sitka Text" pitchFamily="2" charset="0"/>
            </a:endParaRPr>
          </a:p>
        </p:txBody>
      </p:sp>
    </p:spTree>
    <p:extLst>
      <p:ext uri="{BB962C8B-B14F-4D97-AF65-F5344CB8AC3E}">
        <p14:creationId xmlns:p14="http://schemas.microsoft.com/office/powerpoint/2010/main" val="38296426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3594932"/>
          </a:xfrm>
          <a:solidFill>
            <a:schemeClr val="bg1"/>
          </a:solidFill>
        </p:spPr>
        <p:txBody>
          <a:bodyPr>
            <a:normAutofit/>
          </a:bodyPr>
          <a:lstStyle/>
          <a:p>
            <a:pPr algn="ctr"/>
            <a:r>
              <a:rPr lang="en-IN" sz="8000" dirty="0">
                <a:latin typeface="Sitka Small Semibold" pitchFamily="2" charset="0"/>
              </a:rPr>
              <a:t>Thank You</a:t>
            </a:r>
          </a:p>
        </p:txBody>
      </p:sp>
    </p:spTree>
    <p:extLst>
      <p:ext uri="{BB962C8B-B14F-4D97-AF65-F5344CB8AC3E}">
        <p14:creationId xmlns:p14="http://schemas.microsoft.com/office/powerpoint/2010/main" val="385472638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2621</TotalTime>
  <Words>6338</Words>
  <Application>Microsoft Office PowerPoint</Application>
  <PresentationFormat>Widescreen</PresentationFormat>
  <Paragraphs>537</Paragraphs>
  <Slides>79</Slides>
  <Notes>54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79</vt:i4>
      </vt:variant>
    </vt:vector>
  </HeadingPairs>
  <TitlesOfParts>
    <vt:vector size="88" baseType="lpstr">
      <vt:lpstr>Arial</vt:lpstr>
      <vt:lpstr>Calibri</vt:lpstr>
      <vt:lpstr>Calibri Light</vt:lpstr>
      <vt:lpstr>Cambria Math</vt:lpstr>
      <vt:lpstr>Sitka Small Semibold</vt:lpstr>
      <vt:lpstr>Sitka Text</vt:lpstr>
      <vt:lpstr>Times New Roman</vt:lpstr>
      <vt:lpstr>Wingdings</vt:lpstr>
      <vt:lpstr>Retrospect</vt:lpstr>
      <vt:lpstr>CNN Architectures and Object Detection</vt:lpstr>
      <vt:lpstr>Agenda</vt:lpstr>
      <vt:lpstr>Object Detection</vt:lpstr>
      <vt:lpstr>Object Detection</vt:lpstr>
      <vt:lpstr>Object Detection</vt:lpstr>
      <vt:lpstr>Object Detection</vt:lpstr>
      <vt:lpstr>Object Detection: Evaluation Criteria</vt:lpstr>
      <vt:lpstr>Object Detection: Evaluation Criteria</vt:lpstr>
      <vt:lpstr>Object Detection: Evaluation Criteria</vt:lpstr>
      <vt:lpstr>Object Detection Approaches</vt:lpstr>
      <vt:lpstr>Object Detection Approaches</vt:lpstr>
      <vt:lpstr>Convolutional Neural Networks</vt:lpstr>
      <vt:lpstr>Convolutional Neural Networks</vt:lpstr>
      <vt:lpstr>Convolutional Neural Networks</vt:lpstr>
      <vt:lpstr>Convolutional Neural Networks</vt:lpstr>
      <vt:lpstr>Convolutional Neural  Networks</vt:lpstr>
      <vt:lpstr>CNN Architecture</vt:lpstr>
      <vt:lpstr>Convolutional Layer</vt:lpstr>
      <vt:lpstr>Convolutional Layer</vt:lpstr>
      <vt:lpstr>Convolutional Layer</vt:lpstr>
      <vt:lpstr>Convolutional Layer</vt:lpstr>
      <vt:lpstr>Convolutional Layer</vt:lpstr>
      <vt:lpstr>Convolutional Layer</vt:lpstr>
      <vt:lpstr>Convolutional Layer</vt:lpstr>
      <vt:lpstr>Convolutional Layer</vt:lpstr>
      <vt:lpstr>Convolutional Layer</vt:lpstr>
      <vt:lpstr>Pooling Layer</vt:lpstr>
      <vt:lpstr>Pooling Layer</vt:lpstr>
      <vt:lpstr>Fully-connected Layer</vt:lpstr>
      <vt:lpstr>Transfer Learning &amp; Fine-tuning</vt:lpstr>
      <vt:lpstr>Transfer Learning &amp; Fine-tuning</vt:lpstr>
      <vt:lpstr>Intuition: Why CNNs work well</vt:lpstr>
      <vt:lpstr>Object detection: Sliding Window Approach</vt:lpstr>
      <vt:lpstr>Sliding Window Approach</vt:lpstr>
      <vt:lpstr>Sliding Window Approach</vt:lpstr>
      <vt:lpstr>Sliding Window Approach</vt:lpstr>
      <vt:lpstr>Deep Learning-based Approaches</vt:lpstr>
      <vt:lpstr>R-CNN (Regions with Convolutional Neural Networks)</vt:lpstr>
      <vt:lpstr>Region proposals</vt:lpstr>
      <vt:lpstr>Region proposals</vt:lpstr>
      <vt:lpstr>Feature extraction</vt:lpstr>
      <vt:lpstr>Training</vt:lpstr>
      <vt:lpstr>Results</vt:lpstr>
      <vt:lpstr>Fast R-CNN</vt:lpstr>
      <vt:lpstr>Fast R-CNN</vt:lpstr>
      <vt:lpstr>Convolutional Feature Extraction</vt:lpstr>
      <vt:lpstr>Region of Interest Pooling</vt:lpstr>
      <vt:lpstr>Region of Interest Pooling</vt:lpstr>
      <vt:lpstr>Region of Interest Pooling</vt:lpstr>
      <vt:lpstr>Convolutional Neural Network</vt:lpstr>
      <vt:lpstr>Convolutional Neural Network</vt:lpstr>
      <vt:lpstr>Training</vt:lpstr>
      <vt:lpstr>Comparison with R-CNN</vt:lpstr>
      <vt:lpstr>Faster R-CNN</vt:lpstr>
      <vt:lpstr>Faster R-CNN</vt:lpstr>
      <vt:lpstr>Region Proposal Network</vt:lpstr>
      <vt:lpstr>Region Proposal Network</vt:lpstr>
      <vt:lpstr>Object Detector</vt:lpstr>
      <vt:lpstr>Training</vt:lpstr>
      <vt:lpstr>Results</vt:lpstr>
      <vt:lpstr>Results</vt:lpstr>
      <vt:lpstr>Comparison with R-CNN and Fast R-CNN</vt:lpstr>
      <vt:lpstr>Comparison with R-CNN and Fast R-CNN</vt:lpstr>
      <vt:lpstr>Single Shot MultiBox Detector</vt:lpstr>
      <vt:lpstr>Single Shot MultiBox Detector</vt:lpstr>
      <vt:lpstr>Single Shot MultiBox Detector</vt:lpstr>
      <vt:lpstr>Single Shot MultiBox Detector</vt:lpstr>
      <vt:lpstr>Single Shot MultiBox Detector</vt:lpstr>
      <vt:lpstr>Single Shot MultiBox Detector</vt:lpstr>
      <vt:lpstr>Comparison with Faster R-CNN</vt:lpstr>
      <vt:lpstr>YOLO (You Only Look Once)</vt:lpstr>
      <vt:lpstr>YOLO (You Only Look Once)</vt:lpstr>
      <vt:lpstr>YOLO (You Only Look Once)</vt:lpstr>
      <vt:lpstr>YOLO (You Only Look Once)</vt:lpstr>
      <vt:lpstr>YOLO (You Only Look Once)</vt:lpstr>
      <vt:lpstr>Comparison with SSD</vt:lpstr>
      <vt:lpstr>Evolution of YOLO Models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CNN Architectures and Object Detection</dc:title>
  <dc:creator>user</dc:creator>
  <cp:lastModifiedBy>user</cp:lastModifiedBy>
  <cp:revision>52</cp:revision>
  <dcterms:created xsi:type="dcterms:W3CDTF">2025-09-03T05:33:01Z</dcterms:created>
  <dcterms:modified xsi:type="dcterms:W3CDTF">2025-10-04T03:59:02Z</dcterms:modified>
</cp:coreProperties>
</file>