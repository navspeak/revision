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0"/>
  </p:notesMasterIdLst>
  <p:sldIdLst>
    <p:sldId id="256" r:id="rId2"/>
    <p:sldId id="257" r:id="rId3"/>
    <p:sldId id="308" r:id="rId4"/>
    <p:sldId id="309" r:id="rId5"/>
    <p:sldId id="310" r:id="rId6"/>
    <p:sldId id="311" r:id="rId7"/>
    <p:sldId id="312" r:id="rId8"/>
    <p:sldId id="313" r:id="rId9"/>
    <p:sldId id="314" r:id="rId10"/>
    <p:sldId id="315" r:id="rId11"/>
    <p:sldId id="316" r:id="rId12"/>
    <p:sldId id="317" r:id="rId13"/>
    <p:sldId id="318" r:id="rId14"/>
    <p:sldId id="258" r:id="rId15"/>
    <p:sldId id="285" r:id="rId16"/>
    <p:sldId id="286" r:id="rId17"/>
    <p:sldId id="287" r:id="rId18"/>
    <p:sldId id="288" r:id="rId19"/>
    <p:sldId id="290" r:id="rId20"/>
    <p:sldId id="289" r:id="rId21"/>
    <p:sldId id="307" r:id="rId22"/>
    <p:sldId id="336" r:id="rId23"/>
    <p:sldId id="337" r:id="rId24"/>
    <p:sldId id="339" r:id="rId25"/>
    <p:sldId id="338" r:id="rId26"/>
    <p:sldId id="291" r:id="rId27"/>
    <p:sldId id="261" r:id="rId28"/>
    <p:sldId id="295" r:id="rId29"/>
    <p:sldId id="296" r:id="rId30"/>
    <p:sldId id="293" r:id="rId31"/>
    <p:sldId id="262" r:id="rId32"/>
    <p:sldId id="301" r:id="rId33"/>
    <p:sldId id="319" r:id="rId34"/>
    <p:sldId id="300" r:id="rId35"/>
    <p:sldId id="294" r:id="rId36"/>
    <p:sldId id="320" r:id="rId37"/>
    <p:sldId id="327" r:id="rId38"/>
    <p:sldId id="306" r:id="rId39"/>
    <p:sldId id="321" r:id="rId40"/>
    <p:sldId id="324" r:id="rId41"/>
    <p:sldId id="302" r:id="rId42"/>
    <p:sldId id="303" r:id="rId43"/>
    <p:sldId id="322" r:id="rId44"/>
    <p:sldId id="323" r:id="rId45"/>
    <p:sldId id="292" r:id="rId46"/>
    <p:sldId id="263" r:id="rId47"/>
    <p:sldId id="264" r:id="rId48"/>
    <p:sldId id="265" r:id="rId49"/>
    <p:sldId id="325" r:id="rId50"/>
    <p:sldId id="326" r:id="rId51"/>
    <p:sldId id="328" r:id="rId52"/>
    <p:sldId id="330" r:id="rId53"/>
    <p:sldId id="331" r:id="rId54"/>
    <p:sldId id="332" r:id="rId55"/>
    <p:sldId id="333" r:id="rId56"/>
    <p:sldId id="340" r:id="rId57"/>
    <p:sldId id="334" r:id="rId58"/>
    <p:sldId id="335" r:id="rId5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6549" autoAdjust="0"/>
  </p:normalViewPr>
  <p:slideViewPr>
    <p:cSldViewPr snapToGrid="0">
      <p:cViewPr varScale="1">
        <p:scale>
          <a:sx n="53" d="100"/>
          <a:sy n="53" d="100"/>
        </p:scale>
        <p:origin x="90"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40F417C-97DF-4024-86BD-4CAFD0D60A36}" type="datetimeFigureOut">
              <a:rPr lang="en-US" smtClean="0"/>
              <a:t>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7EFB060-5D12-4AB3-9DA9-FE073BBD82F3}" type="slidenum">
              <a:rPr lang="en-US" smtClean="0"/>
              <a:t>‹#›</a:t>
            </a:fld>
            <a:endParaRPr lang="en-US"/>
          </a:p>
        </p:txBody>
      </p:sp>
    </p:spTree>
    <p:extLst>
      <p:ext uri="{BB962C8B-B14F-4D97-AF65-F5344CB8AC3E}">
        <p14:creationId xmlns:p14="http://schemas.microsoft.com/office/powerpoint/2010/main" val="39943705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3" Type="http://schemas.openxmlformats.org/officeDocument/2006/relationships/hyperlink" Target="https://www.google.com/search?sca_esv=cbc34f4c87f9b8c6&amp;rlz=1C1PNBB_enIN977IN977&amp;sxsrf=AE3TifNgzMHBEs7dt7ux4FNaA9ODcMJ2XQ:1759683828432&amp;q=Receiver+Operating+Characteristic&amp;sa=X&amp;ved=2ahUKEwiP4YqMxY2QAxV7jK8BHZt4CE8QxccNegQIIhAB&amp;mstk=AUtExfCfY_0UEHiKZEMsfbU42DWMI8AHE9JGZPxDk9TlCrLC5R__StWc1nhMoYtE2TXMstjWcJbsl0tfrfpIWukvI_qsEb8ZyD0OkOLw-oytAhuLRbUh7CzpdOB7aSxcvHgrD7xSwS7sslkatZ31CvqDkgYJY_4AzJtkiuqAE5zxovMSP0M&amp;csui=3" TargetMode="External"/><Relationship Id="rId2" Type="http://schemas.openxmlformats.org/officeDocument/2006/relationships/slide" Target="../slides/slide39.xml"/><Relationship Id="rId1" Type="http://schemas.openxmlformats.org/officeDocument/2006/relationships/notesMaster" Target="../notesMasters/notesMaster1.xml"/><Relationship Id="rId4" Type="http://schemas.openxmlformats.org/officeDocument/2006/relationships/hyperlink" Target="https://www.google.com/search?sca_esv=cbc34f4c87f9b8c6&amp;rlz=1C1PNBB_enIN977IN977&amp;sxsrf=AE3TifNgzMHBEs7dt7ux4FNaA9ODcMJ2XQ:1759683828432&amp;q=area+under+the+curve&amp;sa=X&amp;ved=2ahUKEwiP4YqMxY2QAxV7jK8BHZt4CE8QxccNegQIJBAB&amp;mstk=AUtExfCfY_0UEHiKZEMsfbU42DWMI8AHE9JGZPxDk9TlCrLC5R__StWc1nhMoYtE2TXMstjWcJbsl0tfrfpIWukvI_qsEb8ZyD0OkOLw-oytAhuLRbUh7CzpdOB7aSxcvHgrD7xSwS7sslkatZ31CvqDkgYJY_4AzJtkiuqAE5zxovMSP0M&amp;csui=3" TargetMode="Externa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7EFB060-5D12-4AB3-9DA9-FE073BBD82F3}" type="slidenum">
              <a:rPr lang="en-US" smtClean="0"/>
              <a:t>2</a:t>
            </a:fld>
            <a:endParaRPr lang="en-US"/>
          </a:p>
        </p:txBody>
      </p:sp>
    </p:spTree>
    <p:extLst>
      <p:ext uri="{BB962C8B-B14F-4D97-AF65-F5344CB8AC3E}">
        <p14:creationId xmlns:p14="http://schemas.microsoft.com/office/powerpoint/2010/main" val="20465304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CNNs are designed to work with images, which are grid structured data with strong spatial dependency</a:t>
            </a:r>
            <a:r>
              <a:rPr lang="en-US" baseline="0" dirty="0" smtClean="0"/>
              <a:t> in the local regions. Three main layers of a CNN are convolutional layer, pooling layer and fully connected or dense layer. Multiple convolutional and pooling layers are connected in a feed-forward manner.</a:t>
            </a:r>
            <a:endParaRPr lang="en-IN" dirty="0"/>
          </a:p>
        </p:txBody>
      </p:sp>
      <p:sp>
        <p:nvSpPr>
          <p:cNvPr id="4" name="Slide Number Placeholder 3"/>
          <p:cNvSpPr>
            <a:spLocks noGrp="1"/>
          </p:cNvSpPr>
          <p:nvPr>
            <p:ph type="sldNum" sz="quarter" idx="10"/>
          </p:nvPr>
        </p:nvSpPr>
        <p:spPr/>
        <p:txBody>
          <a:bodyPr/>
          <a:lstStyle/>
          <a:p>
            <a:fld id="{BEF14E17-D95E-4A43-8B51-C372B177DB37}" type="slidenum">
              <a:rPr lang="en-IN" smtClean="0"/>
              <a:t>3</a:t>
            </a:fld>
            <a:endParaRPr lang="en-IN"/>
          </a:p>
        </p:txBody>
      </p:sp>
    </p:spTree>
    <p:extLst>
      <p:ext uri="{BB962C8B-B14F-4D97-AF65-F5344CB8AC3E}">
        <p14:creationId xmlns:p14="http://schemas.microsoft.com/office/powerpoint/2010/main" val="33675293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Convolution operation is the</a:t>
            </a:r>
            <a:r>
              <a:rPr lang="en-US" baseline="0" dirty="0" smtClean="0"/>
              <a:t> key operation in a convolutional layer, where a filter kernel is slid across an image through a sliding window operation. The output at each pixel is computed as sum of products between filter coefficients and the image pixels in the receptive field. </a:t>
            </a:r>
            <a:endParaRPr lang="en-US" dirty="0"/>
          </a:p>
        </p:txBody>
      </p:sp>
      <p:sp>
        <p:nvSpPr>
          <p:cNvPr id="4" name="Slide Number Placeholder 3"/>
          <p:cNvSpPr>
            <a:spLocks noGrp="1"/>
          </p:cNvSpPr>
          <p:nvPr>
            <p:ph type="sldNum" sz="quarter" idx="10"/>
          </p:nvPr>
        </p:nvSpPr>
        <p:spPr/>
        <p:txBody>
          <a:bodyPr/>
          <a:lstStyle/>
          <a:p>
            <a:fld id="{31D5471D-97DB-4115-9773-F8B3DCA466C3}" type="slidenum">
              <a:rPr lang="en-US" smtClean="0"/>
              <a:t>4</a:t>
            </a:fld>
            <a:endParaRPr lang="en-US"/>
          </a:p>
        </p:txBody>
      </p:sp>
    </p:spTree>
    <p:extLst>
      <p:ext uri="{BB962C8B-B14F-4D97-AF65-F5344CB8AC3E}">
        <p14:creationId xmlns:p14="http://schemas.microsoft.com/office/powerpoint/2010/main" val="26868963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To the</a:t>
            </a:r>
            <a:r>
              <a:rPr lang="en-US" baseline="0" dirty="0" smtClean="0"/>
              <a:t> output of the convolution operation, a bias is added and the output is passed through a non-linear activation function. The number of kernels is a design choice and the number of channels in an activation map depends on the number of kernels. </a:t>
            </a:r>
            <a:endParaRPr lang="en-IN" dirty="0"/>
          </a:p>
        </p:txBody>
      </p:sp>
      <p:sp>
        <p:nvSpPr>
          <p:cNvPr id="4" name="Slide Number Placeholder 3"/>
          <p:cNvSpPr>
            <a:spLocks noGrp="1"/>
          </p:cNvSpPr>
          <p:nvPr>
            <p:ph type="sldNum" sz="quarter" idx="10"/>
          </p:nvPr>
        </p:nvSpPr>
        <p:spPr/>
        <p:txBody>
          <a:bodyPr/>
          <a:lstStyle/>
          <a:p>
            <a:fld id="{D7EFB060-5D12-4AB3-9DA9-FE073BBD82F3}" type="slidenum">
              <a:rPr lang="en-US" smtClean="0"/>
              <a:t>5</a:t>
            </a:fld>
            <a:endParaRPr lang="en-US"/>
          </a:p>
        </p:txBody>
      </p:sp>
    </p:spTree>
    <p:extLst>
      <p:ext uri="{BB962C8B-B14F-4D97-AF65-F5344CB8AC3E}">
        <p14:creationId xmlns:p14="http://schemas.microsoft.com/office/powerpoint/2010/main" val="35176551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In this case, for example, two filter kernels give rise to an activation map with channel dimension of 2. In a</a:t>
            </a:r>
            <a:r>
              <a:rPr lang="en-US" baseline="0" dirty="0" smtClean="0"/>
              <a:t> convolutional layer, each kernel is associated with a set of weights and bias value, which are shared across the entire image. During training, each kernel learns something unique from the image.</a:t>
            </a:r>
            <a:endParaRPr lang="en-IN" dirty="0"/>
          </a:p>
        </p:txBody>
      </p:sp>
      <p:sp>
        <p:nvSpPr>
          <p:cNvPr id="4" name="Slide Number Placeholder 3"/>
          <p:cNvSpPr>
            <a:spLocks noGrp="1"/>
          </p:cNvSpPr>
          <p:nvPr>
            <p:ph type="sldNum" sz="quarter" idx="10"/>
          </p:nvPr>
        </p:nvSpPr>
        <p:spPr/>
        <p:txBody>
          <a:bodyPr/>
          <a:lstStyle/>
          <a:p>
            <a:fld id="{D7EFB060-5D12-4AB3-9DA9-FE073BBD82F3}" type="slidenum">
              <a:rPr lang="en-US" smtClean="0"/>
              <a:t>6</a:t>
            </a:fld>
            <a:endParaRPr lang="en-US"/>
          </a:p>
        </p:txBody>
      </p:sp>
    </p:spTree>
    <p:extLst>
      <p:ext uri="{BB962C8B-B14F-4D97-AF65-F5344CB8AC3E}">
        <p14:creationId xmlns:p14="http://schemas.microsoft.com/office/powerpoint/2010/main" val="9040993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In</a:t>
            </a:r>
            <a:r>
              <a:rPr lang="en-US" baseline="0" dirty="0" smtClean="0"/>
              <a:t> this example, we see that three kernels learn three unique features from the entire image. In the next layer, the activation outputs work as input to the next layer and complex features are learned in a hierarchical manner.</a:t>
            </a:r>
            <a:endParaRPr lang="en-IN" dirty="0"/>
          </a:p>
        </p:txBody>
      </p:sp>
      <p:sp>
        <p:nvSpPr>
          <p:cNvPr id="4" name="Slide Number Placeholder 3"/>
          <p:cNvSpPr>
            <a:spLocks noGrp="1"/>
          </p:cNvSpPr>
          <p:nvPr>
            <p:ph type="sldNum" sz="quarter" idx="10"/>
          </p:nvPr>
        </p:nvSpPr>
        <p:spPr/>
        <p:txBody>
          <a:bodyPr/>
          <a:lstStyle/>
          <a:p>
            <a:fld id="{D7EFB060-5D12-4AB3-9DA9-FE073BBD82F3}" type="slidenum">
              <a:rPr lang="en-US" smtClean="0"/>
              <a:t>7</a:t>
            </a:fld>
            <a:endParaRPr lang="en-US"/>
          </a:p>
        </p:txBody>
      </p:sp>
    </p:spTree>
    <p:extLst>
      <p:ext uri="{BB962C8B-B14F-4D97-AF65-F5344CB8AC3E}">
        <p14:creationId xmlns:p14="http://schemas.microsoft.com/office/powerpoint/2010/main" val="9377985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pooling</a:t>
            </a:r>
            <a:r>
              <a:rPr lang="en-US" baseline="0" dirty="0" smtClean="0"/>
              <a:t> layers down sample the features using </a:t>
            </a:r>
            <a:r>
              <a:rPr lang="en-US" baseline="0" dirty="0" err="1" smtClean="0"/>
              <a:t>maxpooling</a:t>
            </a:r>
            <a:r>
              <a:rPr lang="en-US" baseline="0" dirty="0" smtClean="0"/>
              <a:t> or average pooling operation, the objective is to reduce the feature dimension so that the number of parameters are reduced.</a:t>
            </a:r>
            <a:endParaRPr lang="en-IN" dirty="0"/>
          </a:p>
        </p:txBody>
      </p:sp>
      <p:sp>
        <p:nvSpPr>
          <p:cNvPr id="4" name="Slide Number Placeholder 3"/>
          <p:cNvSpPr>
            <a:spLocks noGrp="1"/>
          </p:cNvSpPr>
          <p:nvPr>
            <p:ph type="sldNum" sz="quarter" idx="10"/>
          </p:nvPr>
        </p:nvSpPr>
        <p:spPr/>
        <p:txBody>
          <a:bodyPr/>
          <a:lstStyle/>
          <a:p>
            <a:fld id="{D7EFB060-5D12-4AB3-9DA9-FE073BBD82F3}" type="slidenum">
              <a:rPr lang="en-US" smtClean="0"/>
              <a:t>8</a:t>
            </a:fld>
            <a:endParaRPr lang="en-US"/>
          </a:p>
        </p:txBody>
      </p:sp>
    </p:spTree>
    <p:extLst>
      <p:ext uri="{BB962C8B-B14F-4D97-AF65-F5344CB8AC3E}">
        <p14:creationId xmlns:p14="http://schemas.microsoft.com/office/powerpoint/2010/main" val="33550953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feature maps of the final pooling</a:t>
            </a:r>
            <a:r>
              <a:rPr lang="en-US" baseline="0" dirty="0" smtClean="0"/>
              <a:t> layer is flattened and then passed through the fully connected layers. These layers have dense connection between two consecutive layers. In the case of classification operation, </a:t>
            </a:r>
            <a:r>
              <a:rPr lang="en-US" baseline="0" dirty="0" err="1" smtClean="0"/>
              <a:t>Softmax</a:t>
            </a:r>
            <a:r>
              <a:rPr lang="en-US" baseline="0" dirty="0" smtClean="0"/>
              <a:t> activation function is used in the classification layer, which computes the probability of the image belonging to each class. </a:t>
            </a:r>
            <a:endParaRPr lang="en-IN" dirty="0"/>
          </a:p>
        </p:txBody>
      </p:sp>
      <p:sp>
        <p:nvSpPr>
          <p:cNvPr id="4" name="Slide Number Placeholder 3"/>
          <p:cNvSpPr>
            <a:spLocks noGrp="1"/>
          </p:cNvSpPr>
          <p:nvPr>
            <p:ph type="sldNum" sz="quarter" idx="10"/>
          </p:nvPr>
        </p:nvSpPr>
        <p:spPr/>
        <p:txBody>
          <a:bodyPr/>
          <a:lstStyle/>
          <a:p>
            <a:fld id="{D7EFB060-5D12-4AB3-9DA9-FE073BBD82F3}" type="slidenum">
              <a:rPr lang="en-US" smtClean="0"/>
              <a:t>9</a:t>
            </a:fld>
            <a:endParaRPr lang="en-US"/>
          </a:p>
        </p:txBody>
      </p:sp>
    </p:spTree>
    <p:extLst>
      <p:ext uri="{BB962C8B-B14F-4D97-AF65-F5344CB8AC3E}">
        <p14:creationId xmlns:p14="http://schemas.microsoft.com/office/powerpoint/2010/main" val="36200513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In</a:t>
            </a:r>
            <a:r>
              <a:rPr lang="en-US" baseline="0" dirty="0" smtClean="0"/>
              <a:t> this image, given a trained CNN, given the image of a car or an elephant the same set of weights and bias give rise to highest probability for that particular class. </a:t>
            </a:r>
            <a:endParaRPr lang="en-IN" dirty="0"/>
          </a:p>
        </p:txBody>
      </p:sp>
      <p:sp>
        <p:nvSpPr>
          <p:cNvPr id="4" name="Slide Number Placeholder 3"/>
          <p:cNvSpPr>
            <a:spLocks noGrp="1"/>
          </p:cNvSpPr>
          <p:nvPr>
            <p:ph type="sldNum" sz="quarter" idx="10"/>
          </p:nvPr>
        </p:nvSpPr>
        <p:spPr/>
        <p:txBody>
          <a:bodyPr/>
          <a:lstStyle/>
          <a:p>
            <a:fld id="{D7EFB060-5D12-4AB3-9DA9-FE073BBD82F3}" type="slidenum">
              <a:rPr lang="en-US" smtClean="0"/>
              <a:t>10</a:t>
            </a:fld>
            <a:endParaRPr lang="en-US"/>
          </a:p>
        </p:txBody>
      </p:sp>
    </p:spTree>
    <p:extLst>
      <p:ext uri="{BB962C8B-B14F-4D97-AF65-F5344CB8AC3E}">
        <p14:creationId xmlns:p14="http://schemas.microsoft.com/office/powerpoint/2010/main" val="18937609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Also, here we can see the intermediate layer visualization of a</a:t>
            </a:r>
            <a:r>
              <a:rPr lang="en-US" baseline="0" dirty="0" smtClean="0"/>
              <a:t> CNN. Initial layers learn basic features such as edges and boundaries. The later layers learn more complex features such as contours.</a:t>
            </a:r>
            <a:endParaRPr lang="en-IN" dirty="0"/>
          </a:p>
        </p:txBody>
      </p:sp>
      <p:sp>
        <p:nvSpPr>
          <p:cNvPr id="4" name="Slide Number Placeholder 3"/>
          <p:cNvSpPr>
            <a:spLocks noGrp="1"/>
          </p:cNvSpPr>
          <p:nvPr>
            <p:ph type="sldNum" sz="quarter" idx="10"/>
          </p:nvPr>
        </p:nvSpPr>
        <p:spPr/>
        <p:txBody>
          <a:bodyPr/>
          <a:lstStyle/>
          <a:p>
            <a:fld id="{D7EFB060-5D12-4AB3-9DA9-FE073BBD82F3}" type="slidenum">
              <a:rPr lang="en-US" smtClean="0"/>
              <a:t>11</a:t>
            </a:fld>
            <a:endParaRPr lang="en-US"/>
          </a:p>
        </p:txBody>
      </p:sp>
    </p:spTree>
    <p:extLst>
      <p:ext uri="{BB962C8B-B14F-4D97-AF65-F5344CB8AC3E}">
        <p14:creationId xmlns:p14="http://schemas.microsoft.com/office/powerpoint/2010/main" val="28700145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In</a:t>
            </a:r>
            <a:r>
              <a:rPr lang="en-US" baseline="0" dirty="0" smtClean="0"/>
              <a:t> parallel to the development of CNN architectures, there has been advances in development of huge datasets. Given enough training examples, CNNs are very good at learning the patterns. But to train a model for any task we need huge datasets. ImageNet is such a huge dataset for general purpose object classification. Many CNN architectures are trained on this dataset for the task of object classification. But in many applications , the availability of datasets is limited. We can use transfer learning and use pre-trained CNNs for those tasks. </a:t>
            </a:r>
          </a:p>
          <a:p>
            <a:r>
              <a:rPr lang="en-US" baseline="0" dirty="0" smtClean="0"/>
              <a:t>In the case of transfer learning, we freeze the convolutional base and update the weights of the classification head. The </a:t>
            </a:r>
            <a:r>
              <a:rPr lang="en-US" baseline="0" dirty="0" err="1" smtClean="0"/>
              <a:t>conv</a:t>
            </a:r>
            <a:r>
              <a:rPr lang="en-US" baseline="0" dirty="0" smtClean="0"/>
              <a:t> head is assumed to have learnt all required features needed for object classification.</a:t>
            </a:r>
            <a:endParaRPr lang="en-IN" dirty="0"/>
          </a:p>
        </p:txBody>
      </p:sp>
      <p:sp>
        <p:nvSpPr>
          <p:cNvPr id="4" name="Slide Number Placeholder 3"/>
          <p:cNvSpPr>
            <a:spLocks noGrp="1"/>
          </p:cNvSpPr>
          <p:nvPr>
            <p:ph type="sldNum" sz="quarter" idx="10"/>
          </p:nvPr>
        </p:nvSpPr>
        <p:spPr/>
        <p:txBody>
          <a:bodyPr/>
          <a:lstStyle/>
          <a:p>
            <a:fld id="{D7EFB060-5D12-4AB3-9DA9-FE073BBD82F3}" type="slidenum">
              <a:rPr lang="en-US" smtClean="0"/>
              <a:t>12</a:t>
            </a:fld>
            <a:endParaRPr lang="en-US"/>
          </a:p>
        </p:txBody>
      </p:sp>
    </p:spTree>
    <p:extLst>
      <p:ext uri="{BB962C8B-B14F-4D97-AF65-F5344CB8AC3E}">
        <p14:creationId xmlns:p14="http://schemas.microsoft.com/office/powerpoint/2010/main" val="426280795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Sometimes, we </a:t>
            </a:r>
            <a:r>
              <a:rPr lang="en-US" dirty="0" err="1" smtClean="0"/>
              <a:t>finetune</a:t>
            </a:r>
            <a:r>
              <a:rPr lang="en-US" dirty="0" smtClean="0"/>
              <a:t> last few layers of the convolutional</a:t>
            </a:r>
            <a:r>
              <a:rPr lang="en-US" baseline="0" dirty="0" smtClean="0"/>
              <a:t> base in addition to the classifier. That is called fine-tuning, where we assume the initial layers have learnt basic features such as edges and boundaries and we can use those learning and transfer that knowledge for our task.</a:t>
            </a:r>
            <a:endParaRPr lang="en-IN" dirty="0"/>
          </a:p>
        </p:txBody>
      </p:sp>
      <p:sp>
        <p:nvSpPr>
          <p:cNvPr id="4" name="Slide Number Placeholder 3"/>
          <p:cNvSpPr>
            <a:spLocks noGrp="1"/>
          </p:cNvSpPr>
          <p:nvPr>
            <p:ph type="sldNum" sz="quarter" idx="10"/>
          </p:nvPr>
        </p:nvSpPr>
        <p:spPr/>
        <p:txBody>
          <a:bodyPr/>
          <a:lstStyle/>
          <a:p>
            <a:fld id="{D7EFB060-5D12-4AB3-9DA9-FE073BBD82F3}" type="slidenum">
              <a:rPr lang="en-US" smtClean="0"/>
              <a:t>13</a:t>
            </a:fld>
            <a:endParaRPr lang="en-US"/>
          </a:p>
        </p:txBody>
      </p:sp>
    </p:spTree>
    <p:extLst>
      <p:ext uri="{BB962C8B-B14F-4D97-AF65-F5344CB8AC3E}">
        <p14:creationId xmlns:p14="http://schemas.microsoft.com/office/powerpoint/2010/main" val="342062129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In real</a:t>
            </a:r>
            <a:r>
              <a:rPr lang="en-US" baseline="0" dirty="0" smtClean="0"/>
              <a:t> world, we have application of CNNs in many fields, starting from security and surveillance to medical diagnosis. We can divide the tasks broadly as image classification, object detection, and image segmentation.</a:t>
            </a:r>
            <a:endParaRPr lang="en-IN" dirty="0" smtClean="0"/>
          </a:p>
          <a:p>
            <a:endParaRPr lang="en-US" dirty="0"/>
          </a:p>
        </p:txBody>
      </p:sp>
      <p:sp>
        <p:nvSpPr>
          <p:cNvPr id="4" name="Slide Number Placeholder 3"/>
          <p:cNvSpPr>
            <a:spLocks noGrp="1"/>
          </p:cNvSpPr>
          <p:nvPr>
            <p:ph type="sldNum" sz="quarter" idx="10"/>
          </p:nvPr>
        </p:nvSpPr>
        <p:spPr/>
        <p:txBody>
          <a:bodyPr/>
          <a:lstStyle/>
          <a:p>
            <a:fld id="{D7EFB060-5D12-4AB3-9DA9-FE073BBD82F3}" type="slidenum">
              <a:rPr lang="en-US" smtClean="0"/>
              <a:t>14</a:t>
            </a:fld>
            <a:endParaRPr lang="en-US"/>
          </a:p>
        </p:txBody>
      </p:sp>
    </p:spTree>
    <p:extLst>
      <p:ext uri="{BB962C8B-B14F-4D97-AF65-F5344CB8AC3E}">
        <p14:creationId xmlns:p14="http://schemas.microsoft.com/office/powerpoint/2010/main" val="67144335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In the case of retail and e-commerce,</a:t>
            </a:r>
            <a:r>
              <a:rPr lang="en-US" baseline="0" dirty="0" smtClean="0"/>
              <a:t> CNNs are used in product recognition or classification.</a:t>
            </a:r>
            <a:endParaRPr lang="en-IN" dirty="0" smtClean="0"/>
          </a:p>
          <a:p>
            <a:endParaRPr lang="en-US" dirty="0"/>
          </a:p>
        </p:txBody>
      </p:sp>
      <p:sp>
        <p:nvSpPr>
          <p:cNvPr id="4" name="Slide Number Placeholder 3"/>
          <p:cNvSpPr>
            <a:spLocks noGrp="1"/>
          </p:cNvSpPr>
          <p:nvPr>
            <p:ph type="sldNum" sz="quarter" idx="10"/>
          </p:nvPr>
        </p:nvSpPr>
        <p:spPr/>
        <p:txBody>
          <a:bodyPr/>
          <a:lstStyle/>
          <a:p>
            <a:fld id="{D7EFB060-5D12-4AB3-9DA9-FE073BBD82F3}" type="slidenum">
              <a:rPr lang="en-US" smtClean="0"/>
              <a:t>19</a:t>
            </a:fld>
            <a:endParaRPr lang="en-US"/>
          </a:p>
        </p:txBody>
      </p:sp>
    </p:spTree>
    <p:extLst>
      <p:ext uri="{BB962C8B-B14F-4D97-AF65-F5344CB8AC3E}">
        <p14:creationId xmlns:p14="http://schemas.microsoft.com/office/powerpoint/2010/main" val="176386699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In medical diagnosis,</a:t>
            </a:r>
            <a:r>
              <a:rPr lang="en-US" baseline="0" dirty="0" smtClean="0"/>
              <a:t> we can use CNNs for disease diagnosis (presence or absence of disease), disease classification (find type/grade of the disease), anomaly detection (identify patterns whose distribution deviates from the real data).</a:t>
            </a:r>
            <a:endParaRPr lang="en-IN" dirty="0" smtClean="0"/>
          </a:p>
          <a:p>
            <a:endParaRPr lang="en-IN" dirty="0"/>
          </a:p>
        </p:txBody>
      </p:sp>
      <p:sp>
        <p:nvSpPr>
          <p:cNvPr id="4" name="Slide Number Placeholder 3"/>
          <p:cNvSpPr>
            <a:spLocks noGrp="1"/>
          </p:cNvSpPr>
          <p:nvPr>
            <p:ph type="sldNum" sz="quarter" idx="10"/>
          </p:nvPr>
        </p:nvSpPr>
        <p:spPr/>
        <p:txBody>
          <a:bodyPr/>
          <a:lstStyle/>
          <a:p>
            <a:fld id="{D9058C69-3EB8-464D-8D4D-4E660D1469CA}" type="slidenum">
              <a:rPr lang="en-IN" smtClean="0"/>
              <a:t>20</a:t>
            </a:fld>
            <a:endParaRPr lang="en-IN"/>
          </a:p>
        </p:txBody>
      </p:sp>
    </p:spTree>
    <p:extLst>
      <p:ext uri="{BB962C8B-B14F-4D97-AF65-F5344CB8AC3E}">
        <p14:creationId xmlns:p14="http://schemas.microsoft.com/office/powerpoint/2010/main" val="51097857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smtClean="0"/>
              <a:t>For</a:t>
            </a:r>
            <a:r>
              <a:rPr lang="en-IN" baseline="0" dirty="0" smtClean="0"/>
              <a:t> any application, a typical CNN model development pipeline follows similar steps. The first step is to collect a dataset. </a:t>
            </a:r>
            <a:r>
              <a:rPr lang="en-US" sz="1200" kern="1200" dirty="0" smtClean="0">
                <a:solidFill>
                  <a:schemeClr val="tx1"/>
                </a:solidFill>
                <a:effectLst/>
                <a:latin typeface="+mn-lt"/>
                <a:ea typeface="+mn-ea"/>
                <a:cs typeface="+mn-cs"/>
              </a:rPr>
              <a:t>Once data is collected, it needs to be pre-processed to ensure it’s clean, structured, and suitable for analysis. </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i="0" kern="1200" dirty="0" smtClean="0">
                <a:solidFill>
                  <a:schemeClr val="tx1"/>
                </a:solidFill>
                <a:effectLst/>
                <a:latin typeface="+mn-lt"/>
                <a:ea typeface="+mn-ea"/>
                <a:cs typeface="+mn-cs"/>
              </a:rPr>
              <a:t>The next task is to select the model, if we have less data, it is better to use a less complex model (with less number of layers and parameters),</a:t>
            </a:r>
            <a:r>
              <a:rPr lang="en-US" sz="1200" b="0" i="0" kern="1200" baseline="0" dirty="0" smtClean="0">
                <a:solidFill>
                  <a:schemeClr val="tx1"/>
                </a:solidFill>
                <a:effectLst/>
                <a:latin typeface="+mn-lt"/>
                <a:ea typeface="+mn-ea"/>
                <a:cs typeface="+mn-cs"/>
              </a:rPr>
              <a:t> otherwise this may lead to overfitting. Also, if we opt for transfer learning, then we should use a model which is </a:t>
            </a:r>
            <a:r>
              <a:rPr lang="en-US" sz="1200" b="0" i="0" kern="1200" baseline="0" dirty="0" err="1" smtClean="0">
                <a:solidFill>
                  <a:schemeClr val="tx1"/>
                </a:solidFill>
                <a:effectLst/>
                <a:latin typeface="+mn-lt"/>
                <a:ea typeface="+mn-ea"/>
                <a:cs typeface="+mn-cs"/>
              </a:rPr>
              <a:t>pretrained</a:t>
            </a:r>
            <a:r>
              <a:rPr lang="en-US" sz="1200" b="0" i="0" kern="1200" baseline="0" dirty="0" smtClean="0">
                <a:solidFill>
                  <a:schemeClr val="tx1"/>
                </a:solidFill>
                <a:effectLst/>
                <a:latin typeface="+mn-lt"/>
                <a:ea typeface="+mn-ea"/>
                <a:cs typeface="+mn-cs"/>
              </a:rPr>
              <a:t> on a huge but related dataset. For example, for the task of classifying different cars, we can use a model, </a:t>
            </a:r>
            <a:r>
              <a:rPr lang="en-US" sz="1200" b="0" i="0" kern="1200" baseline="0" dirty="0" err="1" smtClean="0">
                <a:solidFill>
                  <a:schemeClr val="tx1"/>
                </a:solidFill>
                <a:effectLst/>
                <a:latin typeface="+mn-lt"/>
                <a:ea typeface="+mn-ea"/>
                <a:cs typeface="+mn-cs"/>
              </a:rPr>
              <a:t>pretrained</a:t>
            </a:r>
            <a:r>
              <a:rPr lang="en-US" sz="1200" b="0" i="0" kern="1200" baseline="0" dirty="0" smtClean="0">
                <a:solidFill>
                  <a:schemeClr val="tx1"/>
                </a:solidFill>
                <a:effectLst/>
                <a:latin typeface="+mn-lt"/>
                <a:ea typeface="+mn-ea"/>
                <a:cs typeface="+mn-cs"/>
              </a:rPr>
              <a:t> on ImageNet.</a:t>
            </a:r>
          </a:p>
          <a:p>
            <a:endParaRPr lang="en-US" sz="1200" b="0" i="0" kern="1200" baseline="0" dirty="0" smtClean="0">
              <a:solidFill>
                <a:schemeClr val="tx1"/>
              </a:solidFill>
              <a:effectLst/>
              <a:latin typeface="+mn-lt"/>
              <a:ea typeface="+mn-ea"/>
              <a:cs typeface="+mn-cs"/>
            </a:endParaRPr>
          </a:p>
          <a:p>
            <a:r>
              <a:rPr lang="en-US" sz="1200" b="0" i="0" kern="1200" baseline="0" dirty="0" smtClean="0">
                <a:solidFill>
                  <a:schemeClr val="tx1"/>
                </a:solidFill>
                <a:effectLst/>
                <a:latin typeface="+mn-lt"/>
                <a:ea typeface="+mn-ea"/>
                <a:cs typeface="+mn-cs"/>
              </a:rPr>
              <a:t>Once the model is selected, we have to perform training, where we update the model weights and parameters, using backpropagation. So, given an image and its corresponding target, the predicted output is compared with the actual target and loss is calculated. This loss is then back propagated using stochastic gradient descent and weights and bias are updated in an iterative manner. </a:t>
            </a:r>
          </a:p>
          <a:p>
            <a:endParaRPr lang="en-US" sz="1200" b="0" i="0" kern="1200" baseline="0" dirty="0" smtClean="0">
              <a:solidFill>
                <a:schemeClr val="tx1"/>
              </a:solidFill>
              <a:effectLst/>
              <a:latin typeface="+mn-lt"/>
              <a:ea typeface="+mn-ea"/>
              <a:cs typeface="+mn-cs"/>
            </a:endParaRPr>
          </a:p>
          <a:p>
            <a:r>
              <a:rPr lang="en-US" sz="1200" b="0" i="0" kern="1200" baseline="0" dirty="0" smtClean="0">
                <a:solidFill>
                  <a:schemeClr val="tx1"/>
                </a:solidFill>
                <a:effectLst/>
                <a:latin typeface="+mn-lt"/>
                <a:ea typeface="+mn-ea"/>
                <a:cs typeface="+mn-cs"/>
              </a:rPr>
              <a:t>Finally, during inference we evaluate the model on the test set which the model has not yet seen. While reporting performance we generally report the performance of the model on the test set.  </a:t>
            </a:r>
            <a:endParaRPr lang="en-IN" dirty="0" smtClean="0"/>
          </a:p>
          <a:p>
            <a:endParaRPr lang="en-US" dirty="0"/>
          </a:p>
        </p:txBody>
      </p:sp>
      <p:sp>
        <p:nvSpPr>
          <p:cNvPr id="4" name="Slide Number Placeholder 3"/>
          <p:cNvSpPr>
            <a:spLocks noGrp="1"/>
          </p:cNvSpPr>
          <p:nvPr>
            <p:ph type="sldNum" sz="quarter" idx="10"/>
          </p:nvPr>
        </p:nvSpPr>
        <p:spPr/>
        <p:txBody>
          <a:bodyPr/>
          <a:lstStyle/>
          <a:p>
            <a:fld id="{D7EFB060-5D12-4AB3-9DA9-FE073BBD82F3}" type="slidenum">
              <a:rPr lang="en-US" smtClean="0"/>
              <a:t>21</a:t>
            </a:fld>
            <a:endParaRPr lang="en-US"/>
          </a:p>
        </p:txBody>
      </p:sp>
    </p:spTree>
    <p:extLst>
      <p:ext uri="{BB962C8B-B14F-4D97-AF65-F5344CB8AC3E}">
        <p14:creationId xmlns:p14="http://schemas.microsoft.com/office/powerpoint/2010/main" val="324576226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baseline="0" dirty="0" smtClean="0"/>
              <a:t>The first step is to collect a dataset. We have already discussed that </a:t>
            </a:r>
            <a:r>
              <a:rPr lang="en-US" sz="1200" kern="1200" baseline="0" dirty="0" smtClean="0">
                <a:solidFill>
                  <a:schemeClr val="tx1"/>
                </a:solidFill>
                <a:effectLst/>
                <a:latin typeface="+mn-lt"/>
                <a:ea typeface="+mn-ea"/>
                <a:cs typeface="+mn-cs"/>
              </a:rPr>
              <a:t>CNNs</a:t>
            </a:r>
            <a:r>
              <a:rPr lang="en-US" sz="1200" kern="1200" dirty="0" smtClean="0">
                <a:solidFill>
                  <a:schemeClr val="tx1"/>
                </a:solidFill>
                <a:effectLst/>
                <a:latin typeface="+mn-lt"/>
                <a:ea typeface="+mn-ea"/>
                <a:cs typeface="+mn-cs"/>
              </a:rPr>
              <a:t> rely on vast amounts of data to learn and make predictions. The quality and quantity of data are crucial for training accurate and reliable CNN-based frameworks. </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kern="120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smtClean="0">
                <a:solidFill>
                  <a:schemeClr val="tx1"/>
                </a:solidFill>
                <a:effectLst/>
                <a:latin typeface="+mn-lt"/>
                <a:ea typeface="+mn-ea"/>
                <a:cs typeface="+mn-cs"/>
              </a:rPr>
              <a:t>Especially, </a:t>
            </a:r>
            <a:r>
              <a:rPr lang="en-IN" baseline="0" dirty="0" smtClean="0"/>
              <a:t>to train a CNN from scratch, we need to collect a large dataset with diverse set of samples from each class. If its an unsupervised problem then data samples are enough, however for supervised scenario, we need to collect target labels. If it’s a classification problem, we need to collect class labels along with the data samples, if it’s a regression problem then continuous targets. The target should be appropriate according to the problem that we are trying to solve. For example, in the case of segmentation, the output is a segmentation mask which clearly demarcates different regions within an image. By collecting the large and diverse dataset, we will be able to provide enough instances to the CNN so that the model will be able to learn the patterns. We have also discussed that, for some problems, if we do not have enough examples then we can use pre-trained CNNs and </a:t>
            </a:r>
            <a:r>
              <a:rPr lang="en-IN" baseline="0" dirty="0" err="1" smtClean="0"/>
              <a:t>finetune</a:t>
            </a:r>
            <a:r>
              <a:rPr lang="en-IN" baseline="0" dirty="0" smtClean="0"/>
              <a:t> them for our task.</a:t>
            </a:r>
            <a:endParaRPr lang="en-IN" dirty="0" smtClean="0"/>
          </a:p>
          <a:p>
            <a:endParaRPr lang="en-US" dirty="0"/>
          </a:p>
        </p:txBody>
      </p:sp>
      <p:sp>
        <p:nvSpPr>
          <p:cNvPr id="4" name="Slide Number Placeholder 3"/>
          <p:cNvSpPr>
            <a:spLocks noGrp="1"/>
          </p:cNvSpPr>
          <p:nvPr>
            <p:ph type="sldNum" sz="quarter" idx="10"/>
          </p:nvPr>
        </p:nvSpPr>
        <p:spPr/>
        <p:txBody>
          <a:bodyPr/>
          <a:lstStyle/>
          <a:p>
            <a:fld id="{D7EFB060-5D12-4AB3-9DA9-FE073BBD82F3}" type="slidenum">
              <a:rPr lang="en-US" smtClean="0"/>
              <a:t>22</a:t>
            </a:fld>
            <a:endParaRPr lang="en-US"/>
          </a:p>
        </p:txBody>
      </p:sp>
    </p:spTree>
    <p:extLst>
      <p:ext uri="{BB962C8B-B14F-4D97-AF65-F5344CB8AC3E}">
        <p14:creationId xmlns:p14="http://schemas.microsoft.com/office/powerpoint/2010/main" val="3152306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smtClean="0">
                <a:solidFill>
                  <a:schemeClr val="tx1"/>
                </a:solidFill>
                <a:effectLst/>
                <a:latin typeface="+mn-lt"/>
                <a:ea typeface="+mn-ea"/>
                <a:cs typeface="+mn-cs"/>
              </a:rPr>
              <a:t>Once data is collected, it needs to be pre-processed to ensure it’s clean, structured, and suitable for analysis. </a:t>
            </a:r>
            <a:r>
              <a:rPr lang="en-US" sz="1200" b="0" i="0" kern="1200" dirty="0" smtClean="0">
                <a:solidFill>
                  <a:schemeClr val="tx1"/>
                </a:solidFill>
                <a:effectLst/>
                <a:latin typeface="+mn-lt"/>
                <a:ea typeface="+mn-ea"/>
                <a:cs typeface="+mn-cs"/>
              </a:rPr>
              <a:t>Preprocessing typically includes resizing the images to a consistent size, normalizing the pixel values, and converting the data into a suitable numerical representation. Resizing the images to a fixed size is necessary to ensure that all input images have the same dimensions, as CNN models require inputs of fixed sizes. </a:t>
            </a:r>
            <a:r>
              <a:rPr lang="en-US" sz="1200" kern="1200" dirty="0" smtClean="0">
                <a:solidFill>
                  <a:schemeClr val="tx1"/>
                </a:solidFill>
                <a:effectLst/>
                <a:latin typeface="+mn-lt"/>
                <a:ea typeface="+mn-ea"/>
                <a:cs typeface="+mn-cs"/>
              </a:rPr>
              <a:t>Other pre-processing tasks may involve cleaning noisy data, handling missing values, standardizing formats, and encoding categorical variables. </a:t>
            </a:r>
            <a:r>
              <a:rPr lang="en-US" sz="1200" b="0" i="0" kern="1200" dirty="0" smtClean="0">
                <a:solidFill>
                  <a:schemeClr val="tx1"/>
                </a:solidFill>
                <a:effectLst/>
                <a:latin typeface="+mn-lt"/>
                <a:ea typeface="+mn-ea"/>
                <a:cs typeface="+mn-cs"/>
              </a:rPr>
              <a:t>Raw</a:t>
            </a:r>
            <a:r>
              <a:rPr lang="en-US" sz="1200" b="0" i="0" kern="1200" baseline="0" dirty="0" smtClean="0">
                <a:solidFill>
                  <a:schemeClr val="tx1"/>
                </a:solidFill>
                <a:effectLst/>
                <a:latin typeface="+mn-lt"/>
                <a:ea typeface="+mn-ea"/>
                <a:cs typeface="+mn-cs"/>
              </a:rPr>
              <a:t> data often contain noise and distortions, it is hence important to restore the data samples by removing noise or distortion. </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b="0" i="0" kern="1200" baseline="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i="0" kern="1200" dirty="0" smtClean="0">
                <a:solidFill>
                  <a:schemeClr val="tx1"/>
                </a:solidFill>
                <a:effectLst/>
                <a:latin typeface="+mn-lt"/>
                <a:ea typeface="+mn-ea"/>
                <a:cs typeface="+mn-cs"/>
              </a:rPr>
              <a:t>Normalizing the pixel values helps in reducing the effect of lighting variations and brings the data into a common range. </a:t>
            </a:r>
            <a:endParaRPr lang="en-US" dirty="0"/>
          </a:p>
        </p:txBody>
      </p:sp>
      <p:sp>
        <p:nvSpPr>
          <p:cNvPr id="4" name="Slide Number Placeholder 3"/>
          <p:cNvSpPr>
            <a:spLocks noGrp="1"/>
          </p:cNvSpPr>
          <p:nvPr>
            <p:ph type="sldNum" sz="quarter" idx="10"/>
          </p:nvPr>
        </p:nvSpPr>
        <p:spPr/>
        <p:txBody>
          <a:bodyPr/>
          <a:lstStyle/>
          <a:p>
            <a:fld id="{D7EFB060-5D12-4AB3-9DA9-FE073BBD82F3}" type="slidenum">
              <a:rPr lang="en-US" smtClean="0"/>
              <a:t>23</a:t>
            </a:fld>
            <a:endParaRPr lang="en-US"/>
          </a:p>
        </p:txBody>
      </p:sp>
    </p:spTree>
    <p:extLst>
      <p:ext uri="{BB962C8B-B14F-4D97-AF65-F5344CB8AC3E}">
        <p14:creationId xmlns:p14="http://schemas.microsoft.com/office/powerpoint/2010/main" val="222378062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smtClean="0">
                <a:solidFill>
                  <a:schemeClr val="tx1"/>
                </a:solidFill>
                <a:effectLst/>
                <a:latin typeface="+mn-lt"/>
                <a:ea typeface="+mn-ea"/>
                <a:cs typeface="+mn-cs"/>
              </a:rPr>
              <a:t>In the training phase, AI models are fed with labeled data (supervised learning) or unlabeled data (unsupervised learning) to learn patterns and relationships. During training, the model adjusts its parameters iteratively to minimize errors and improve its performance on the given task. After training, the AI model is evaluated using separate validation data to assess its performance and generalization ability. </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i="0" kern="1200" dirty="0" smtClean="0">
                <a:solidFill>
                  <a:schemeClr val="tx1"/>
                </a:solidFill>
                <a:effectLst/>
                <a:latin typeface="+mn-lt"/>
                <a:ea typeface="+mn-ea"/>
                <a:cs typeface="+mn-cs"/>
              </a:rPr>
              <a:t>The training set is used to train the CNN model, the validation set is used to fine-tune the model's </a:t>
            </a:r>
            <a:r>
              <a:rPr lang="en-US" sz="1200" b="0" i="0" kern="1200" dirty="0" err="1" smtClean="0">
                <a:solidFill>
                  <a:schemeClr val="tx1"/>
                </a:solidFill>
                <a:effectLst/>
                <a:latin typeface="+mn-lt"/>
                <a:ea typeface="+mn-ea"/>
                <a:cs typeface="+mn-cs"/>
              </a:rPr>
              <a:t>hyperparameters</a:t>
            </a:r>
            <a:r>
              <a:rPr lang="en-US" sz="1200" b="0" i="0" kern="1200" dirty="0" smtClean="0">
                <a:solidFill>
                  <a:schemeClr val="tx1"/>
                </a:solidFill>
                <a:effectLst/>
                <a:latin typeface="+mn-lt"/>
                <a:ea typeface="+mn-ea"/>
                <a:cs typeface="+mn-cs"/>
              </a:rPr>
              <a:t> and monitor its performance during training, and the testing set is used to evaluate the final performance of the trained model. The data should be split in a way that preserves the class distribution and ensures that each set contains representative samples. Typically, a common practice is to allocate around 70-80% of the data for training, 10-15% for validation, and the remaining 10-15% for testing. </a:t>
            </a:r>
          </a:p>
          <a:p>
            <a:endParaRPr lang="en-US" dirty="0"/>
          </a:p>
        </p:txBody>
      </p:sp>
      <p:sp>
        <p:nvSpPr>
          <p:cNvPr id="4" name="Slide Number Placeholder 3"/>
          <p:cNvSpPr>
            <a:spLocks noGrp="1"/>
          </p:cNvSpPr>
          <p:nvPr>
            <p:ph type="sldNum" sz="quarter" idx="10"/>
          </p:nvPr>
        </p:nvSpPr>
        <p:spPr/>
        <p:txBody>
          <a:bodyPr/>
          <a:lstStyle/>
          <a:p>
            <a:fld id="{D7EFB060-5D12-4AB3-9DA9-FE073BBD82F3}" type="slidenum">
              <a:rPr lang="en-US" smtClean="0"/>
              <a:t>24</a:t>
            </a:fld>
            <a:endParaRPr lang="en-US"/>
          </a:p>
        </p:txBody>
      </p:sp>
    </p:spTree>
    <p:extLst>
      <p:ext uri="{BB962C8B-B14F-4D97-AF65-F5344CB8AC3E}">
        <p14:creationId xmlns:p14="http://schemas.microsoft.com/office/powerpoint/2010/main" val="385197305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0" i="0" kern="1200" dirty="0" smtClean="0">
                <a:solidFill>
                  <a:schemeClr val="tx1"/>
                </a:solidFill>
                <a:effectLst/>
                <a:latin typeface="+mn-lt"/>
                <a:ea typeface="+mn-ea"/>
                <a:cs typeface="+mn-cs"/>
              </a:rPr>
              <a:t>After preprocessing, data augmentation techniques can be applied to increase the diversity and size of the training</a:t>
            </a:r>
            <a:r>
              <a:rPr lang="en-US" sz="1200" b="0" i="0" kern="1200" baseline="0" dirty="0" smtClean="0">
                <a:solidFill>
                  <a:schemeClr val="tx1"/>
                </a:solidFill>
                <a:effectLst/>
                <a:latin typeface="+mn-lt"/>
                <a:ea typeface="+mn-ea"/>
                <a:cs typeface="+mn-cs"/>
              </a:rPr>
              <a:t> set</a:t>
            </a:r>
            <a:r>
              <a:rPr lang="en-US" sz="1200" b="0" i="0" kern="1200" dirty="0" smtClean="0">
                <a:solidFill>
                  <a:schemeClr val="tx1"/>
                </a:solidFill>
                <a:effectLst/>
                <a:latin typeface="+mn-lt"/>
                <a:ea typeface="+mn-ea"/>
                <a:cs typeface="+mn-cs"/>
              </a:rPr>
              <a:t>. </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i="0" kern="1200" dirty="0" smtClean="0">
                <a:solidFill>
                  <a:schemeClr val="tx1"/>
                </a:solidFill>
                <a:effectLst/>
                <a:latin typeface="+mn-lt"/>
                <a:ea typeface="+mn-ea"/>
                <a:cs typeface="+mn-cs"/>
              </a:rPr>
              <a:t>Data augmentation involves applying random transformations to the existing data.</a:t>
            </a:r>
            <a:r>
              <a:rPr lang="en-US" sz="1200" b="0" i="0" kern="1200" baseline="0" dirty="0" smtClean="0">
                <a:solidFill>
                  <a:schemeClr val="tx1"/>
                </a:solidFill>
                <a:effectLst/>
                <a:latin typeface="+mn-lt"/>
                <a:ea typeface="+mn-ea"/>
                <a:cs typeface="+mn-cs"/>
              </a:rPr>
              <a:t> Geometric transformations include</a:t>
            </a:r>
            <a:r>
              <a:rPr lang="en-US" sz="1200" b="0" i="0" kern="1200" dirty="0" smtClean="0">
                <a:solidFill>
                  <a:schemeClr val="tx1"/>
                </a:solidFill>
                <a:effectLst/>
                <a:latin typeface="+mn-lt"/>
                <a:ea typeface="+mn-ea"/>
                <a:cs typeface="+mn-cs"/>
              </a:rPr>
              <a:t> rotations, translations, flips, and zooms. Color space translations include</a:t>
            </a:r>
            <a:r>
              <a:rPr lang="en-US" sz="1200" b="0" i="0" kern="1200" baseline="0" dirty="0" smtClean="0">
                <a:solidFill>
                  <a:schemeClr val="tx1"/>
                </a:solidFill>
                <a:effectLst/>
                <a:latin typeface="+mn-lt"/>
                <a:ea typeface="+mn-ea"/>
                <a:cs typeface="+mn-cs"/>
              </a:rPr>
              <a:t> change in RGB values, or hue saturation values. Filtering techniques such as blurring are also used to augment the data samples. </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b="0" i="0" kern="1200" baseline="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IN" sz="1200" b="0" i="0" kern="1200" baseline="0" dirty="0" smtClean="0">
                <a:solidFill>
                  <a:schemeClr val="tx1"/>
                </a:solidFill>
                <a:effectLst/>
                <a:latin typeface="+mn-lt"/>
                <a:ea typeface="+mn-ea"/>
                <a:cs typeface="+mn-cs"/>
              </a:rPr>
              <a:t>Data augmentation</a:t>
            </a:r>
            <a:r>
              <a:rPr lang="en-IN" sz="1200" kern="1200" baseline="0" dirty="0" smtClean="0">
                <a:solidFill>
                  <a:schemeClr val="tx1"/>
                </a:solidFill>
                <a:effectLst/>
                <a:latin typeface="+mn-lt"/>
                <a:ea typeface="+mn-ea"/>
                <a:cs typeface="+mn-cs"/>
              </a:rPr>
              <a:t> is mostly preferred when the number of examples are less or we have imbalanced datasets. </a:t>
            </a:r>
            <a:r>
              <a:rPr lang="en-US" sz="1200" b="0" i="0" kern="1200" dirty="0" smtClean="0">
                <a:solidFill>
                  <a:schemeClr val="tx1"/>
                </a:solidFill>
                <a:effectLst/>
                <a:latin typeface="+mn-lt"/>
                <a:ea typeface="+mn-ea"/>
                <a:cs typeface="+mn-cs"/>
              </a:rPr>
              <a:t>The transformations generate new samples that are similar to the original ones but have slight variations. By augmenting the data, we can increase the amount of training data available, which helps in improving the generalization and robustness of the CNN model. Advanced augmentation techniques use generative adversarial networks to transform</a:t>
            </a:r>
            <a:r>
              <a:rPr lang="en-US" sz="1200" b="0" i="0" kern="1200" baseline="0" dirty="0" smtClean="0">
                <a:solidFill>
                  <a:schemeClr val="tx1"/>
                </a:solidFill>
                <a:effectLst/>
                <a:latin typeface="+mn-lt"/>
                <a:ea typeface="+mn-ea"/>
                <a:cs typeface="+mn-cs"/>
              </a:rPr>
              <a:t> the images. </a:t>
            </a:r>
          </a:p>
          <a:p>
            <a:endParaRPr lang="en-US" dirty="0"/>
          </a:p>
        </p:txBody>
      </p:sp>
      <p:sp>
        <p:nvSpPr>
          <p:cNvPr id="4" name="Slide Number Placeholder 3"/>
          <p:cNvSpPr>
            <a:spLocks noGrp="1"/>
          </p:cNvSpPr>
          <p:nvPr>
            <p:ph type="sldNum" sz="quarter" idx="10"/>
          </p:nvPr>
        </p:nvSpPr>
        <p:spPr/>
        <p:txBody>
          <a:bodyPr/>
          <a:lstStyle/>
          <a:p>
            <a:fld id="{D7EFB060-5D12-4AB3-9DA9-FE073BBD82F3}" type="slidenum">
              <a:rPr lang="en-US" smtClean="0"/>
              <a:t>25</a:t>
            </a:fld>
            <a:endParaRPr lang="en-US"/>
          </a:p>
        </p:txBody>
      </p:sp>
    </p:spTree>
    <p:extLst>
      <p:ext uri="{BB962C8B-B14F-4D97-AF65-F5344CB8AC3E}">
        <p14:creationId xmlns:p14="http://schemas.microsoft.com/office/powerpoint/2010/main" val="118167662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first</a:t>
            </a:r>
            <a:r>
              <a:rPr lang="en-US" baseline="0" dirty="0" smtClean="0"/>
              <a:t> case study that we will discuss today is on the application of CNNs in Retail or E-commerce industry. We will look at the simple case of visual product recognition.</a:t>
            </a:r>
            <a:endParaRPr lang="en-US" dirty="0"/>
          </a:p>
        </p:txBody>
      </p:sp>
      <p:sp>
        <p:nvSpPr>
          <p:cNvPr id="4" name="Slide Number Placeholder 3"/>
          <p:cNvSpPr>
            <a:spLocks noGrp="1"/>
          </p:cNvSpPr>
          <p:nvPr>
            <p:ph type="sldNum" sz="quarter" idx="10"/>
          </p:nvPr>
        </p:nvSpPr>
        <p:spPr/>
        <p:txBody>
          <a:bodyPr/>
          <a:lstStyle/>
          <a:p>
            <a:fld id="{D7EFB060-5D12-4AB3-9DA9-FE073BBD82F3}" type="slidenum">
              <a:rPr lang="en-US" smtClean="0"/>
              <a:t>26</a:t>
            </a:fld>
            <a:endParaRPr lang="en-US"/>
          </a:p>
        </p:txBody>
      </p:sp>
    </p:spTree>
    <p:extLst>
      <p:ext uri="{BB962C8B-B14F-4D97-AF65-F5344CB8AC3E}">
        <p14:creationId xmlns:p14="http://schemas.microsoft.com/office/powerpoint/2010/main" val="317897255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I have used this dataset from Hugging</a:t>
            </a:r>
            <a:r>
              <a:rPr lang="en-US" baseline="0" dirty="0" smtClean="0"/>
              <a:t> Face with name “</a:t>
            </a:r>
            <a:r>
              <a:rPr lang="en-US" sz="1200" dirty="0" smtClean="0">
                <a:latin typeface="Sitka Text" pitchFamily="2" charset="0"/>
              </a:rPr>
              <a:t>fashion-products-small</a:t>
            </a:r>
            <a:r>
              <a:rPr lang="en-US" baseline="0" dirty="0" smtClean="0"/>
              <a:t>”. There are a total of 42.7 thousand images in this dataset. As you can see, these images have been categorized in terms of multiple aspects such as master category, gender, and subcategory. </a:t>
            </a:r>
            <a:endParaRPr lang="en-US" dirty="0"/>
          </a:p>
        </p:txBody>
      </p:sp>
      <p:sp>
        <p:nvSpPr>
          <p:cNvPr id="4" name="Slide Number Placeholder 3"/>
          <p:cNvSpPr>
            <a:spLocks noGrp="1"/>
          </p:cNvSpPr>
          <p:nvPr>
            <p:ph type="sldNum" sz="quarter" idx="10"/>
          </p:nvPr>
        </p:nvSpPr>
        <p:spPr/>
        <p:txBody>
          <a:bodyPr/>
          <a:lstStyle/>
          <a:p>
            <a:fld id="{D7EFB060-5D12-4AB3-9DA9-FE073BBD82F3}" type="slidenum">
              <a:rPr lang="en-US" smtClean="0"/>
              <a:t>27</a:t>
            </a:fld>
            <a:endParaRPr lang="en-US"/>
          </a:p>
        </p:txBody>
      </p:sp>
    </p:spTree>
    <p:extLst>
      <p:ext uri="{BB962C8B-B14F-4D97-AF65-F5344CB8AC3E}">
        <p14:creationId xmlns:p14="http://schemas.microsoft.com/office/powerpoint/2010/main" val="410920916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I have taken the master category with high-level classes associated with each image.</a:t>
            </a:r>
            <a:endParaRPr lang="en-US" dirty="0" smtClean="0"/>
          </a:p>
          <a:p>
            <a:r>
              <a:rPr lang="en-US" dirty="0" smtClean="0"/>
              <a:t>Here</a:t>
            </a:r>
            <a:r>
              <a:rPr lang="en-US" baseline="0" dirty="0" smtClean="0"/>
              <a:t> we can see two example images from each category. There are a total of 7 classes: Apparel, sporting goods, accessories, personal care, home furnishing, and footwear. Free items in this dataset are not from a particular type of product, perhaps, they have been in offer, like many e-commerce websites have. </a:t>
            </a:r>
            <a:endParaRPr lang="en-US" dirty="0"/>
          </a:p>
        </p:txBody>
      </p:sp>
      <p:sp>
        <p:nvSpPr>
          <p:cNvPr id="4" name="Slide Number Placeholder 3"/>
          <p:cNvSpPr>
            <a:spLocks noGrp="1"/>
          </p:cNvSpPr>
          <p:nvPr>
            <p:ph type="sldNum" sz="quarter" idx="10"/>
          </p:nvPr>
        </p:nvSpPr>
        <p:spPr/>
        <p:txBody>
          <a:bodyPr/>
          <a:lstStyle/>
          <a:p>
            <a:fld id="{D7EFB060-5D12-4AB3-9DA9-FE073BBD82F3}" type="slidenum">
              <a:rPr lang="en-US" smtClean="0"/>
              <a:t>28</a:t>
            </a:fld>
            <a:endParaRPr lang="en-US"/>
          </a:p>
        </p:txBody>
      </p:sp>
    </p:spTree>
    <p:extLst>
      <p:ext uri="{BB962C8B-B14F-4D97-AF65-F5344CB8AC3E}">
        <p14:creationId xmlns:p14="http://schemas.microsoft.com/office/powerpoint/2010/main" val="74549385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Let’s look into the data distribution here, interestingly,</a:t>
            </a:r>
            <a:r>
              <a:rPr lang="en-US" baseline="0" dirty="0" smtClean="0"/>
              <a:t> the number of images from sporting goods and home are very less. So, as a part of data preparation, we have to remove them. Of course in a highly imbalanced dataset, we should apply methods such as data augmentation, but as the number of images are too less, data augmentation will not be able to add much variation (imagine the difference 1:20332). Additionally, we will remove images from free items class.</a:t>
            </a:r>
            <a:endParaRPr lang="en-US" dirty="0"/>
          </a:p>
        </p:txBody>
      </p:sp>
      <p:sp>
        <p:nvSpPr>
          <p:cNvPr id="4" name="Slide Number Placeholder 3"/>
          <p:cNvSpPr>
            <a:spLocks noGrp="1"/>
          </p:cNvSpPr>
          <p:nvPr>
            <p:ph type="sldNum" sz="quarter" idx="10"/>
          </p:nvPr>
        </p:nvSpPr>
        <p:spPr/>
        <p:txBody>
          <a:bodyPr/>
          <a:lstStyle/>
          <a:p>
            <a:fld id="{D7EFB060-5D12-4AB3-9DA9-FE073BBD82F3}" type="slidenum">
              <a:rPr lang="en-US" smtClean="0"/>
              <a:t>29</a:t>
            </a:fld>
            <a:endParaRPr lang="en-US"/>
          </a:p>
        </p:txBody>
      </p:sp>
    </p:spTree>
    <p:extLst>
      <p:ext uri="{BB962C8B-B14F-4D97-AF65-F5344CB8AC3E}">
        <p14:creationId xmlns:p14="http://schemas.microsoft.com/office/powerpoint/2010/main" val="282993448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So, after filtering out images from ‘Home’, ‘Sporting Goods’ and ‘Free Items’ categories, we  have a</a:t>
            </a:r>
            <a:r>
              <a:rPr lang="en-US" baseline="0" dirty="0" smtClean="0"/>
              <a:t> total of 42571 images from 4 categories. </a:t>
            </a:r>
            <a:endParaRPr lang="en-US" dirty="0"/>
          </a:p>
        </p:txBody>
      </p:sp>
      <p:sp>
        <p:nvSpPr>
          <p:cNvPr id="4" name="Slide Number Placeholder 3"/>
          <p:cNvSpPr>
            <a:spLocks noGrp="1"/>
          </p:cNvSpPr>
          <p:nvPr>
            <p:ph type="sldNum" sz="quarter" idx="10"/>
          </p:nvPr>
        </p:nvSpPr>
        <p:spPr/>
        <p:txBody>
          <a:bodyPr/>
          <a:lstStyle/>
          <a:p>
            <a:fld id="{D7EFB060-5D12-4AB3-9DA9-FE073BBD82F3}" type="slidenum">
              <a:rPr lang="en-US" smtClean="0"/>
              <a:t>30</a:t>
            </a:fld>
            <a:endParaRPr lang="en-US"/>
          </a:p>
        </p:txBody>
      </p:sp>
    </p:spTree>
    <p:extLst>
      <p:ext uri="{BB962C8B-B14F-4D97-AF65-F5344CB8AC3E}">
        <p14:creationId xmlns:p14="http://schemas.microsoft.com/office/powerpoint/2010/main" val="18544479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In terms</a:t>
            </a:r>
            <a:r>
              <a:rPr lang="en-US" baseline="0" dirty="0" smtClean="0"/>
              <a:t> of computer vision, this problem reduced to a multiclass image classification problem, where the input is an image of a product and the output is the class to which the image belongs to.</a:t>
            </a:r>
            <a:endParaRPr lang="en-US" dirty="0"/>
          </a:p>
        </p:txBody>
      </p:sp>
      <p:sp>
        <p:nvSpPr>
          <p:cNvPr id="4" name="Slide Number Placeholder 3"/>
          <p:cNvSpPr>
            <a:spLocks noGrp="1"/>
          </p:cNvSpPr>
          <p:nvPr>
            <p:ph type="sldNum" sz="quarter" idx="10"/>
          </p:nvPr>
        </p:nvSpPr>
        <p:spPr/>
        <p:txBody>
          <a:bodyPr/>
          <a:lstStyle/>
          <a:p>
            <a:fld id="{D7EFB060-5D12-4AB3-9DA9-FE073BBD82F3}" type="slidenum">
              <a:rPr lang="en-US" smtClean="0"/>
              <a:t>31</a:t>
            </a:fld>
            <a:endParaRPr lang="en-US"/>
          </a:p>
        </p:txBody>
      </p:sp>
    </p:spTree>
    <p:extLst>
      <p:ext uri="{BB962C8B-B14F-4D97-AF65-F5344CB8AC3E}">
        <p14:creationId xmlns:p14="http://schemas.microsoft.com/office/powerpoint/2010/main" val="32258463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Next, we will split the entire dataset</a:t>
            </a:r>
            <a:r>
              <a:rPr lang="en-US" baseline="0" dirty="0" smtClean="0"/>
              <a:t> into training, validation, and test sets. It’s a good practice to follow stratified sampling, where equal percentage of images from each class will be used in the training and test set. This process retains the original data distribution. The entire dataset is first split into training and validation set using 80:20 stratified split, again the training set is split into training and validation, using 80:20 split. The table shows the number of images present in each set.</a:t>
            </a:r>
            <a:endParaRPr lang="en-US" dirty="0"/>
          </a:p>
        </p:txBody>
      </p:sp>
      <p:sp>
        <p:nvSpPr>
          <p:cNvPr id="4" name="Slide Number Placeholder 3"/>
          <p:cNvSpPr>
            <a:spLocks noGrp="1"/>
          </p:cNvSpPr>
          <p:nvPr>
            <p:ph type="sldNum" sz="quarter" idx="10"/>
          </p:nvPr>
        </p:nvSpPr>
        <p:spPr/>
        <p:txBody>
          <a:bodyPr/>
          <a:lstStyle/>
          <a:p>
            <a:fld id="{D7EFB060-5D12-4AB3-9DA9-FE073BBD82F3}" type="slidenum">
              <a:rPr lang="en-US" smtClean="0"/>
              <a:t>32</a:t>
            </a:fld>
            <a:endParaRPr lang="en-US"/>
          </a:p>
        </p:txBody>
      </p:sp>
    </p:spTree>
    <p:extLst>
      <p:ext uri="{BB962C8B-B14F-4D97-AF65-F5344CB8AC3E}">
        <p14:creationId xmlns:p14="http://schemas.microsoft.com/office/powerpoint/2010/main" val="36899462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smtClean="0"/>
              <a:t>Here, we can see the number of images from each class present in the training, validation, and test set. The training set is still an imbalanced dataset, so we will have to perform some data augmentation.</a:t>
            </a:r>
            <a:endParaRPr lang="en-US" dirty="0"/>
          </a:p>
        </p:txBody>
      </p:sp>
      <p:sp>
        <p:nvSpPr>
          <p:cNvPr id="4" name="Slide Number Placeholder 3"/>
          <p:cNvSpPr>
            <a:spLocks noGrp="1"/>
          </p:cNvSpPr>
          <p:nvPr>
            <p:ph type="sldNum" sz="quarter" idx="10"/>
          </p:nvPr>
        </p:nvSpPr>
        <p:spPr/>
        <p:txBody>
          <a:bodyPr/>
          <a:lstStyle/>
          <a:p>
            <a:fld id="{D7EFB060-5D12-4AB3-9DA9-FE073BBD82F3}" type="slidenum">
              <a:rPr lang="en-US" smtClean="0"/>
              <a:t>33</a:t>
            </a:fld>
            <a:endParaRPr lang="en-US"/>
          </a:p>
        </p:txBody>
      </p:sp>
    </p:spTree>
    <p:extLst>
      <p:ext uri="{BB962C8B-B14F-4D97-AF65-F5344CB8AC3E}">
        <p14:creationId xmlns:p14="http://schemas.microsoft.com/office/powerpoint/2010/main" val="202613818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This figure shows the example image and its augmented counter parts. These augmentations</a:t>
            </a:r>
            <a:r>
              <a:rPr lang="en-US" baseline="0" dirty="0" smtClean="0"/>
              <a:t> are done with some probability value, showing the impact of augmentation on the entire training set.</a:t>
            </a:r>
            <a:endParaRPr lang="en-US" dirty="0"/>
          </a:p>
        </p:txBody>
      </p:sp>
      <p:sp>
        <p:nvSpPr>
          <p:cNvPr id="4" name="Slide Number Placeholder 3"/>
          <p:cNvSpPr>
            <a:spLocks noGrp="1"/>
          </p:cNvSpPr>
          <p:nvPr>
            <p:ph type="sldNum" sz="quarter" idx="10"/>
          </p:nvPr>
        </p:nvSpPr>
        <p:spPr/>
        <p:txBody>
          <a:bodyPr/>
          <a:lstStyle/>
          <a:p>
            <a:fld id="{D7EFB060-5D12-4AB3-9DA9-FE073BBD82F3}" type="slidenum">
              <a:rPr lang="en-US" smtClean="0"/>
              <a:t>34</a:t>
            </a:fld>
            <a:endParaRPr lang="en-US"/>
          </a:p>
        </p:txBody>
      </p:sp>
    </p:spTree>
    <p:extLst>
      <p:ext uri="{BB962C8B-B14F-4D97-AF65-F5344CB8AC3E}">
        <p14:creationId xmlns:p14="http://schemas.microsoft.com/office/powerpoint/2010/main" val="29839173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We have selected a ResNet50 model, the</a:t>
            </a:r>
            <a:r>
              <a:rPr lang="en-US" baseline="0" dirty="0" smtClean="0"/>
              <a:t> figure shows that of a ResNet34, ResNet50 has similar connections. </a:t>
            </a:r>
            <a:r>
              <a:rPr lang="en-US" sz="1200" kern="1200" dirty="0" smtClean="0">
                <a:solidFill>
                  <a:schemeClr val="tx1"/>
                </a:solidFill>
                <a:effectLst/>
                <a:latin typeface="+mn-lt"/>
                <a:ea typeface="+mn-ea"/>
                <a:cs typeface="+mn-cs"/>
              </a:rPr>
              <a:t>The core idea of ResNet is the use of residual blocks, which allow the network to learn residual functions with reference to the layer inputs. This helps in addressing the vanishing gradient problem, making it possible to train very deep networks. ResNet introduces skip connections (or shortcut connections) that bypass one or more layers. These connections help in stabilizing the training of deep networks and enable the construction of networks with hundreds of layers. The architecture is also missing fully connected layers at the end of the network. During forward pass the residual block lets the convolutional layers learn identity functions, thereby reducing complexity of the model. </a:t>
            </a:r>
            <a:r>
              <a:rPr lang="en-US" sz="1200" kern="1200" dirty="0" err="1" smtClean="0">
                <a:solidFill>
                  <a:schemeClr val="tx1"/>
                </a:solidFill>
                <a:effectLst/>
                <a:latin typeface="+mn-lt"/>
                <a:ea typeface="+mn-ea"/>
                <a:cs typeface="+mn-cs"/>
              </a:rPr>
              <a:t>ResNets</a:t>
            </a:r>
            <a:r>
              <a:rPr lang="en-US" sz="1200" kern="1200" dirty="0" smtClean="0">
                <a:solidFill>
                  <a:schemeClr val="tx1"/>
                </a:solidFill>
                <a:effectLst/>
                <a:latin typeface="+mn-lt"/>
                <a:ea typeface="+mn-ea"/>
                <a:cs typeface="+mn-cs"/>
              </a:rPr>
              <a:t> are currently by far state of the art CNN models and are widely used in various applications.</a:t>
            </a:r>
          </a:p>
          <a:p>
            <a:endParaRPr lang="en-US" dirty="0" smtClean="0"/>
          </a:p>
        </p:txBody>
      </p:sp>
      <p:sp>
        <p:nvSpPr>
          <p:cNvPr id="4" name="Slide Number Placeholder 3"/>
          <p:cNvSpPr>
            <a:spLocks noGrp="1"/>
          </p:cNvSpPr>
          <p:nvPr>
            <p:ph type="sldNum" sz="quarter" idx="10"/>
          </p:nvPr>
        </p:nvSpPr>
        <p:spPr/>
        <p:txBody>
          <a:bodyPr/>
          <a:lstStyle/>
          <a:p>
            <a:fld id="{D7EFB060-5D12-4AB3-9DA9-FE073BBD82F3}" type="slidenum">
              <a:rPr lang="en-US" smtClean="0"/>
              <a:t>35</a:t>
            </a:fld>
            <a:endParaRPr lang="en-US"/>
          </a:p>
        </p:txBody>
      </p:sp>
    </p:spTree>
    <p:extLst>
      <p:ext uri="{BB962C8B-B14F-4D97-AF65-F5344CB8AC3E}">
        <p14:creationId xmlns:p14="http://schemas.microsoft.com/office/powerpoint/2010/main" val="131723325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Here I have used the </a:t>
            </a:r>
            <a:r>
              <a:rPr lang="en-US" dirty="0" err="1" smtClean="0"/>
              <a:t>pretrained</a:t>
            </a:r>
            <a:r>
              <a:rPr lang="en-US" baseline="0" dirty="0" smtClean="0"/>
              <a:t> ResNet50 model trained on the ImageNet dataset and </a:t>
            </a:r>
            <a:r>
              <a:rPr lang="en-US" baseline="0" dirty="0" err="1" smtClean="0"/>
              <a:t>freezed</a:t>
            </a:r>
            <a:r>
              <a:rPr lang="en-US" baseline="0" dirty="0" smtClean="0"/>
              <a:t> the convolutional feature extractor. On top of it, I have used a global average pooling layer, which simply takes average of the feature map across the 2 by 2 spatial dimension. So the result of this layer is a 1D vector of dimension 2048. Then I have added a fully connected layer with only 256 neurons. </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Batch Normalization normalizes the activations of a layer so that they have zero mean and unit variance. During training, as weights change, the distribution of activations in intermediate layers keeps shifting. This causes: Slow convergence, Sensitivity to learning rate, Vanishing / exploding gradients. This problem is called Internal Covariate Shift. The</a:t>
            </a:r>
            <a:r>
              <a:rPr lang="en-US" baseline="0" dirty="0" smtClean="0"/>
              <a:t> benefits of this layer are: </a:t>
            </a:r>
            <a:r>
              <a:rPr lang="en-US" dirty="0" smtClean="0"/>
              <a:t>Faster convergence, Allows higher learning rates, Reduces vanishing/exploding gradients, Acts as regularization (often reduces need for dropout), Improves generalization.</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I</a:t>
            </a:r>
            <a:r>
              <a:rPr lang="en-US" baseline="0" dirty="0" smtClean="0"/>
              <a:t> have also added a dropout layer with 0.5 probability. Dropout randomly “turns off” a fraction of neurons during training to prevent overfitting and encourage robust feature learning.</a:t>
            </a:r>
            <a:endParaRPr lang="en-US" dirty="0"/>
          </a:p>
        </p:txBody>
      </p:sp>
      <p:sp>
        <p:nvSpPr>
          <p:cNvPr id="4" name="Slide Number Placeholder 3"/>
          <p:cNvSpPr>
            <a:spLocks noGrp="1"/>
          </p:cNvSpPr>
          <p:nvPr>
            <p:ph type="sldNum" sz="quarter" idx="10"/>
          </p:nvPr>
        </p:nvSpPr>
        <p:spPr/>
        <p:txBody>
          <a:bodyPr/>
          <a:lstStyle/>
          <a:p>
            <a:fld id="{D7EFB060-5D12-4AB3-9DA9-FE073BBD82F3}" type="slidenum">
              <a:rPr lang="en-US" smtClean="0"/>
              <a:t>36</a:t>
            </a:fld>
            <a:endParaRPr lang="en-US"/>
          </a:p>
        </p:txBody>
      </p:sp>
    </p:spTree>
    <p:extLst>
      <p:ext uri="{BB962C8B-B14F-4D97-AF65-F5344CB8AC3E}">
        <p14:creationId xmlns:p14="http://schemas.microsoft.com/office/powerpoint/2010/main" val="138813815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smtClean="0"/>
              <a:t>Categorical cross-entropy is a commonly used loss function for multiclass classification problems, where each input belongs to exactly one class out of C possible classes. It measures the discrepancy between the true class distribution and the predicted probability distribution produced by the model. In this setting, the true labels are represented using one-hot encoding, and the model typically uses a </a:t>
            </a:r>
            <a:r>
              <a:rPr lang="en-US" b="0" dirty="0" err="1" smtClean="0"/>
              <a:t>softmax</a:t>
            </a:r>
            <a:r>
              <a:rPr lang="en-US" b="0" dirty="0" smtClean="0"/>
              <a:t> activation in the output layer to generate class probabilities. </a:t>
            </a:r>
          </a:p>
          <a:p>
            <a:endParaRPr lang="en-US" b="0" dirty="0" smtClean="0"/>
          </a:p>
          <a:p>
            <a:r>
              <a:rPr lang="en-US" b="0" dirty="0" smtClean="0"/>
              <a:t>For a single training example, the categorical cross-entropy loss is defined as shown in the equation.</a:t>
            </a:r>
            <a:r>
              <a:rPr lang="en-US" b="0" baseline="0" dirty="0" smtClean="0"/>
              <a:t> </a:t>
            </a:r>
            <a:r>
              <a:rPr lang="en-US" dirty="0" smtClean="0"/>
              <a:t>where </a:t>
            </a:r>
            <a:r>
              <a:rPr lang="en-US" dirty="0" err="1" smtClean="0"/>
              <a:t>yi</a:t>
            </a:r>
            <a:r>
              <a:rPr lang="en-US" dirty="0" smtClean="0"/>
              <a:t>​ is the ground-truth one-hot label and </a:t>
            </a:r>
            <a:r>
              <a:rPr lang="en-US" dirty="0" err="1" smtClean="0"/>
              <a:t>y^i</a:t>
            </a:r>
            <a:r>
              <a:rPr lang="en-US" dirty="0" smtClean="0"/>
              <a:t>​ is the predicted probability for class </a:t>
            </a:r>
            <a:r>
              <a:rPr lang="en-US" dirty="0" err="1" smtClean="0"/>
              <a:t>i</a:t>
            </a:r>
            <a:r>
              <a:rPr lang="en-US" dirty="0" smtClean="0"/>
              <a:t>. Since only the true class has </a:t>
            </a:r>
            <a:r>
              <a:rPr lang="en-US" dirty="0" err="1" smtClean="0"/>
              <a:t>yi</a:t>
            </a:r>
            <a:r>
              <a:rPr lang="en-US" dirty="0" smtClean="0"/>
              <a:t>=1, the loss effectively penalizes the model based on the negative log probability assigned to the correct class. Categorical cross-entropy strongly encourages the model to assign high probability to the correct class and low probability to all others, making it well suited for probabilistic interpretation and gradient-based optimization.</a:t>
            </a:r>
            <a:endParaRPr lang="en-US" b="0" dirty="0"/>
          </a:p>
        </p:txBody>
      </p:sp>
      <p:sp>
        <p:nvSpPr>
          <p:cNvPr id="4" name="Slide Number Placeholder 3"/>
          <p:cNvSpPr>
            <a:spLocks noGrp="1"/>
          </p:cNvSpPr>
          <p:nvPr>
            <p:ph type="sldNum" sz="quarter" idx="10"/>
          </p:nvPr>
        </p:nvSpPr>
        <p:spPr/>
        <p:txBody>
          <a:bodyPr/>
          <a:lstStyle/>
          <a:p>
            <a:fld id="{D7EFB060-5D12-4AB3-9DA9-FE073BBD82F3}" type="slidenum">
              <a:rPr lang="en-US" smtClean="0"/>
              <a:t>37</a:t>
            </a:fld>
            <a:endParaRPr lang="en-US"/>
          </a:p>
        </p:txBody>
      </p:sp>
    </p:spTree>
    <p:extLst>
      <p:ext uri="{BB962C8B-B14F-4D97-AF65-F5344CB8AC3E}">
        <p14:creationId xmlns:p14="http://schemas.microsoft.com/office/powerpoint/2010/main" val="223046761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Accuracy measures how often the model’s predictions are correct overall. Precision focuses on the quality of the model’s positive predictions. It tells us how many of the instances predicted as positive are actually positive. Recall measures how well the model identifies all actual positive cases. It shows the proportion of true positives detected out of all the actual positive instances. It is also called True Positive Rate (TPR) or sensitivity. True Negative Rate (TNR) or Specificity is a metric used to evaluate the performance of a classification model. It measures the proportion of actual negative instances that are correctly identified by the model. </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04616780-5FC7-405F-97B7-63C200538BDD}" type="slidenum">
              <a:rPr lang="en-US" smtClean="0"/>
              <a:t>38</a:t>
            </a:fld>
            <a:endParaRPr lang="en-US"/>
          </a:p>
        </p:txBody>
      </p:sp>
    </p:spTree>
    <p:extLst>
      <p:ext uri="{BB962C8B-B14F-4D97-AF65-F5344CB8AC3E}">
        <p14:creationId xmlns:p14="http://schemas.microsoft.com/office/powerpoint/2010/main" val="23880805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smtClean="0">
                <a:solidFill>
                  <a:schemeClr val="tx1"/>
                </a:solidFill>
                <a:effectLst/>
                <a:latin typeface="+mn-lt"/>
                <a:ea typeface="+mn-ea"/>
                <a:cs typeface="+mn-cs"/>
              </a:rPr>
              <a:t>False Positive Rate (FPR) measures the proportion of actual negative instances that are incorrectly classified as positive by the model. It indicates the likelihood of a false alarm. False Negative Rate (FNR) measures the proportion of actual positive instances that are incorrectly classified as negative by the model. It indicates the likelihood of missing a positive case.</a:t>
            </a:r>
          </a:p>
          <a:p>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An ROC curve (</a:t>
            </a:r>
            <a:r>
              <a:rPr lang="en-US" sz="1200" b="0" i="0" kern="1200" dirty="0" smtClean="0">
                <a:solidFill>
                  <a:schemeClr val="tx1"/>
                </a:solidFill>
                <a:effectLst/>
                <a:latin typeface="+mn-lt"/>
                <a:ea typeface="+mn-ea"/>
                <a:cs typeface="+mn-cs"/>
                <a:hlinkClick r:id="rId3"/>
              </a:rPr>
              <a:t>Receiver Operating Characteristic</a:t>
            </a:r>
            <a:r>
              <a:rPr lang="en-US" sz="1200" b="0" i="0" kern="1200" dirty="0" smtClean="0">
                <a:solidFill>
                  <a:schemeClr val="tx1"/>
                </a:solidFill>
                <a:effectLst/>
                <a:latin typeface="+mn-lt"/>
                <a:ea typeface="+mn-ea"/>
                <a:cs typeface="+mn-cs"/>
              </a:rPr>
              <a:t>) is a graph that visualizes the performance of a classification model by plotting the true positive rate (sensitivity) on the y-axis against the false positive rate (1 - specificity) on the x-axis at all possible threshold settings. The curve shows the trade-off between these two metrics and helps in selecting the optimal threshold, with a perfect classifier represented by a point in the upper-left corner (0,1). The </a:t>
            </a:r>
            <a:r>
              <a:rPr lang="en-US" sz="1200" b="0" i="0" kern="1200" dirty="0" smtClean="0">
                <a:solidFill>
                  <a:schemeClr val="tx1"/>
                </a:solidFill>
                <a:effectLst/>
                <a:latin typeface="+mn-lt"/>
                <a:ea typeface="+mn-ea"/>
                <a:cs typeface="+mn-cs"/>
                <a:hlinkClick r:id="rId4"/>
              </a:rPr>
              <a:t>area under the curve</a:t>
            </a:r>
            <a:r>
              <a:rPr lang="en-US" sz="1200" b="0" i="0" kern="1200" dirty="0" smtClean="0">
                <a:solidFill>
                  <a:schemeClr val="tx1"/>
                </a:solidFill>
                <a:effectLst/>
                <a:latin typeface="+mn-lt"/>
                <a:ea typeface="+mn-ea"/>
                <a:cs typeface="+mn-cs"/>
              </a:rPr>
              <a:t> (AUC) provides a single quantitative measure of the model's overall ability to distinguish between positive and negative classes.  </a:t>
            </a:r>
          </a:p>
          <a:p>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For a given classifier, a model often outputs a score or probability rather than a direct binary prediction. A threshold is used to convert this score into a positive or negative class. The ROC curve examines all possible threshold values. At each threshold, the model's performance is evaluated, resulting in a set of true positive rates and false positive rates. The true positive rate (sensitivity) is plotted on the vertical (y) axis, and the false positive rate (1-specificity) is plotted on the horizontal (x) axis. </a:t>
            </a:r>
          </a:p>
          <a:p>
            <a:endParaRPr lang="en-IN" dirty="0"/>
          </a:p>
        </p:txBody>
      </p:sp>
      <p:sp>
        <p:nvSpPr>
          <p:cNvPr id="4" name="Slide Number Placeholder 3"/>
          <p:cNvSpPr>
            <a:spLocks noGrp="1"/>
          </p:cNvSpPr>
          <p:nvPr>
            <p:ph type="sldNum" sz="quarter" idx="10"/>
          </p:nvPr>
        </p:nvSpPr>
        <p:spPr/>
        <p:txBody>
          <a:bodyPr/>
          <a:lstStyle/>
          <a:p>
            <a:fld id="{952C8692-1F92-4737-97E7-E4B7F2D6BD0C}" type="slidenum">
              <a:rPr lang="en-US" smtClean="0"/>
              <a:t>39</a:t>
            </a:fld>
            <a:endParaRPr lang="en-US"/>
          </a:p>
        </p:txBody>
      </p:sp>
    </p:spTree>
    <p:extLst>
      <p:ext uri="{BB962C8B-B14F-4D97-AF65-F5344CB8AC3E}">
        <p14:creationId xmlns:p14="http://schemas.microsoft.com/office/powerpoint/2010/main" val="75322230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smtClean="0"/>
              <a:t>In the case of imbalanced datasets, it is</a:t>
            </a:r>
            <a:r>
              <a:rPr lang="en-IN" baseline="0" dirty="0" smtClean="0"/>
              <a:t> necessary to use average precision or recall metrics. For multiclass classification, these metrics are calculated in terms of one versus rest classification, for a given class c, other classes are considered as negative and so on.</a:t>
            </a:r>
            <a:endParaRPr lang="en-IN" dirty="0" smtClean="0"/>
          </a:p>
          <a:p>
            <a:endParaRPr lang="en-US" dirty="0"/>
          </a:p>
        </p:txBody>
      </p:sp>
      <p:sp>
        <p:nvSpPr>
          <p:cNvPr id="4" name="Slide Number Placeholder 3"/>
          <p:cNvSpPr>
            <a:spLocks noGrp="1"/>
          </p:cNvSpPr>
          <p:nvPr>
            <p:ph type="sldNum" sz="quarter" idx="10"/>
          </p:nvPr>
        </p:nvSpPr>
        <p:spPr/>
        <p:txBody>
          <a:bodyPr/>
          <a:lstStyle/>
          <a:p>
            <a:fld id="{D7EFB060-5D12-4AB3-9DA9-FE073BBD82F3}" type="slidenum">
              <a:rPr lang="en-US" smtClean="0"/>
              <a:t>40</a:t>
            </a:fld>
            <a:endParaRPr lang="en-US"/>
          </a:p>
        </p:txBody>
      </p:sp>
    </p:spTree>
    <p:extLst>
      <p:ext uri="{BB962C8B-B14F-4D97-AF65-F5344CB8AC3E}">
        <p14:creationId xmlns:p14="http://schemas.microsoft.com/office/powerpoint/2010/main" val="343811964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 have We can see the training</a:t>
            </a:r>
            <a:r>
              <a:rPr lang="en-US" baseline="0" dirty="0" smtClean="0"/>
              <a:t> and validation metrics versus epochs of the model.</a:t>
            </a:r>
            <a:endParaRPr lang="en-US" dirty="0"/>
          </a:p>
        </p:txBody>
      </p:sp>
      <p:sp>
        <p:nvSpPr>
          <p:cNvPr id="4" name="Slide Number Placeholder 3"/>
          <p:cNvSpPr>
            <a:spLocks noGrp="1"/>
          </p:cNvSpPr>
          <p:nvPr>
            <p:ph type="sldNum" sz="quarter" idx="10"/>
          </p:nvPr>
        </p:nvSpPr>
        <p:spPr/>
        <p:txBody>
          <a:bodyPr/>
          <a:lstStyle/>
          <a:p>
            <a:fld id="{D7EFB060-5D12-4AB3-9DA9-FE073BBD82F3}" type="slidenum">
              <a:rPr lang="en-US" smtClean="0"/>
              <a:t>41</a:t>
            </a:fld>
            <a:endParaRPr lang="en-US"/>
          </a:p>
        </p:txBody>
      </p:sp>
    </p:spTree>
    <p:extLst>
      <p:ext uri="{BB962C8B-B14F-4D97-AF65-F5344CB8AC3E}">
        <p14:creationId xmlns:p14="http://schemas.microsoft.com/office/powerpoint/2010/main" val="390820848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7EFB060-5D12-4AB3-9DA9-FE073BBD82F3}" type="slidenum">
              <a:rPr lang="en-US" smtClean="0"/>
              <a:t>47</a:t>
            </a:fld>
            <a:endParaRPr lang="en-US"/>
          </a:p>
        </p:txBody>
      </p:sp>
    </p:spTree>
    <p:extLst>
      <p:ext uri="{BB962C8B-B14F-4D97-AF65-F5344CB8AC3E}">
        <p14:creationId xmlns:p14="http://schemas.microsoft.com/office/powerpoint/2010/main" val="109754036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7EFB060-5D12-4AB3-9DA9-FE073BBD82F3}" type="slidenum">
              <a:rPr lang="en-US" smtClean="0"/>
              <a:t>48</a:t>
            </a:fld>
            <a:endParaRPr lang="en-US"/>
          </a:p>
        </p:txBody>
      </p:sp>
    </p:spTree>
    <p:extLst>
      <p:ext uri="{BB962C8B-B14F-4D97-AF65-F5344CB8AC3E}">
        <p14:creationId xmlns:p14="http://schemas.microsoft.com/office/powerpoint/2010/main" val="158074966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smtClean="0"/>
              <a:t>MobileNet</a:t>
            </a:r>
            <a:r>
              <a:rPr lang="en-US" dirty="0" smtClean="0"/>
              <a:t> is a lightweight convolutional neural network architecture designed for efficient deployment on mobile and edge devices. The key idea behind </a:t>
            </a:r>
            <a:r>
              <a:rPr lang="en-US" dirty="0" err="1" smtClean="0"/>
              <a:t>MobileNet</a:t>
            </a:r>
            <a:r>
              <a:rPr lang="en-US" dirty="0" smtClean="0"/>
              <a:t> is the use of </a:t>
            </a:r>
            <a:r>
              <a:rPr lang="en-US" b="1" dirty="0" err="1" smtClean="0"/>
              <a:t>depthwise</a:t>
            </a:r>
            <a:r>
              <a:rPr lang="en-US" b="1" dirty="0" smtClean="0"/>
              <a:t> separable convolutions</a:t>
            </a:r>
            <a:r>
              <a:rPr lang="en-US" dirty="0" smtClean="0"/>
              <a:t>, which decompose a standard convolution into two steps: a </a:t>
            </a:r>
            <a:r>
              <a:rPr lang="en-US" dirty="0" err="1" smtClean="0"/>
              <a:t>depthwise</a:t>
            </a:r>
            <a:r>
              <a:rPr lang="en-US" dirty="0" smtClean="0"/>
              <a:t> convolution that applies a single filter to each input channel independently, followed by a pointwise (1×1) convolution that combines information across channels. This factorization drastically reduces the number of parameters and computational cost compared to standard convolutions, while retaining good representational power. The architecture consists of an initial standard convolution followed by multiple </a:t>
            </a:r>
            <a:r>
              <a:rPr lang="en-US" dirty="0" err="1" smtClean="0"/>
              <a:t>depthwise</a:t>
            </a:r>
            <a:r>
              <a:rPr lang="en-US" dirty="0" smtClean="0"/>
              <a:t>–pointwise convolution blocks, with batch normalization and non-linear activations applied after each layer, and ends with global average pooling instead of heavy fully connected layers. Overall, </a:t>
            </a:r>
            <a:r>
              <a:rPr lang="en-US" dirty="0" err="1" smtClean="0"/>
              <a:t>MobileNet</a:t>
            </a:r>
            <a:r>
              <a:rPr lang="en-US" dirty="0" smtClean="0"/>
              <a:t> provides an excellent balance between accuracy, speed, and model size, making it well suited for real-time and resource-constrained applications.</a:t>
            </a:r>
            <a:endParaRPr lang="en-US" dirty="0"/>
          </a:p>
        </p:txBody>
      </p:sp>
      <p:sp>
        <p:nvSpPr>
          <p:cNvPr id="4" name="Slide Number Placeholder 3"/>
          <p:cNvSpPr>
            <a:spLocks noGrp="1"/>
          </p:cNvSpPr>
          <p:nvPr>
            <p:ph type="sldNum" sz="quarter" idx="10"/>
          </p:nvPr>
        </p:nvSpPr>
        <p:spPr/>
        <p:txBody>
          <a:bodyPr/>
          <a:lstStyle/>
          <a:p>
            <a:fld id="{D7EFB060-5D12-4AB3-9DA9-FE073BBD82F3}" type="slidenum">
              <a:rPr lang="en-US" smtClean="0"/>
              <a:t>49</a:t>
            </a:fld>
            <a:endParaRPr lang="en-US"/>
          </a:p>
        </p:txBody>
      </p:sp>
    </p:spTree>
    <p:extLst>
      <p:ext uri="{BB962C8B-B14F-4D97-AF65-F5344CB8AC3E}">
        <p14:creationId xmlns:p14="http://schemas.microsoft.com/office/powerpoint/2010/main" val="185928861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Compared to the</a:t>
            </a:r>
            <a:r>
              <a:rPr lang="en-US" baseline="0" dirty="0" smtClean="0"/>
              <a:t> ResNet 50 model, this CNN has much less number of parameters. We are going to train this model from scratch, that means the parameters are randomly initialized.</a:t>
            </a:r>
            <a:endParaRPr lang="en-US" dirty="0"/>
          </a:p>
        </p:txBody>
      </p:sp>
      <p:sp>
        <p:nvSpPr>
          <p:cNvPr id="4" name="Slide Number Placeholder 3"/>
          <p:cNvSpPr>
            <a:spLocks noGrp="1"/>
          </p:cNvSpPr>
          <p:nvPr>
            <p:ph type="sldNum" sz="quarter" idx="10"/>
          </p:nvPr>
        </p:nvSpPr>
        <p:spPr/>
        <p:txBody>
          <a:bodyPr/>
          <a:lstStyle/>
          <a:p>
            <a:fld id="{D7EFB060-5D12-4AB3-9DA9-FE073BBD82F3}" type="slidenum">
              <a:rPr lang="en-US" smtClean="0"/>
              <a:t>50</a:t>
            </a:fld>
            <a:endParaRPr lang="en-US"/>
          </a:p>
        </p:txBody>
      </p:sp>
    </p:spTree>
    <p:extLst>
      <p:ext uri="{BB962C8B-B14F-4D97-AF65-F5344CB8AC3E}">
        <p14:creationId xmlns:p14="http://schemas.microsoft.com/office/powerpoint/2010/main" val="424959291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smtClean="0"/>
              <a:t>Binary cross-entropy is a loss function used for binary classification problems, where each input belongs to one of two classes, typically labeled as 0 and 1. It measures how well the predicted probability of the positive class matches the true binary label. The model usually ends with a sigmoid activation function, which outputs a probability value between 0 and 1. For a single training example, the binary cross-entropy loss is defined as</a:t>
            </a:r>
            <a:r>
              <a:rPr lang="en-US" b="0" baseline="0" dirty="0" smtClean="0"/>
              <a:t> shown in the equation. </a:t>
            </a:r>
            <a:r>
              <a:rPr lang="en-US" b="0" dirty="0" smtClean="0"/>
              <a:t>where y∈{0,1} is the ground-truth label and y^​ is the predicted probability of the positive class. The loss penalizes confident but incorrect predictions very strongly, encouraging the model to output probabilities close to 1 for positive samples and close to 0 for negative samples. </a:t>
            </a:r>
            <a:endParaRPr lang="en-US" b="0" dirty="0"/>
          </a:p>
        </p:txBody>
      </p:sp>
      <p:sp>
        <p:nvSpPr>
          <p:cNvPr id="4" name="Slide Number Placeholder 3"/>
          <p:cNvSpPr>
            <a:spLocks noGrp="1"/>
          </p:cNvSpPr>
          <p:nvPr>
            <p:ph type="sldNum" sz="quarter" idx="10"/>
          </p:nvPr>
        </p:nvSpPr>
        <p:spPr/>
        <p:txBody>
          <a:bodyPr/>
          <a:lstStyle/>
          <a:p>
            <a:fld id="{D7EFB060-5D12-4AB3-9DA9-FE073BBD82F3}" type="slidenum">
              <a:rPr lang="en-US" smtClean="0"/>
              <a:t>51</a:t>
            </a:fld>
            <a:endParaRPr lang="en-US"/>
          </a:p>
        </p:txBody>
      </p:sp>
    </p:spTree>
    <p:extLst>
      <p:ext uri="{BB962C8B-B14F-4D97-AF65-F5344CB8AC3E}">
        <p14:creationId xmlns:p14="http://schemas.microsoft.com/office/powerpoint/2010/main" val="62729348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 have We can see the training and validation plots.</a:t>
            </a:r>
            <a:endParaRPr lang="en-US" dirty="0"/>
          </a:p>
        </p:txBody>
      </p:sp>
      <p:sp>
        <p:nvSpPr>
          <p:cNvPr id="4" name="Slide Number Placeholder 3"/>
          <p:cNvSpPr>
            <a:spLocks noGrp="1"/>
          </p:cNvSpPr>
          <p:nvPr>
            <p:ph type="sldNum" sz="quarter" idx="10"/>
          </p:nvPr>
        </p:nvSpPr>
        <p:spPr/>
        <p:txBody>
          <a:bodyPr/>
          <a:lstStyle/>
          <a:p>
            <a:fld id="{D7EFB060-5D12-4AB3-9DA9-FE073BBD82F3}" type="slidenum">
              <a:rPr lang="en-US" smtClean="0"/>
              <a:t>52</a:t>
            </a:fld>
            <a:endParaRPr lang="en-US"/>
          </a:p>
        </p:txBody>
      </p:sp>
    </p:spTree>
    <p:extLst>
      <p:ext uri="{BB962C8B-B14F-4D97-AF65-F5344CB8AC3E}">
        <p14:creationId xmlns:p14="http://schemas.microsoft.com/office/powerpoint/2010/main" val="240281174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7EFB060-5D12-4AB3-9DA9-FE073BBD82F3}" type="slidenum">
              <a:rPr lang="en-US" smtClean="0"/>
              <a:t>55</a:t>
            </a:fld>
            <a:endParaRPr lang="en-US"/>
          </a:p>
        </p:txBody>
      </p:sp>
    </p:spTree>
    <p:extLst>
      <p:ext uri="{BB962C8B-B14F-4D97-AF65-F5344CB8AC3E}">
        <p14:creationId xmlns:p14="http://schemas.microsoft.com/office/powerpoint/2010/main" val="259704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D1DCF415-D9B2-4D77-A8B5-1DA2588DBAEB}" type="datetimeFigureOut">
              <a:rPr lang="en-US" smtClean="0"/>
              <a:t>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E56909-6EF0-4D30-8D74-0FC58412C590}" type="slidenum">
              <a:rPr lang="en-US" smtClean="0"/>
              <a:t>‹#›</a:t>
            </a:fld>
            <a:endParaRPr lang="en-US"/>
          </a:p>
        </p:txBody>
      </p:sp>
    </p:spTree>
    <p:extLst>
      <p:ext uri="{BB962C8B-B14F-4D97-AF65-F5344CB8AC3E}">
        <p14:creationId xmlns:p14="http://schemas.microsoft.com/office/powerpoint/2010/main" val="39070386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1DCF415-D9B2-4D77-A8B5-1DA2588DBAEB}" type="datetimeFigureOut">
              <a:rPr lang="en-US" smtClean="0"/>
              <a:t>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E56909-6EF0-4D30-8D74-0FC58412C590}" type="slidenum">
              <a:rPr lang="en-US" smtClean="0"/>
              <a:t>‹#›</a:t>
            </a:fld>
            <a:endParaRPr lang="en-US"/>
          </a:p>
        </p:txBody>
      </p:sp>
    </p:spTree>
    <p:extLst>
      <p:ext uri="{BB962C8B-B14F-4D97-AF65-F5344CB8AC3E}">
        <p14:creationId xmlns:p14="http://schemas.microsoft.com/office/powerpoint/2010/main" val="34205447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D1DCF415-D9B2-4D77-A8B5-1DA2588DBAEB}" type="datetimeFigureOut">
              <a:rPr lang="en-US" smtClean="0"/>
              <a:t>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E56909-6EF0-4D30-8D74-0FC58412C590}" type="slidenum">
              <a:rPr lang="en-US" smtClean="0"/>
              <a:t>‹#›</a:t>
            </a:fld>
            <a:endParaRPr lang="en-US"/>
          </a:p>
        </p:txBody>
      </p:sp>
    </p:spTree>
    <p:extLst>
      <p:ext uri="{BB962C8B-B14F-4D97-AF65-F5344CB8AC3E}">
        <p14:creationId xmlns:p14="http://schemas.microsoft.com/office/powerpoint/2010/main" val="6218688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D1DCF415-D9B2-4D77-A8B5-1DA2588DBAEB}" type="datetimeFigureOut">
              <a:rPr lang="en-US" smtClean="0"/>
              <a:t>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AE56909-6EF0-4D30-8D74-0FC58412C590}" type="slidenum">
              <a:rPr lang="en-US" smtClean="0"/>
              <a:t>‹#›</a:t>
            </a:fld>
            <a:endParaRPr lang="en-US"/>
          </a:p>
        </p:txBody>
      </p:sp>
    </p:spTree>
    <p:extLst>
      <p:ext uri="{BB962C8B-B14F-4D97-AF65-F5344CB8AC3E}">
        <p14:creationId xmlns:p14="http://schemas.microsoft.com/office/powerpoint/2010/main" val="9967966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D1DCF415-D9B2-4D77-A8B5-1DA2588DBAEB}" type="datetimeFigureOut">
              <a:rPr lang="en-US" smtClean="0"/>
              <a:t>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AE56909-6EF0-4D30-8D74-0FC58412C590}" type="slidenum">
              <a:rPr lang="en-US" smtClean="0"/>
              <a:t>‹#›</a:t>
            </a:fld>
            <a:endParaRPr lang="en-US"/>
          </a:p>
        </p:txBody>
      </p:sp>
    </p:spTree>
    <p:extLst>
      <p:ext uri="{BB962C8B-B14F-4D97-AF65-F5344CB8AC3E}">
        <p14:creationId xmlns:p14="http://schemas.microsoft.com/office/powerpoint/2010/main" val="1883807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D1DCF415-D9B2-4D77-A8B5-1DA2588DBAEB}" type="datetimeFigureOut">
              <a:rPr lang="en-US" smtClean="0"/>
              <a:t>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AE56909-6EF0-4D30-8D74-0FC58412C590}" type="slidenum">
              <a:rPr lang="en-US" smtClean="0"/>
              <a:t>‹#›</a:t>
            </a:fld>
            <a:endParaRPr lang="en-US"/>
          </a:p>
        </p:txBody>
      </p:sp>
    </p:spTree>
    <p:extLst>
      <p:ext uri="{BB962C8B-B14F-4D97-AF65-F5344CB8AC3E}">
        <p14:creationId xmlns:p14="http://schemas.microsoft.com/office/powerpoint/2010/main" val="38066250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1DCF415-D9B2-4D77-A8B5-1DA2588DBAEB}" type="datetimeFigureOut">
              <a:rPr lang="en-US" smtClean="0"/>
              <a:t>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AE56909-6EF0-4D30-8D74-0FC58412C590}" type="slidenum">
              <a:rPr lang="en-US" smtClean="0"/>
              <a:t>‹#›</a:t>
            </a:fld>
            <a:endParaRPr lang="en-US"/>
          </a:p>
        </p:txBody>
      </p:sp>
    </p:spTree>
    <p:extLst>
      <p:ext uri="{BB962C8B-B14F-4D97-AF65-F5344CB8AC3E}">
        <p14:creationId xmlns:p14="http://schemas.microsoft.com/office/powerpoint/2010/main" val="41142656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D1DCF415-D9B2-4D77-A8B5-1DA2588DBAEB}" type="datetimeFigureOut">
              <a:rPr lang="en-US" smtClean="0"/>
              <a:t>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AE56909-6EF0-4D30-8D74-0FC58412C590}" type="slidenum">
              <a:rPr lang="en-US" smtClean="0"/>
              <a:t>‹#›</a:t>
            </a:fld>
            <a:endParaRPr lang="en-US"/>
          </a:p>
        </p:txBody>
      </p:sp>
    </p:spTree>
    <p:extLst>
      <p:ext uri="{BB962C8B-B14F-4D97-AF65-F5344CB8AC3E}">
        <p14:creationId xmlns:p14="http://schemas.microsoft.com/office/powerpoint/2010/main" val="35531326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D1DCF415-D9B2-4D77-A8B5-1DA2588DBAEB}" type="datetimeFigureOut">
              <a:rPr lang="en-US" smtClean="0"/>
              <a:t>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AE56909-6EF0-4D30-8D74-0FC58412C590}" type="slidenum">
              <a:rPr lang="en-US" smtClean="0"/>
              <a:t>‹#›</a:t>
            </a:fld>
            <a:endParaRPr lang="en-US"/>
          </a:p>
        </p:txBody>
      </p:sp>
    </p:spTree>
    <p:extLst>
      <p:ext uri="{BB962C8B-B14F-4D97-AF65-F5344CB8AC3E}">
        <p14:creationId xmlns:p14="http://schemas.microsoft.com/office/powerpoint/2010/main" val="17285798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1DCF415-D9B2-4D77-A8B5-1DA2588DBAEB}" type="datetimeFigureOut">
              <a:rPr lang="en-US" smtClean="0"/>
              <a:t>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E56909-6EF0-4D30-8D74-0FC58412C590}" type="slidenum">
              <a:rPr lang="en-US" smtClean="0"/>
              <a:t>‹#›</a:t>
            </a:fld>
            <a:endParaRPr lang="en-US"/>
          </a:p>
        </p:txBody>
      </p:sp>
    </p:spTree>
    <p:extLst>
      <p:ext uri="{BB962C8B-B14F-4D97-AF65-F5344CB8AC3E}">
        <p14:creationId xmlns:p14="http://schemas.microsoft.com/office/powerpoint/2010/main" val="31729348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1DCF415-D9B2-4D77-A8B5-1DA2588DBAEB}" type="datetimeFigureOut">
              <a:rPr lang="en-US" smtClean="0"/>
              <a:t>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E56909-6EF0-4D30-8D74-0FC58412C590}" type="slidenum">
              <a:rPr lang="en-US" smtClean="0"/>
              <a:t>‹#›</a:t>
            </a:fld>
            <a:endParaRPr lang="en-US"/>
          </a:p>
        </p:txBody>
      </p:sp>
    </p:spTree>
    <p:extLst>
      <p:ext uri="{BB962C8B-B14F-4D97-AF65-F5344CB8AC3E}">
        <p14:creationId xmlns:p14="http://schemas.microsoft.com/office/powerpoint/2010/main" val="19084665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1DCF415-D9B2-4D77-A8B5-1DA2588DBAEB}" type="datetimeFigureOut">
              <a:rPr lang="en-US" smtClean="0"/>
              <a:t>2/1/2026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AE56909-6EF0-4D30-8D74-0FC58412C590}" type="slidenum">
              <a:rPr lang="en-US" smtClean="0"/>
              <a:t>‹#›</a:t>
            </a:fld>
            <a:endParaRPr lang="en-US"/>
          </a:p>
        </p:txBody>
      </p:sp>
    </p:spTree>
    <p:extLst>
      <p:ext uri="{BB962C8B-B14F-4D97-AF65-F5344CB8AC3E}">
        <p14:creationId xmlns:p14="http://schemas.microsoft.com/office/powerpoint/2010/main" val="22291234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14.xml"/><Relationship Id="rId1" Type="http://schemas.openxmlformats.org/officeDocument/2006/relationships/slideLayout" Target="../slideLayouts/slideLayout6.xml"/><Relationship Id="rId5" Type="http://schemas.openxmlformats.org/officeDocument/2006/relationships/image" Target="../media/image21.jpeg"/><Relationship Id="rId4" Type="http://schemas.openxmlformats.org/officeDocument/2006/relationships/image" Target="../media/image20.jpg"/></Relationships>
</file>

<file path=ppt/slides/_rels/slide20.xml.rels><?xml version="1.0" encoding="UTF-8" standalone="yes"?>
<Relationships xmlns="http://schemas.openxmlformats.org/package/2006/relationships"><Relationship Id="rId8" Type="http://schemas.openxmlformats.org/officeDocument/2006/relationships/image" Target="../media/image27.jpeg"/><Relationship Id="rId3" Type="http://schemas.openxmlformats.org/officeDocument/2006/relationships/image" Target="../media/image22.jpeg"/><Relationship Id="rId7" Type="http://schemas.openxmlformats.org/officeDocument/2006/relationships/image" Target="../media/image26.jpg"/><Relationship Id="rId2" Type="http://schemas.openxmlformats.org/officeDocument/2006/relationships/notesSlide" Target="../notesSlides/notesSlide15.xml"/><Relationship Id="rId1" Type="http://schemas.openxmlformats.org/officeDocument/2006/relationships/slideLayout" Target="../slideLayouts/slideLayout6.xml"/><Relationship Id="rId6" Type="http://schemas.openxmlformats.org/officeDocument/2006/relationships/image" Target="../media/image25.jpeg"/><Relationship Id="rId5" Type="http://schemas.openxmlformats.org/officeDocument/2006/relationships/image" Target="../media/image24.jpeg"/><Relationship Id="rId4" Type="http://schemas.openxmlformats.org/officeDocument/2006/relationships/image" Target="../media/image23.jpe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hyperlink" Target="https://huggingface.co/datasets/ceyda/fashion-products-small" TargetMode="External"/><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hyperlink" Target="https://www.kaggle.com/datasets/paramaggarwal/fashion-product-images-dataset" TargetMode="External"/></Relationships>
</file>

<file path=ppt/slides/_rels/slide28.xml.rels><?xml version="1.0" encoding="UTF-8" standalone="yes"?>
<Relationships xmlns="http://schemas.openxmlformats.org/package/2006/relationships"><Relationship Id="rId8" Type="http://schemas.openxmlformats.org/officeDocument/2006/relationships/image" Target="../media/image34.jpeg"/><Relationship Id="rId13" Type="http://schemas.openxmlformats.org/officeDocument/2006/relationships/image" Target="../media/image39.jpeg"/><Relationship Id="rId3" Type="http://schemas.openxmlformats.org/officeDocument/2006/relationships/image" Target="../media/image29.png"/><Relationship Id="rId7" Type="http://schemas.openxmlformats.org/officeDocument/2006/relationships/image" Target="../media/image33.jpeg"/><Relationship Id="rId12" Type="http://schemas.openxmlformats.org/officeDocument/2006/relationships/image" Target="../media/image38.jpe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32.jpeg"/><Relationship Id="rId11" Type="http://schemas.openxmlformats.org/officeDocument/2006/relationships/image" Target="../media/image37.jpeg"/><Relationship Id="rId5" Type="http://schemas.openxmlformats.org/officeDocument/2006/relationships/image" Target="../media/image31.jpeg"/><Relationship Id="rId15" Type="http://schemas.openxmlformats.org/officeDocument/2006/relationships/image" Target="../media/image41.png"/><Relationship Id="rId10" Type="http://schemas.openxmlformats.org/officeDocument/2006/relationships/image" Target="../media/image36.png"/><Relationship Id="rId4" Type="http://schemas.openxmlformats.org/officeDocument/2006/relationships/image" Target="../media/image30.jpeg"/><Relationship Id="rId9" Type="http://schemas.openxmlformats.org/officeDocument/2006/relationships/image" Target="../media/image35.jpeg"/><Relationship Id="rId14" Type="http://schemas.openxmlformats.org/officeDocument/2006/relationships/image" Target="../media/image40.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32.jpeg"/><Relationship Id="rId5" Type="http://schemas.openxmlformats.org/officeDocument/2006/relationships/image" Target="../media/image35.jpeg"/><Relationship Id="rId4" Type="http://schemas.openxmlformats.org/officeDocument/2006/relationships/image" Target="../media/image30.jpe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3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0.xml"/><Relationship Id="rId1" Type="http://schemas.openxmlformats.org/officeDocument/2006/relationships/slideLayout" Target="../slideLayouts/slideLayout2.xml"/><Relationship Id="rId5" Type="http://schemas.openxmlformats.org/officeDocument/2006/relationships/image" Target="../media/image46.png"/><Relationship Id="rId4" Type="http://schemas.openxmlformats.org/officeDocument/2006/relationships/image" Target="../media/image45.png"/></Relationships>
</file>

<file path=ppt/slides/_rels/slide36.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8" Type="http://schemas.openxmlformats.org/officeDocument/2006/relationships/image" Target="../media/image54.png"/><Relationship Id="rId3" Type="http://schemas.openxmlformats.org/officeDocument/2006/relationships/image" Target="../media/image49.png"/><Relationship Id="rId7" Type="http://schemas.openxmlformats.org/officeDocument/2006/relationships/image" Target="../media/image53.png"/><Relationship Id="rId2" Type="http://schemas.openxmlformats.org/officeDocument/2006/relationships/notesSlide" Target="../notesSlides/notesSlide33.xml"/><Relationship Id="rId1" Type="http://schemas.openxmlformats.org/officeDocument/2006/relationships/slideLayout" Target="../slideLayouts/slideLayout2.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50.png"/></Relationships>
</file>

<file path=ppt/slides/_rels/slide39.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34.xml"/><Relationship Id="rId1" Type="http://schemas.openxmlformats.org/officeDocument/2006/relationships/slideLayout" Target="../slideLayouts/slideLayout2.xml"/><Relationship Id="rId6" Type="http://schemas.openxmlformats.org/officeDocument/2006/relationships/image" Target="../media/image490.png"/><Relationship Id="rId5" Type="http://schemas.openxmlformats.org/officeDocument/2006/relationships/image" Target="../media/image57.png"/><Relationship Id="rId4" Type="http://schemas.openxmlformats.org/officeDocument/2006/relationships/image" Target="../media/image56.png"/></Relationships>
</file>

<file path=ppt/slides/_rels/slide40.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59.png"/></Relationships>
</file>

<file path=ppt/slides/_rels/slide41.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61.png"/></Relationships>
</file>

<file path=ppt/slides/_rels/slide42.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2.xml"/><Relationship Id="rId4" Type="http://schemas.openxmlformats.org/officeDocument/2006/relationships/image" Target="../media/image64.png"/></Relationships>
</file>

<file path=ppt/slides/_rels/slide43.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image" Target="../media/image72.png"/></Relationships>
</file>

<file path=ppt/slides/_rels/slide53.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73.png"/><Relationship Id="rId1" Type="http://schemas.openxmlformats.org/officeDocument/2006/relationships/slideLayout" Target="../slideLayouts/slideLayout2.xml"/><Relationship Id="rId4" Type="http://schemas.openxmlformats.org/officeDocument/2006/relationships/image" Target="../media/image64.png"/></Relationships>
</file>

<file path=ppt/slides/_rels/slide54.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hyperlink" Target="https://onlinecourses.nptel.ac.in/noc22_cs124/preview" TargetMode="External"/><Relationship Id="rId2" Type="http://schemas.openxmlformats.org/officeDocument/2006/relationships/hyperlink" Target="http://www.deeplearningbook.org/" TargetMode="Externa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latin typeface="Sitka Text" pitchFamily="2" charset="0"/>
              </a:rPr>
              <a:t>Industry Applications of CNNs</a:t>
            </a:r>
            <a:endParaRPr lang="en-US" dirty="0">
              <a:latin typeface="Sitka Text" pitchFamily="2" charset="0"/>
            </a:endParaRPr>
          </a:p>
        </p:txBody>
      </p:sp>
      <p:sp>
        <p:nvSpPr>
          <p:cNvPr id="3" name="Subtitle 2"/>
          <p:cNvSpPr>
            <a:spLocks noGrp="1"/>
          </p:cNvSpPr>
          <p:nvPr>
            <p:ph type="subTitle" idx="1"/>
          </p:nvPr>
        </p:nvSpPr>
        <p:spPr/>
        <p:txBody>
          <a:bodyPr/>
          <a:lstStyle/>
          <a:p>
            <a:r>
              <a:rPr lang="en-US" dirty="0" smtClean="0">
                <a:latin typeface="Sitka Text" pitchFamily="2" charset="0"/>
              </a:rPr>
              <a:t>Prof. Sushree S. Behera</a:t>
            </a:r>
          </a:p>
          <a:p>
            <a:r>
              <a:rPr lang="en-US" dirty="0" smtClean="0">
                <a:latin typeface="Sitka Text" pitchFamily="2" charset="0"/>
              </a:rPr>
              <a:t>IIIT Bangalore</a:t>
            </a:r>
            <a:endParaRPr lang="en-US" dirty="0">
              <a:latin typeface="Sitka Text" pitchFamily="2" charset="0"/>
            </a:endParaRPr>
          </a:p>
        </p:txBody>
      </p:sp>
    </p:spTree>
    <p:extLst>
      <p:ext uri="{BB962C8B-B14F-4D97-AF65-F5344CB8AC3E}">
        <p14:creationId xmlns:p14="http://schemas.microsoft.com/office/powerpoint/2010/main" val="114865671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Sitka Text" pitchFamily="2" charset="0"/>
              </a:rPr>
              <a:t>Agenda</a:t>
            </a:r>
            <a:endParaRPr lang="en-US" dirty="0">
              <a:latin typeface="Sitka Text" pitchFamily="2" charset="0"/>
            </a:endParaRPr>
          </a:p>
        </p:txBody>
      </p:sp>
      <p:sp>
        <p:nvSpPr>
          <p:cNvPr id="3" name="Content Placeholder 2"/>
          <p:cNvSpPr>
            <a:spLocks noGrp="1"/>
          </p:cNvSpPr>
          <p:nvPr>
            <p:ph idx="1"/>
          </p:nvPr>
        </p:nvSpPr>
        <p:spPr/>
        <p:txBody>
          <a:bodyPr>
            <a:normAutofit/>
          </a:bodyPr>
          <a:lstStyle/>
          <a:p>
            <a:pPr>
              <a:lnSpc>
                <a:spcPct val="150000"/>
              </a:lnSpc>
            </a:pPr>
            <a:r>
              <a:rPr lang="en-US" sz="2000" dirty="0">
                <a:latin typeface="Sitka Text" pitchFamily="2" charset="0"/>
              </a:rPr>
              <a:t>CNN Fundamentals and Applications</a:t>
            </a:r>
          </a:p>
          <a:p>
            <a:pPr>
              <a:lnSpc>
                <a:spcPct val="150000"/>
              </a:lnSpc>
            </a:pPr>
            <a:r>
              <a:rPr lang="en-US" sz="2000" dirty="0">
                <a:latin typeface="Sitka Text" pitchFamily="2" charset="0"/>
              </a:rPr>
              <a:t>Case Study 1: Retail / E-commerce – Visual Product Categorization</a:t>
            </a:r>
          </a:p>
          <a:p>
            <a:pPr>
              <a:lnSpc>
                <a:spcPct val="150000"/>
              </a:lnSpc>
            </a:pPr>
            <a:r>
              <a:rPr lang="en-US" sz="2000" dirty="0">
                <a:latin typeface="Sitka Text" pitchFamily="2" charset="0"/>
              </a:rPr>
              <a:t>Case Study 2: Healthcare – Detection of Diabetic Retinopathy</a:t>
            </a:r>
          </a:p>
          <a:p>
            <a:pPr>
              <a:lnSpc>
                <a:spcPct val="150000"/>
              </a:lnSpc>
            </a:pPr>
            <a:r>
              <a:rPr lang="en-US" sz="2000" dirty="0">
                <a:latin typeface="Sitka Text" pitchFamily="2" charset="0"/>
              </a:rPr>
              <a:t>Comparative Insights</a:t>
            </a:r>
          </a:p>
          <a:p>
            <a:endParaRPr lang="en-US" sz="2000" dirty="0"/>
          </a:p>
        </p:txBody>
      </p:sp>
    </p:spTree>
    <p:extLst>
      <p:ext uri="{BB962C8B-B14F-4D97-AF65-F5344CB8AC3E}">
        <p14:creationId xmlns:p14="http://schemas.microsoft.com/office/powerpoint/2010/main" val="268529483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Sitka Small Semibold" pitchFamily="2" charset="0"/>
              </a:rPr>
              <a:t>Convolutional Neural Networks</a:t>
            </a:r>
            <a:endParaRPr lang="en-IN" dirty="0"/>
          </a:p>
        </p:txBody>
      </p:sp>
      <p:pic>
        <p:nvPicPr>
          <p:cNvPr id="4" name="Content Placeholder 3"/>
          <p:cNvPicPr>
            <a:picLocks noGrp="1" noChangeAspect="1"/>
          </p:cNvPicPr>
          <p:nvPr>
            <p:ph idx="1"/>
          </p:nvPr>
        </p:nvPicPr>
        <p:blipFill rotWithShape="1">
          <a:blip r:embed="rId3"/>
          <a:srcRect l="14652"/>
          <a:stretch/>
        </p:blipFill>
        <p:spPr>
          <a:xfrm>
            <a:off x="2267337" y="1840785"/>
            <a:ext cx="5982940" cy="4022725"/>
          </a:xfrm>
          <a:prstGeom prst="rect">
            <a:avLst/>
          </a:prstGeom>
        </p:spPr>
      </p:pic>
      <p:pic>
        <p:nvPicPr>
          <p:cNvPr id="6" name="Picture 5"/>
          <p:cNvPicPr>
            <a:picLocks noChangeAspect="1"/>
          </p:cNvPicPr>
          <p:nvPr/>
        </p:nvPicPr>
        <p:blipFill rotWithShape="1">
          <a:blip r:embed="rId4"/>
          <a:srcRect l="594" t="11932" r="75714" b="24087"/>
          <a:stretch/>
        </p:blipFill>
        <p:spPr>
          <a:xfrm>
            <a:off x="608673" y="2418376"/>
            <a:ext cx="2891146" cy="2867544"/>
          </a:xfrm>
          <a:prstGeom prst="rect">
            <a:avLst/>
          </a:prstGeom>
          <a:ln>
            <a:noFill/>
          </a:ln>
          <a:effectLst/>
          <a:scene3d>
            <a:camera prst="perspectiveContrastingLeftFacing">
              <a:rot lat="1718521" lon="17145605" rev="21502933"/>
            </a:camera>
            <a:lightRig rig="threePt" dir="t">
              <a:rot lat="0" lon="0" rev="2700000"/>
            </a:lightRig>
          </a:scene3d>
          <a:sp3d>
            <a:bevelT w="0" h="0"/>
          </a:sp3d>
        </p:spPr>
      </p:pic>
      <p:pic>
        <p:nvPicPr>
          <p:cNvPr id="7" name="Picture 6"/>
          <p:cNvPicPr>
            <a:picLocks noChangeAspect="1"/>
          </p:cNvPicPr>
          <p:nvPr/>
        </p:nvPicPr>
        <p:blipFill rotWithShape="1">
          <a:blip r:embed="rId4"/>
          <a:srcRect t="75953" r="74797" b="11409"/>
          <a:stretch/>
        </p:blipFill>
        <p:spPr>
          <a:xfrm>
            <a:off x="338330" y="5819855"/>
            <a:ext cx="2535252" cy="466927"/>
          </a:xfrm>
          <a:prstGeom prst="rect">
            <a:avLst/>
          </a:prstGeom>
        </p:spPr>
      </p:pic>
      <p:sp>
        <p:nvSpPr>
          <p:cNvPr id="8" name="Rectangle 7"/>
          <p:cNvSpPr/>
          <p:nvPr/>
        </p:nvSpPr>
        <p:spPr>
          <a:xfrm>
            <a:off x="4935894" y="6418200"/>
            <a:ext cx="6527696" cy="430887"/>
          </a:xfrm>
          <a:prstGeom prst="rect">
            <a:avLst/>
          </a:prstGeom>
        </p:spPr>
        <p:txBody>
          <a:bodyPr wrap="square">
            <a:spAutoFit/>
          </a:bodyPr>
          <a:lstStyle/>
          <a:p>
            <a:r>
              <a:rPr lang="en-IN" sz="1050" dirty="0">
                <a:latin typeface="Sitka Text" pitchFamily="2" charset="0"/>
              </a:rPr>
              <a:t>https://learnopencv.com/understanding-convolutional-neural-networks-cnn/</a:t>
            </a:r>
          </a:p>
          <a:p>
            <a:r>
              <a:rPr lang="en-IN" sz="1050" dirty="0">
                <a:latin typeface="Sitka Text" pitchFamily="2" charset="0"/>
              </a:rPr>
              <a:t>https://cs231n.github.io/convolutional-networks/#conv</a:t>
            </a:r>
          </a:p>
        </p:txBody>
      </p:sp>
      <p:sp>
        <p:nvSpPr>
          <p:cNvPr id="3" name="Rectangle 2"/>
          <p:cNvSpPr/>
          <p:nvPr/>
        </p:nvSpPr>
        <p:spPr>
          <a:xfrm>
            <a:off x="942472" y="1483249"/>
            <a:ext cx="9753601" cy="646331"/>
          </a:xfrm>
          <a:prstGeom prst="rect">
            <a:avLst/>
          </a:prstGeom>
        </p:spPr>
        <p:txBody>
          <a:bodyPr wrap="square">
            <a:spAutoFit/>
          </a:bodyPr>
          <a:lstStyle/>
          <a:p>
            <a:r>
              <a:rPr lang="en-IN" dirty="0" smtClean="0">
                <a:latin typeface="Sitka Text" pitchFamily="2" charset="0"/>
              </a:rPr>
              <a:t>Designed to work with grid-structured inputs, with strong spatial dependencies in local regions.</a:t>
            </a:r>
            <a:endParaRPr lang="en-IN" dirty="0">
              <a:latin typeface="Sitka Text" pitchFamily="2" charset="0"/>
            </a:endParaRPr>
          </a:p>
        </p:txBody>
      </p:sp>
      <p:sp>
        <p:nvSpPr>
          <p:cNvPr id="9" name="TextBox 8"/>
          <p:cNvSpPr txBox="1"/>
          <p:nvPr/>
        </p:nvSpPr>
        <p:spPr>
          <a:xfrm>
            <a:off x="8770776" y="3760237"/>
            <a:ext cx="3069771" cy="923330"/>
          </a:xfrm>
          <a:prstGeom prst="rect">
            <a:avLst/>
          </a:prstGeom>
          <a:solidFill>
            <a:schemeClr val="accent2">
              <a:lumMod val="60000"/>
              <a:lumOff val="40000"/>
            </a:schemeClr>
          </a:solidFill>
          <a:ln>
            <a:solidFill>
              <a:srgbClr val="00B0F0"/>
            </a:solidFill>
          </a:ln>
        </p:spPr>
        <p:txBody>
          <a:bodyPr wrap="square" rtlCol="0">
            <a:spAutoFit/>
          </a:bodyPr>
          <a:lstStyle/>
          <a:p>
            <a:pPr marL="285750" indent="-285750">
              <a:buFont typeface="Arial" panose="020B0604020202020204" pitchFamily="34" charset="0"/>
              <a:buChar char="•"/>
            </a:pPr>
            <a:r>
              <a:rPr lang="en-IN" dirty="0">
                <a:latin typeface="Sitka Text" pitchFamily="2" charset="0"/>
              </a:rPr>
              <a:t>Convolutional Layer</a:t>
            </a:r>
          </a:p>
          <a:p>
            <a:pPr marL="285750" indent="-285750">
              <a:buFont typeface="Arial" panose="020B0604020202020204" pitchFamily="34" charset="0"/>
              <a:buChar char="•"/>
            </a:pPr>
            <a:r>
              <a:rPr lang="en-IN" dirty="0">
                <a:latin typeface="Sitka Text" pitchFamily="2" charset="0"/>
              </a:rPr>
              <a:t>Pooling Layer</a:t>
            </a:r>
          </a:p>
          <a:p>
            <a:pPr marL="285750" indent="-285750">
              <a:buFont typeface="Arial" panose="020B0604020202020204" pitchFamily="34" charset="0"/>
              <a:buChar char="•"/>
            </a:pPr>
            <a:r>
              <a:rPr lang="en-IN" dirty="0">
                <a:latin typeface="Sitka Text" pitchFamily="2" charset="0"/>
              </a:rPr>
              <a:t>Fully-connected Layer</a:t>
            </a:r>
          </a:p>
        </p:txBody>
      </p:sp>
    </p:spTree>
    <p:extLst>
      <p:ext uri="{BB962C8B-B14F-4D97-AF65-F5344CB8AC3E}">
        <p14:creationId xmlns:p14="http://schemas.microsoft.com/office/powerpoint/2010/main" val="19809633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Sitka Text" pitchFamily="2" charset="0"/>
              </a:rPr>
              <a:t>Convolutional Layer</a:t>
            </a:r>
            <a:endParaRPr lang="en-US" dirty="0"/>
          </a:p>
        </p:txBody>
      </p:sp>
      <p:pic>
        <p:nvPicPr>
          <p:cNvPr id="6" name="Picture 5"/>
          <p:cNvPicPr>
            <a:picLocks noChangeAspect="1"/>
          </p:cNvPicPr>
          <p:nvPr/>
        </p:nvPicPr>
        <p:blipFill>
          <a:blip r:embed="rId3"/>
          <a:stretch>
            <a:fillRect/>
          </a:stretch>
        </p:blipFill>
        <p:spPr>
          <a:xfrm>
            <a:off x="752696" y="2597806"/>
            <a:ext cx="5381791" cy="793355"/>
          </a:xfrm>
          <a:prstGeom prst="rect">
            <a:avLst/>
          </a:prstGeom>
        </p:spPr>
      </p:pic>
      <p:pic>
        <p:nvPicPr>
          <p:cNvPr id="7" name="Content Placeholder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665495" y="792258"/>
            <a:ext cx="5245767" cy="5629792"/>
          </a:xfrm>
          <a:prstGeom prst="rect">
            <a:avLst/>
          </a:prstGeom>
        </p:spPr>
      </p:pic>
    </p:spTree>
    <p:extLst>
      <p:ext uri="{BB962C8B-B14F-4D97-AF65-F5344CB8AC3E}">
        <p14:creationId xmlns:p14="http://schemas.microsoft.com/office/powerpoint/2010/main" val="315209672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Sitka Small Semibold" pitchFamily="2" charset="0"/>
              </a:rPr>
              <a:t>Convolutional Layer</a:t>
            </a:r>
            <a:endParaRPr lang="en-IN" dirty="0"/>
          </a:p>
        </p:txBody>
      </p:sp>
      <p:sp>
        <p:nvSpPr>
          <p:cNvPr id="5" name="Rectangle 4"/>
          <p:cNvSpPr/>
          <p:nvPr/>
        </p:nvSpPr>
        <p:spPr>
          <a:xfrm>
            <a:off x="4935894" y="6464855"/>
            <a:ext cx="6527696" cy="261610"/>
          </a:xfrm>
          <a:prstGeom prst="rect">
            <a:avLst/>
          </a:prstGeom>
        </p:spPr>
        <p:txBody>
          <a:bodyPr wrap="square">
            <a:spAutoFit/>
          </a:bodyPr>
          <a:lstStyle/>
          <a:p>
            <a:r>
              <a:rPr lang="en-IN" sz="1050" dirty="0">
                <a:latin typeface="Sitka Text" pitchFamily="2" charset="0"/>
              </a:rPr>
              <a:t>https://learnopencv.com/understanding-convolutional-neural-networks-cnn</a:t>
            </a:r>
            <a:r>
              <a:rPr lang="en-IN" sz="1050" dirty="0" smtClean="0">
                <a:latin typeface="Sitka Text" pitchFamily="2" charset="0"/>
              </a:rPr>
              <a:t>/</a:t>
            </a:r>
            <a:endParaRPr lang="en-IN" sz="1050" dirty="0">
              <a:latin typeface="Sitka Text" pitchFamily="2" charset="0"/>
            </a:endParaRPr>
          </a:p>
        </p:txBody>
      </p:sp>
      <p:pic>
        <p:nvPicPr>
          <p:cNvPr id="2052" name="Picture 4" descr="https://learnopencv.com/wp-content/uploads/2023/01/tensorflow-keras-convolution-one-filter-example.png"/>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258158" y="1846263"/>
            <a:ext cx="7736009" cy="40227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6227561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Sitka Small Semibold" pitchFamily="2" charset="0"/>
              </a:rPr>
              <a:t>Convolutional Layer</a:t>
            </a:r>
            <a:endParaRPr lang="en-IN" dirty="0"/>
          </a:p>
        </p:txBody>
      </p:sp>
      <p:pic>
        <p:nvPicPr>
          <p:cNvPr id="3076" name="Picture 4" descr="https://learnopencv.com/wp-content/uploads/2023/01/tensorflow-keras-convolution-two-filter-example.png"/>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267434" y="1846263"/>
            <a:ext cx="7717458" cy="4022725"/>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4935894" y="6464855"/>
            <a:ext cx="6527696" cy="261610"/>
          </a:xfrm>
          <a:prstGeom prst="rect">
            <a:avLst/>
          </a:prstGeom>
        </p:spPr>
        <p:txBody>
          <a:bodyPr wrap="square">
            <a:spAutoFit/>
          </a:bodyPr>
          <a:lstStyle/>
          <a:p>
            <a:r>
              <a:rPr lang="en-IN" sz="1050" dirty="0">
                <a:latin typeface="Sitka Text" pitchFamily="2" charset="0"/>
              </a:rPr>
              <a:t>https://learnopencv.com/understanding-convolutional-neural-networks-cnn</a:t>
            </a:r>
            <a:r>
              <a:rPr lang="en-IN" sz="1050" dirty="0" smtClean="0">
                <a:latin typeface="Sitka Text" pitchFamily="2" charset="0"/>
              </a:rPr>
              <a:t>/</a:t>
            </a:r>
            <a:endParaRPr lang="en-IN" sz="1050" dirty="0">
              <a:latin typeface="Sitka Text" pitchFamily="2" charset="0"/>
            </a:endParaRPr>
          </a:p>
        </p:txBody>
      </p:sp>
    </p:spTree>
    <p:extLst>
      <p:ext uri="{BB962C8B-B14F-4D97-AF65-F5344CB8AC3E}">
        <p14:creationId xmlns:p14="http://schemas.microsoft.com/office/powerpoint/2010/main" val="167335101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Sitka Small Semibold" pitchFamily="2" charset="0"/>
              </a:rPr>
              <a:t>Convolutional Layer</a:t>
            </a:r>
            <a:endParaRPr lang="en-IN" dirty="0"/>
          </a:p>
        </p:txBody>
      </p:sp>
      <p:pic>
        <p:nvPicPr>
          <p:cNvPr id="4" name="Content Placeholder 3"/>
          <p:cNvPicPr>
            <a:picLocks noGrp="1" noChangeAspect="1"/>
          </p:cNvPicPr>
          <p:nvPr>
            <p:ph idx="1"/>
          </p:nvPr>
        </p:nvPicPr>
        <p:blipFill>
          <a:blip r:embed="rId3"/>
          <a:stretch>
            <a:fillRect/>
          </a:stretch>
        </p:blipFill>
        <p:spPr>
          <a:xfrm>
            <a:off x="1264864" y="1846263"/>
            <a:ext cx="9722598" cy="4022725"/>
          </a:xfrm>
          <a:prstGeom prst="rect">
            <a:avLst/>
          </a:prstGeom>
        </p:spPr>
      </p:pic>
      <p:sp>
        <p:nvSpPr>
          <p:cNvPr id="5" name="Rectangle 4"/>
          <p:cNvSpPr/>
          <p:nvPr/>
        </p:nvSpPr>
        <p:spPr>
          <a:xfrm>
            <a:off x="4935894" y="6464855"/>
            <a:ext cx="6527696" cy="261610"/>
          </a:xfrm>
          <a:prstGeom prst="rect">
            <a:avLst/>
          </a:prstGeom>
        </p:spPr>
        <p:txBody>
          <a:bodyPr wrap="square">
            <a:spAutoFit/>
          </a:bodyPr>
          <a:lstStyle/>
          <a:p>
            <a:r>
              <a:rPr lang="en-IN" sz="1050" dirty="0">
                <a:latin typeface="Sitka Text" pitchFamily="2" charset="0"/>
              </a:rPr>
              <a:t>https://learnopencv.com/understanding-convolutional-neural-networks-cnn</a:t>
            </a:r>
            <a:r>
              <a:rPr lang="en-IN" sz="1050" dirty="0" smtClean="0">
                <a:latin typeface="Sitka Text" pitchFamily="2" charset="0"/>
              </a:rPr>
              <a:t>/</a:t>
            </a:r>
            <a:endParaRPr lang="en-IN" sz="1050" dirty="0">
              <a:latin typeface="Sitka Text" pitchFamily="2" charset="0"/>
            </a:endParaRPr>
          </a:p>
        </p:txBody>
      </p:sp>
    </p:spTree>
    <p:extLst>
      <p:ext uri="{BB962C8B-B14F-4D97-AF65-F5344CB8AC3E}">
        <p14:creationId xmlns:p14="http://schemas.microsoft.com/office/powerpoint/2010/main" val="166385696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Sitka Small Semibold" pitchFamily="2" charset="0"/>
              </a:rPr>
              <a:t>Pooling Layer</a:t>
            </a:r>
          </a:p>
        </p:txBody>
      </p:sp>
      <p:pic>
        <p:nvPicPr>
          <p:cNvPr id="4" name="Content Placeholder 3"/>
          <p:cNvPicPr>
            <a:picLocks noGrp="1" noChangeAspect="1"/>
          </p:cNvPicPr>
          <p:nvPr>
            <p:ph idx="1"/>
          </p:nvPr>
        </p:nvPicPr>
        <p:blipFill>
          <a:blip r:embed="rId3"/>
          <a:stretch>
            <a:fillRect/>
          </a:stretch>
        </p:blipFill>
        <p:spPr>
          <a:xfrm>
            <a:off x="1585854" y="1846263"/>
            <a:ext cx="8767796" cy="4022725"/>
          </a:xfrm>
          <a:prstGeom prst="rect">
            <a:avLst/>
          </a:prstGeom>
        </p:spPr>
      </p:pic>
      <p:sp>
        <p:nvSpPr>
          <p:cNvPr id="5" name="Rectangle 4"/>
          <p:cNvSpPr/>
          <p:nvPr/>
        </p:nvSpPr>
        <p:spPr>
          <a:xfrm>
            <a:off x="4935894" y="6464855"/>
            <a:ext cx="6527696" cy="261610"/>
          </a:xfrm>
          <a:prstGeom prst="rect">
            <a:avLst/>
          </a:prstGeom>
        </p:spPr>
        <p:txBody>
          <a:bodyPr wrap="square">
            <a:spAutoFit/>
          </a:bodyPr>
          <a:lstStyle/>
          <a:p>
            <a:r>
              <a:rPr lang="en-IN" sz="1050" dirty="0">
                <a:latin typeface="Sitka Text" pitchFamily="2" charset="0"/>
              </a:rPr>
              <a:t>https://learnopencv.com/understanding-convolutional-neural-networks-cnn/c</a:t>
            </a:r>
          </a:p>
        </p:txBody>
      </p:sp>
    </p:spTree>
    <p:extLst>
      <p:ext uri="{BB962C8B-B14F-4D97-AF65-F5344CB8AC3E}">
        <p14:creationId xmlns:p14="http://schemas.microsoft.com/office/powerpoint/2010/main" val="174350684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Sitka Small Semibold" pitchFamily="2" charset="0"/>
              </a:rPr>
              <a:t>Fully-connected Layer</a:t>
            </a:r>
            <a:endParaRPr lang="en-IN" dirty="0"/>
          </a:p>
        </p:txBody>
      </p:sp>
      <p:pic>
        <p:nvPicPr>
          <p:cNvPr id="4" name="Content Placeholder 3"/>
          <p:cNvPicPr>
            <a:picLocks noGrp="1" noChangeAspect="1"/>
          </p:cNvPicPr>
          <p:nvPr>
            <p:ph idx="1"/>
          </p:nvPr>
        </p:nvPicPr>
        <p:blipFill>
          <a:blip r:embed="rId3"/>
          <a:stretch>
            <a:fillRect/>
          </a:stretch>
        </p:blipFill>
        <p:spPr>
          <a:xfrm>
            <a:off x="2593583" y="1846263"/>
            <a:ext cx="7065159" cy="4022725"/>
          </a:xfrm>
          <a:prstGeom prst="rect">
            <a:avLst/>
          </a:prstGeom>
        </p:spPr>
      </p:pic>
      <p:sp>
        <p:nvSpPr>
          <p:cNvPr id="5" name="Rectangle 4"/>
          <p:cNvSpPr/>
          <p:nvPr/>
        </p:nvSpPr>
        <p:spPr>
          <a:xfrm>
            <a:off x="4935894" y="6464855"/>
            <a:ext cx="6527696" cy="261610"/>
          </a:xfrm>
          <a:prstGeom prst="rect">
            <a:avLst/>
          </a:prstGeom>
        </p:spPr>
        <p:txBody>
          <a:bodyPr wrap="square">
            <a:spAutoFit/>
          </a:bodyPr>
          <a:lstStyle/>
          <a:p>
            <a:r>
              <a:rPr lang="en-IN" sz="1050" dirty="0">
                <a:latin typeface="Sitka Text" pitchFamily="2" charset="0"/>
              </a:rPr>
              <a:t>https://learnopencv.com/understanding-convolutional-neural-networks-cnn/</a:t>
            </a:r>
          </a:p>
        </p:txBody>
      </p:sp>
    </p:spTree>
    <p:extLst>
      <p:ext uri="{BB962C8B-B14F-4D97-AF65-F5344CB8AC3E}">
        <p14:creationId xmlns:p14="http://schemas.microsoft.com/office/powerpoint/2010/main" val="116536124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Sitka Small Semibold" pitchFamily="2" charset="0"/>
              </a:rPr>
              <a:t>Convolutional Neural Networks</a:t>
            </a:r>
            <a:endParaRPr lang="en-IN" dirty="0"/>
          </a:p>
        </p:txBody>
      </p:sp>
      <p:pic>
        <p:nvPicPr>
          <p:cNvPr id="4" name="Content Placeholder 3"/>
          <p:cNvPicPr>
            <a:picLocks noGrp="1" noChangeAspect="1"/>
          </p:cNvPicPr>
          <p:nvPr>
            <p:ph idx="1"/>
          </p:nvPr>
        </p:nvPicPr>
        <p:blipFill>
          <a:blip r:embed="rId3"/>
          <a:srcRect l="1" r="-228"/>
          <a:stretch/>
        </p:blipFill>
        <p:spPr>
          <a:xfrm>
            <a:off x="2298032" y="1846263"/>
            <a:ext cx="7019493" cy="4434110"/>
          </a:xfrm>
          <a:prstGeom prst="rect">
            <a:avLst/>
          </a:prstGeom>
        </p:spPr>
      </p:pic>
      <p:sp>
        <p:nvSpPr>
          <p:cNvPr id="5" name="Rectangle 4"/>
          <p:cNvSpPr/>
          <p:nvPr/>
        </p:nvSpPr>
        <p:spPr>
          <a:xfrm>
            <a:off x="4935894" y="6464855"/>
            <a:ext cx="6527696" cy="261610"/>
          </a:xfrm>
          <a:prstGeom prst="rect">
            <a:avLst/>
          </a:prstGeom>
        </p:spPr>
        <p:txBody>
          <a:bodyPr wrap="square">
            <a:spAutoFit/>
          </a:bodyPr>
          <a:lstStyle/>
          <a:p>
            <a:r>
              <a:rPr lang="en-IN" sz="1050" dirty="0">
                <a:latin typeface="Sitka Text" pitchFamily="2" charset="0"/>
              </a:rPr>
              <a:t>https://learnopencv.com/understanding-convolutional-neural-networks-cnn</a:t>
            </a:r>
            <a:r>
              <a:rPr lang="en-IN" sz="1050" dirty="0" smtClean="0">
                <a:latin typeface="Sitka Text" pitchFamily="2" charset="0"/>
              </a:rPr>
              <a:t>/</a:t>
            </a:r>
            <a:endParaRPr lang="en-IN" sz="1050" dirty="0">
              <a:latin typeface="Sitka Text" pitchFamily="2" charset="0"/>
            </a:endParaRPr>
          </a:p>
        </p:txBody>
      </p:sp>
    </p:spTree>
    <p:extLst>
      <p:ext uri="{BB962C8B-B14F-4D97-AF65-F5344CB8AC3E}">
        <p14:creationId xmlns:p14="http://schemas.microsoft.com/office/powerpoint/2010/main" val="409075684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Sitka Small Semibold" pitchFamily="2" charset="0"/>
              </a:rPr>
              <a:t>Convolutional Neural Networks</a:t>
            </a:r>
            <a:endParaRPr lang="en-IN" dirty="0"/>
          </a:p>
        </p:txBody>
      </p:sp>
      <p:pic>
        <p:nvPicPr>
          <p:cNvPr id="4" name="Content Placeholder 3"/>
          <p:cNvPicPr>
            <a:picLocks noGrp="1" noChangeAspect="1"/>
          </p:cNvPicPr>
          <p:nvPr>
            <p:ph idx="1"/>
          </p:nvPr>
        </p:nvPicPr>
        <p:blipFill>
          <a:blip r:embed="rId3"/>
          <a:stretch>
            <a:fillRect/>
          </a:stretch>
        </p:blipFill>
        <p:spPr>
          <a:xfrm>
            <a:off x="2635729" y="1846263"/>
            <a:ext cx="6980867" cy="4022725"/>
          </a:xfrm>
          <a:prstGeom prst="rect">
            <a:avLst/>
          </a:prstGeom>
        </p:spPr>
      </p:pic>
      <p:sp>
        <p:nvSpPr>
          <p:cNvPr id="3" name="Rectangle 2"/>
          <p:cNvSpPr/>
          <p:nvPr/>
        </p:nvSpPr>
        <p:spPr>
          <a:xfrm>
            <a:off x="2282889" y="6351142"/>
            <a:ext cx="9367935" cy="430887"/>
          </a:xfrm>
          <a:prstGeom prst="rect">
            <a:avLst/>
          </a:prstGeom>
        </p:spPr>
        <p:txBody>
          <a:bodyPr wrap="square">
            <a:spAutoFit/>
          </a:bodyPr>
          <a:lstStyle/>
          <a:p>
            <a:r>
              <a:rPr lang="en-IN" sz="1050" dirty="0" err="1">
                <a:latin typeface="Sitka Text" pitchFamily="2" charset="0"/>
              </a:rPr>
              <a:t>Zeiler</a:t>
            </a:r>
            <a:r>
              <a:rPr lang="en-IN" sz="1050" dirty="0">
                <a:latin typeface="Sitka Text" pitchFamily="2" charset="0"/>
              </a:rPr>
              <a:t>, M. D., &amp; Fergus, R. (2014). Visualizing and understanding convolutional networks. In </a:t>
            </a:r>
            <a:r>
              <a:rPr lang="en-IN" sz="1050" i="1" dirty="0">
                <a:latin typeface="Sitka Text" pitchFamily="2" charset="0"/>
              </a:rPr>
              <a:t>Computer Vision–ECCV 2014: 13th European Conference, Zurich, Switzerland, September 6-12, 2014, Proceedings, Part I 13</a:t>
            </a:r>
            <a:r>
              <a:rPr lang="en-IN" sz="1050" dirty="0">
                <a:latin typeface="Sitka Text" pitchFamily="2" charset="0"/>
              </a:rPr>
              <a:t> (pp. 818-833). Springer International Publishing.</a:t>
            </a:r>
          </a:p>
        </p:txBody>
      </p:sp>
    </p:spTree>
    <p:extLst>
      <p:ext uri="{BB962C8B-B14F-4D97-AF65-F5344CB8AC3E}">
        <p14:creationId xmlns:p14="http://schemas.microsoft.com/office/powerpoint/2010/main" val="358831612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Sitka Small Semibold" pitchFamily="2" charset="0"/>
              </a:rPr>
              <a:t>Pre-trained CNNs and Transfer Learning</a:t>
            </a:r>
          </a:p>
        </p:txBody>
      </p:sp>
      <p:pic>
        <p:nvPicPr>
          <p:cNvPr id="4" name="Content Placeholder 3"/>
          <p:cNvPicPr>
            <a:picLocks noGrp="1" noChangeAspect="1"/>
          </p:cNvPicPr>
          <p:nvPr>
            <p:ph idx="1"/>
          </p:nvPr>
        </p:nvPicPr>
        <p:blipFill>
          <a:blip r:embed="rId3"/>
          <a:stretch>
            <a:fillRect/>
          </a:stretch>
        </p:blipFill>
        <p:spPr>
          <a:xfrm>
            <a:off x="3328412" y="2231273"/>
            <a:ext cx="5535175" cy="4022725"/>
          </a:xfrm>
          <a:prstGeom prst="rect">
            <a:avLst/>
          </a:prstGeom>
        </p:spPr>
      </p:pic>
      <p:sp>
        <p:nvSpPr>
          <p:cNvPr id="5" name="Rectangle 4"/>
          <p:cNvSpPr/>
          <p:nvPr/>
        </p:nvSpPr>
        <p:spPr>
          <a:xfrm>
            <a:off x="4858139" y="6544339"/>
            <a:ext cx="6553199" cy="276999"/>
          </a:xfrm>
          <a:prstGeom prst="rect">
            <a:avLst/>
          </a:prstGeom>
        </p:spPr>
        <p:txBody>
          <a:bodyPr wrap="square">
            <a:spAutoFit/>
          </a:bodyPr>
          <a:lstStyle/>
          <a:p>
            <a:r>
              <a:rPr lang="en-IN" sz="1200" dirty="0">
                <a:solidFill>
                  <a:schemeClr val="bg1"/>
                </a:solidFill>
                <a:latin typeface="Sitka Small Semibold" pitchFamily="2" charset="0"/>
              </a:rPr>
              <a:t>https://learnopencv.com/understanding-convolutional-neural-networks-cnn/</a:t>
            </a:r>
          </a:p>
        </p:txBody>
      </p:sp>
    </p:spTree>
    <p:extLst>
      <p:ext uri="{BB962C8B-B14F-4D97-AF65-F5344CB8AC3E}">
        <p14:creationId xmlns:p14="http://schemas.microsoft.com/office/powerpoint/2010/main" val="91429478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Sitka Small Semibold" pitchFamily="2" charset="0"/>
              </a:rPr>
              <a:t>Pre-trained CNNs and Fine-tuning</a:t>
            </a:r>
            <a:endParaRPr lang="en-IN" dirty="0"/>
          </a:p>
        </p:txBody>
      </p:sp>
      <p:pic>
        <p:nvPicPr>
          <p:cNvPr id="4" name="Content Placeholder 3"/>
          <p:cNvPicPr>
            <a:picLocks noGrp="1" noChangeAspect="1"/>
          </p:cNvPicPr>
          <p:nvPr>
            <p:ph idx="1"/>
          </p:nvPr>
        </p:nvPicPr>
        <p:blipFill>
          <a:blip r:embed="rId3"/>
          <a:stretch>
            <a:fillRect/>
          </a:stretch>
        </p:blipFill>
        <p:spPr>
          <a:xfrm>
            <a:off x="3321255" y="1846263"/>
            <a:ext cx="5609815" cy="4022725"/>
          </a:xfrm>
          <a:prstGeom prst="rect">
            <a:avLst/>
          </a:prstGeom>
        </p:spPr>
      </p:pic>
      <p:sp>
        <p:nvSpPr>
          <p:cNvPr id="5" name="Rectangle 4"/>
          <p:cNvSpPr/>
          <p:nvPr/>
        </p:nvSpPr>
        <p:spPr>
          <a:xfrm>
            <a:off x="4858139" y="6544339"/>
            <a:ext cx="6553199" cy="276999"/>
          </a:xfrm>
          <a:prstGeom prst="rect">
            <a:avLst/>
          </a:prstGeom>
        </p:spPr>
        <p:txBody>
          <a:bodyPr wrap="square">
            <a:spAutoFit/>
          </a:bodyPr>
          <a:lstStyle/>
          <a:p>
            <a:r>
              <a:rPr lang="en-IN" sz="1200" dirty="0">
                <a:solidFill>
                  <a:schemeClr val="bg1"/>
                </a:solidFill>
                <a:latin typeface="Sitka Small Semibold" pitchFamily="2" charset="0"/>
              </a:rPr>
              <a:t>https://learnopencv.com/understanding-convolutional-neural-networks-cnn/</a:t>
            </a:r>
          </a:p>
        </p:txBody>
      </p:sp>
    </p:spTree>
    <p:extLst>
      <p:ext uri="{BB962C8B-B14F-4D97-AF65-F5344CB8AC3E}">
        <p14:creationId xmlns:p14="http://schemas.microsoft.com/office/powerpoint/2010/main" val="127277930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Picture 3"/>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3934326" y="2682667"/>
            <a:ext cx="7821520" cy="3753055"/>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lstStyle/>
          <a:p>
            <a:r>
              <a:rPr lang="en-US" dirty="0" smtClean="0">
                <a:latin typeface="Sitka Text" pitchFamily="2" charset="0"/>
              </a:rPr>
              <a:t>Real-world Applications</a:t>
            </a:r>
            <a:endParaRPr lang="en-US" dirty="0">
              <a:latin typeface="Sitka Text" pitchFamily="2" charset="0"/>
            </a:endParaRPr>
          </a:p>
        </p:txBody>
      </p:sp>
      <p:sp>
        <p:nvSpPr>
          <p:cNvPr id="3" name="Content Placeholder 2"/>
          <p:cNvSpPr>
            <a:spLocks noGrp="1"/>
          </p:cNvSpPr>
          <p:nvPr>
            <p:ph idx="1"/>
          </p:nvPr>
        </p:nvSpPr>
        <p:spPr/>
        <p:txBody>
          <a:bodyPr>
            <a:normAutofit/>
          </a:bodyPr>
          <a:lstStyle/>
          <a:p>
            <a:pPr>
              <a:lnSpc>
                <a:spcPct val="150000"/>
              </a:lnSpc>
            </a:pPr>
            <a:r>
              <a:rPr lang="en-US" sz="2400" dirty="0" smtClean="0">
                <a:latin typeface="Sitka Text" pitchFamily="2" charset="0"/>
              </a:rPr>
              <a:t>Image Classification</a:t>
            </a:r>
          </a:p>
          <a:p>
            <a:pPr>
              <a:lnSpc>
                <a:spcPct val="150000"/>
              </a:lnSpc>
            </a:pPr>
            <a:r>
              <a:rPr lang="en-US" sz="2400" dirty="0" smtClean="0">
                <a:latin typeface="Sitka Text" pitchFamily="2" charset="0"/>
              </a:rPr>
              <a:t>Object Detection</a:t>
            </a:r>
          </a:p>
          <a:p>
            <a:pPr>
              <a:lnSpc>
                <a:spcPct val="150000"/>
              </a:lnSpc>
            </a:pPr>
            <a:r>
              <a:rPr lang="en-US" sz="2400" dirty="0" smtClean="0">
                <a:latin typeface="Sitka Text" pitchFamily="2" charset="0"/>
              </a:rPr>
              <a:t>Image Segmentation</a:t>
            </a:r>
            <a:endParaRPr lang="en-US" sz="2400" dirty="0">
              <a:latin typeface="Sitka Text" pitchFamily="2" charset="0"/>
            </a:endParaRPr>
          </a:p>
        </p:txBody>
      </p:sp>
    </p:spTree>
    <p:extLst>
      <p:ext uri="{BB962C8B-B14F-4D97-AF65-F5344CB8AC3E}">
        <p14:creationId xmlns:p14="http://schemas.microsoft.com/office/powerpoint/2010/main" val="25222427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a:xfrm>
            <a:off x="1226053" y="384253"/>
            <a:ext cx="7916396" cy="1293028"/>
          </a:xfrm>
        </p:spPr>
        <p:txBody>
          <a:bodyPr/>
          <a:lstStyle/>
          <a:p>
            <a:r>
              <a:rPr lang="en-US" dirty="0" smtClean="0">
                <a:latin typeface="Sitka Text" pitchFamily="2" charset="0"/>
              </a:rPr>
              <a:t>Real-world Applications</a:t>
            </a:r>
            <a:endParaRPr lang="en-US" dirty="0">
              <a:latin typeface="Sitka Subheading Semibold" pitchFamily="2" charset="0"/>
            </a:endParaRPr>
          </a:p>
        </p:txBody>
      </p:sp>
      <p:pic>
        <p:nvPicPr>
          <p:cNvPr id="22530" name="Picture 2" descr="Review of Deep Learning Algorithms for Object Detection | by Arthur  Ouaknine | Zyl Story | Medium">
            <a:extLst>
              <a:ext uri="{FF2B5EF4-FFF2-40B4-BE49-F238E27FC236}">
                <a16:creationId xmlns:a16="http://schemas.microsoft.com/office/drawing/2014/main" id="{AEB70F2C-0C48-A94D-A06A-E632773E3FB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51940"/>
          <a:stretch/>
        </p:blipFill>
        <p:spPr bwMode="auto">
          <a:xfrm>
            <a:off x="1226053" y="1677281"/>
            <a:ext cx="4318782" cy="3736047"/>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901199" y="5493113"/>
            <a:ext cx="5086947" cy="1200329"/>
          </a:xfrm>
          <a:prstGeom prst="rect">
            <a:avLst/>
          </a:prstGeom>
        </p:spPr>
        <p:txBody>
          <a:bodyPr wrap="square">
            <a:spAutoFit/>
          </a:bodyPr>
          <a:lstStyle/>
          <a:p>
            <a:pPr marL="285750" indent="-285750">
              <a:buFont typeface="Arial" panose="020B0604020202020204" pitchFamily="34" charset="0"/>
              <a:buChar char="•"/>
            </a:pPr>
            <a:r>
              <a:rPr lang="en-IN" dirty="0" smtClean="0">
                <a:latin typeface="Sitka Text" pitchFamily="2" charset="0"/>
                <a:ea typeface="Calibri" panose="020F0502020204030204" pitchFamily="34" charset="0"/>
                <a:cs typeface="Times New Roman" panose="02020603050405020304" pitchFamily="18" charset="0"/>
              </a:rPr>
              <a:t>Image classification: Assigning </a:t>
            </a:r>
            <a:r>
              <a:rPr lang="en-IN" dirty="0">
                <a:latin typeface="Sitka Text" pitchFamily="2" charset="0"/>
                <a:ea typeface="Calibri" panose="020F0502020204030204" pitchFamily="34" charset="0"/>
                <a:cs typeface="Times New Roman" panose="02020603050405020304" pitchFamily="18" charset="0"/>
              </a:rPr>
              <a:t>objects to predefined </a:t>
            </a:r>
            <a:r>
              <a:rPr lang="en-IN" dirty="0" smtClean="0">
                <a:latin typeface="Sitka Text" pitchFamily="2" charset="0"/>
                <a:ea typeface="Calibri" panose="020F0502020204030204" pitchFamily="34" charset="0"/>
                <a:cs typeface="Times New Roman" panose="02020603050405020304" pitchFamily="18" charset="0"/>
              </a:rPr>
              <a:t>classes </a:t>
            </a:r>
          </a:p>
          <a:p>
            <a:pPr marL="285750" indent="-285750">
              <a:buFont typeface="Arial" panose="020B0604020202020204" pitchFamily="34" charset="0"/>
              <a:buChar char="•"/>
            </a:pPr>
            <a:r>
              <a:rPr lang="en-IN" dirty="0">
                <a:latin typeface="Sitka Text" pitchFamily="2" charset="0"/>
                <a:ea typeface="Calibri" panose="020F0502020204030204" pitchFamily="34" charset="0"/>
                <a:cs typeface="Times New Roman" panose="02020603050405020304" pitchFamily="18" charset="0"/>
              </a:rPr>
              <a:t>O</a:t>
            </a:r>
            <a:r>
              <a:rPr lang="en-IN" dirty="0" smtClean="0">
                <a:latin typeface="Sitka Text" pitchFamily="2" charset="0"/>
                <a:ea typeface="Calibri" panose="020F0502020204030204" pitchFamily="34" charset="0"/>
                <a:cs typeface="Times New Roman" panose="02020603050405020304" pitchFamily="18" charset="0"/>
              </a:rPr>
              <a:t>bject localization: Identifying </a:t>
            </a:r>
            <a:r>
              <a:rPr lang="en-IN" dirty="0">
                <a:latin typeface="Sitka Text" pitchFamily="2" charset="0"/>
                <a:ea typeface="Calibri" panose="020F0502020204030204" pitchFamily="34" charset="0"/>
                <a:cs typeface="Times New Roman" panose="02020603050405020304" pitchFamily="18" charset="0"/>
              </a:rPr>
              <a:t>an object's position in an </a:t>
            </a:r>
            <a:r>
              <a:rPr lang="en-IN" dirty="0" smtClean="0">
                <a:latin typeface="Sitka Text" pitchFamily="2" charset="0"/>
                <a:ea typeface="Calibri" panose="020F0502020204030204" pitchFamily="34" charset="0"/>
                <a:cs typeface="Times New Roman" panose="02020603050405020304" pitchFamily="18" charset="0"/>
              </a:rPr>
              <a:t>image</a:t>
            </a:r>
            <a:endParaRPr lang="en-US" dirty="0"/>
          </a:p>
        </p:txBody>
      </p:sp>
      <p:pic>
        <p:nvPicPr>
          <p:cNvPr id="5" name="Picture 2" descr="Review of Deep Learning Algorithms for Object Detection | by Arthur  Ouaknine | Zyl Story | Medium">
            <a:extLst>
              <a:ext uri="{FF2B5EF4-FFF2-40B4-BE49-F238E27FC236}">
                <a16:creationId xmlns:a16="http://schemas.microsoft.com/office/drawing/2014/main" id="{AEB70F2C-0C48-A94D-A06A-E632773E3FB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7586"/>
          <a:stretch/>
        </p:blipFill>
        <p:spPr bwMode="auto">
          <a:xfrm>
            <a:off x="6241365" y="2805821"/>
            <a:ext cx="4647028" cy="3686059"/>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5988147" y="1605492"/>
            <a:ext cx="5566118" cy="1200329"/>
          </a:xfrm>
          <a:prstGeom prst="rect">
            <a:avLst/>
          </a:prstGeom>
        </p:spPr>
        <p:txBody>
          <a:bodyPr wrap="square">
            <a:spAutoFit/>
          </a:bodyPr>
          <a:lstStyle/>
          <a:p>
            <a:pPr marL="285750" indent="-285750">
              <a:buFont typeface="Arial" panose="020B0604020202020204" pitchFamily="34" charset="0"/>
              <a:buChar char="•"/>
            </a:pPr>
            <a:r>
              <a:rPr lang="en-IN" dirty="0" smtClean="0">
                <a:latin typeface="Sitka Text" pitchFamily="2" charset="0"/>
                <a:ea typeface="Calibri" panose="020F0502020204030204" pitchFamily="34" charset="0"/>
                <a:cs typeface="Times New Roman" panose="02020603050405020304" pitchFamily="18" charset="0"/>
              </a:rPr>
              <a:t>Object detection: Identifying and localizing each object</a:t>
            </a:r>
          </a:p>
          <a:p>
            <a:pPr marL="285750" indent="-285750">
              <a:buFont typeface="Arial" panose="020B0604020202020204" pitchFamily="34" charset="0"/>
              <a:buChar char="•"/>
            </a:pPr>
            <a:r>
              <a:rPr lang="en-IN" dirty="0">
                <a:latin typeface="Sitka Text" pitchFamily="2" charset="0"/>
              </a:rPr>
              <a:t>Image </a:t>
            </a:r>
            <a:r>
              <a:rPr lang="en-IN" dirty="0" smtClean="0">
                <a:latin typeface="Sitka Text" pitchFamily="2" charset="0"/>
              </a:rPr>
              <a:t>segmentation: Dividing </a:t>
            </a:r>
            <a:r>
              <a:rPr lang="en-IN" dirty="0">
                <a:latin typeface="Sitka Text" pitchFamily="2" charset="0"/>
              </a:rPr>
              <a:t>an image into distinct regions or objects</a:t>
            </a:r>
            <a:endParaRPr lang="en-US" dirty="0">
              <a:latin typeface="Sitka Text" pitchFamily="2" charset="0"/>
            </a:endParaRPr>
          </a:p>
        </p:txBody>
      </p:sp>
    </p:spTree>
    <p:extLst>
      <p:ext uri="{BB962C8B-B14F-4D97-AF65-F5344CB8AC3E}">
        <p14:creationId xmlns:p14="http://schemas.microsoft.com/office/powerpoint/2010/main" val="25812760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latin typeface="Sitka Text" pitchFamily="2" charset="0"/>
                <a:ea typeface="Calibri" panose="020F0502020204030204" pitchFamily="34" charset="0"/>
                <a:cs typeface="Times New Roman" panose="02020603050405020304" pitchFamily="18" charset="0"/>
              </a:rPr>
              <a:t>Image classification</a:t>
            </a:r>
            <a:endParaRPr lang="en-US" dirty="0"/>
          </a:p>
        </p:txBody>
      </p:sp>
      <p:pic>
        <p:nvPicPr>
          <p:cNvPr id="4" name="Content Placeholder 3"/>
          <p:cNvPicPr>
            <a:picLocks noGrp="1" noChangeAspect="1"/>
          </p:cNvPicPr>
          <p:nvPr>
            <p:ph idx="1"/>
          </p:nvPr>
        </p:nvPicPr>
        <p:blipFill>
          <a:blip r:embed="rId2"/>
          <a:stretch>
            <a:fillRect/>
          </a:stretch>
        </p:blipFill>
        <p:spPr>
          <a:xfrm>
            <a:off x="1125339" y="2475912"/>
            <a:ext cx="9941321" cy="2700821"/>
          </a:xfrm>
          <a:prstGeom prst="rect">
            <a:avLst/>
          </a:prstGeom>
        </p:spPr>
      </p:pic>
      <p:sp>
        <p:nvSpPr>
          <p:cNvPr id="5" name="Rectangle 4"/>
          <p:cNvSpPr/>
          <p:nvPr/>
        </p:nvSpPr>
        <p:spPr>
          <a:xfrm>
            <a:off x="9571254" y="6384576"/>
            <a:ext cx="2274982" cy="261610"/>
          </a:xfrm>
          <a:prstGeom prst="rect">
            <a:avLst/>
          </a:prstGeom>
        </p:spPr>
        <p:txBody>
          <a:bodyPr wrap="none">
            <a:spAutoFit/>
          </a:bodyPr>
          <a:lstStyle/>
          <a:p>
            <a:r>
              <a:rPr lang="en-US" sz="1100" u="sng" dirty="0">
                <a:latin typeface="Sitka Text" pitchFamily="2" charset="0"/>
              </a:rPr>
              <a:t>https://www.researchgate.net/</a:t>
            </a:r>
          </a:p>
        </p:txBody>
      </p:sp>
      <p:sp>
        <p:nvSpPr>
          <p:cNvPr id="6" name="Rectangle 5"/>
          <p:cNvSpPr/>
          <p:nvPr/>
        </p:nvSpPr>
        <p:spPr>
          <a:xfrm>
            <a:off x="2091566" y="5592625"/>
            <a:ext cx="6183103" cy="400110"/>
          </a:xfrm>
          <a:prstGeom prst="rect">
            <a:avLst/>
          </a:prstGeom>
        </p:spPr>
        <p:txBody>
          <a:bodyPr wrap="none">
            <a:spAutoFit/>
          </a:bodyPr>
          <a:lstStyle/>
          <a:p>
            <a:pPr marL="285750" indent="-285750">
              <a:buFont typeface="Arial" panose="020B0604020202020204" pitchFamily="34" charset="0"/>
              <a:buChar char="•"/>
            </a:pPr>
            <a:r>
              <a:rPr lang="en-IN" sz="2000" dirty="0" smtClean="0">
                <a:latin typeface="Sitka Text" pitchFamily="2" charset="0"/>
                <a:ea typeface="Calibri" panose="020F0502020204030204" pitchFamily="34" charset="0"/>
                <a:cs typeface="Times New Roman" panose="02020603050405020304" pitchFamily="18" charset="0"/>
              </a:rPr>
              <a:t>Identifying the class of an (object in the) image</a:t>
            </a:r>
            <a:endParaRPr lang="en-US" sz="2000" dirty="0"/>
          </a:p>
        </p:txBody>
      </p:sp>
    </p:spTree>
    <p:extLst>
      <p:ext uri="{BB962C8B-B14F-4D97-AF65-F5344CB8AC3E}">
        <p14:creationId xmlns:p14="http://schemas.microsoft.com/office/powerpoint/2010/main" val="305891927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Sitka Subheading Semibold" pitchFamily="2" charset="0"/>
              </a:rPr>
              <a:t>Object Detection</a:t>
            </a:r>
            <a:endParaRPr lang="en-US" dirty="0">
              <a:latin typeface="Sitka Subheading Semibold" pitchFamily="2" charset="0"/>
            </a:endParaRPr>
          </a:p>
        </p:txBody>
      </p:sp>
      <p:pic>
        <p:nvPicPr>
          <p:cNvPr id="4" name="Picture 2" descr="Object detection - Wikipedia">
            <a:extLst>
              <a:ext uri="{FF2B5EF4-FFF2-40B4-BE49-F238E27FC236}">
                <a16:creationId xmlns:a16="http://schemas.microsoft.com/office/drawing/2014/main" id="{A3911C32-2EA8-F33B-A1AF-3AFDF4972F88}"/>
              </a:ext>
            </a:extLst>
          </p:cNvPr>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tretch>
            <a:fillRect/>
          </a:stretch>
        </p:blipFill>
        <p:spPr bwMode="auto">
          <a:xfrm>
            <a:off x="2846524" y="1690688"/>
            <a:ext cx="6498951" cy="4181576"/>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10352394" y="6584695"/>
            <a:ext cx="1917513" cy="261610"/>
          </a:xfrm>
          <a:prstGeom prst="rect">
            <a:avLst/>
          </a:prstGeom>
        </p:spPr>
        <p:txBody>
          <a:bodyPr wrap="none">
            <a:spAutoFit/>
          </a:bodyPr>
          <a:lstStyle/>
          <a:p>
            <a:r>
              <a:rPr lang="en-IN" sz="1100" u="sng" dirty="0">
                <a:latin typeface="Sitka Text" pitchFamily="2" charset="0"/>
              </a:rPr>
              <a:t>https://www.google.com/</a:t>
            </a:r>
          </a:p>
        </p:txBody>
      </p:sp>
      <p:sp>
        <p:nvSpPr>
          <p:cNvPr id="3" name="Rectangle 2"/>
          <p:cNvSpPr/>
          <p:nvPr/>
        </p:nvSpPr>
        <p:spPr>
          <a:xfrm>
            <a:off x="1669536" y="6095818"/>
            <a:ext cx="7473521" cy="369332"/>
          </a:xfrm>
          <a:prstGeom prst="rect">
            <a:avLst/>
          </a:prstGeom>
        </p:spPr>
        <p:txBody>
          <a:bodyPr wrap="none">
            <a:spAutoFit/>
          </a:bodyPr>
          <a:lstStyle/>
          <a:p>
            <a:pPr marL="285750" indent="-285750">
              <a:buFont typeface="Arial" panose="020B0604020202020204" pitchFamily="34" charset="0"/>
              <a:buChar char="•"/>
            </a:pPr>
            <a:r>
              <a:rPr lang="en-IN" dirty="0" smtClean="0">
                <a:latin typeface="Sitka Text" pitchFamily="2" charset="0"/>
                <a:ea typeface="Calibri" panose="020F0502020204030204" pitchFamily="34" charset="0"/>
                <a:cs typeface="Times New Roman" panose="02020603050405020304" pitchFamily="18" charset="0"/>
              </a:rPr>
              <a:t>Identifying the class as well as position of an object in the image</a:t>
            </a:r>
            <a:endParaRPr lang="en-US" dirty="0"/>
          </a:p>
        </p:txBody>
      </p:sp>
    </p:spTree>
    <p:extLst>
      <p:ext uri="{BB962C8B-B14F-4D97-AF65-F5344CB8AC3E}">
        <p14:creationId xmlns:p14="http://schemas.microsoft.com/office/powerpoint/2010/main" val="340264766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Sitka Subheading Semibold" pitchFamily="2" charset="0"/>
              </a:rPr>
              <a:t>Image Segmentation</a:t>
            </a:r>
          </a:p>
        </p:txBody>
      </p:sp>
      <p:pic>
        <p:nvPicPr>
          <p:cNvPr id="3" name="Picture 2"/>
          <p:cNvPicPr>
            <a:picLocks noChangeAspect="1"/>
          </p:cNvPicPr>
          <p:nvPr/>
        </p:nvPicPr>
        <p:blipFill rotWithShape="1">
          <a:blip r:embed="rId2">
            <a:extLst>
              <a:ext uri="{28A0092B-C50C-407E-A947-70E740481C1C}">
                <a14:useLocalDpi xmlns:a14="http://schemas.microsoft.com/office/drawing/2010/main" val="0"/>
              </a:ext>
            </a:extLst>
          </a:blip>
          <a:srcRect l="11318" t="29355" r="52411" b="28098"/>
          <a:stretch/>
        </p:blipFill>
        <p:spPr>
          <a:xfrm>
            <a:off x="6394604" y="2192691"/>
            <a:ext cx="4157329" cy="2743199"/>
          </a:xfrm>
          <a:prstGeom prst="rect">
            <a:avLst/>
          </a:prstGeom>
        </p:spPr>
      </p:pic>
      <p:pic>
        <p:nvPicPr>
          <p:cNvPr id="4" name="Picture 3"/>
          <p:cNvPicPr>
            <a:picLocks noChangeAspect="1"/>
          </p:cNvPicPr>
          <p:nvPr/>
        </p:nvPicPr>
        <p:blipFill rotWithShape="1">
          <a:blip r:embed="rId2">
            <a:extLst>
              <a:ext uri="{28A0092B-C50C-407E-A947-70E740481C1C}">
                <a14:useLocalDpi xmlns:a14="http://schemas.microsoft.com/office/drawing/2010/main" val="0"/>
              </a:ext>
            </a:extLst>
          </a:blip>
          <a:srcRect l="52381" t="29629" r="11163" b="28153"/>
          <a:stretch/>
        </p:blipFill>
        <p:spPr>
          <a:xfrm>
            <a:off x="1614196" y="2192692"/>
            <a:ext cx="4211241" cy="2743199"/>
          </a:xfrm>
          <a:prstGeom prst="rect">
            <a:avLst/>
          </a:prstGeom>
        </p:spPr>
      </p:pic>
      <p:sp>
        <p:nvSpPr>
          <p:cNvPr id="5" name="TextBox 4"/>
          <p:cNvSpPr txBox="1"/>
          <p:nvPr/>
        </p:nvSpPr>
        <p:spPr>
          <a:xfrm>
            <a:off x="2354071" y="4935890"/>
            <a:ext cx="2800600" cy="369332"/>
          </a:xfrm>
          <a:prstGeom prst="rect">
            <a:avLst/>
          </a:prstGeom>
          <a:noFill/>
        </p:spPr>
        <p:txBody>
          <a:bodyPr wrap="square" rtlCol="0">
            <a:spAutoFit/>
          </a:bodyPr>
          <a:lstStyle/>
          <a:p>
            <a:pPr algn="ctr"/>
            <a:r>
              <a:rPr lang="en-IN" dirty="0">
                <a:latin typeface="Sitka Text" pitchFamily="2" charset="0"/>
              </a:rPr>
              <a:t>Instance Segmentation</a:t>
            </a:r>
          </a:p>
        </p:txBody>
      </p:sp>
      <p:sp>
        <p:nvSpPr>
          <p:cNvPr id="6" name="TextBox 5"/>
          <p:cNvSpPr txBox="1"/>
          <p:nvPr/>
        </p:nvSpPr>
        <p:spPr>
          <a:xfrm>
            <a:off x="7099245" y="4935890"/>
            <a:ext cx="2748046" cy="369332"/>
          </a:xfrm>
          <a:prstGeom prst="rect">
            <a:avLst/>
          </a:prstGeom>
          <a:noFill/>
        </p:spPr>
        <p:txBody>
          <a:bodyPr wrap="square" rtlCol="0">
            <a:spAutoFit/>
          </a:bodyPr>
          <a:lstStyle/>
          <a:p>
            <a:pPr algn="ctr"/>
            <a:r>
              <a:rPr lang="en-IN" dirty="0">
                <a:latin typeface="Sitka Text" pitchFamily="2" charset="0"/>
              </a:rPr>
              <a:t>Semantic Segmentation</a:t>
            </a:r>
          </a:p>
        </p:txBody>
      </p:sp>
      <p:sp>
        <p:nvSpPr>
          <p:cNvPr id="7" name="Rectangle 6"/>
          <p:cNvSpPr/>
          <p:nvPr/>
        </p:nvSpPr>
        <p:spPr>
          <a:xfrm>
            <a:off x="10352394" y="6528709"/>
            <a:ext cx="1917513" cy="261610"/>
          </a:xfrm>
          <a:prstGeom prst="rect">
            <a:avLst/>
          </a:prstGeom>
        </p:spPr>
        <p:txBody>
          <a:bodyPr wrap="none">
            <a:spAutoFit/>
          </a:bodyPr>
          <a:lstStyle/>
          <a:p>
            <a:r>
              <a:rPr lang="en-IN" sz="1100" u="sng" dirty="0">
                <a:latin typeface="Sitka Text" pitchFamily="2" charset="0"/>
              </a:rPr>
              <a:t>https://www.google.com/</a:t>
            </a:r>
          </a:p>
        </p:txBody>
      </p:sp>
      <p:sp>
        <p:nvSpPr>
          <p:cNvPr id="8" name="Rectangle 7"/>
          <p:cNvSpPr/>
          <p:nvPr/>
        </p:nvSpPr>
        <p:spPr>
          <a:xfrm>
            <a:off x="1614195" y="5668562"/>
            <a:ext cx="8937737" cy="1015663"/>
          </a:xfrm>
          <a:prstGeom prst="rect">
            <a:avLst/>
          </a:prstGeom>
        </p:spPr>
        <p:txBody>
          <a:bodyPr wrap="square">
            <a:spAutoFit/>
          </a:bodyPr>
          <a:lstStyle/>
          <a:p>
            <a:pPr marL="285750" indent="-285750">
              <a:buFont typeface="Arial" panose="020B0604020202020204" pitchFamily="34" charset="0"/>
              <a:buChar char="•"/>
            </a:pPr>
            <a:r>
              <a:rPr lang="en-IN" sz="2000" dirty="0">
                <a:latin typeface="Sitka Text" pitchFamily="2" charset="0"/>
                <a:ea typeface="Calibri" panose="020F0502020204030204" pitchFamily="34" charset="0"/>
                <a:cs typeface="Times New Roman" panose="02020603050405020304" pitchFamily="18" charset="0"/>
              </a:rPr>
              <a:t>Image segmentation focuses on dividing an image into distinct regions or </a:t>
            </a:r>
            <a:r>
              <a:rPr lang="en-IN" sz="2000" dirty="0" smtClean="0">
                <a:latin typeface="Sitka Text" pitchFamily="2" charset="0"/>
                <a:ea typeface="Calibri" panose="020F0502020204030204" pitchFamily="34" charset="0"/>
                <a:cs typeface="Times New Roman" panose="02020603050405020304" pitchFamily="18" charset="0"/>
              </a:rPr>
              <a:t>objects</a:t>
            </a:r>
          </a:p>
          <a:p>
            <a:pPr marL="285750" indent="-285750">
              <a:buFont typeface="Arial" panose="020B0604020202020204" pitchFamily="34" charset="0"/>
              <a:buChar char="•"/>
            </a:pPr>
            <a:r>
              <a:rPr lang="en-IN" sz="2000" dirty="0" smtClean="0">
                <a:latin typeface="Sitka Text" pitchFamily="2" charset="0"/>
                <a:ea typeface="Calibri" panose="020F0502020204030204" pitchFamily="34" charset="0"/>
                <a:cs typeface="Times New Roman" panose="02020603050405020304" pitchFamily="18" charset="0"/>
              </a:rPr>
              <a:t>Predicts the exact shape of an object in an image</a:t>
            </a:r>
            <a:endParaRPr lang="en-US" sz="2000" dirty="0"/>
          </a:p>
        </p:txBody>
      </p:sp>
    </p:spTree>
    <p:extLst>
      <p:ext uri="{BB962C8B-B14F-4D97-AF65-F5344CB8AC3E}">
        <p14:creationId xmlns:p14="http://schemas.microsoft.com/office/powerpoint/2010/main" val="282271137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Sitka Subheading Semibold" pitchFamily="2" charset="0"/>
              </a:rPr>
              <a:t>Retail and E-commerce</a:t>
            </a:r>
          </a:p>
        </p:txBody>
      </p:sp>
      <p:pic>
        <p:nvPicPr>
          <p:cNvPr id="3" name="Picture 2"/>
          <p:cNvPicPr>
            <a:picLocks noChangeAspect="1"/>
          </p:cNvPicPr>
          <p:nvPr/>
        </p:nvPicPr>
        <p:blipFill rotWithShape="1">
          <a:blip r:embed="rId3">
            <a:extLst>
              <a:ext uri="{28A0092B-C50C-407E-A947-70E740481C1C}">
                <a14:useLocalDpi xmlns:a14="http://schemas.microsoft.com/office/drawing/2010/main" val="0"/>
              </a:ext>
            </a:extLst>
          </a:blip>
          <a:srcRect t="20287"/>
          <a:stretch/>
        </p:blipFill>
        <p:spPr>
          <a:xfrm>
            <a:off x="3825971" y="4159365"/>
            <a:ext cx="4540057" cy="1688879"/>
          </a:xfrm>
          <a:prstGeom prst="rect">
            <a:avLst/>
          </a:prstGeom>
        </p:spPr>
      </p:pic>
      <p:pic>
        <p:nvPicPr>
          <p:cNvPr id="4" name="Picture 3"/>
          <p:cNvPicPr>
            <a:picLocks noChangeAspect="1"/>
          </p:cNvPicPr>
          <p:nvPr/>
        </p:nvPicPr>
        <p:blipFill rotWithShape="1">
          <a:blip r:embed="rId4">
            <a:extLst>
              <a:ext uri="{28A0092B-C50C-407E-A947-70E740481C1C}">
                <a14:useLocalDpi xmlns:a14="http://schemas.microsoft.com/office/drawing/2010/main" val="0"/>
              </a:ext>
            </a:extLst>
          </a:blip>
          <a:srcRect l="7385" t="4689" r="2792" b="4340"/>
          <a:stretch/>
        </p:blipFill>
        <p:spPr>
          <a:xfrm>
            <a:off x="6258510" y="1596533"/>
            <a:ext cx="4885138" cy="2513165"/>
          </a:xfrm>
          <a:prstGeom prst="rect">
            <a:avLst/>
          </a:prstGeom>
        </p:spPr>
      </p:pic>
      <p:pic>
        <p:nvPicPr>
          <p:cNvPr id="5" name="Picture 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30425" y="1690688"/>
            <a:ext cx="4272847" cy="2403477"/>
          </a:xfrm>
          <a:prstGeom prst="rect">
            <a:avLst/>
          </a:prstGeom>
        </p:spPr>
      </p:pic>
      <p:sp>
        <p:nvSpPr>
          <p:cNvPr id="6" name="Rectangle 5"/>
          <p:cNvSpPr/>
          <p:nvPr/>
        </p:nvSpPr>
        <p:spPr>
          <a:xfrm>
            <a:off x="10352394" y="6528709"/>
            <a:ext cx="1917513" cy="261610"/>
          </a:xfrm>
          <a:prstGeom prst="rect">
            <a:avLst/>
          </a:prstGeom>
        </p:spPr>
        <p:txBody>
          <a:bodyPr wrap="none">
            <a:spAutoFit/>
          </a:bodyPr>
          <a:lstStyle/>
          <a:p>
            <a:r>
              <a:rPr lang="en-IN" sz="1100" u="sng" dirty="0">
                <a:latin typeface="Sitka Text" pitchFamily="2" charset="0"/>
              </a:rPr>
              <a:t>https://www.google.com/</a:t>
            </a:r>
          </a:p>
        </p:txBody>
      </p:sp>
      <p:sp>
        <p:nvSpPr>
          <p:cNvPr id="7" name="Rectangle 6"/>
          <p:cNvSpPr/>
          <p:nvPr/>
        </p:nvSpPr>
        <p:spPr>
          <a:xfrm>
            <a:off x="1130425" y="5882378"/>
            <a:ext cx="8903911" cy="923330"/>
          </a:xfrm>
          <a:prstGeom prst="rect">
            <a:avLst/>
          </a:prstGeom>
        </p:spPr>
        <p:txBody>
          <a:bodyPr wrap="square">
            <a:spAutoFit/>
          </a:bodyPr>
          <a:lstStyle/>
          <a:p>
            <a:pPr marL="285750" indent="-285750">
              <a:lnSpc>
                <a:spcPct val="150000"/>
              </a:lnSpc>
              <a:buFont typeface="Arial" panose="020B0604020202020204" pitchFamily="34" charset="0"/>
              <a:buChar char="•"/>
            </a:pPr>
            <a:r>
              <a:rPr lang="en-IN" dirty="0" smtClean="0">
                <a:latin typeface="Sitka Text" pitchFamily="2" charset="0"/>
                <a:ea typeface="Calibri" panose="020F0502020204030204" pitchFamily="34" charset="0"/>
                <a:cs typeface="Times New Roman" panose="02020603050405020304" pitchFamily="18" charset="0"/>
              </a:rPr>
              <a:t>Product </a:t>
            </a:r>
            <a:r>
              <a:rPr lang="en-IN" dirty="0">
                <a:latin typeface="Sitka Text" pitchFamily="2" charset="0"/>
                <a:ea typeface="Calibri" panose="020F0502020204030204" pitchFamily="34" charset="0"/>
                <a:cs typeface="Times New Roman" panose="02020603050405020304" pitchFamily="18" charset="0"/>
              </a:rPr>
              <a:t>recognition, quality </a:t>
            </a:r>
            <a:r>
              <a:rPr lang="en-IN" dirty="0" smtClean="0">
                <a:latin typeface="Sitka Text" pitchFamily="2" charset="0"/>
                <a:ea typeface="Calibri" panose="020F0502020204030204" pitchFamily="34" charset="0"/>
                <a:cs typeface="Times New Roman" panose="02020603050405020304" pitchFamily="18" charset="0"/>
              </a:rPr>
              <a:t>control</a:t>
            </a:r>
          </a:p>
          <a:p>
            <a:pPr marL="285750" indent="-285750">
              <a:lnSpc>
                <a:spcPct val="150000"/>
              </a:lnSpc>
              <a:buFont typeface="Arial" panose="020B0604020202020204" pitchFamily="34" charset="0"/>
              <a:buChar char="•"/>
            </a:pPr>
            <a:r>
              <a:rPr lang="en-IN" dirty="0">
                <a:latin typeface="Sitka Text" pitchFamily="2" charset="0"/>
                <a:ea typeface="Calibri" panose="020F0502020204030204" pitchFamily="34" charset="0"/>
                <a:cs typeface="Times New Roman" panose="02020603050405020304" pitchFamily="18" charset="0"/>
              </a:rPr>
              <a:t>E</a:t>
            </a:r>
            <a:r>
              <a:rPr lang="en-IN" dirty="0" smtClean="0">
                <a:latin typeface="Sitka Text" pitchFamily="2" charset="0"/>
                <a:ea typeface="Calibri" panose="020F0502020204030204" pitchFamily="34" charset="0"/>
                <a:cs typeface="Times New Roman" panose="02020603050405020304" pitchFamily="18" charset="0"/>
              </a:rPr>
              <a:t>nhancing </a:t>
            </a:r>
            <a:r>
              <a:rPr lang="en-IN" dirty="0">
                <a:latin typeface="Sitka Text" pitchFamily="2" charset="0"/>
                <a:ea typeface="Calibri" panose="020F0502020204030204" pitchFamily="34" charset="0"/>
                <a:cs typeface="Times New Roman" panose="02020603050405020304" pitchFamily="18" charset="0"/>
              </a:rPr>
              <a:t>the shopping experience with augmented reality</a:t>
            </a:r>
            <a:endParaRPr lang="en-US" dirty="0"/>
          </a:p>
        </p:txBody>
      </p:sp>
    </p:spTree>
    <p:extLst>
      <p:ext uri="{BB962C8B-B14F-4D97-AF65-F5344CB8AC3E}">
        <p14:creationId xmlns:p14="http://schemas.microsoft.com/office/powerpoint/2010/main" val="32953995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Sitka Subheading Semibold" pitchFamily="2" charset="0"/>
              </a:rPr>
              <a:t>Medical Image Analysis</a:t>
            </a:r>
          </a:p>
        </p:txBody>
      </p:sp>
      <p:pic>
        <p:nvPicPr>
          <p:cNvPr id="3" name="Picture 2"/>
          <p:cNvPicPr>
            <a:picLocks noChangeAspect="1"/>
          </p:cNvPicPr>
          <p:nvPr/>
        </p:nvPicPr>
        <p:blipFill rotWithShape="1">
          <a:blip r:embed="rId3" cstate="print">
            <a:extLst>
              <a:ext uri="{28A0092B-C50C-407E-A947-70E740481C1C}">
                <a14:useLocalDpi xmlns:a14="http://schemas.microsoft.com/office/drawing/2010/main" val="0"/>
              </a:ext>
            </a:extLst>
          </a:blip>
          <a:srcRect l="10614" t="10160" r="10854" b="15127"/>
          <a:stretch/>
        </p:blipFill>
        <p:spPr>
          <a:xfrm>
            <a:off x="1334775" y="4084232"/>
            <a:ext cx="2573781" cy="1836933"/>
          </a:xfrm>
          <a:prstGeom prst="rect">
            <a:avLst/>
          </a:prstGeom>
        </p:spPr>
      </p:pic>
      <p:pic>
        <p:nvPicPr>
          <p:cNvPr id="4" name="Picture 3"/>
          <p:cNvPicPr>
            <a:picLocks noChangeAspect="1"/>
          </p:cNvPicPr>
          <p:nvPr/>
        </p:nvPicPr>
        <p:blipFill rotWithShape="1">
          <a:blip r:embed="rId4" cstate="print">
            <a:extLst>
              <a:ext uri="{28A0092B-C50C-407E-A947-70E740481C1C}">
                <a14:useLocalDpi xmlns:a14="http://schemas.microsoft.com/office/drawing/2010/main" val="0"/>
              </a:ext>
            </a:extLst>
          </a:blip>
          <a:srcRect l="10782" t="10361" r="11409" b="15429"/>
          <a:stretch/>
        </p:blipFill>
        <p:spPr>
          <a:xfrm>
            <a:off x="4055140" y="4113618"/>
            <a:ext cx="2398081" cy="1807547"/>
          </a:xfrm>
          <a:prstGeom prst="rect">
            <a:avLst/>
          </a:prstGeom>
        </p:spPr>
      </p:pic>
      <p:sp>
        <p:nvSpPr>
          <p:cNvPr id="5" name="TextBox 4"/>
          <p:cNvSpPr txBox="1"/>
          <p:nvPr/>
        </p:nvSpPr>
        <p:spPr>
          <a:xfrm>
            <a:off x="1156025" y="5956560"/>
            <a:ext cx="5505061" cy="369332"/>
          </a:xfrm>
          <a:prstGeom prst="rect">
            <a:avLst/>
          </a:prstGeom>
          <a:noFill/>
        </p:spPr>
        <p:txBody>
          <a:bodyPr wrap="square" rtlCol="0">
            <a:spAutoFit/>
          </a:bodyPr>
          <a:lstStyle/>
          <a:p>
            <a:pPr algn="ctr"/>
            <a:r>
              <a:rPr lang="en-IN" dirty="0">
                <a:latin typeface="Sitka Text" pitchFamily="2" charset="0"/>
              </a:rPr>
              <a:t>Retinal vessel segmentation from Fundus images</a:t>
            </a:r>
          </a:p>
        </p:txBody>
      </p:sp>
      <p:pic>
        <p:nvPicPr>
          <p:cNvPr id="6" name="Picture 3" descr="foreign-fig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12584" y="1975573"/>
            <a:ext cx="1855003" cy="1686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4" descr="BrainMRI_Sagittal"/>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10600" y="1975574"/>
            <a:ext cx="1758066" cy="16979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p:cNvSpPr txBox="1"/>
          <p:nvPr/>
        </p:nvSpPr>
        <p:spPr>
          <a:xfrm>
            <a:off x="8279886" y="2114972"/>
            <a:ext cx="3162472" cy="1015663"/>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marL="342900" indent="-342900">
              <a:buFont typeface="Arial" panose="020B0604020202020204" pitchFamily="34" charset="0"/>
              <a:buChar char="•"/>
            </a:pPr>
            <a:r>
              <a:rPr lang="en-IN" sz="2000" dirty="0">
                <a:latin typeface="Sitka Text" pitchFamily="2" charset="0"/>
              </a:rPr>
              <a:t>Disease Diagnosis</a:t>
            </a:r>
          </a:p>
          <a:p>
            <a:pPr marL="342900" indent="-342900">
              <a:buFont typeface="Arial" panose="020B0604020202020204" pitchFamily="34" charset="0"/>
              <a:buChar char="•"/>
            </a:pPr>
            <a:r>
              <a:rPr lang="en-IN" sz="2000" dirty="0">
                <a:latin typeface="Sitka Text" pitchFamily="2" charset="0"/>
              </a:rPr>
              <a:t>Disease Classification</a:t>
            </a:r>
          </a:p>
          <a:p>
            <a:pPr marL="342900" indent="-342900">
              <a:buFont typeface="Arial" panose="020B0604020202020204" pitchFamily="34" charset="0"/>
              <a:buChar char="•"/>
            </a:pPr>
            <a:r>
              <a:rPr lang="en-IN" sz="2000" dirty="0">
                <a:latin typeface="Sitka Text" pitchFamily="2" charset="0"/>
              </a:rPr>
              <a:t>Anomaly Detection</a:t>
            </a:r>
          </a:p>
        </p:txBody>
      </p:sp>
      <p:sp>
        <p:nvSpPr>
          <p:cNvPr id="9" name="TextBox 8"/>
          <p:cNvSpPr txBox="1"/>
          <p:nvPr/>
        </p:nvSpPr>
        <p:spPr>
          <a:xfrm>
            <a:off x="4055140" y="3708891"/>
            <a:ext cx="1950406" cy="369332"/>
          </a:xfrm>
          <a:prstGeom prst="rect">
            <a:avLst/>
          </a:prstGeom>
          <a:noFill/>
        </p:spPr>
        <p:txBody>
          <a:bodyPr wrap="square" rtlCol="0">
            <a:spAutoFit/>
          </a:bodyPr>
          <a:lstStyle/>
          <a:p>
            <a:pPr algn="ctr"/>
            <a:r>
              <a:rPr lang="en-IN" dirty="0">
                <a:latin typeface="Sitka Text" pitchFamily="2" charset="0"/>
              </a:rPr>
              <a:t>MRI</a:t>
            </a:r>
          </a:p>
        </p:txBody>
      </p:sp>
      <p:sp>
        <p:nvSpPr>
          <p:cNvPr id="10" name="TextBox 9"/>
          <p:cNvSpPr txBox="1"/>
          <p:nvPr/>
        </p:nvSpPr>
        <p:spPr>
          <a:xfrm>
            <a:off x="5957126" y="3708891"/>
            <a:ext cx="1950406" cy="369332"/>
          </a:xfrm>
          <a:prstGeom prst="rect">
            <a:avLst/>
          </a:prstGeom>
          <a:noFill/>
        </p:spPr>
        <p:txBody>
          <a:bodyPr wrap="square" rtlCol="0">
            <a:spAutoFit/>
          </a:bodyPr>
          <a:lstStyle/>
          <a:p>
            <a:pPr algn="ctr"/>
            <a:r>
              <a:rPr lang="en-IN" dirty="0">
                <a:latin typeface="Sitka Text" pitchFamily="2" charset="0"/>
              </a:rPr>
              <a:t>CT Scan</a:t>
            </a:r>
          </a:p>
        </p:txBody>
      </p:sp>
      <p:pic>
        <p:nvPicPr>
          <p:cNvPr id="11" name="Picture 10"/>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379351" y="1966415"/>
            <a:ext cx="2542943" cy="1695295"/>
          </a:xfrm>
          <a:prstGeom prst="rect">
            <a:avLst/>
          </a:prstGeom>
        </p:spPr>
      </p:pic>
      <p:sp>
        <p:nvSpPr>
          <p:cNvPr id="13" name="TextBox 12"/>
          <p:cNvSpPr txBox="1"/>
          <p:nvPr/>
        </p:nvSpPr>
        <p:spPr>
          <a:xfrm>
            <a:off x="1737521" y="3710839"/>
            <a:ext cx="1950406" cy="369332"/>
          </a:xfrm>
          <a:prstGeom prst="rect">
            <a:avLst/>
          </a:prstGeom>
          <a:noFill/>
        </p:spPr>
        <p:txBody>
          <a:bodyPr wrap="square" rtlCol="0">
            <a:spAutoFit/>
          </a:bodyPr>
          <a:lstStyle/>
          <a:p>
            <a:pPr algn="ctr"/>
            <a:r>
              <a:rPr lang="en-IN" dirty="0">
                <a:latin typeface="Sitka Text" pitchFamily="2" charset="0"/>
              </a:rPr>
              <a:t>X-ray</a:t>
            </a:r>
          </a:p>
        </p:txBody>
      </p:sp>
      <p:sp>
        <p:nvSpPr>
          <p:cNvPr id="15" name="TextBox 14"/>
          <p:cNvSpPr txBox="1"/>
          <p:nvPr/>
        </p:nvSpPr>
        <p:spPr>
          <a:xfrm>
            <a:off x="8299734" y="5983055"/>
            <a:ext cx="2609512" cy="369332"/>
          </a:xfrm>
          <a:prstGeom prst="rect">
            <a:avLst/>
          </a:prstGeom>
          <a:noFill/>
        </p:spPr>
        <p:txBody>
          <a:bodyPr wrap="square" rtlCol="0">
            <a:spAutoFit/>
          </a:bodyPr>
          <a:lstStyle/>
          <a:p>
            <a:pPr algn="ctr"/>
            <a:r>
              <a:rPr lang="en-IN" dirty="0">
                <a:latin typeface="Sitka Text" pitchFamily="2" charset="0"/>
              </a:rPr>
              <a:t>Skin Cancer Detection</a:t>
            </a:r>
          </a:p>
        </p:txBody>
      </p:sp>
      <p:pic>
        <p:nvPicPr>
          <p:cNvPr id="16" name="Picture 4" descr="cance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8563072" y="3742887"/>
            <a:ext cx="2082837" cy="22780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554260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Sitka Text" pitchFamily="2" charset="0"/>
              </a:rPr>
              <a:t>Model Development</a:t>
            </a:r>
            <a:endParaRPr lang="en-IN" dirty="0">
              <a:latin typeface="Sitka Text" pitchFamily="2" charset="0"/>
            </a:endParaRPr>
          </a:p>
        </p:txBody>
      </p:sp>
      <p:sp>
        <p:nvSpPr>
          <p:cNvPr id="3" name="Content Placeholder 2"/>
          <p:cNvSpPr>
            <a:spLocks noGrp="1"/>
          </p:cNvSpPr>
          <p:nvPr>
            <p:ph idx="1"/>
          </p:nvPr>
        </p:nvSpPr>
        <p:spPr/>
        <p:txBody>
          <a:bodyPr>
            <a:normAutofit/>
          </a:bodyPr>
          <a:lstStyle/>
          <a:p>
            <a:pPr>
              <a:lnSpc>
                <a:spcPct val="150000"/>
              </a:lnSpc>
              <a:buFont typeface="Wingdings" panose="05000000000000000000" pitchFamily="2" charset="2"/>
              <a:buChar char="q"/>
            </a:pPr>
            <a:r>
              <a:rPr lang="en-IN" sz="2000" dirty="0" smtClean="0">
                <a:latin typeface="Sitka Text" pitchFamily="2" charset="0"/>
              </a:rPr>
              <a:t> Data Collection</a:t>
            </a:r>
          </a:p>
          <a:p>
            <a:pPr>
              <a:lnSpc>
                <a:spcPct val="150000"/>
              </a:lnSpc>
              <a:buFont typeface="Wingdings" panose="05000000000000000000" pitchFamily="2" charset="2"/>
              <a:buChar char="q"/>
            </a:pPr>
            <a:r>
              <a:rPr lang="en-IN" sz="2000" dirty="0" smtClean="0">
                <a:latin typeface="Sitka Text" pitchFamily="2" charset="0"/>
              </a:rPr>
              <a:t> Data Pre-processing</a:t>
            </a:r>
          </a:p>
          <a:p>
            <a:pPr>
              <a:lnSpc>
                <a:spcPct val="150000"/>
              </a:lnSpc>
              <a:buFont typeface="Wingdings" panose="05000000000000000000" pitchFamily="2" charset="2"/>
              <a:buChar char="q"/>
            </a:pPr>
            <a:r>
              <a:rPr lang="en-IN" sz="2000" dirty="0" smtClean="0">
                <a:latin typeface="Sitka Text" pitchFamily="2" charset="0"/>
              </a:rPr>
              <a:t> Model Selection</a:t>
            </a:r>
          </a:p>
          <a:p>
            <a:pPr>
              <a:lnSpc>
                <a:spcPct val="150000"/>
              </a:lnSpc>
              <a:buFont typeface="Wingdings" panose="05000000000000000000" pitchFamily="2" charset="2"/>
              <a:buChar char="q"/>
            </a:pPr>
            <a:r>
              <a:rPr lang="en-IN" sz="2000" dirty="0" smtClean="0">
                <a:latin typeface="Sitka Text" pitchFamily="2" charset="0"/>
              </a:rPr>
              <a:t> Training and Validation</a:t>
            </a:r>
          </a:p>
          <a:p>
            <a:pPr>
              <a:lnSpc>
                <a:spcPct val="150000"/>
              </a:lnSpc>
              <a:buFont typeface="Wingdings" panose="05000000000000000000" pitchFamily="2" charset="2"/>
              <a:buChar char="q"/>
            </a:pPr>
            <a:r>
              <a:rPr lang="en-IN" sz="2000" dirty="0" smtClean="0">
                <a:latin typeface="Sitka Text" pitchFamily="2" charset="0"/>
              </a:rPr>
              <a:t> Model Inference</a:t>
            </a:r>
            <a:endParaRPr lang="en-IN" sz="2000" dirty="0">
              <a:latin typeface="Sitka Text" pitchFamily="2" charset="0"/>
            </a:endParaRPr>
          </a:p>
        </p:txBody>
      </p:sp>
    </p:spTree>
    <p:extLst>
      <p:ext uri="{BB962C8B-B14F-4D97-AF65-F5344CB8AC3E}">
        <p14:creationId xmlns:p14="http://schemas.microsoft.com/office/powerpoint/2010/main" val="58789026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Sitka Text" pitchFamily="2" charset="0"/>
              </a:rPr>
              <a:t>Data Collection</a:t>
            </a:r>
            <a:endParaRPr lang="en-US" dirty="0"/>
          </a:p>
        </p:txBody>
      </p:sp>
      <p:sp>
        <p:nvSpPr>
          <p:cNvPr id="3" name="Content Placeholder 2"/>
          <p:cNvSpPr>
            <a:spLocks noGrp="1"/>
          </p:cNvSpPr>
          <p:nvPr>
            <p:ph idx="1"/>
          </p:nvPr>
        </p:nvSpPr>
        <p:spPr/>
        <p:txBody>
          <a:bodyPr>
            <a:normAutofit/>
          </a:bodyPr>
          <a:lstStyle/>
          <a:p>
            <a:pPr>
              <a:lnSpc>
                <a:spcPct val="200000"/>
              </a:lnSpc>
            </a:pPr>
            <a:r>
              <a:rPr lang="en-US" sz="2000" dirty="0">
                <a:latin typeface="Sitka Text" pitchFamily="2" charset="0"/>
              </a:rPr>
              <a:t>Large dataset</a:t>
            </a:r>
          </a:p>
          <a:p>
            <a:pPr>
              <a:lnSpc>
                <a:spcPct val="200000"/>
              </a:lnSpc>
            </a:pPr>
            <a:r>
              <a:rPr lang="en-US" sz="2000" dirty="0">
                <a:latin typeface="Sitka Text" pitchFamily="2" charset="0"/>
              </a:rPr>
              <a:t>Diverse</a:t>
            </a:r>
          </a:p>
          <a:p>
            <a:pPr>
              <a:lnSpc>
                <a:spcPct val="200000"/>
              </a:lnSpc>
            </a:pPr>
            <a:r>
              <a:rPr lang="en-US" sz="2000" dirty="0">
                <a:latin typeface="Sitka Text" pitchFamily="2" charset="0"/>
              </a:rPr>
              <a:t>Problem Dependent</a:t>
            </a:r>
          </a:p>
          <a:p>
            <a:endParaRPr lang="en-US" sz="2000" dirty="0"/>
          </a:p>
        </p:txBody>
      </p:sp>
    </p:spTree>
    <p:extLst>
      <p:ext uri="{BB962C8B-B14F-4D97-AF65-F5344CB8AC3E}">
        <p14:creationId xmlns:p14="http://schemas.microsoft.com/office/powerpoint/2010/main" val="35423654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Sitka Text" pitchFamily="2" charset="0"/>
              </a:rPr>
              <a:t>Data </a:t>
            </a:r>
            <a:r>
              <a:rPr lang="en-IN" dirty="0" smtClean="0">
                <a:latin typeface="Sitka Text" pitchFamily="2" charset="0"/>
              </a:rPr>
              <a:t>Pre-processing</a:t>
            </a:r>
            <a:endParaRPr lang="en-US" dirty="0"/>
          </a:p>
        </p:txBody>
      </p:sp>
      <p:sp>
        <p:nvSpPr>
          <p:cNvPr id="3" name="Content Placeholder 2"/>
          <p:cNvSpPr>
            <a:spLocks noGrp="1"/>
          </p:cNvSpPr>
          <p:nvPr>
            <p:ph idx="1"/>
          </p:nvPr>
        </p:nvSpPr>
        <p:spPr>
          <a:xfrm>
            <a:off x="838200" y="1825625"/>
            <a:ext cx="10515600" cy="4238291"/>
          </a:xfrm>
        </p:spPr>
        <p:txBody>
          <a:bodyPr/>
          <a:lstStyle/>
          <a:p>
            <a:pPr>
              <a:lnSpc>
                <a:spcPct val="150000"/>
              </a:lnSpc>
            </a:pPr>
            <a:r>
              <a:rPr lang="en-IN" sz="2000" dirty="0">
                <a:latin typeface="Sitka Text" pitchFamily="2" charset="0"/>
              </a:rPr>
              <a:t>Noise </a:t>
            </a:r>
            <a:r>
              <a:rPr lang="en-IN" sz="2000" dirty="0" smtClean="0">
                <a:latin typeface="Sitka Text" pitchFamily="2" charset="0"/>
              </a:rPr>
              <a:t>removal</a:t>
            </a:r>
          </a:p>
          <a:p>
            <a:pPr>
              <a:lnSpc>
                <a:spcPct val="150000"/>
              </a:lnSpc>
            </a:pPr>
            <a:r>
              <a:rPr lang="en-US" sz="2000" dirty="0">
                <a:latin typeface="Sitka Text" pitchFamily="2" charset="0"/>
              </a:rPr>
              <a:t>Restoration</a:t>
            </a:r>
            <a:endParaRPr lang="en-IN" sz="2000" dirty="0">
              <a:latin typeface="Sitka Text" pitchFamily="2" charset="0"/>
            </a:endParaRPr>
          </a:p>
          <a:p>
            <a:pPr>
              <a:lnSpc>
                <a:spcPct val="150000"/>
              </a:lnSpc>
            </a:pPr>
            <a:r>
              <a:rPr lang="en-IN" sz="2000" dirty="0" smtClean="0">
                <a:latin typeface="Sitka Text" pitchFamily="2" charset="0"/>
              </a:rPr>
              <a:t>Normalization/Standardization</a:t>
            </a:r>
          </a:p>
          <a:p>
            <a:pPr>
              <a:lnSpc>
                <a:spcPct val="150000"/>
              </a:lnSpc>
            </a:pPr>
            <a:r>
              <a:rPr lang="en-IN" sz="2000" dirty="0" smtClean="0">
                <a:latin typeface="Sitka Text" pitchFamily="2" charset="0"/>
              </a:rPr>
              <a:t>One-hot encoding</a:t>
            </a:r>
            <a:endParaRPr lang="en-IN" sz="2000" dirty="0">
              <a:latin typeface="Sitka Text" pitchFamily="2" charset="0"/>
            </a:endParaRPr>
          </a:p>
          <a:p>
            <a:pPr>
              <a:lnSpc>
                <a:spcPct val="150000"/>
              </a:lnSpc>
            </a:pPr>
            <a:endParaRPr lang="en-US" dirty="0"/>
          </a:p>
        </p:txBody>
      </p:sp>
    </p:spTree>
    <p:extLst>
      <p:ext uri="{BB962C8B-B14F-4D97-AF65-F5344CB8AC3E}">
        <p14:creationId xmlns:p14="http://schemas.microsoft.com/office/powerpoint/2010/main" val="26751159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Sitka Text" pitchFamily="2" charset="0"/>
              </a:rPr>
              <a:t>Train, Validation and Test </a:t>
            </a:r>
            <a:r>
              <a:rPr lang="en-IN" dirty="0" smtClean="0">
                <a:latin typeface="Sitka Text" pitchFamily="2" charset="0"/>
              </a:rPr>
              <a:t>split</a:t>
            </a:r>
            <a:endParaRPr lang="en-US" dirty="0"/>
          </a:p>
        </p:txBody>
      </p:sp>
      <p:sp>
        <p:nvSpPr>
          <p:cNvPr id="4" name="Flowchart: Magnetic Disk 3"/>
          <p:cNvSpPr/>
          <p:nvPr/>
        </p:nvSpPr>
        <p:spPr>
          <a:xfrm>
            <a:off x="1468303" y="3053102"/>
            <a:ext cx="1937084" cy="2093494"/>
          </a:xfrm>
          <a:prstGeom prst="flowChartMagneticDisk">
            <a:avLst/>
          </a:prstGeom>
          <a:solidFill>
            <a:schemeClr val="accent6">
              <a:lumMod val="40000"/>
              <a:lumOff val="6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latin typeface="Sitka Text" pitchFamily="2" charset="0"/>
              </a:rPr>
              <a:t>Dataset</a:t>
            </a:r>
            <a:endParaRPr lang="en-US" dirty="0">
              <a:solidFill>
                <a:schemeClr val="tx1"/>
              </a:solidFill>
              <a:latin typeface="Sitka Text" pitchFamily="2" charset="0"/>
            </a:endParaRPr>
          </a:p>
        </p:txBody>
      </p:sp>
      <p:sp>
        <p:nvSpPr>
          <p:cNvPr id="5" name="Flowchart: Magnetic Disk 4"/>
          <p:cNvSpPr/>
          <p:nvPr/>
        </p:nvSpPr>
        <p:spPr>
          <a:xfrm>
            <a:off x="4733872" y="2145595"/>
            <a:ext cx="1457826" cy="1561849"/>
          </a:xfrm>
          <a:prstGeom prst="flowChartMagneticDisk">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latin typeface="Sitka Text" pitchFamily="2" charset="0"/>
              </a:rPr>
              <a:t>Train-Val</a:t>
            </a:r>
            <a:endParaRPr lang="en-US" dirty="0">
              <a:solidFill>
                <a:schemeClr val="tx1"/>
              </a:solidFill>
            </a:endParaRPr>
          </a:p>
        </p:txBody>
      </p:sp>
      <p:sp>
        <p:nvSpPr>
          <p:cNvPr id="6" name="Flowchart: Magnetic Disk 5"/>
          <p:cNvSpPr/>
          <p:nvPr/>
        </p:nvSpPr>
        <p:spPr>
          <a:xfrm>
            <a:off x="4983526" y="4996411"/>
            <a:ext cx="958517" cy="1176839"/>
          </a:xfrm>
          <a:prstGeom prst="flowChartMagneticDisk">
            <a:avLst/>
          </a:prstGeom>
          <a:solidFill>
            <a:schemeClr val="accent2">
              <a:lumMod val="60000"/>
              <a:lumOff val="4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latin typeface="Sitka Text" pitchFamily="2" charset="0"/>
              </a:rPr>
              <a:t>Test</a:t>
            </a:r>
            <a:endParaRPr lang="en-US" dirty="0">
              <a:solidFill>
                <a:schemeClr val="tx1"/>
              </a:solidFill>
            </a:endParaRPr>
          </a:p>
        </p:txBody>
      </p:sp>
    </p:spTree>
    <p:extLst>
      <p:ext uri="{BB962C8B-B14F-4D97-AF65-F5344CB8AC3E}">
        <p14:creationId xmlns:p14="http://schemas.microsoft.com/office/powerpoint/2010/main" val="13884218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Sitka Text" pitchFamily="2" charset="0"/>
              </a:rPr>
              <a:t>Data </a:t>
            </a:r>
            <a:r>
              <a:rPr lang="en-IN" dirty="0" smtClean="0">
                <a:latin typeface="Sitka Text" pitchFamily="2" charset="0"/>
              </a:rPr>
              <a:t>augmentation</a:t>
            </a:r>
            <a:endParaRPr lang="en-US" dirty="0"/>
          </a:p>
        </p:txBody>
      </p:sp>
      <p:sp>
        <p:nvSpPr>
          <p:cNvPr id="3" name="Content Placeholder 2"/>
          <p:cNvSpPr>
            <a:spLocks noGrp="1"/>
          </p:cNvSpPr>
          <p:nvPr>
            <p:ph idx="1"/>
          </p:nvPr>
        </p:nvSpPr>
        <p:spPr/>
        <p:txBody>
          <a:bodyPr>
            <a:normAutofit/>
          </a:bodyPr>
          <a:lstStyle/>
          <a:p>
            <a:pPr>
              <a:lnSpc>
                <a:spcPct val="200000"/>
              </a:lnSpc>
            </a:pPr>
            <a:r>
              <a:rPr lang="en-US" sz="2000" dirty="0">
                <a:latin typeface="Sitka Text" pitchFamily="2" charset="0"/>
              </a:rPr>
              <a:t>Geometric transformations</a:t>
            </a:r>
          </a:p>
          <a:p>
            <a:pPr>
              <a:lnSpc>
                <a:spcPct val="200000"/>
              </a:lnSpc>
            </a:pPr>
            <a:r>
              <a:rPr lang="en-US" sz="2000" dirty="0">
                <a:latin typeface="Sitka Text" pitchFamily="2" charset="0"/>
              </a:rPr>
              <a:t>Color space transformations</a:t>
            </a:r>
          </a:p>
          <a:p>
            <a:pPr>
              <a:lnSpc>
                <a:spcPct val="200000"/>
              </a:lnSpc>
            </a:pPr>
            <a:r>
              <a:rPr lang="en-US" sz="2000" dirty="0">
                <a:latin typeface="Sitka Text" pitchFamily="2" charset="0"/>
              </a:rPr>
              <a:t>Filtering</a:t>
            </a:r>
          </a:p>
          <a:p>
            <a:pPr>
              <a:lnSpc>
                <a:spcPct val="200000"/>
              </a:lnSpc>
            </a:pPr>
            <a:r>
              <a:rPr lang="en-US" sz="2000" dirty="0">
                <a:latin typeface="Sitka Text" pitchFamily="2" charset="0"/>
              </a:rPr>
              <a:t>Generative adversarial networks</a:t>
            </a:r>
          </a:p>
          <a:p>
            <a:endParaRPr lang="en-US" sz="2000" dirty="0"/>
          </a:p>
        </p:txBody>
      </p:sp>
      <p:pic>
        <p:nvPicPr>
          <p:cNvPr id="4" name="Picture 3"/>
          <p:cNvPicPr>
            <a:picLocks noChangeAspect="1"/>
          </p:cNvPicPr>
          <p:nvPr/>
        </p:nvPicPr>
        <p:blipFill rotWithShape="1">
          <a:blip r:embed="rId3"/>
          <a:srcRect l="552" t="1853"/>
          <a:stretch/>
        </p:blipFill>
        <p:spPr>
          <a:xfrm>
            <a:off x="5570622" y="2093494"/>
            <a:ext cx="6404257" cy="3992379"/>
          </a:xfrm>
          <a:prstGeom prst="rect">
            <a:avLst/>
          </a:prstGeom>
        </p:spPr>
      </p:pic>
    </p:spTree>
    <p:extLst>
      <p:ext uri="{BB962C8B-B14F-4D97-AF65-F5344CB8AC3E}">
        <p14:creationId xmlns:p14="http://schemas.microsoft.com/office/powerpoint/2010/main" val="388835780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153654"/>
            <a:ext cx="10515600" cy="2063666"/>
          </a:xfrm>
        </p:spPr>
        <p:txBody>
          <a:bodyPr>
            <a:normAutofit fontScale="90000"/>
          </a:bodyPr>
          <a:lstStyle/>
          <a:p>
            <a:pPr algn="ctr"/>
            <a:r>
              <a:rPr lang="en-US" sz="5400" dirty="0" smtClean="0">
                <a:latin typeface="Sitka Text" pitchFamily="2" charset="0"/>
              </a:rPr>
              <a:t>Case Study </a:t>
            </a:r>
            <a:r>
              <a:rPr lang="en-US" sz="5400" dirty="0">
                <a:latin typeface="Sitka Text" pitchFamily="2" charset="0"/>
              </a:rPr>
              <a:t>1</a:t>
            </a:r>
            <a:br>
              <a:rPr lang="en-US" sz="5400" dirty="0">
                <a:latin typeface="Sitka Text" pitchFamily="2" charset="0"/>
              </a:rPr>
            </a:br>
            <a:r>
              <a:rPr lang="en-US" sz="5400" dirty="0">
                <a:latin typeface="Sitka Text" pitchFamily="2" charset="0"/>
              </a:rPr>
              <a:t>Retail / E-commerce – Visual Product Categorization</a:t>
            </a:r>
            <a:endParaRPr lang="en-US" sz="5400" dirty="0"/>
          </a:p>
        </p:txBody>
      </p:sp>
    </p:spTree>
    <p:extLst>
      <p:ext uri="{BB962C8B-B14F-4D97-AF65-F5344CB8AC3E}">
        <p14:creationId xmlns:p14="http://schemas.microsoft.com/office/powerpoint/2010/main" val="1421418546"/>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Sitka Text" pitchFamily="2" charset="0"/>
              </a:rPr>
              <a:t>Dataset</a:t>
            </a:r>
            <a:endParaRPr lang="en-US" dirty="0">
              <a:latin typeface="Sitka Text" pitchFamily="2" charset="0"/>
            </a:endParaRPr>
          </a:p>
        </p:txBody>
      </p:sp>
      <p:sp>
        <p:nvSpPr>
          <p:cNvPr id="3" name="Content Placeholder 2"/>
          <p:cNvSpPr>
            <a:spLocks noGrp="1"/>
          </p:cNvSpPr>
          <p:nvPr>
            <p:ph idx="1"/>
          </p:nvPr>
        </p:nvSpPr>
        <p:spPr/>
        <p:txBody>
          <a:bodyPr>
            <a:normAutofit/>
          </a:bodyPr>
          <a:lstStyle/>
          <a:p>
            <a:r>
              <a:rPr lang="en-US" sz="2000" dirty="0" smtClean="0">
                <a:latin typeface="Sitka Text" pitchFamily="2" charset="0"/>
              </a:rPr>
              <a:t>fashion-products-small</a:t>
            </a:r>
          </a:p>
          <a:p>
            <a:r>
              <a:rPr lang="en-US" sz="2000" dirty="0" smtClean="0">
                <a:latin typeface="Sitka Text" pitchFamily="2" charset="0"/>
              </a:rPr>
              <a:t>Hugging Face: </a:t>
            </a:r>
            <a:r>
              <a:rPr lang="en-US" sz="2000" dirty="0" smtClean="0">
                <a:latin typeface="Sitka Text" pitchFamily="2" charset="0"/>
                <a:hlinkClick r:id="rId3"/>
              </a:rPr>
              <a:t>https://huggingface.co/datasets/ceyda/fashion-products-small</a:t>
            </a:r>
            <a:endParaRPr lang="en-US" sz="2000" dirty="0" smtClean="0">
              <a:latin typeface="Sitka Text" pitchFamily="2" charset="0"/>
            </a:endParaRPr>
          </a:p>
          <a:p>
            <a:r>
              <a:rPr lang="en-US" sz="2000" dirty="0" smtClean="0">
                <a:latin typeface="Sitka Text" pitchFamily="2" charset="0"/>
              </a:rPr>
              <a:t>Original </a:t>
            </a:r>
            <a:r>
              <a:rPr lang="en-US" sz="2000" dirty="0">
                <a:latin typeface="Sitka Text" pitchFamily="2" charset="0"/>
              </a:rPr>
              <a:t>S</a:t>
            </a:r>
            <a:r>
              <a:rPr lang="en-US" sz="2000" dirty="0" smtClean="0">
                <a:latin typeface="Sitka Text" pitchFamily="2" charset="0"/>
              </a:rPr>
              <a:t>ource: </a:t>
            </a:r>
            <a:r>
              <a:rPr lang="en-US" sz="2000" u="sng" dirty="0" smtClean="0">
                <a:latin typeface="Sitka Text" pitchFamily="2" charset="0"/>
                <a:hlinkClick r:id="rId4"/>
              </a:rPr>
              <a:t>https</a:t>
            </a:r>
            <a:r>
              <a:rPr lang="en-US" sz="2000" u="sng" dirty="0">
                <a:latin typeface="Sitka Text" pitchFamily="2" charset="0"/>
                <a:hlinkClick r:id="rId4"/>
              </a:rPr>
              <a:t>://</a:t>
            </a:r>
            <a:r>
              <a:rPr lang="en-US" sz="2000" u="sng" dirty="0" smtClean="0">
                <a:latin typeface="Sitka Text" pitchFamily="2" charset="0"/>
                <a:hlinkClick r:id="rId4"/>
              </a:rPr>
              <a:t>www.kaggle.com/datasets/paramaggarwal/fashion-product-images-dataset</a:t>
            </a:r>
            <a:endParaRPr lang="en-US" sz="2000" u="sng" dirty="0" smtClean="0">
              <a:latin typeface="Sitka Text" pitchFamily="2" charset="0"/>
            </a:endParaRPr>
          </a:p>
          <a:p>
            <a:r>
              <a:rPr lang="en-US" sz="2000" u="sng" dirty="0" smtClean="0">
                <a:latin typeface="Sitka Text" pitchFamily="2" charset="0"/>
              </a:rPr>
              <a:t>Total number of Images: ~42.7K</a:t>
            </a:r>
          </a:p>
          <a:p>
            <a:r>
              <a:rPr lang="en-US" sz="2000" u="sng" dirty="0" smtClean="0">
                <a:latin typeface="Sitka Text" pitchFamily="2" charset="0"/>
              </a:rPr>
              <a:t>Categories/Classes</a:t>
            </a:r>
          </a:p>
          <a:p>
            <a:pPr lvl="1"/>
            <a:r>
              <a:rPr lang="en-US" sz="1600" dirty="0" err="1" smtClean="0">
                <a:latin typeface="Sitka Text" pitchFamily="2" charset="0"/>
              </a:rPr>
              <a:t>Mastercategory</a:t>
            </a:r>
            <a:r>
              <a:rPr lang="en-US" sz="1600" dirty="0" smtClean="0">
                <a:latin typeface="Sitka Text" pitchFamily="2" charset="0"/>
              </a:rPr>
              <a:t>: high-level category like apparel, footwear, accessories</a:t>
            </a:r>
          </a:p>
          <a:p>
            <a:pPr lvl="1"/>
            <a:r>
              <a:rPr lang="en-US" sz="1600" dirty="0" smtClean="0">
                <a:latin typeface="Sitka Text" pitchFamily="2" charset="0"/>
              </a:rPr>
              <a:t>Gender: men, women, unisex</a:t>
            </a:r>
          </a:p>
          <a:p>
            <a:pPr lvl="1"/>
            <a:r>
              <a:rPr lang="en-US" sz="1600" dirty="0" smtClean="0">
                <a:latin typeface="Sitka Text" pitchFamily="2" charset="0"/>
              </a:rPr>
              <a:t>Subcategory: more specific category like </a:t>
            </a:r>
            <a:r>
              <a:rPr lang="en-US" sz="1600" dirty="0" err="1" smtClean="0">
                <a:latin typeface="Sitka Text" pitchFamily="2" charset="0"/>
              </a:rPr>
              <a:t>topwear</a:t>
            </a:r>
            <a:r>
              <a:rPr lang="en-US" sz="1600" dirty="0" smtClean="0">
                <a:latin typeface="Sitka Text" pitchFamily="2" charset="0"/>
              </a:rPr>
              <a:t>, </a:t>
            </a:r>
            <a:r>
              <a:rPr lang="en-US" sz="1600" dirty="0" err="1" smtClean="0">
                <a:latin typeface="Sitka Text" pitchFamily="2" charset="0"/>
              </a:rPr>
              <a:t>bottomwear</a:t>
            </a:r>
            <a:r>
              <a:rPr lang="en-US" sz="1600" dirty="0" smtClean="0">
                <a:latin typeface="Sitka Text" pitchFamily="2" charset="0"/>
              </a:rPr>
              <a:t>, watches, shoes</a:t>
            </a:r>
            <a:endParaRPr lang="en-US" sz="1600" dirty="0">
              <a:latin typeface="Sitka Text" pitchFamily="2" charset="0"/>
            </a:endParaRPr>
          </a:p>
        </p:txBody>
      </p:sp>
    </p:spTree>
    <p:extLst>
      <p:ext uri="{BB962C8B-B14F-4D97-AF65-F5344CB8AC3E}">
        <p14:creationId xmlns:p14="http://schemas.microsoft.com/office/powerpoint/2010/main" val="1858096365"/>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3"/>
          <a:stretch>
            <a:fillRect/>
          </a:stretch>
        </p:blipFill>
        <p:spPr>
          <a:xfrm>
            <a:off x="6383389" y="264130"/>
            <a:ext cx="2011503" cy="2682004"/>
          </a:xfrm>
          <a:prstGeom prst="rect">
            <a:avLst/>
          </a:prstGeom>
        </p:spPr>
      </p:pic>
      <p:sp>
        <p:nvSpPr>
          <p:cNvPr id="2" name="Title 1"/>
          <p:cNvSpPr>
            <a:spLocks noGrp="1"/>
          </p:cNvSpPr>
          <p:nvPr>
            <p:ph type="title"/>
          </p:nvPr>
        </p:nvSpPr>
        <p:spPr>
          <a:xfrm>
            <a:off x="762298" y="243504"/>
            <a:ext cx="10515600" cy="1325563"/>
          </a:xfrm>
        </p:spPr>
        <p:txBody>
          <a:bodyPr/>
          <a:lstStyle/>
          <a:p>
            <a:r>
              <a:rPr lang="en-US" dirty="0" smtClean="0">
                <a:latin typeface="Sitka Text" pitchFamily="2" charset="0"/>
              </a:rPr>
              <a:t>Dataset</a:t>
            </a:r>
            <a:endParaRPr lang="en-US" dirty="0">
              <a:latin typeface="Sitka Text" pitchFamily="2" charset="0"/>
            </a:endParaRPr>
          </a:p>
        </p:txBody>
      </p:sp>
      <p:sp>
        <p:nvSpPr>
          <p:cNvPr id="7" name="TextBox 6"/>
          <p:cNvSpPr txBox="1"/>
          <p:nvPr/>
        </p:nvSpPr>
        <p:spPr>
          <a:xfrm>
            <a:off x="5418693" y="2950223"/>
            <a:ext cx="2606743" cy="369332"/>
          </a:xfrm>
          <a:prstGeom prst="rect">
            <a:avLst/>
          </a:prstGeom>
          <a:noFill/>
        </p:spPr>
        <p:txBody>
          <a:bodyPr wrap="square" rtlCol="0">
            <a:spAutoFit/>
          </a:bodyPr>
          <a:lstStyle/>
          <a:p>
            <a:r>
              <a:rPr lang="en-US" dirty="0" smtClean="0">
                <a:latin typeface="Sitka Text" pitchFamily="2" charset="0"/>
              </a:rPr>
              <a:t>Sporting Goods</a:t>
            </a:r>
            <a:endParaRPr lang="en-US" dirty="0">
              <a:latin typeface="Sitka Text" pitchFamily="2" charset="0"/>
            </a:endParaRPr>
          </a:p>
        </p:txBody>
      </p:sp>
      <p:pic>
        <p:nvPicPr>
          <p:cNvPr id="1030" name="Picture 6" descr="https://datasets-server.huggingface.co/assets/ceyda/fashion-products-small/--/default/train/9/image/image.jpg?Expires=1768289120&amp;Signature=aN-n8NMjYMrWMlqoWIAbd1NZiHTM7O0l~VHb8wNazjTnjdf2NO0YcJaYfL0zPh28UqOcr1iPbfH1PKccgMHvlFFz0KGGRlFdVTUdd-p-xCu0mv~Pt7oTWllc9pK~rk6vlcQ~24BIHe2k8RW4GuKNSauNQx88qTgKUqo7LLqJJeftnkH5shgfpeY-sPNAGkvo8oqnpUWrgNuppjgamI252O6YhpbadUulcGc9jYNz6UxLpKJeSww6l7Kb0PksO5Z53UV-YJ9CkudzyES3KPE983BPWgukf4kLn-AkLVeOIVcERyoKrB8Y9LBYdRmk7Q4AAPPG1odMncFTSIs5hDppzQ__&amp;Key-Pair-Id=K3EI6M078Z3AC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27635" y="154505"/>
            <a:ext cx="1987111" cy="2649482"/>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https://datasets-server.huggingface.co/assets/ceyda/fashion-products-small/--/default/train/19/image/image.jpg?Expires=1768289120&amp;Signature=Z65e0Y9SrFMc~bKEZvBD1uRp~kLAyV7fyx24llj5wseVEeV4LcIaUbOGq~GtXBypZAD-lB7j8a~-W9wtUoPbJzGMDwr3GsSIitwXV4x2zxFzUYRfsDrlwsADGwZ-disXFY-AoHrpZT8W7l0IVI7MdwfGcii4w7wENY1LPH19hM7o2z8ZVEPKa7CKlQk4t1TWnVGE-~knlpUm-Io1uo7y8Dc1SbywJe7aPY170W-cilBH0IVsxr4w985EwYTjToSE3ikqGfN4IjGh5JbDTJSGHDJCwcZeBhEoDxoqt1r2~fZX9vccLJZsxWXSpsRv7D1ftKu3Sd7NufWk45adpY5a~w__&amp;Key-Pair-Id=K3EI6M078Z3AC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280291" y="319062"/>
            <a:ext cx="1893595" cy="2649482"/>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p:cNvSpPr txBox="1"/>
          <p:nvPr/>
        </p:nvSpPr>
        <p:spPr>
          <a:xfrm>
            <a:off x="9980598" y="2447957"/>
            <a:ext cx="1268296" cy="369332"/>
          </a:xfrm>
          <a:prstGeom prst="rect">
            <a:avLst/>
          </a:prstGeom>
          <a:noFill/>
        </p:spPr>
        <p:txBody>
          <a:bodyPr wrap="none" rtlCol="0">
            <a:spAutoFit/>
          </a:bodyPr>
          <a:lstStyle/>
          <a:p>
            <a:r>
              <a:rPr lang="en-US" dirty="0"/>
              <a:t>Accessories</a:t>
            </a:r>
            <a:endParaRPr lang="en-US" dirty="0">
              <a:latin typeface="Sitka Text" pitchFamily="2" charset="0"/>
            </a:endParaRPr>
          </a:p>
        </p:txBody>
      </p:sp>
      <p:pic>
        <p:nvPicPr>
          <p:cNvPr id="2052" name="Picture 4" descr="https://datasets-server.huggingface.co/assets/ceyda/fashion-products-small/--/default/train/24/image/image.jpg?Expires=1768299753&amp;Signature=VzfDrGwP2h4cGu-A6QiSgPamiVsdg3Haph8nff8iGN8dt7D6hjm3ae3cMKZYroHWpB3R-oE4n-nTnotr6bSGwY66C6MXsZjUTY6xPPohkK9zsXmvB489BdUdlHUKtFqY9T5xrxSvBWd4seKkDTmVGc2j7SbiHWbPscoE5kinA5fA5JTbT-9RNNyAJ2gSqrV~AG-S3ZMUIQpjz1Z6vYXkKeqcFU3Rt9mah5MIOUvQ6dtq4DAHgYycUrGTrJEjp7yAYE8BsZBsJxYz9tYJfpuOEepz~T-HKgTH4~oNdz3RoZV-EJ3Gy72~2VJzBpN47yeVsyFSJIh4F3yBIJUWeTP6hw__&amp;Key-Pair-Id=K3EI6M078Z3AC3"/>
          <p:cNvPicPr>
            <a:picLocks noChangeAspect="1" noChangeArrowheads="1"/>
          </p:cNvPicPr>
          <p:nvPr/>
        </p:nvPicPr>
        <p:blipFill rotWithShape="1">
          <a:blip r:embed="rId6">
            <a:extLst>
              <a:ext uri="{28A0092B-C50C-407E-A947-70E740481C1C}">
                <a14:useLocalDpi xmlns:a14="http://schemas.microsoft.com/office/drawing/2010/main" val="0"/>
              </a:ext>
            </a:extLst>
          </a:blip>
          <a:srcRect l="30369" t="27261" r="30463" b="12195"/>
          <a:stretch/>
        </p:blipFill>
        <p:spPr bwMode="auto">
          <a:xfrm>
            <a:off x="481263" y="4235116"/>
            <a:ext cx="986590" cy="2033338"/>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https://datasets-server.huggingface.co/cached-assets/ceyda/fashion-products-small/--/ef520080129df6ec7fda0df347b5f7eacdf0dc1c/--/default/train/210/image/image.jpg?Expires=1768300032&amp;Signature=xvXHn0BDfcvT5qqAnSR3I9hfIWxz4e7Qevfvu~NEO77MMdulGACcsS6aK4cHojJwUmAK-zdSQjagZgQtJQNb5v1S6lo1s0S2o93R6rz7f-4QzrILLuvypNNJiAfOV~~gVqLA7V9s83TFE1rFYRw4wvoVittTrQGCI-1ZaYECp8Rm0CBAZYbLKhW1GcSRYtDcE2F91GuhqtM463zz2~L8kqpOPHsmhFvpr4rd~1tiBN5~HqM0FwRR0XkaMApISl297xHTPIMS~ewQqNy4RuAUvGXDW-q7S3GnOclf-fHEDj3T0eBewZYk~Z~B02h07~jCqXhteNBPbUpmQIoZd7Qu1w__&amp;Key-Pair-Id=K3EI6M078Z3AC3"/>
          <p:cNvPicPr>
            <a:picLocks noChangeAspect="1" noChangeArrowheads="1"/>
          </p:cNvPicPr>
          <p:nvPr/>
        </p:nvPicPr>
        <p:blipFill rotWithShape="1">
          <a:blip r:embed="rId7">
            <a:extLst>
              <a:ext uri="{28A0092B-C50C-407E-A947-70E740481C1C}">
                <a14:useLocalDpi xmlns:a14="http://schemas.microsoft.com/office/drawing/2010/main" val="0"/>
              </a:ext>
            </a:extLst>
          </a:blip>
          <a:srcRect l="31722" b="15727"/>
          <a:stretch/>
        </p:blipFill>
        <p:spPr bwMode="auto">
          <a:xfrm>
            <a:off x="1292509" y="4002710"/>
            <a:ext cx="1356442" cy="2232269"/>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762298" y="6480035"/>
            <a:ext cx="1680268" cy="369332"/>
          </a:xfrm>
          <a:prstGeom prst="rect">
            <a:avLst/>
          </a:prstGeom>
        </p:spPr>
        <p:txBody>
          <a:bodyPr wrap="none">
            <a:spAutoFit/>
          </a:bodyPr>
          <a:lstStyle/>
          <a:p>
            <a:r>
              <a:rPr lang="en-US" b="0" i="0" dirty="0" smtClean="0">
                <a:effectLst/>
                <a:latin typeface="Sitka Text" pitchFamily="2" charset="0"/>
              </a:rPr>
              <a:t>Personal Care</a:t>
            </a:r>
            <a:endParaRPr lang="en-US" dirty="0">
              <a:latin typeface="Sitka Text" pitchFamily="2" charset="0"/>
            </a:endParaRPr>
          </a:p>
        </p:txBody>
      </p:sp>
      <p:pic>
        <p:nvPicPr>
          <p:cNvPr id="1028" name="Picture 4" descr="https://datasets-server.huggingface.co/assets/ceyda/fashion-products-small/--/default/train/1/image/image.jpg?Expires=1768289120&amp;Signature=bHEIL6XyUgZMp5yAgcPJjD31j06YuIylfjqhY0tdFNpf1DTn1-58qDksTbHPdxdpQu7rqWOggrtofoOrbN8xAvAPuFOlQmGBluqBi~ObL3rx-CJiDB2TUR4IOwQpnwhPPb8j67Kcp~wtz7hatnYwVO9ug2UELol8-cDZ2l1BJfUwwD79ukC-o-ofDzro8bdPOTkh5OEniAcdHimFtUHbx4FdKqR16sbcy49yocpU4lWTFJhalwyWxuRWMF7iXIfRADTpU6HKYTUK325o7e4OZty9tiqUkOxZ-oOVkVnCuSIiIqgIfjbt1F1qgghrvHFQ5senTgJXlGVkfGOwFE~l~g__&amp;Key-Pair-Id=K3EI6M078Z3AC3"/>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2094157" y="1379511"/>
            <a:ext cx="1541168" cy="2054891"/>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https://datasets-server.huggingface.co/assets/ceyda/fashion-products-small/--/default/train/10/image/image.jpg?Expires=1768299753&amp;Signature=oafLEEfPRwfE7msE7c8Y6exh0SW~wpB2eNenjPN9StTT~pudrtDzNL~15pgxuUgEk4EooIoe18oU4Q1l8cJfCLtfh7J6~AWap5ZZP9DIeDJ6vjQNI9341qG6Fo44pS5lzoKD~cAu~2iJQ5v9-9I2k4z5IO7AG9xE-SHYckp4uHGaHfRqZ~9Ljp5MymiotrqSShVwXVRw3ONf~4Rj3B1tfI3PKRhvHbST3RIkn3JhWNoPN-xYqJ3yGXWrNowmq18gDwuk1L56iHJtKcKgsQzCW79CtA1CUem-pe-3YnsXdQ-CMT9DxHAzAnEqg1RRRArgJmtBpVnyA9x2dYxO~d~k7A__&amp;Key-Pair-Id=K3EI6M078Z3AC3"/>
          <p:cNvPicPr>
            <a:picLocks noChangeAspect="1" noChangeArrowheads="1"/>
          </p:cNvPicPr>
          <p:nvPr/>
        </p:nvPicPr>
        <p:blipFill rotWithShape="1">
          <a:blip r:embed="rId9">
            <a:extLst>
              <a:ext uri="{28A0092B-C50C-407E-A947-70E740481C1C}">
                <a14:useLocalDpi xmlns:a14="http://schemas.microsoft.com/office/drawing/2010/main" val="0"/>
              </a:ext>
            </a:extLst>
          </a:blip>
          <a:srcRect b="28505"/>
          <a:stretch/>
        </p:blipFill>
        <p:spPr bwMode="auto">
          <a:xfrm>
            <a:off x="10173011" y="4556433"/>
            <a:ext cx="1966975" cy="1875062"/>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p:cNvPicPr>
            <a:picLocks noChangeAspect="1"/>
          </p:cNvPicPr>
          <p:nvPr/>
        </p:nvPicPr>
        <p:blipFill>
          <a:blip r:embed="rId10"/>
          <a:stretch>
            <a:fillRect/>
          </a:stretch>
        </p:blipFill>
        <p:spPr>
          <a:xfrm>
            <a:off x="4366654" y="286783"/>
            <a:ext cx="1890368" cy="2520490"/>
          </a:xfrm>
          <a:prstGeom prst="rect">
            <a:avLst/>
          </a:prstGeom>
        </p:spPr>
      </p:pic>
      <p:pic>
        <p:nvPicPr>
          <p:cNvPr id="1026" name="Picture 2" descr="https://datasets-server.huggingface.co/assets/ceyda/fashion-products-small/--/default/train/0/image/image.jpg?Expires=1768289120&amp;Signature=Fc1xaW~Xzv5qOU4BS-R8U5kxqYwF3pti40XemU8cE8CslTjYzgYp2WquHr2U2rMOK47QlTyGJ7b0q6l0Ztaty29ft1o6zaq53L8jeAhSEgFu9AFePbhVh~A3~qxTDkAn0vKhMW7IZ2mTarvHXq6oJ1ANll6wX6PXsPeMChA9UUtjvsYtVj~aooq0Twhf02XKO3q2T~Dp~5Jyi0M~J-ZDcoMv~2J0f6oQHic5UIMg6y10QlsF0S~Tms-sWNwobvQymadKU~9xzggR7qU8N8T4Bdl2DlGTZ6zJwdBw6qsxxjdbyxDYWFgbK5U45~7-Pz2CrDnQ8C9N8j~bWgup0BY96w__&amp;Key-Pair-Id=K3EI6M078Z3AC3"/>
          <p:cNvPicPr>
            <a:picLocks noGrp="1" noChangeAspect="1" noChangeArrowheads="1"/>
          </p:cNvPicPr>
          <p:nvPr>
            <p:ph idx="1"/>
          </p:nvPr>
        </p:nvPicPr>
        <p:blipFill>
          <a:blip r:embed="rId11">
            <a:extLst>
              <a:ext uri="{28A0092B-C50C-407E-A947-70E740481C1C}">
                <a14:useLocalDpi xmlns:a14="http://schemas.microsoft.com/office/drawing/2010/main" val="0"/>
              </a:ext>
            </a:extLst>
          </a:blip>
          <a:srcRect/>
          <a:stretch>
            <a:fillRect/>
          </a:stretch>
        </p:blipFill>
        <p:spPr bwMode="auto">
          <a:xfrm>
            <a:off x="355566" y="1205101"/>
            <a:ext cx="1684004" cy="2245338"/>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https://datasets-server.huggingface.co/cached-assets/ceyda/fashion-products-small/--/ef520080129df6ec7fda0df347b5f7eacdf0dc1c/--/default/train/42639/image/image.jpg?Expires=1768304830&amp;Signature=CQq6tSAHpJdUbttclkDL35x323C70WlAOewwSVeYPqSmJjhYXSpAm5tPzq~Y71gZ60IjbLnfubA0q0~Pr-xL4jqwI6B2pP7O6Z3DzYdb9EY4xyX0ztTJ15PEVSTm8qqFEhspnKK6JM6UzrRw2RhHmmKxp0aM0J9hnWDHoaqooTC0aWxWgA9JbCMV-6w1nfBdyq6VTpVZ-LS5Tf8KPju7wyICb5-EAHRIBdMKNZoJzeSGC4xeegIn4uBOGMxj3nBVUMiyCKVk0622lpwAS~DQLKzdlRUqxdQk2444V6wtcpJIFLr49eDTOz84d~wpdFmSYtnJuDFqvBzkrNTziLDFGw__&amp;Key-Pair-Id=K3EI6M078Z3AC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508954" y="3577352"/>
            <a:ext cx="2264166" cy="3018889"/>
          </a:xfrm>
          <a:prstGeom prst="rect">
            <a:avLst/>
          </a:prstGeom>
          <a:noFill/>
          <a:extLst>
            <a:ext uri="{909E8E84-426E-40DD-AFC4-6F175D3DCCD1}">
              <a14:hiddenFill xmlns:a14="http://schemas.microsoft.com/office/drawing/2010/main">
                <a:solidFill>
                  <a:srgbClr val="FFFFFF"/>
                </a:solidFill>
              </a14:hiddenFill>
            </a:ext>
          </a:extLst>
        </p:spPr>
      </p:pic>
      <p:pic>
        <p:nvPicPr>
          <p:cNvPr id="2058" name="Picture 10" descr="https://datasets-server.huggingface.co/cached-assets/ceyda/fashion-products-small/--/ef520080129df6ec7fda0df347b5f7eacdf0dc1c/--/default/train/42301/image/image.jpg?Expires=1768304973&amp;Signature=OOIjMUfgSTG3411Nu8GiiNPN3DrdRrjoHBC0wLv-ZqndEnm4TiTEoDa9MBPMMxL4ainKvTztz0PqJXbYB88YV~Hqtjh6s98Q5sUVjnEfsQW3mSZeWzBAr5rVUjOkfln6mxCtSLie7GCjYD0s5LnxfpINAGZiuCp~woxc62LVsNgjjXiQDYj66IsiD~bKrSb6-itlrs2VHHg4Hdl0ib~YNwlYXgorICMYLNhRFKa-SVQypxfTCl9QpTEyGDmsOCh79kiZn7C8cGf1oOZYW~6y6JK8rYzwOlCcsbykXcfo9TRb6mWdpLcBbax9YW~qrwRbvO6vt-2PGDyPq1eU7FzOVQ__&amp;Key-Pair-Id=K3EI6M078Z3AC3"/>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273983" y="3672830"/>
            <a:ext cx="2120949" cy="2827932"/>
          </a:xfrm>
          <a:prstGeom prst="rect">
            <a:avLst/>
          </a:prstGeom>
          <a:noFill/>
          <a:extLst>
            <a:ext uri="{909E8E84-426E-40DD-AFC4-6F175D3DCCD1}">
              <a14:hiddenFill xmlns:a14="http://schemas.microsoft.com/office/drawing/2010/main">
                <a:solidFill>
                  <a:srgbClr val="FFFFFF"/>
                </a:solidFill>
              </a14:hiddenFill>
            </a:ext>
          </a:extLst>
        </p:spPr>
      </p:pic>
      <p:sp>
        <p:nvSpPr>
          <p:cNvPr id="20" name="TextBox 19"/>
          <p:cNvSpPr txBox="1"/>
          <p:nvPr/>
        </p:nvSpPr>
        <p:spPr>
          <a:xfrm>
            <a:off x="4056461" y="6459315"/>
            <a:ext cx="1337226" cy="369332"/>
          </a:xfrm>
          <a:prstGeom prst="rect">
            <a:avLst/>
          </a:prstGeom>
          <a:noFill/>
        </p:spPr>
        <p:txBody>
          <a:bodyPr wrap="none" rtlCol="0">
            <a:spAutoFit/>
          </a:bodyPr>
          <a:lstStyle/>
          <a:p>
            <a:r>
              <a:rPr lang="en-US" dirty="0" smtClean="0">
                <a:latin typeface="Sitka Text" pitchFamily="2" charset="0"/>
              </a:rPr>
              <a:t>Free Items</a:t>
            </a:r>
            <a:endParaRPr lang="en-US" dirty="0">
              <a:latin typeface="Sitka Text" pitchFamily="2" charset="0"/>
            </a:endParaRPr>
          </a:p>
        </p:txBody>
      </p:sp>
      <p:pic>
        <p:nvPicPr>
          <p:cNvPr id="12" name="Picture 11"/>
          <p:cNvPicPr>
            <a:picLocks noChangeAspect="1"/>
          </p:cNvPicPr>
          <p:nvPr/>
        </p:nvPicPr>
        <p:blipFill rotWithShape="1">
          <a:blip r:embed="rId14"/>
          <a:srcRect l="609" t="59672" r="81175" b="6590"/>
          <a:stretch/>
        </p:blipFill>
        <p:spPr>
          <a:xfrm>
            <a:off x="6505295" y="3643441"/>
            <a:ext cx="2519245" cy="2538663"/>
          </a:xfrm>
          <a:prstGeom prst="rect">
            <a:avLst/>
          </a:prstGeom>
        </p:spPr>
      </p:pic>
      <p:sp>
        <p:nvSpPr>
          <p:cNvPr id="4" name="TextBox 3"/>
          <p:cNvSpPr txBox="1"/>
          <p:nvPr/>
        </p:nvSpPr>
        <p:spPr>
          <a:xfrm>
            <a:off x="1619502" y="3547953"/>
            <a:ext cx="1029449" cy="369332"/>
          </a:xfrm>
          <a:prstGeom prst="rect">
            <a:avLst/>
          </a:prstGeom>
          <a:noFill/>
        </p:spPr>
        <p:txBody>
          <a:bodyPr wrap="none" rtlCol="0">
            <a:spAutoFit/>
          </a:bodyPr>
          <a:lstStyle/>
          <a:p>
            <a:r>
              <a:rPr lang="en-US" dirty="0" smtClean="0">
                <a:latin typeface="Sitka Text" pitchFamily="2" charset="0"/>
              </a:rPr>
              <a:t>Apparel</a:t>
            </a:r>
            <a:endParaRPr lang="en-US" dirty="0">
              <a:latin typeface="Sitka Text" pitchFamily="2" charset="0"/>
            </a:endParaRPr>
          </a:p>
        </p:txBody>
      </p:sp>
      <p:pic>
        <p:nvPicPr>
          <p:cNvPr id="5" name="Picture 4"/>
          <p:cNvPicPr>
            <a:picLocks noChangeAspect="1"/>
          </p:cNvPicPr>
          <p:nvPr/>
        </p:nvPicPr>
        <p:blipFill rotWithShape="1">
          <a:blip r:embed="rId15"/>
          <a:srcRect b="26513"/>
          <a:stretch/>
        </p:blipFill>
        <p:spPr>
          <a:xfrm>
            <a:off x="10194819" y="3168686"/>
            <a:ext cx="1923361" cy="1884578"/>
          </a:xfrm>
          <a:prstGeom prst="rect">
            <a:avLst/>
          </a:prstGeom>
        </p:spPr>
      </p:pic>
      <p:sp>
        <p:nvSpPr>
          <p:cNvPr id="11" name="TextBox 10"/>
          <p:cNvSpPr txBox="1"/>
          <p:nvPr/>
        </p:nvSpPr>
        <p:spPr>
          <a:xfrm>
            <a:off x="9407364" y="4912773"/>
            <a:ext cx="1207382" cy="369332"/>
          </a:xfrm>
          <a:prstGeom prst="rect">
            <a:avLst/>
          </a:prstGeom>
          <a:noFill/>
        </p:spPr>
        <p:txBody>
          <a:bodyPr wrap="none" rtlCol="0">
            <a:spAutoFit/>
          </a:bodyPr>
          <a:lstStyle/>
          <a:p>
            <a:r>
              <a:rPr lang="en-US" dirty="0" smtClean="0">
                <a:latin typeface="Sitka Text" pitchFamily="2" charset="0"/>
              </a:rPr>
              <a:t>Footwear</a:t>
            </a:r>
            <a:endParaRPr lang="en-US" dirty="0">
              <a:latin typeface="Sitka Text" pitchFamily="2" charset="0"/>
            </a:endParaRPr>
          </a:p>
        </p:txBody>
      </p:sp>
      <p:sp>
        <p:nvSpPr>
          <p:cNvPr id="23" name="TextBox 22"/>
          <p:cNvSpPr txBox="1"/>
          <p:nvPr/>
        </p:nvSpPr>
        <p:spPr>
          <a:xfrm>
            <a:off x="7096304" y="6295369"/>
            <a:ext cx="816249" cy="369332"/>
          </a:xfrm>
          <a:prstGeom prst="rect">
            <a:avLst/>
          </a:prstGeom>
          <a:noFill/>
        </p:spPr>
        <p:txBody>
          <a:bodyPr wrap="none" rtlCol="0">
            <a:spAutoFit/>
          </a:bodyPr>
          <a:lstStyle/>
          <a:p>
            <a:r>
              <a:rPr lang="en-US" dirty="0" smtClean="0">
                <a:latin typeface="Sitka Text" pitchFamily="2" charset="0"/>
              </a:rPr>
              <a:t>Home</a:t>
            </a:r>
            <a:endParaRPr lang="en-US" dirty="0">
              <a:latin typeface="Sitka Text" pitchFamily="2" charset="0"/>
            </a:endParaRPr>
          </a:p>
        </p:txBody>
      </p:sp>
    </p:spTree>
    <p:extLst>
      <p:ext uri="{BB962C8B-B14F-4D97-AF65-F5344CB8AC3E}">
        <p14:creationId xmlns:p14="http://schemas.microsoft.com/office/powerpoint/2010/main" val="1124193410"/>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Sitka Text" pitchFamily="2" charset="0"/>
              </a:rPr>
              <a:t>Dataset</a:t>
            </a:r>
            <a:endParaRPr lang="en-US" dirty="0">
              <a:latin typeface="Sitka Text" pitchFamily="2" charset="0"/>
            </a:endParaRPr>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2848809998"/>
              </p:ext>
            </p:extLst>
          </p:nvPr>
        </p:nvGraphicFramePr>
        <p:xfrm>
          <a:off x="2747210" y="2030162"/>
          <a:ext cx="5410201" cy="3606800"/>
        </p:xfrm>
        <a:graphic>
          <a:graphicData uri="http://schemas.openxmlformats.org/drawingml/2006/table">
            <a:tbl>
              <a:tblPr firstRow="1" bandRow="1">
                <a:tableStyleId>{5C22544A-7EE6-4342-B048-85BDC9FD1C3A}</a:tableStyleId>
              </a:tblPr>
              <a:tblGrid>
                <a:gridCol w="735166">
                  <a:extLst>
                    <a:ext uri="{9D8B030D-6E8A-4147-A177-3AD203B41FA5}">
                      <a16:colId xmlns:a16="http://schemas.microsoft.com/office/drawing/2014/main" val="2239244100"/>
                    </a:ext>
                  </a:extLst>
                </a:gridCol>
                <a:gridCol w="2362640">
                  <a:extLst>
                    <a:ext uri="{9D8B030D-6E8A-4147-A177-3AD203B41FA5}">
                      <a16:colId xmlns:a16="http://schemas.microsoft.com/office/drawing/2014/main" val="1426749751"/>
                    </a:ext>
                  </a:extLst>
                </a:gridCol>
                <a:gridCol w="2312395">
                  <a:extLst>
                    <a:ext uri="{9D8B030D-6E8A-4147-A177-3AD203B41FA5}">
                      <a16:colId xmlns:a16="http://schemas.microsoft.com/office/drawing/2014/main" val="1820159548"/>
                    </a:ext>
                  </a:extLst>
                </a:gridCol>
              </a:tblGrid>
              <a:tr h="370840">
                <a:tc>
                  <a:txBody>
                    <a:bodyPr/>
                    <a:lstStyle/>
                    <a:p>
                      <a:r>
                        <a:rPr lang="en-US" dirty="0" smtClean="0">
                          <a:latin typeface="Sitka Text" pitchFamily="2" charset="0"/>
                        </a:rPr>
                        <a:t>Sl. No.</a:t>
                      </a:r>
                      <a:endParaRPr lang="en-US" dirty="0">
                        <a:latin typeface="Sitka Text" pitchFamily="2" charset="0"/>
                      </a:endParaRPr>
                    </a:p>
                  </a:txBody>
                  <a:tcPr/>
                </a:tc>
                <a:tc>
                  <a:txBody>
                    <a:bodyPr/>
                    <a:lstStyle/>
                    <a:p>
                      <a:r>
                        <a:rPr lang="en-US" dirty="0" smtClean="0">
                          <a:latin typeface="Sitka Text" pitchFamily="2" charset="0"/>
                        </a:rPr>
                        <a:t>Category</a:t>
                      </a:r>
                      <a:endParaRPr lang="en-US" dirty="0">
                        <a:latin typeface="Sitka Text" pitchFamily="2" charset="0"/>
                      </a:endParaRPr>
                    </a:p>
                  </a:txBody>
                  <a:tcPr/>
                </a:tc>
                <a:tc>
                  <a:txBody>
                    <a:bodyPr/>
                    <a:lstStyle/>
                    <a:p>
                      <a:r>
                        <a:rPr lang="en-US" sz="1800" b="0" i="0" kern="1200" dirty="0" smtClean="0">
                          <a:solidFill>
                            <a:schemeClr val="lt1"/>
                          </a:solidFill>
                          <a:effectLst/>
                          <a:latin typeface="Sitka Text" pitchFamily="2" charset="0"/>
                          <a:ea typeface="+mn-ea"/>
                          <a:cs typeface="+mn-cs"/>
                        </a:rPr>
                        <a:t>Number of images</a:t>
                      </a:r>
                      <a:endParaRPr lang="en-US" dirty="0">
                        <a:latin typeface="Sitka Text" pitchFamily="2" charset="0"/>
                      </a:endParaRPr>
                    </a:p>
                  </a:txBody>
                  <a:tcPr/>
                </a:tc>
                <a:extLst>
                  <a:ext uri="{0D108BD9-81ED-4DB2-BD59-A6C34878D82A}">
                    <a16:rowId xmlns:a16="http://schemas.microsoft.com/office/drawing/2014/main" val="1021612066"/>
                  </a:ext>
                </a:extLst>
              </a:tr>
              <a:tr h="370840">
                <a:tc>
                  <a:txBody>
                    <a:bodyPr/>
                    <a:lstStyle/>
                    <a:p>
                      <a:r>
                        <a:rPr lang="en-US" dirty="0" smtClean="0">
                          <a:latin typeface="Sitka Text" pitchFamily="2" charset="0"/>
                        </a:rPr>
                        <a:t>1</a:t>
                      </a:r>
                      <a:endParaRPr lang="en-US" dirty="0">
                        <a:latin typeface="Sitka Text" pitchFamily="2" charset="0"/>
                      </a:endParaRPr>
                    </a:p>
                  </a:txBody>
                  <a:tcPr/>
                </a:tc>
                <a:tc>
                  <a:txBody>
                    <a:bodyPr/>
                    <a:lstStyle/>
                    <a:p>
                      <a:r>
                        <a:rPr lang="en-US" sz="1800" b="0" i="0" kern="1200" dirty="0" smtClean="0">
                          <a:solidFill>
                            <a:schemeClr val="dk1"/>
                          </a:solidFill>
                          <a:effectLst/>
                          <a:latin typeface="Sitka Text" pitchFamily="2" charset="0"/>
                          <a:ea typeface="+mn-ea"/>
                          <a:cs typeface="+mn-cs"/>
                        </a:rPr>
                        <a:t>Apparel</a:t>
                      </a:r>
                      <a:endParaRPr lang="en-US" dirty="0">
                        <a:latin typeface="Sitka Text" pitchFamily="2" charset="0"/>
                      </a:endParaRPr>
                    </a:p>
                  </a:txBody>
                  <a:tcPr/>
                </a:tc>
                <a:tc>
                  <a:txBody>
                    <a:bodyPr/>
                    <a:lstStyle/>
                    <a:p>
                      <a:pPr algn="r"/>
                      <a:r>
                        <a:rPr lang="en-US" sz="1800" b="0" i="0" kern="1200" dirty="0" smtClean="0">
                          <a:solidFill>
                            <a:schemeClr val="dk1"/>
                          </a:solidFill>
                          <a:effectLst/>
                          <a:latin typeface="Sitka Text" pitchFamily="2" charset="0"/>
                          <a:ea typeface="+mn-ea"/>
                          <a:cs typeface="+mn-cs"/>
                        </a:rPr>
                        <a:t>20332</a:t>
                      </a:r>
                      <a:endParaRPr lang="en-US" dirty="0">
                        <a:latin typeface="Sitka Text" pitchFamily="2" charset="0"/>
                      </a:endParaRPr>
                    </a:p>
                  </a:txBody>
                  <a:tcPr/>
                </a:tc>
                <a:extLst>
                  <a:ext uri="{0D108BD9-81ED-4DB2-BD59-A6C34878D82A}">
                    <a16:rowId xmlns:a16="http://schemas.microsoft.com/office/drawing/2014/main" val="4123747846"/>
                  </a:ext>
                </a:extLst>
              </a:tr>
              <a:tr h="370840">
                <a:tc>
                  <a:txBody>
                    <a:bodyPr/>
                    <a:lstStyle/>
                    <a:p>
                      <a:r>
                        <a:rPr lang="en-US" dirty="0" smtClean="0">
                          <a:latin typeface="Sitka Text" pitchFamily="2" charset="0"/>
                        </a:rPr>
                        <a:t>2</a:t>
                      </a:r>
                      <a:endParaRPr lang="en-US" dirty="0">
                        <a:latin typeface="Sitka Text" pitchFamily="2" charset="0"/>
                      </a:endParaRPr>
                    </a:p>
                  </a:txBody>
                  <a:tcPr/>
                </a:tc>
                <a:tc>
                  <a:txBody>
                    <a:bodyPr/>
                    <a:lstStyle/>
                    <a:p>
                      <a:r>
                        <a:rPr lang="en-US" sz="1800" b="0" i="0" kern="1200" dirty="0" smtClean="0">
                          <a:solidFill>
                            <a:schemeClr val="dk1"/>
                          </a:solidFill>
                          <a:effectLst/>
                          <a:latin typeface="Sitka Text" pitchFamily="2" charset="0"/>
                          <a:ea typeface="+mn-ea"/>
                          <a:cs typeface="+mn-cs"/>
                        </a:rPr>
                        <a:t>Accessories</a:t>
                      </a:r>
                      <a:endParaRPr lang="en-US" dirty="0">
                        <a:latin typeface="Sitka Text" pitchFamily="2" charset="0"/>
                      </a:endParaRPr>
                    </a:p>
                  </a:txBody>
                  <a:tcPr/>
                </a:tc>
                <a:tc>
                  <a:txBody>
                    <a:bodyPr/>
                    <a:lstStyle/>
                    <a:p>
                      <a:pPr algn="r"/>
                      <a:r>
                        <a:rPr lang="en-US" sz="1800" b="0" i="0" kern="1200" dirty="0" smtClean="0">
                          <a:solidFill>
                            <a:schemeClr val="dk1"/>
                          </a:solidFill>
                          <a:effectLst/>
                          <a:latin typeface="Sitka Text" pitchFamily="2" charset="0"/>
                          <a:ea typeface="+mn-ea"/>
                          <a:cs typeface="+mn-cs"/>
                        </a:rPr>
                        <a:t>11133</a:t>
                      </a:r>
                      <a:endParaRPr lang="en-US" dirty="0">
                        <a:latin typeface="Sitka Text" pitchFamily="2" charset="0"/>
                      </a:endParaRPr>
                    </a:p>
                  </a:txBody>
                  <a:tcPr/>
                </a:tc>
                <a:extLst>
                  <a:ext uri="{0D108BD9-81ED-4DB2-BD59-A6C34878D82A}">
                    <a16:rowId xmlns:a16="http://schemas.microsoft.com/office/drawing/2014/main" val="3680420316"/>
                  </a:ext>
                </a:extLst>
              </a:tr>
              <a:tr h="370840">
                <a:tc>
                  <a:txBody>
                    <a:bodyPr/>
                    <a:lstStyle/>
                    <a:p>
                      <a:r>
                        <a:rPr lang="en-US" dirty="0" smtClean="0">
                          <a:latin typeface="Sitka Text" pitchFamily="2" charset="0"/>
                        </a:rPr>
                        <a:t>3</a:t>
                      </a:r>
                      <a:endParaRPr lang="en-US" dirty="0">
                        <a:latin typeface="Sitka Text" pitchFamily="2" charset="0"/>
                      </a:endParaRPr>
                    </a:p>
                  </a:txBody>
                  <a:tcPr/>
                </a:tc>
                <a:tc>
                  <a:txBody>
                    <a:bodyPr/>
                    <a:lstStyle/>
                    <a:p>
                      <a:r>
                        <a:rPr lang="en-US" sz="1800" b="0" i="0" kern="1200" dirty="0" smtClean="0">
                          <a:solidFill>
                            <a:schemeClr val="dk1"/>
                          </a:solidFill>
                          <a:effectLst/>
                          <a:latin typeface="Sitka Text" pitchFamily="2" charset="0"/>
                          <a:ea typeface="+mn-ea"/>
                          <a:cs typeface="+mn-cs"/>
                        </a:rPr>
                        <a:t>Footwear</a:t>
                      </a:r>
                      <a:endParaRPr lang="en-US" dirty="0">
                        <a:latin typeface="Sitka Text" pitchFamily="2" charset="0"/>
                      </a:endParaRPr>
                    </a:p>
                  </a:txBody>
                  <a:tcPr/>
                </a:tc>
                <a:tc>
                  <a:txBody>
                    <a:bodyPr/>
                    <a:lstStyle/>
                    <a:p>
                      <a:pPr algn="r"/>
                      <a:r>
                        <a:rPr lang="en-US" dirty="0" smtClean="0">
                          <a:latin typeface="Sitka Text" pitchFamily="2" charset="0"/>
                        </a:rPr>
                        <a:t>9177</a:t>
                      </a:r>
                      <a:endParaRPr lang="en-US" dirty="0">
                        <a:latin typeface="Sitka Text" pitchFamily="2" charset="0"/>
                      </a:endParaRPr>
                    </a:p>
                  </a:txBody>
                  <a:tcPr/>
                </a:tc>
                <a:extLst>
                  <a:ext uri="{0D108BD9-81ED-4DB2-BD59-A6C34878D82A}">
                    <a16:rowId xmlns:a16="http://schemas.microsoft.com/office/drawing/2014/main" val="98431685"/>
                  </a:ext>
                </a:extLst>
              </a:tr>
              <a:tr h="370840">
                <a:tc>
                  <a:txBody>
                    <a:bodyPr/>
                    <a:lstStyle/>
                    <a:p>
                      <a:r>
                        <a:rPr lang="en-US" dirty="0" smtClean="0">
                          <a:latin typeface="Sitka Text" pitchFamily="2" charset="0"/>
                        </a:rPr>
                        <a:t>4</a:t>
                      </a:r>
                      <a:endParaRPr lang="en-US" dirty="0">
                        <a:latin typeface="Sitka Text" pitchFamily="2" charset="0"/>
                      </a:endParaRPr>
                    </a:p>
                  </a:txBody>
                  <a:tcPr/>
                </a:tc>
                <a:tc>
                  <a:txBody>
                    <a:bodyPr/>
                    <a:lstStyle/>
                    <a:p>
                      <a:r>
                        <a:rPr lang="en-US" sz="1800" b="0" i="0" kern="1200" dirty="0" smtClean="0">
                          <a:solidFill>
                            <a:schemeClr val="dk1"/>
                          </a:solidFill>
                          <a:effectLst/>
                          <a:latin typeface="Sitka Text" pitchFamily="2" charset="0"/>
                          <a:ea typeface="+mn-ea"/>
                          <a:cs typeface="+mn-cs"/>
                        </a:rPr>
                        <a:t>Personal Care</a:t>
                      </a:r>
                      <a:endParaRPr lang="en-US" dirty="0">
                        <a:latin typeface="Sitka Text" pitchFamily="2" charset="0"/>
                      </a:endParaRPr>
                    </a:p>
                  </a:txBody>
                  <a:tcPr/>
                </a:tc>
                <a:tc>
                  <a:txBody>
                    <a:bodyPr/>
                    <a:lstStyle/>
                    <a:p>
                      <a:pPr algn="r"/>
                      <a:r>
                        <a:rPr lang="en-US" dirty="0" smtClean="0">
                          <a:latin typeface="Sitka Text" pitchFamily="2" charset="0"/>
                        </a:rPr>
                        <a:t>1929</a:t>
                      </a:r>
                      <a:endParaRPr lang="en-US" dirty="0">
                        <a:latin typeface="Sitka Text" pitchFamily="2" charset="0"/>
                      </a:endParaRPr>
                    </a:p>
                  </a:txBody>
                  <a:tcPr/>
                </a:tc>
                <a:extLst>
                  <a:ext uri="{0D108BD9-81ED-4DB2-BD59-A6C34878D82A}">
                    <a16:rowId xmlns:a16="http://schemas.microsoft.com/office/drawing/2014/main" val="869127079"/>
                  </a:ext>
                </a:extLst>
              </a:tr>
              <a:tr h="370840">
                <a:tc>
                  <a:txBody>
                    <a:bodyPr/>
                    <a:lstStyle/>
                    <a:p>
                      <a:r>
                        <a:rPr lang="en-US" dirty="0" smtClean="0">
                          <a:latin typeface="Sitka Text" pitchFamily="2" charset="0"/>
                        </a:rPr>
                        <a:t>5</a:t>
                      </a:r>
                      <a:endParaRPr lang="en-US" dirty="0">
                        <a:latin typeface="Sitka Text" pitchFamily="2" charset="0"/>
                      </a:endParaRPr>
                    </a:p>
                  </a:txBody>
                  <a:tcPr/>
                </a:tc>
                <a:tc>
                  <a:txBody>
                    <a:bodyPr/>
                    <a:lstStyle/>
                    <a:p>
                      <a:r>
                        <a:rPr lang="en-US" sz="1800" b="0" i="0" kern="1200" dirty="0" smtClean="0">
                          <a:solidFill>
                            <a:schemeClr val="dk1"/>
                          </a:solidFill>
                          <a:effectLst/>
                          <a:latin typeface="Sitka Text" pitchFamily="2" charset="0"/>
                          <a:ea typeface="+mn-ea"/>
                          <a:cs typeface="+mn-cs"/>
                        </a:rPr>
                        <a:t>Free Items</a:t>
                      </a:r>
                      <a:endParaRPr lang="en-US" dirty="0">
                        <a:latin typeface="Sitka Text" pitchFamily="2" charset="0"/>
                      </a:endParaRPr>
                    </a:p>
                  </a:txBody>
                  <a:tcPr/>
                </a:tc>
                <a:tc>
                  <a:txBody>
                    <a:bodyPr/>
                    <a:lstStyle/>
                    <a:p>
                      <a:pPr algn="r"/>
                      <a:r>
                        <a:rPr lang="en-US" dirty="0" smtClean="0">
                          <a:latin typeface="Sitka Text" pitchFamily="2" charset="0"/>
                        </a:rPr>
                        <a:t>103</a:t>
                      </a:r>
                      <a:endParaRPr lang="en-US" dirty="0">
                        <a:latin typeface="Sitka Text" pitchFamily="2" charset="0"/>
                      </a:endParaRPr>
                    </a:p>
                  </a:txBody>
                  <a:tcPr/>
                </a:tc>
                <a:extLst>
                  <a:ext uri="{0D108BD9-81ED-4DB2-BD59-A6C34878D82A}">
                    <a16:rowId xmlns:a16="http://schemas.microsoft.com/office/drawing/2014/main" val="895285009"/>
                  </a:ext>
                </a:extLst>
              </a:tr>
              <a:tr h="370840">
                <a:tc>
                  <a:txBody>
                    <a:bodyPr/>
                    <a:lstStyle/>
                    <a:p>
                      <a:r>
                        <a:rPr lang="en-US" dirty="0" smtClean="0">
                          <a:latin typeface="Sitka Text" pitchFamily="2" charset="0"/>
                        </a:rPr>
                        <a:t>6</a:t>
                      </a:r>
                      <a:endParaRPr lang="en-US" dirty="0">
                        <a:latin typeface="Sitka Text" pitchFamily="2" charset="0"/>
                      </a:endParaRPr>
                    </a:p>
                  </a:txBody>
                  <a:tcPr/>
                </a:tc>
                <a:tc>
                  <a:txBody>
                    <a:bodyPr/>
                    <a:lstStyle/>
                    <a:p>
                      <a:r>
                        <a:rPr lang="en-US" sz="1800" b="0" i="0" kern="1200" dirty="0" smtClean="0">
                          <a:solidFill>
                            <a:schemeClr val="dk1"/>
                          </a:solidFill>
                          <a:effectLst/>
                          <a:latin typeface="Sitka Text" pitchFamily="2" charset="0"/>
                          <a:ea typeface="+mn-ea"/>
                          <a:cs typeface="+mn-cs"/>
                        </a:rPr>
                        <a:t>Sporting Goods</a:t>
                      </a:r>
                      <a:endParaRPr lang="en-US" dirty="0">
                        <a:latin typeface="Sitka Text" pitchFamily="2" charset="0"/>
                      </a:endParaRPr>
                    </a:p>
                  </a:txBody>
                  <a:tcPr/>
                </a:tc>
                <a:tc>
                  <a:txBody>
                    <a:bodyPr/>
                    <a:lstStyle/>
                    <a:p>
                      <a:pPr algn="r"/>
                      <a:r>
                        <a:rPr lang="en-US" dirty="0" smtClean="0">
                          <a:latin typeface="Sitka Text" pitchFamily="2" charset="0"/>
                        </a:rPr>
                        <a:t>25</a:t>
                      </a:r>
                      <a:endParaRPr lang="en-US" dirty="0">
                        <a:latin typeface="Sitka Text" pitchFamily="2" charset="0"/>
                      </a:endParaRPr>
                    </a:p>
                  </a:txBody>
                  <a:tcPr/>
                </a:tc>
                <a:extLst>
                  <a:ext uri="{0D108BD9-81ED-4DB2-BD59-A6C34878D82A}">
                    <a16:rowId xmlns:a16="http://schemas.microsoft.com/office/drawing/2014/main" val="2560198239"/>
                  </a:ext>
                </a:extLst>
              </a:tr>
              <a:tr h="370840">
                <a:tc>
                  <a:txBody>
                    <a:bodyPr/>
                    <a:lstStyle/>
                    <a:p>
                      <a:r>
                        <a:rPr lang="en-US" dirty="0" smtClean="0">
                          <a:latin typeface="Sitka Text" pitchFamily="2" charset="0"/>
                        </a:rPr>
                        <a:t>7</a:t>
                      </a:r>
                      <a:endParaRPr lang="en-US" dirty="0">
                        <a:latin typeface="Sitka Text" pitchFamily="2" charset="0"/>
                      </a:endParaRPr>
                    </a:p>
                  </a:txBody>
                  <a:tcPr/>
                </a:tc>
                <a:tc>
                  <a:txBody>
                    <a:bodyPr/>
                    <a:lstStyle/>
                    <a:p>
                      <a:r>
                        <a:rPr lang="en-US" dirty="0" smtClean="0">
                          <a:latin typeface="Sitka Text" pitchFamily="2" charset="0"/>
                        </a:rPr>
                        <a:t>Home</a:t>
                      </a:r>
                      <a:endParaRPr lang="en-US" dirty="0">
                        <a:latin typeface="Sitka Text" pitchFamily="2" charset="0"/>
                      </a:endParaRPr>
                    </a:p>
                  </a:txBody>
                  <a:tcPr/>
                </a:tc>
                <a:tc>
                  <a:txBody>
                    <a:bodyPr/>
                    <a:lstStyle/>
                    <a:p>
                      <a:pPr algn="r"/>
                      <a:r>
                        <a:rPr lang="en-US" dirty="0" smtClean="0">
                          <a:latin typeface="Sitka Text" pitchFamily="2" charset="0"/>
                        </a:rPr>
                        <a:t>1</a:t>
                      </a:r>
                      <a:endParaRPr lang="en-US" dirty="0">
                        <a:latin typeface="Sitka Text" pitchFamily="2" charset="0"/>
                      </a:endParaRPr>
                    </a:p>
                  </a:txBody>
                  <a:tcPr/>
                </a:tc>
                <a:extLst>
                  <a:ext uri="{0D108BD9-81ED-4DB2-BD59-A6C34878D82A}">
                    <a16:rowId xmlns:a16="http://schemas.microsoft.com/office/drawing/2014/main" val="228052038"/>
                  </a:ext>
                </a:extLst>
              </a:tr>
              <a:tr h="370840">
                <a:tc>
                  <a:txBody>
                    <a:bodyPr/>
                    <a:lstStyle/>
                    <a:p>
                      <a:endParaRPr lang="en-US" dirty="0">
                        <a:latin typeface="Sitka Text" pitchFamily="2"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latin typeface="Sitka Text" pitchFamily="2" charset="0"/>
                        </a:rPr>
                        <a:t>Total</a:t>
                      </a:r>
                    </a:p>
                  </a:txBody>
                  <a:tcPr/>
                </a:tc>
                <a:tc>
                  <a:txBody>
                    <a:bodyPr/>
                    <a:lstStyle/>
                    <a:p>
                      <a:pPr algn="r"/>
                      <a:r>
                        <a:rPr lang="en-US" dirty="0" smtClean="0">
                          <a:latin typeface="Sitka Text" pitchFamily="2" charset="0"/>
                        </a:rPr>
                        <a:t>42700</a:t>
                      </a:r>
                      <a:endParaRPr lang="en-US" dirty="0">
                        <a:latin typeface="Sitka Text" pitchFamily="2" charset="0"/>
                      </a:endParaRPr>
                    </a:p>
                  </a:txBody>
                  <a:tcPr/>
                </a:tc>
                <a:extLst>
                  <a:ext uri="{0D108BD9-81ED-4DB2-BD59-A6C34878D82A}">
                    <a16:rowId xmlns:a16="http://schemas.microsoft.com/office/drawing/2014/main" val="1657109749"/>
                  </a:ext>
                </a:extLst>
              </a:tr>
            </a:tbl>
          </a:graphicData>
        </a:graphic>
      </p:graphicFrame>
    </p:spTree>
    <p:extLst>
      <p:ext uri="{BB962C8B-B14F-4D97-AF65-F5344CB8AC3E}">
        <p14:creationId xmlns:p14="http://schemas.microsoft.com/office/powerpoint/2010/main" val="3187199802"/>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Sitka Text" pitchFamily="2" charset="0"/>
              </a:rPr>
              <a:t>Data Preparation</a:t>
            </a:r>
            <a:endParaRPr lang="en-US" dirty="0">
              <a:latin typeface="Sitka Text" pitchFamily="2" charset="0"/>
            </a:endParaRPr>
          </a:p>
        </p:txBody>
      </p:sp>
      <p:graphicFrame>
        <p:nvGraphicFramePr>
          <p:cNvPr id="4" name="Content Placeholder 4"/>
          <p:cNvGraphicFramePr>
            <a:graphicFrameLocks/>
          </p:cNvGraphicFramePr>
          <p:nvPr>
            <p:extLst>
              <p:ext uri="{D42A27DB-BD31-4B8C-83A1-F6EECF244321}">
                <p14:modId xmlns:p14="http://schemas.microsoft.com/office/powerpoint/2010/main" val="1338595856"/>
              </p:ext>
            </p:extLst>
          </p:nvPr>
        </p:nvGraphicFramePr>
        <p:xfrm>
          <a:off x="2975811" y="2318921"/>
          <a:ext cx="5867400" cy="2494280"/>
        </p:xfrm>
        <a:graphic>
          <a:graphicData uri="http://schemas.openxmlformats.org/drawingml/2006/table">
            <a:tbl>
              <a:tblPr firstRow="1" bandRow="1">
                <a:tableStyleId>{5C22544A-7EE6-4342-B048-85BDC9FD1C3A}</a:tableStyleId>
              </a:tblPr>
              <a:tblGrid>
                <a:gridCol w="807102">
                  <a:extLst>
                    <a:ext uri="{9D8B030D-6E8A-4147-A177-3AD203B41FA5}">
                      <a16:colId xmlns:a16="http://schemas.microsoft.com/office/drawing/2014/main" val="2239244100"/>
                    </a:ext>
                  </a:extLst>
                </a:gridCol>
                <a:gridCol w="2593824">
                  <a:extLst>
                    <a:ext uri="{9D8B030D-6E8A-4147-A177-3AD203B41FA5}">
                      <a16:colId xmlns:a16="http://schemas.microsoft.com/office/drawing/2014/main" val="1426749751"/>
                    </a:ext>
                  </a:extLst>
                </a:gridCol>
                <a:gridCol w="2466474">
                  <a:extLst>
                    <a:ext uri="{9D8B030D-6E8A-4147-A177-3AD203B41FA5}">
                      <a16:colId xmlns:a16="http://schemas.microsoft.com/office/drawing/2014/main" val="1820159548"/>
                    </a:ext>
                  </a:extLst>
                </a:gridCol>
              </a:tblGrid>
              <a:tr h="370840">
                <a:tc>
                  <a:txBody>
                    <a:bodyPr/>
                    <a:lstStyle/>
                    <a:p>
                      <a:r>
                        <a:rPr lang="en-US" dirty="0" smtClean="0">
                          <a:latin typeface="Sitka Text" pitchFamily="2" charset="0"/>
                        </a:rPr>
                        <a:t>Sl. No.</a:t>
                      </a:r>
                      <a:endParaRPr lang="en-US" dirty="0">
                        <a:latin typeface="Sitka Text" pitchFamily="2" charset="0"/>
                      </a:endParaRPr>
                    </a:p>
                  </a:txBody>
                  <a:tcPr/>
                </a:tc>
                <a:tc>
                  <a:txBody>
                    <a:bodyPr/>
                    <a:lstStyle/>
                    <a:p>
                      <a:r>
                        <a:rPr lang="en-US" dirty="0" smtClean="0">
                          <a:latin typeface="Sitka Text" pitchFamily="2" charset="0"/>
                        </a:rPr>
                        <a:t>Category</a:t>
                      </a:r>
                      <a:endParaRPr lang="en-US" dirty="0">
                        <a:latin typeface="Sitka Text" pitchFamily="2" charset="0"/>
                      </a:endParaRPr>
                    </a:p>
                  </a:txBody>
                  <a:tcPr/>
                </a:tc>
                <a:tc>
                  <a:txBody>
                    <a:bodyPr/>
                    <a:lstStyle/>
                    <a:p>
                      <a:r>
                        <a:rPr lang="en-US" sz="1800" b="0" i="0" kern="1200" dirty="0" smtClean="0">
                          <a:solidFill>
                            <a:schemeClr val="lt1"/>
                          </a:solidFill>
                          <a:effectLst/>
                          <a:latin typeface="Sitka Text" pitchFamily="2" charset="0"/>
                          <a:ea typeface="+mn-ea"/>
                          <a:cs typeface="+mn-cs"/>
                        </a:rPr>
                        <a:t>Number of images</a:t>
                      </a:r>
                      <a:endParaRPr lang="en-US" dirty="0">
                        <a:latin typeface="Sitka Text" pitchFamily="2" charset="0"/>
                      </a:endParaRPr>
                    </a:p>
                  </a:txBody>
                  <a:tcPr/>
                </a:tc>
                <a:extLst>
                  <a:ext uri="{0D108BD9-81ED-4DB2-BD59-A6C34878D82A}">
                    <a16:rowId xmlns:a16="http://schemas.microsoft.com/office/drawing/2014/main" val="1021612066"/>
                  </a:ext>
                </a:extLst>
              </a:tr>
              <a:tr h="370840">
                <a:tc>
                  <a:txBody>
                    <a:bodyPr/>
                    <a:lstStyle/>
                    <a:p>
                      <a:r>
                        <a:rPr lang="en-US" dirty="0" smtClean="0">
                          <a:latin typeface="Sitka Text" pitchFamily="2" charset="0"/>
                        </a:rPr>
                        <a:t>1</a:t>
                      </a:r>
                      <a:endParaRPr lang="en-US" dirty="0">
                        <a:latin typeface="Sitka Text" pitchFamily="2" charset="0"/>
                      </a:endParaRPr>
                    </a:p>
                  </a:txBody>
                  <a:tcPr/>
                </a:tc>
                <a:tc>
                  <a:txBody>
                    <a:bodyPr/>
                    <a:lstStyle/>
                    <a:p>
                      <a:r>
                        <a:rPr lang="en-US" sz="1800" b="0" i="0" kern="1200" dirty="0" smtClean="0">
                          <a:solidFill>
                            <a:schemeClr val="dk1"/>
                          </a:solidFill>
                          <a:effectLst/>
                          <a:latin typeface="Sitka Text" pitchFamily="2" charset="0"/>
                          <a:ea typeface="+mn-ea"/>
                          <a:cs typeface="+mn-cs"/>
                        </a:rPr>
                        <a:t>Apparel</a:t>
                      </a:r>
                      <a:endParaRPr lang="en-US" dirty="0">
                        <a:latin typeface="Sitka Text" pitchFamily="2" charset="0"/>
                      </a:endParaRPr>
                    </a:p>
                  </a:txBody>
                  <a:tcPr/>
                </a:tc>
                <a:tc>
                  <a:txBody>
                    <a:bodyPr/>
                    <a:lstStyle/>
                    <a:p>
                      <a:pPr algn="r"/>
                      <a:r>
                        <a:rPr lang="en-US" sz="1800" b="0" i="0" kern="1200" dirty="0" smtClean="0">
                          <a:solidFill>
                            <a:schemeClr val="dk1"/>
                          </a:solidFill>
                          <a:effectLst/>
                          <a:latin typeface="Sitka Text" pitchFamily="2" charset="0"/>
                          <a:ea typeface="+mn-ea"/>
                          <a:cs typeface="+mn-cs"/>
                        </a:rPr>
                        <a:t>20332</a:t>
                      </a:r>
                      <a:endParaRPr lang="en-US" dirty="0">
                        <a:latin typeface="Sitka Text" pitchFamily="2" charset="0"/>
                      </a:endParaRPr>
                    </a:p>
                  </a:txBody>
                  <a:tcPr/>
                </a:tc>
                <a:extLst>
                  <a:ext uri="{0D108BD9-81ED-4DB2-BD59-A6C34878D82A}">
                    <a16:rowId xmlns:a16="http://schemas.microsoft.com/office/drawing/2014/main" val="4123747846"/>
                  </a:ext>
                </a:extLst>
              </a:tr>
              <a:tr h="370840">
                <a:tc>
                  <a:txBody>
                    <a:bodyPr/>
                    <a:lstStyle/>
                    <a:p>
                      <a:r>
                        <a:rPr lang="en-US" dirty="0" smtClean="0">
                          <a:latin typeface="Sitka Text" pitchFamily="2" charset="0"/>
                        </a:rPr>
                        <a:t>2</a:t>
                      </a:r>
                      <a:endParaRPr lang="en-US" dirty="0">
                        <a:latin typeface="Sitka Text" pitchFamily="2" charset="0"/>
                      </a:endParaRPr>
                    </a:p>
                  </a:txBody>
                  <a:tcPr/>
                </a:tc>
                <a:tc>
                  <a:txBody>
                    <a:bodyPr/>
                    <a:lstStyle/>
                    <a:p>
                      <a:r>
                        <a:rPr lang="en-US" sz="1800" b="0" i="0" kern="1200" dirty="0" smtClean="0">
                          <a:solidFill>
                            <a:schemeClr val="dk1"/>
                          </a:solidFill>
                          <a:effectLst/>
                          <a:latin typeface="Sitka Text" pitchFamily="2" charset="0"/>
                          <a:ea typeface="+mn-ea"/>
                          <a:cs typeface="+mn-cs"/>
                        </a:rPr>
                        <a:t>Accessories</a:t>
                      </a:r>
                      <a:endParaRPr lang="en-US" dirty="0">
                        <a:latin typeface="Sitka Text" pitchFamily="2" charset="0"/>
                      </a:endParaRPr>
                    </a:p>
                  </a:txBody>
                  <a:tcPr/>
                </a:tc>
                <a:tc>
                  <a:txBody>
                    <a:bodyPr/>
                    <a:lstStyle/>
                    <a:p>
                      <a:pPr algn="r"/>
                      <a:r>
                        <a:rPr lang="en-US" sz="1800" b="0" i="0" kern="1200" dirty="0" smtClean="0">
                          <a:solidFill>
                            <a:schemeClr val="dk1"/>
                          </a:solidFill>
                          <a:effectLst/>
                          <a:latin typeface="Sitka Text" pitchFamily="2" charset="0"/>
                          <a:ea typeface="+mn-ea"/>
                          <a:cs typeface="+mn-cs"/>
                        </a:rPr>
                        <a:t>11133</a:t>
                      </a:r>
                      <a:endParaRPr lang="en-US" dirty="0">
                        <a:latin typeface="Sitka Text" pitchFamily="2" charset="0"/>
                      </a:endParaRPr>
                    </a:p>
                  </a:txBody>
                  <a:tcPr/>
                </a:tc>
                <a:extLst>
                  <a:ext uri="{0D108BD9-81ED-4DB2-BD59-A6C34878D82A}">
                    <a16:rowId xmlns:a16="http://schemas.microsoft.com/office/drawing/2014/main" val="3680420316"/>
                  </a:ext>
                </a:extLst>
              </a:tr>
              <a:tr h="370840">
                <a:tc>
                  <a:txBody>
                    <a:bodyPr/>
                    <a:lstStyle/>
                    <a:p>
                      <a:r>
                        <a:rPr lang="en-US" dirty="0" smtClean="0">
                          <a:latin typeface="Sitka Text" pitchFamily="2" charset="0"/>
                        </a:rPr>
                        <a:t>3</a:t>
                      </a:r>
                      <a:endParaRPr lang="en-US" dirty="0">
                        <a:latin typeface="Sitka Text" pitchFamily="2" charset="0"/>
                      </a:endParaRPr>
                    </a:p>
                  </a:txBody>
                  <a:tcPr/>
                </a:tc>
                <a:tc>
                  <a:txBody>
                    <a:bodyPr/>
                    <a:lstStyle/>
                    <a:p>
                      <a:r>
                        <a:rPr lang="en-US" sz="1800" b="0" i="0" kern="1200" dirty="0" smtClean="0">
                          <a:solidFill>
                            <a:schemeClr val="dk1"/>
                          </a:solidFill>
                          <a:effectLst/>
                          <a:latin typeface="Sitka Text" pitchFamily="2" charset="0"/>
                          <a:ea typeface="+mn-ea"/>
                          <a:cs typeface="+mn-cs"/>
                        </a:rPr>
                        <a:t>Footwear</a:t>
                      </a:r>
                      <a:endParaRPr lang="en-US" dirty="0">
                        <a:latin typeface="Sitka Text" pitchFamily="2" charset="0"/>
                      </a:endParaRPr>
                    </a:p>
                  </a:txBody>
                  <a:tcPr/>
                </a:tc>
                <a:tc>
                  <a:txBody>
                    <a:bodyPr/>
                    <a:lstStyle/>
                    <a:p>
                      <a:pPr algn="r"/>
                      <a:r>
                        <a:rPr lang="en-US" dirty="0" smtClean="0">
                          <a:latin typeface="Sitka Text" pitchFamily="2" charset="0"/>
                        </a:rPr>
                        <a:t>9177</a:t>
                      </a:r>
                      <a:endParaRPr lang="en-US" dirty="0">
                        <a:latin typeface="Sitka Text" pitchFamily="2" charset="0"/>
                      </a:endParaRPr>
                    </a:p>
                  </a:txBody>
                  <a:tcPr/>
                </a:tc>
                <a:extLst>
                  <a:ext uri="{0D108BD9-81ED-4DB2-BD59-A6C34878D82A}">
                    <a16:rowId xmlns:a16="http://schemas.microsoft.com/office/drawing/2014/main" val="98431685"/>
                  </a:ext>
                </a:extLst>
              </a:tr>
              <a:tr h="370840">
                <a:tc>
                  <a:txBody>
                    <a:bodyPr/>
                    <a:lstStyle/>
                    <a:p>
                      <a:r>
                        <a:rPr lang="en-US" dirty="0" smtClean="0">
                          <a:latin typeface="Sitka Text" pitchFamily="2" charset="0"/>
                        </a:rPr>
                        <a:t>4</a:t>
                      </a:r>
                      <a:endParaRPr lang="en-US" dirty="0">
                        <a:latin typeface="Sitka Text" pitchFamily="2" charset="0"/>
                      </a:endParaRPr>
                    </a:p>
                  </a:txBody>
                  <a:tcPr/>
                </a:tc>
                <a:tc>
                  <a:txBody>
                    <a:bodyPr/>
                    <a:lstStyle/>
                    <a:p>
                      <a:r>
                        <a:rPr lang="en-US" sz="1800" b="0" i="0" kern="1200" dirty="0" smtClean="0">
                          <a:solidFill>
                            <a:schemeClr val="dk1"/>
                          </a:solidFill>
                          <a:effectLst/>
                          <a:latin typeface="Sitka Text" pitchFamily="2" charset="0"/>
                          <a:ea typeface="+mn-ea"/>
                          <a:cs typeface="+mn-cs"/>
                        </a:rPr>
                        <a:t>Personal Care</a:t>
                      </a:r>
                      <a:endParaRPr lang="en-US" dirty="0">
                        <a:latin typeface="Sitka Text" pitchFamily="2" charset="0"/>
                      </a:endParaRPr>
                    </a:p>
                  </a:txBody>
                  <a:tcPr/>
                </a:tc>
                <a:tc>
                  <a:txBody>
                    <a:bodyPr/>
                    <a:lstStyle/>
                    <a:p>
                      <a:pPr algn="r"/>
                      <a:r>
                        <a:rPr lang="en-US" dirty="0" smtClean="0">
                          <a:latin typeface="Sitka Text" pitchFamily="2" charset="0"/>
                        </a:rPr>
                        <a:t>1929</a:t>
                      </a:r>
                      <a:endParaRPr lang="en-US" dirty="0">
                        <a:latin typeface="Sitka Text" pitchFamily="2" charset="0"/>
                      </a:endParaRPr>
                    </a:p>
                  </a:txBody>
                  <a:tcPr/>
                </a:tc>
                <a:extLst>
                  <a:ext uri="{0D108BD9-81ED-4DB2-BD59-A6C34878D82A}">
                    <a16:rowId xmlns:a16="http://schemas.microsoft.com/office/drawing/2014/main" val="869127079"/>
                  </a:ext>
                </a:extLst>
              </a:tr>
              <a:tr h="370840">
                <a:tc>
                  <a:txBody>
                    <a:bodyPr/>
                    <a:lstStyle/>
                    <a:p>
                      <a:endParaRPr lang="en-US" dirty="0">
                        <a:latin typeface="Sitka Text" pitchFamily="2"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latin typeface="Sitka Text" pitchFamily="2" charset="0"/>
                        </a:rPr>
                        <a:t>Total</a:t>
                      </a:r>
                    </a:p>
                  </a:txBody>
                  <a:tcPr/>
                </a:tc>
                <a:tc>
                  <a:txBody>
                    <a:bodyPr/>
                    <a:lstStyle/>
                    <a:p>
                      <a:pPr algn="r"/>
                      <a:r>
                        <a:rPr lang="en-US" dirty="0" smtClean="0">
                          <a:latin typeface="Sitka Text" pitchFamily="2" charset="0"/>
                        </a:rPr>
                        <a:t>42571</a:t>
                      </a:r>
                      <a:endParaRPr lang="en-US" dirty="0">
                        <a:latin typeface="Sitka Text" pitchFamily="2" charset="0"/>
                      </a:endParaRPr>
                    </a:p>
                  </a:txBody>
                  <a:tcPr/>
                </a:tc>
                <a:extLst>
                  <a:ext uri="{0D108BD9-81ED-4DB2-BD59-A6C34878D82A}">
                    <a16:rowId xmlns:a16="http://schemas.microsoft.com/office/drawing/2014/main" val="1657109749"/>
                  </a:ext>
                </a:extLst>
              </a:tr>
            </a:tbl>
          </a:graphicData>
        </a:graphic>
      </p:graphicFrame>
      <p:sp>
        <p:nvSpPr>
          <p:cNvPr id="5" name="Rectangle 4"/>
          <p:cNvSpPr/>
          <p:nvPr/>
        </p:nvSpPr>
        <p:spPr>
          <a:xfrm>
            <a:off x="838199" y="1506022"/>
            <a:ext cx="9472863" cy="400110"/>
          </a:xfrm>
          <a:prstGeom prst="rect">
            <a:avLst/>
          </a:prstGeom>
        </p:spPr>
        <p:txBody>
          <a:bodyPr wrap="square">
            <a:spAutoFit/>
          </a:bodyPr>
          <a:lstStyle/>
          <a:p>
            <a:r>
              <a:rPr lang="en-US" sz="2000" b="0" dirty="0" smtClean="0">
                <a:effectLst/>
                <a:latin typeface="Sitka Text" pitchFamily="2" charset="0"/>
              </a:rPr>
              <a:t>Filter out images from </a:t>
            </a:r>
            <a:r>
              <a:rPr lang="en-US" sz="2000" dirty="0" smtClean="0">
                <a:latin typeface="Sitka Text" pitchFamily="2" charset="0"/>
              </a:rPr>
              <a:t>‘</a:t>
            </a:r>
            <a:r>
              <a:rPr lang="en-US" sz="2000" b="0" dirty="0" smtClean="0">
                <a:effectLst/>
                <a:latin typeface="Sitka Text" pitchFamily="2" charset="0"/>
              </a:rPr>
              <a:t>Home’, ‘</a:t>
            </a:r>
            <a:r>
              <a:rPr lang="en-US" sz="2000" dirty="0">
                <a:solidFill>
                  <a:schemeClr val="dk1"/>
                </a:solidFill>
                <a:latin typeface="Sitka Text" pitchFamily="2" charset="0"/>
              </a:rPr>
              <a:t>Sporting Goods</a:t>
            </a:r>
            <a:r>
              <a:rPr lang="en-US" sz="2000" b="0" dirty="0" smtClean="0">
                <a:effectLst/>
                <a:latin typeface="Sitka Text" pitchFamily="2" charset="0"/>
              </a:rPr>
              <a:t>’ and ‘Free Items’ categories</a:t>
            </a:r>
            <a:endParaRPr lang="en-US" sz="2000" b="0" dirty="0">
              <a:effectLst/>
              <a:latin typeface="Sitka Text" pitchFamily="2" charset="0"/>
            </a:endParaRPr>
          </a:p>
        </p:txBody>
      </p:sp>
      <p:sp>
        <p:nvSpPr>
          <p:cNvPr id="6" name="Rectangle 5"/>
          <p:cNvSpPr/>
          <p:nvPr/>
        </p:nvSpPr>
        <p:spPr>
          <a:xfrm>
            <a:off x="1098437" y="5412164"/>
            <a:ext cx="3498073" cy="369332"/>
          </a:xfrm>
          <a:prstGeom prst="rect">
            <a:avLst/>
          </a:prstGeom>
        </p:spPr>
        <p:txBody>
          <a:bodyPr wrap="none">
            <a:spAutoFit/>
          </a:bodyPr>
          <a:lstStyle/>
          <a:p>
            <a:r>
              <a:rPr lang="en-US" dirty="0">
                <a:latin typeface="Sitka Text" pitchFamily="2" charset="0"/>
              </a:rPr>
              <a:t>Multiclass image classification</a:t>
            </a:r>
            <a:endParaRPr lang="en-US" dirty="0"/>
          </a:p>
        </p:txBody>
      </p:sp>
      <p:sp>
        <p:nvSpPr>
          <p:cNvPr id="7" name="Rectangle 6"/>
          <p:cNvSpPr/>
          <p:nvPr/>
        </p:nvSpPr>
        <p:spPr>
          <a:xfrm>
            <a:off x="2277532" y="6009619"/>
            <a:ext cx="1540806" cy="369332"/>
          </a:xfrm>
          <a:prstGeom prst="rect">
            <a:avLst/>
          </a:prstGeom>
        </p:spPr>
        <p:txBody>
          <a:bodyPr wrap="none">
            <a:spAutoFit/>
          </a:bodyPr>
          <a:lstStyle/>
          <a:p>
            <a:r>
              <a:rPr lang="en-US" dirty="0" smtClean="0">
                <a:latin typeface="Sitka Text" pitchFamily="2" charset="0"/>
              </a:rPr>
              <a:t>#Classes = 4</a:t>
            </a:r>
            <a:endParaRPr lang="en-US" dirty="0"/>
          </a:p>
        </p:txBody>
      </p:sp>
    </p:spTree>
    <p:extLst>
      <p:ext uri="{BB962C8B-B14F-4D97-AF65-F5344CB8AC3E}">
        <p14:creationId xmlns:p14="http://schemas.microsoft.com/office/powerpoint/2010/main" val="2427594501"/>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Sitka Text" pitchFamily="2" charset="0"/>
              </a:rPr>
              <a:t>Problem Formulation</a:t>
            </a:r>
            <a:endParaRPr lang="en-US" dirty="0">
              <a:latin typeface="Sitka Text" pitchFamily="2" charset="0"/>
            </a:endParaRPr>
          </a:p>
        </p:txBody>
      </p:sp>
      <p:sp>
        <p:nvSpPr>
          <p:cNvPr id="3" name="Content Placeholder 2"/>
          <p:cNvSpPr>
            <a:spLocks noGrp="1"/>
          </p:cNvSpPr>
          <p:nvPr>
            <p:ph idx="1"/>
          </p:nvPr>
        </p:nvSpPr>
        <p:spPr>
          <a:xfrm>
            <a:off x="838200" y="1540042"/>
            <a:ext cx="10515600" cy="4636921"/>
          </a:xfrm>
        </p:spPr>
        <p:txBody>
          <a:bodyPr>
            <a:normAutofit/>
          </a:bodyPr>
          <a:lstStyle/>
          <a:p>
            <a:pPr marL="0" indent="0">
              <a:lnSpc>
                <a:spcPct val="150000"/>
              </a:lnSpc>
              <a:buNone/>
            </a:pPr>
            <a:r>
              <a:rPr lang="en-US" sz="2000" b="1" dirty="0" smtClean="0">
                <a:latin typeface="Sitka Text" pitchFamily="2" charset="0"/>
              </a:rPr>
              <a:t>Task:</a:t>
            </a:r>
            <a:r>
              <a:rPr lang="en-US" sz="2000" dirty="0" smtClean="0">
                <a:latin typeface="Sitka Text" pitchFamily="2" charset="0"/>
              </a:rPr>
              <a:t> Multiclass image classification</a:t>
            </a:r>
            <a:br>
              <a:rPr lang="en-US" sz="2000" dirty="0" smtClean="0">
                <a:latin typeface="Sitka Text" pitchFamily="2" charset="0"/>
              </a:rPr>
            </a:br>
            <a:r>
              <a:rPr lang="en-US" sz="2000" b="1" dirty="0" smtClean="0">
                <a:latin typeface="Sitka Text" pitchFamily="2" charset="0"/>
              </a:rPr>
              <a:t>Input:</a:t>
            </a:r>
            <a:r>
              <a:rPr lang="en-US" sz="2000" dirty="0" smtClean="0">
                <a:latin typeface="Sitka Text" pitchFamily="2" charset="0"/>
              </a:rPr>
              <a:t> Product images</a:t>
            </a:r>
            <a:br>
              <a:rPr lang="en-US" sz="2000" dirty="0" smtClean="0">
                <a:latin typeface="Sitka Text" pitchFamily="2" charset="0"/>
              </a:rPr>
            </a:br>
            <a:r>
              <a:rPr lang="en-US" sz="2000" b="1" dirty="0" smtClean="0">
                <a:latin typeface="Sitka Text" pitchFamily="2" charset="0"/>
              </a:rPr>
              <a:t>Output:</a:t>
            </a:r>
            <a:r>
              <a:rPr lang="en-US" sz="2000" dirty="0" smtClean="0">
                <a:latin typeface="Sitka Text" pitchFamily="2" charset="0"/>
              </a:rPr>
              <a:t> Product category label</a:t>
            </a:r>
            <a:endParaRPr lang="en-US" sz="2000" dirty="0">
              <a:latin typeface="Sitka Text" pitchFamily="2" charset="0"/>
            </a:endParaRPr>
          </a:p>
        </p:txBody>
      </p:sp>
      <p:pic>
        <p:nvPicPr>
          <p:cNvPr id="4" name="Picture 2" descr="https://datasets-server.huggingface.co/assets/ceyda/fashion-products-small/--/default/train/0/image/image.jpg?Expires=1768289120&amp;Signature=Fc1xaW~Xzv5qOU4BS-R8U5kxqYwF3pti40XemU8cE8CslTjYzgYp2WquHr2U2rMOK47QlTyGJ7b0q6l0Ztaty29ft1o6zaq53L8jeAhSEgFu9AFePbhVh~A3~qxTDkAn0vKhMW7IZ2mTarvHXq6oJ1ANll6wX6PXsPeMChA9UUtjvsYtVj~aooq0Twhf02XKO3q2T~Dp~5Jyi0M~J-ZDcoMv~2J0f6oQHic5UIMg6y10QlsF0S~Tms-sWNwobvQymadKU~9xzggR7qU8N8T4Bdl2DlGTZ6zJwdBw6qsxxjdbyxDYWFgbK5U45~7-Pz2CrDnQ8C9N8j~bWgup0BY96w__&amp;Key-Pair-Id=K3EI6M078Z3AC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84949" y="3329574"/>
            <a:ext cx="2013284" cy="2684379"/>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2286001" y="6256421"/>
            <a:ext cx="1029449" cy="369332"/>
          </a:xfrm>
          <a:prstGeom prst="rect">
            <a:avLst/>
          </a:prstGeom>
          <a:noFill/>
        </p:spPr>
        <p:txBody>
          <a:bodyPr wrap="none" rtlCol="0">
            <a:spAutoFit/>
          </a:bodyPr>
          <a:lstStyle/>
          <a:p>
            <a:r>
              <a:rPr lang="en-US" dirty="0">
                <a:latin typeface="Sitka Text" pitchFamily="2" charset="0"/>
              </a:rPr>
              <a:t>Apparel</a:t>
            </a:r>
          </a:p>
        </p:txBody>
      </p:sp>
      <p:sp>
        <p:nvSpPr>
          <p:cNvPr id="7" name="TextBox 6"/>
          <p:cNvSpPr txBox="1"/>
          <p:nvPr/>
        </p:nvSpPr>
        <p:spPr>
          <a:xfrm>
            <a:off x="4616117" y="6255978"/>
            <a:ext cx="1207382" cy="369332"/>
          </a:xfrm>
          <a:prstGeom prst="rect">
            <a:avLst/>
          </a:prstGeom>
          <a:noFill/>
        </p:spPr>
        <p:txBody>
          <a:bodyPr wrap="none" rtlCol="0">
            <a:spAutoFit/>
          </a:bodyPr>
          <a:lstStyle/>
          <a:p>
            <a:r>
              <a:rPr lang="en-US" dirty="0">
                <a:solidFill>
                  <a:schemeClr val="dk1"/>
                </a:solidFill>
                <a:latin typeface="Sitka Text" pitchFamily="2" charset="0"/>
              </a:rPr>
              <a:t>Footwear</a:t>
            </a:r>
            <a:endParaRPr lang="en-US" dirty="0">
              <a:latin typeface="Sitka Text" pitchFamily="2" charset="0"/>
            </a:endParaRPr>
          </a:p>
        </p:txBody>
      </p:sp>
      <p:pic>
        <p:nvPicPr>
          <p:cNvPr id="8" name="Picture 6" descr="https://datasets-server.huggingface.co/assets/ceyda/fashion-products-small/--/default/train/9/image/image.jpg?Expires=1768289120&amp;Signature=aN-n8NMjYMrWMlqoWIAbd1NZiHTM7O0l~VHb8wNazjTnjdf2NO0YcJaYfL0zPh28UqOcr1iPbfH1PKccgMHvlFFz0KGGRlFdVTUdd-p-xCu0mv~Pt7oTWllc9pK~rk6vlcQ~24BIHe2k8RW4GuKNSauNQx88qTgKUqo7LLqJJeftnkH5shgfpeY-sPNAGkvo8oqnpUWrgNuppjgamI252O6YhpbadUulcGc9jYNz6UxLpKJeSww6l7Kb0PksO5Z53UV-YJ9CkudzyES3KPE983BPWgukf4kLn-AkLVeOIVcERyoKrB8Y9LBYdRmk7Q4AAPPG1odMncFTSIs5hDppzQ__&amp;Key-Pair-Id=K3EI6M078Z3AC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32461" y="3364471"/>
            <a:ext cx="1987111" cy="2649482"/>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p:cNvSpPr txBox="1"/>
          <p:nvPr/>
        </p:nvSpPr>
        <p:spPr>
          <a:xfrm>
            <a:off x="6879680" y="6255978"/>
            <a:ext cx="1268296" cy="646331"/>
          </a:xfrm>
          <a:prstGeom prst="rect">
            <a:avLst/>
          </a:prstGeom>
          <a:noFill/>
        </p:spPr>
        <p:txBody>
          <a:bodyPr wrap="none" rtlCol="0">
            <a:spAutoFit/>
          </a:bodyPr>
          <a:lstStyle/>
          <a:p>
            <a:r>
              <a:rPr lang="en-US" dirty="0"/>
              <a:t>Accessories</a:t>
            </a:r>
            <a:endParaRPr lang="en-US" dirty="0">
              <a:latin typeface="Sitka Text" pitchFamily="2" charset="0"/>
            </a:endParaRPr>
          </a:p>
          <a:p>
            <a:endParaRPr lang="en-US" dirty="0">
              <a:latin typeface="Sitka Text" pitchFamily="2" charset="0"/>
            </a:endParaRPr>
          </a:p>
        </p:txBody>
      </p:sp>
      <p:sp>
        <p:nvSpPr>
          <p:cNvPr id="11" name="TextBox 10"/>
          <p:cNvSpPr txBox="1"/>
          <p:nvPr/>
        </p:nvSpPr>
        <p:spPr>
          <a:xfrm>
            <a:off x="8820033" y="6271759"/>
            <a:ext cx="1680268" cy="646331"/>
          </a:xfrm>
          <a:prstGeom prst="rect">
            <a:avLst/>
          </a:prstGeom>
          <a:noFill/>
        </p:spPr>
        <p:txBody>
          <a:bodyPr wrap="none" rtlCol="0">
            <a:spAutoFit/>
          </a:bodyPr>
          <a:lstStyle/>
          <a:p>
            <a:r>
              <a:rPr lang="en-US" dirty="0">
                <a:solidFill>
                  <a:schemeClr val="dk1"/>
                </a:solidFill>
                <a:latin typeface="Sitka Text" pitchFamily="2" charset="0"/>
              </a:rPr>
              <a:t>Personal Care</a:t>
            </a:r>
            <a:endParaRPr lang="en-US" dirty="0">
              <a:latin typeface="Sitka Text" pitchFamily="2" charset="0"/>
            </a:endParaRPr>
          </a:p>
          <a:p>
            <a:endParaRPr lang="en-US" dirty="0">
              <a:latin typeface="Sitka Text" pitchFamily="2" charset="0"/>
            </a:endParaRPr>
          </a:p>
        </p:txBody>
      </p:sp>
      <p:pic>
        <p:nvPicPr>
          <p:cNvPr id="12" name="Picture 2" descr="https://datasets-server.huggingface.co/assets/ceyda/fashion-products-small/--/default/train/10/image/image.jpg?Expires=1768299753&amp;Signature=oafLEEfPRwfE7msE7c8Y6exh0SW~wpB2eNenjPN9StTT~pudrtDzNL~15pgxuUgEk4EooIoe18oU4Q1l8cJfCLtfh7J6~AWap5ZZP9DIeDJ6vjQNI9341qG6Fo44pS5lzoKD~cAu~2iJQ5v9-9I2k4z5IO7AG9xE-SHYckp4uHGaHfRqZ~9Ljp5MymiotrqSShVwXVRw3ONf~4Rj3B1tfI3PKRhvHbST3RIkn3JhWNoPN-xYqJ3yGXWrNowmq18gDwuk1L56iHJtKcKgsQzCW79CtA1CUem-pe-3YnsXdQ-CMT9DxHAzAnEqg1RRRArgJmtBpVnyA9x2dYxO~d~k7A__&amp;Key-Pair-Id=K3EI6M078Z3AC3"/>
          <p:cNvPicPr>
            <a:picLocks noChangeAspect="1" noChangeArrowheads="1"/>
          </p:cNvPicPr>
          <p:nvPr/>
        </p:nvPicPr>
        <p:blipFill rotWithShape="1">
          <a:blip r:embed="rId5">
            <a:extLst>
              <a:ext uri="{28A0092B-C50C-407E-A947-70E740481C1C}">
                <a14:useLocalDpi xmlns:a14="http://schemas.microsoft.com/office/drawing/2010/main" val="0"/>
              </a:ext>
            </a:extLst>
          </a:blip>
          <a:srcRect b="28505"/>
          <a:stretch/>
        </p:blipFill>
        <p:spPr bwMode="auto">
          <a:xfrm>
            <a:off x="4281859" y="3581875"/>
            <a:ext cx="1966975" cy="1875062"/>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4" descr="https://datasets-server.huggingface.co/assets/ceyda/fashion-products-small/--/default/train/24/image/image.jpg?Expires=1768299753&amp;Signature=VzfDrGwP2h4cGu-A6QiSgPamiVsdg3Haph8nff8iGN8dt7D6hjm3ae3cMKZYroHWpB3R-oE4n-nTnotr6bSGwY66C6MXsZjUTY6xPPohkK9zsXmvB489BdUdlHUKtFqY9T5xrxSvBWd4seKkDTmVGc2j7SbiHWbPscoE5kinA5fA5JTbT-9RNNyAJ2gSqrV~AG-S3ZMUIQpjz1Z6vYXkKeqcFU3Rt9mah5MIOUvQ6dtq4DAHgYycUrGTrJEjp7yAYE8BsZBsJxYz9tYJfpuOEepz~T-HKgTH4~oNdz3RoZV-EJ3Gy72~2VJzBpN47yeVsyFSJIh4F3yBIJUWeTP6hw__&amp;Key-Pair-Id=K3EI6M078Z3AC3"/>
          <p:cNvPicPr>
            <a:picLocks noChangeAspect="1" noChangeArrowheads="1"/>
          </p:cNvPicPr>
          <p:nvPr/>
        </p:nvPicPr>
        <p:blipFill rotWithShape="1">
          <a:blip r:embed="rId6">
            <a:extLst>
              <a:ext uri="{28A0092B-C50C-407E-A947-70E740481C1C}">
                <a14:useLocalDpi xmlns:a14="http://schemas.microsoft.com/office/drawing/2010/main" val="0"/>
              </a:ext>
            </a:extLst>
          </a:blip>
          <a:srcRect l="30369" t="27261" r="30463" b="12195"/>
          <a:stretch/>
        </p:blipFill>
        <p:spPr bwMode="auto">
          <a:xfrm>
            <a:off x="9172860" y="3980615"/>
            <a:ext cx="986590" cy="2033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94042658"/>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Sitka Text" pitchFamily="2" charset="0"/>
              </a:rPr>
              <a:t>Train-Validation-Test Split</a:t>
            </a:r>
            <a:endParaRPr lang="en-US" dirty="0">
              <a:latin typeface="Sitka Text" pitchFamily="2" charset="0"/>
            </a:endParaRPr>
          </a:p>
        </p:txBody>
      </p:sp>
      <p:sp>
        <p:nvSpPr>
          <p:cNvPr id="3" name="Content Placeholder 2"/>
          <p:cNvSpPr>
            <a:spLocks noGrp="1"/>
          </p:cNvSpPr>
          <p:nvPr>
            <p:ph idx="1"/>
          </p:nvPr>
        </p:nvSpPr>
        <p:spPr>
          <a:xfrm>
            <a:off x="1130968" y="1825625"/>
            <a:ext cx="10222832" cy="4351338"/>
          </a:xfrm>
        </p:spPr>
        <p:txBody>
          <a:bodyPr>
            <a:normAutofit/>
          </a:bodyPr>
          <a:lstStyle/>
          <a:p>
            <a:pPr marL="0" indent="0">
              <a:buNone/>
            </a:pPr>
            <a:r>
              <a:rPr lang="en-US" sz="2000" dirty="0" smtClean="0">
                <a:latin typeface="Sitka Text" pitchFamily="2" charset="0"/>
              </a:rPr>
              <a:t>80:20 stratified sampling </a:t>
            </a:r>
          </a:p>
          <a:p>
            <a:pPr marL="0" indent="0">
              <a:buNone/>
            </a:pPr>
            <a:endParaRPr lang="en-US" sz="2400" dirty="0">
              <a:latin typeface="Sitka Text" pitchFamily="2" charset="0"/>
            </a:endParaRPr>
          </a:p>
        </p:txBody>
      </p:sp>
      <p:graphicFrame>
        <p:nvGraphicFramePr>
          <p:cNvPr id="5" name="Content Placeholder 4"/>
          <p:cNvGraphicFramePr>
            <a:graphicFrameLocks/>
          </p:cNvGraphicFramePr>
          <p:nvPr>
            <p:extLst>
              <p:ext uri="{D42A27DB-BD31-4B8C-83A1-F6EECF244321}">
                <p14:modId xmlns:p14="http://schemas.microsoft.com/office/powerpoint/2010/main" val="3108455880"/>
              </p:ext>
            </p:extLst>
          </p:nvPr>
        </p:nvGraphicFramePr>
        <p:xfrm>
          <a:off x="3565851" y="3074194"/>
          <a:ext cx="5060298" cy="1854200"/>
        </p:xfrm>
        <a:graphic>
          <a:graphicData uri="http://schemas.openxmlformats.org/drawingml/2006/table">
            <a:tbl>
              <a:tblPr firstRow="1" bandRow="1">
                <a:tableStyleId>{5C22544A-7EE6-4342-B048-85BDC9FD1C3A}</a:tableStyleId>
              </a:tblPr>
              <a:tblGrid>
                <a:gridCol w="2593824">
                  <a:extLst>
                    <a:ext uri="{9D8B030D-6E8A-4147-A177-3AD203B41FA5}">
                      <a16:colId xmlns:a16="http://schemas.microsoft.com/office/drawing/2014/main" val="1426749751"/>
                    </a:ext>
                  </a:extLst>
                </a:gridCol>
                <a:gridCol w="2466474">
                  <a:extLst>
                    <a:ext uri="{9D8B030D-6E8A-4147-A177-3AD203B41FA5}">
                      <a16:colId xmlns:a16="http://schemas.microsoft.com/office/drawing/2014/main" val="1820159548"/>
                    </a:ext>
                  </a:extLst>
                </a:gridCol>
              </a:tblGrid>
              <a:tr h="370840">
                <a:tc>
                  <a:txBody>
                    <a:bodyPr/>
                    <a:lstStyle/>
                    <a:p>
                      <a:r>
                        <a:rPr lang="en-US" dirty="0" smtClean="0">
                          <a:latin typeface="Sitka Text" pitchFamily="2" charset="0"/>
                        </a:rPr>
                        <a:t>Data</a:t>
                      </a:r>
                      <a:endParaRPr lang="en-US" dirty="0">
                        <a:latin typeface="Sitka Text" pitchFamily="2" charset="0"/>
                      </a:endParaRPr>
                    </a:p>
                  </a:txBody>
                  <a:tcPr/>
                </a:tc>
                <a:tc>
                  <a:txBody>
                    <a:bodyPr/>
                    <a:lstStyle/>
                    <a:p>
                      <a:r>
                        <a:rPr lang="en-US" sz="1800" b="0" i="0" kern="1200" dirty="0" smtClean="0">
                          <a:solidFill>
                            <a:schemeClr val="lt1"/>
                          </a:solidFill>
                          <a:effectLst/>
                          <a:latin typeface="Sitka Text" pitchFamily="2" charset="0"/>
                          <a:ea typeface="+mn-ea"/>
                          <a:cs typeface="+mn-cs"/>
                        </a:rPr>
                        <a:t>Number of images</a:t>
                      </a:r>
                      <a:endParaRPr lang="en-US" dirty="0">
                        <a:latin typeface="Sitka Text" pitchFamily="2" charset="0"/>
                      </a:endParaRPr>
                    </a:p>
                  </a:txBody>
                  <a:tcPr/>
                </a:tc>
                <a:extLst>
                  <a:ext uri="{0D108BD9-81ED-4DB2-BD59-A6C34878D82A}">
                    <a16:rowId xmlns:a16="http://schemas.microsoft.com/office/drawing/2014/main" val="1021612066"/>
                  </a:ext>
                </a:extLst>
              </a:tr>
              <a:tr h="370840">
                <a:tc>
                  <a:txBody>
                    <a:bodyPr/>
                    <a:lstStyle/>
                    <a:p>
                      <a:r>
                        <a:rPr lang="en-US" sz="1800" b="0" i="0" kern="1200" dirty="0" smtClean="0">
                          <a:solidFill>
                            <a:schemeClr val="dk1"/>
                          </a:solidFill>
                          <a:effectLst/>
                          <a:latin typeface="Sitka Text" pitchFamily="2" charset="0"/>
                          <a:ea typeface="+mn-ea"/>
                          <a:cs typeface="+mn-cs"/>
                        </a:rPr>
                        <a:t>Training Set</a:t>
                      </a:r>
                      <a:endParaRPr lang="en-US" dirty="0">
                        <a:latin typeface="Sitka Text" pitchFamily="2" charset="0"/>
                      </a:endParaRPr>
                    </a:p>
                  </a:txBody>
                  <a:tcPr/>
                </a:tc>
                <a:tc>
                  <a:txBody>
                    <a:bodyPr/>
                    <a:lstStyle/>
                    <a:p>
                      <a:pPr algn="r"/>
                      <a:r>
                        <a:rPr lang="en-US" sz="1800" b="0" i="0" kern="1200" dirty="0" smtClean="0">
                          <a:solidFill>
                            <a:schemeClr val="dk1"/>
                          </a:solidFill>
                          <a:effectLst/>
                          <a:latin typeface="Sitka Text" pitchFamily="2" charset="0"/>
                          <a:ea typeface="+mn-ea"/>
                          <a:cs typeface="+mn-cs"/>
                        </a:rPr>
                        <a:t>27244</a:t>
                      </a:r>
                      <a:endParaRPr lang="en-US" dirty="0">
                        <a:latin typeface="Sitka Text" pitchFamily="2" charset="0"/>
                      </a:endParaRPr>
                    </a:p>
                  </a:txBody>
                  <a:tcPr/>
                </a:tc>
                <a:extLst>
                  <a:ext uri="{0D108BD9-81ED-4DB2-BD59-A6C34878D82A}">
                    <a16:rowId xmlns:a16="http://schemas.microsoft.com/office/drawing/2014/main" val="4123747846"/>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latin typeface="Sitka Text" pitchFamily="2" charset="0"/>
                        </a:rPr>
                        <a:t>Validation</a:t>
                      </a:r>
                      <a:r>
                        <a:rPr lang="en-US" baseline="0" dirty="0" smtClean="0">
                          <a:latin typeface="Sitka Text" pitchFamily="2" charset="0"/>
                        </a:rPr>
                        <a:t> Set</a:t>
                      </a:r>
                      <a:endParaRPr lang="en-US" dirty="0" smtClean="0">
                        <a:latin typeface="Sitka Text" pitchFamily="2" charset="0"/>
                      </a:endParaRPr>
                    </a:p>
                  </a:txBody>
                  <a:tcPr/>
                </a:tc>
                <a:tc>
                  <a:txBody>
                    <a:bodyPr/>
                    <a:lstStyle/>
                    <a:p>
                      <a:pPr algn="r"/>
                      <a:r>
                        <a:rPr lang="en-US" dirty="0" smtClean="0">
                          <a:latin typeface="Sitka Text" pitchFamily="2" charset="0"/>
                        </a:rPr>
                        <a:t>6812</a:t>
                      </a:r>
                      <a:endParaRPr lang="en-US" dirty="0">
                        <a:latin typeface="Sitka Text" pitchFamily="2" charset="0"/>
                      </a:endParaRPr>
                    </a:p>
                  </a:txBody>
                  <a:tcPr/>
                </a:tc>
                <a:extLst>
                  <a:ext uri="{0D108BD9-81ED-4DB2-BD59-A6C34878D82A}">
                    <a16:rowId xmlns:a16="http://schemas.microsoft.com/office/drawing/2014/main" val="1000426581"/>
                  </a:ext>
                </a:extLst>
              </a:tr>
              <a:tr h="370840">
                <a:tc>
                  <a:txBody>
                    <a:bodyPr/>
                    <a:lstStyle/>
                    <a:p>
                      <a:r>
                        <a:rPr lang="en-US" sz="1800" b="0" i="0" kern="1200" dirty="0" smtClean="0">
                          <a:solidFill>
                            <a:schemeClr val="dk1"/>
                          </a:solidFill>
                          <a:effectLst/>
                          <a:latin typeface="Sitka Text" pitchFamily="2" charset="0"/>
                          <a:ea typeface="+mn-ea"/>
                          <a:cs typeface="+mn-cs"/>
                        </a:rPr>
                        <a:t>Test Set</a:t>
                      </a:r>
                      <a:endParaRPr lang="en-US" dirty="0">
                        <a:latin typeface="Sitka Text" pitchFamily="2" charset="0"/>
                      </a:endParaRPr>
                    </a:p>
                  </a:txBody>
                  <a:tcPr/>
                </a:tc>
                <a:tc>
                  <a:txBody>
                    <a:bodyPr/>
                    <a:lstStyle/>
                    <a:p>
                      <a:pPr algn="r"/>
                      <a:r>
                        <a:rPr lang="en-US" sz="1800" b="0" i="0" kern="1200" dirty="0" smtClean="0">
                          <a:solidFill>
                            <a:schemeClr val="dk1"/>
                          </a:solidFill>
                          <a:effectLst/>
                          <a:latin typeface="Sitka Text" pitchFamily="2" charset="0"/>
                          <a:ea typeface="+mn-ea"/>
                          <a:cs typeface="+mn-cs"/>
                        </a:rPr>
                        <a:t>8515</a:t>
                      </a:r>
                      <a:endParaRPr lang="en-US" dirty="0">
                        <a:latin typeface="Sitka Text" pitchFamily="2" charset="0"/>
                      </a:endParaRPr>
                    </a:p>
                  </a:txBody>
                  <a:tcPr/>
                </a:tc>
                <a:extLst>
                  <a:ext uri="{0D108BD9-81ED-4DB2-BD59-A6C34878D82A}">
                    <a16:rowId xmlns:a16="http://schemas.microsoft.com/office/drawing/2014/main" val="3680420316"/>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latin typeface="Sitka Text" pitchFamily="2" charset="0"/>
                        </a:rPr>
                        <a:t>Total</a:t>
                      </a:r>
                    </a:p>
                  </a:txBody>
                  <a:tcPr/>
                </a:tc>
                <a:tc>
                  <a:txBody>
                    <a:bodyPr/>
                    <a:lstStyle/>
                    <a:p>
                      <a:pPr algn="r"/>
                      <a:r>
                        <a:rPr lang="en-US" dirty="0" smtClean="0">
                          <a:latin typeface="Sitka Text" pitchFamily="2" charset="0"/>
                        </a:rPr>
                        <a:t>42571</a:t>
                      </a:r>
                      <a:endParaRPr lang="en-US" dirty="0">
                        <a:latin typeface="Sitka Text" pitchFamily="2" charset="0"/>
                      </a:endParaRPr>
                    </a:p>
                  </a:txBody>
                  <a:tcPr/>
                </a:tc>
                <a:extLst>
                  <a:ext uri="{0D108BD9-81ED-4DB2-BD59-A6C34878D82A}">
                    <a16:rowId xmlns:a16="http://schemas.microsoft.com/office/drawing/2014/main" val="1657109749"/>
                  </a:ext>
                </a:extLst>
              </a:tr>
            </a:tbl>
          </a:graphicData>
        </a:graphic>
      </p:graphicFrame>
    </p:spTree>
    <p:extLst>
      <p:ext uri="{BB962C8B-B14F-4D97-AF65-F5344CB8AC3E}">
        <p14:creationId xmlns:p14="http://schemas.microsoft.com/office/powerpoint/2010/main" val="42493594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Sitka Text" pitchFamily="2" charset="0"/>
              </a:rPr>
              <a:t>Train-Validation-Test Split</a:t>
            </a:r>
            <a:endParaRPr lang="en-US" dirty="0">
              <a:latin typeface="Sitka Text" pitchFamily="2" charset="0"/>
            </a:endParaRPr>
          </a:p>
        </p:txBody>
      </p:sp>
      <p:graphicFrame>
        <p:nvGraphicFramePr>
          <p:cNvPr id="4" name="Content Placeholder 4"/>
          <p:cNvGraphicFramePr>
            <a:graphicFrameLocks/>
          </p:cNvGraphicFramePr>
          <p:nvPr>
            <p:extLst>
              <p:ext uri="{D42A27DB-BD31-4B8C-83A1-F6EECF244321}">
                <p14:modId xmlns:p14="http://schemas.microsoft.com/office/powerpoint/2010/main" val="1470789659"/>
              </p:ext>
            </p:extLst>
          </p:nvPr>
        </p:nvGraphicFramePr>
        <p:xfrm>
          <a:off x="838200" y="2672030"/>
          <a:ext cx="4736431" cy="2494280"/>
        </p:xfrm>
        <a:graphic>
          <a:graphicData uri="http://schemas.openxmlformats.org/drawingml/2006/table">
            <a:tbl>
              <a:tblPr firstRow="1" bandRow="1">
                <a:tableStyleId>{5C22544A-7EE6-4342-B048-85BDC9FD1C3A}</a:tableStyleId>
              </a:tblPr>
              <a:tblGrid>
                <a:gridCol w="645694">
                  <a:extLst>
                    <a:ext uri="{9D8B030D-6E8A-4147-A177-3AD203B41FA5}">
                      <a16:colId xmlns:a16="http://schemas.microsoft.com/office/drawing/2014/main" val="2239244100"/>
                    </a:ext>
                  </a:extLst>
                </a:gridCol>
                <a:gridCol w="2069432">
                  <a:extLst>
                    <a:ext uri="{9D8B030D-6E8A-4147-A177-3AD203B41FA5}">
                      <a16:colId xmlns:a16="http://schemas.microsoft.com/office/drawing/2014/main" val="1426749751"/>
                    </a:ext>
                  </a:extLst>
                </a:gridCol>
                <a:gridCol w="2021305">
                  <a:extLst>
                    <a:ext uri="{9D8B030D-6E8A-4147-A177-3AD203B41FA5}">
                      <a16:colId xmlns:a16="http://schemas.microsoft.com/office/drawing/2014/main" val="1820159548"/>
                    </a:ext>
                  </a:extLst>
                </a:gridCol>
              </a:tblGrid>
              <a:tr h="511342">
                <a:tc>
                  <a:txBody>
                    <a:bodyPr/>
                    <a:lstStyle/>
                    <a:p>
                      <a:r>
                        <a:rPr lang="en-US" dirty="0" smtClean="0">
                          <a:latin typeface="Sitka Text" pitchFamily="2" charset="0"/>
                        </a:rPr>
                        <a:t>Sl. No.</a:t>
                      </a:r>
                      <a:endParaRPr lang="en-US" dirty="0">
                        <a:latin typeface="Sitka Text" pitchFamily="2" charset="0"/>
                      </a:endParaRPr>
                    </a:p>
                  </a:txBody>
                  <a:tcPr/>
                </a:tc>
                <a:tc>
                  <a:txBody>
                    <a:bodyPr/>
                    <a:lstStyle/>
                    <a:p>
                      <a:r>
                        <a:rPr lang="en-US" dirty="0" smtClean="0">
                          <a:latin typeface="Sitka Text" pitchFamily="2" charset="0"/>
                        </a:rPr>
                        <a:t>Category</a:t>
                      </a:r>
                      <a:endParaRPr lang="en-US" dirty="0">
                        <a:latin typeface="Sitka Text" pitchFamily="2" charset="0"/>
                      </a:endParaRPr>
                    </a:p>
                  </a:txBody>
                  <a:tcPr/>
                </a:tc>
                <a:tc>
                  <a:txBody>
                    <a:bodyPr/>
                    <a:lstStyle/>
                    <a:p>
                      <a:r>
                        <a:rPr lang="en-US" sz="1800" b="0" i="0" kern="1200" dirty="0" smtClean="0">
                          <a:solidFill>
                            <a:schemeClr val="lt1"/>
                          </a:solidFill>
                          <a:effectLst/>
                          <a:latin typeface="Sitka Text" pitchFamily="2" charset="0"/>
                          <a:ea typeface="+mn-ea"/>
                          <a:cs typeface="+mn-cs"/>
                        </a:rPr>
                        <a:t>#images in Training Set</a:t>
                      </a:r>
                      <a:endParaRPr lang="en-US" dirty="0">
                        <a:latin typeface="Sitka Text" pitchFamily="2" charset="0"/>
                      </a:endParaRPr>
                    </a:p>
                  </a:txBody>
                  <a:tcPr/>
                </a:tc>
                <a:extLst>
                  <a:ext uri="{0D108BD9-81ED-4DB2-BD59-A6C34878D82A}">
                    <a16:rowId xmlns:a16="http://schemas.microsoft.com/office/drawing/2014/main" val="1021612066"/>
                  </a:ext>
                </a:extLst>
              </a:tr>
              <a:tr h="370840">
                <a:tc>
                  <a:txBody>
                    <a:bodyPr/>
                    <a:lstStyle/>
                    <a:p>
                      <a:r>
                        <a:rPr lang="en-US" dirty="0" smtClean="0">
                          <a:latin typeface="Sitka Text" pitchFamily="2" charset="0"/>
                        </a:rPr>
                        <a:t>1</a:t>
                      </a:r>
                      <a:endParaRPr lang="en-US" dirty="0">
                        <a:latin typeface="Sitka Text" pitchFamily="2" charset="0"/>
                      </a:endParaRPr>
                    </a:p>
                  </a:txBody>
                  <a:tcPr/>
                </a:tc>
                <a:tc>
                  <a:txBody>
                    <a:bodyPr/>
                    <a:lstStyle/>
                    <a:p>
                      <a:r>
                        <a:rPr lang="en-US" sz="1800" b="0" i="0" kern="1200" dirty="0" smtClean="0">
                          <a:solidFill>
                            <a:schemeClr val="dk1"/>
                          </a:solidFill>
                          <a:effectLst/>
                          <a:latin typeface="Sitka Text" pitchFamily="2" charset="0"/>
                          <a:ea typeface="+mn-ea"/>
                          <a:cs typeface="+mn-cs"/>
                        </a:rPr>
                        <a:t>Apparel</a:t>
                      </a:r>
                      <a:endParaRPr lang="en-US" dirty="0">
                        <a:latin typeface="Sitka Text" pitchFamily="2" charset="0"/>
                      </a:endParaRPr>
                    </a:p>
                  </a:txBody>
                  <a:tcPr/>
                </a:tc>
                <a:tc>
                  <a:txBody>
                    <a:bodyPr/>
                    <a:lstStyle/>
                    <a:p>
                      <a:pPr algn="r"/>
                      <a:r>
                        <a:rPr lang="en-US" sz="1800" b="0" i="0" kern="1200" dirty="0" smtClean="0">
                          <a:solidFill>
                            <a:schemeClr val="dk1"/>
                          </a:solidFill>
                          <a:effectLst/>
                          <a:latin typeface="Sitka Text" pitchFamily="2" charset="0"/>
                          <a:ea typeface="+mn-ea"/>
                          <a:cs typeface="+mn-cs"/>
                        </a:rPr>
                        <a:t>13012</a:t>
                      </a:r>
                      <a:endParaRPr lang="en-US" dirty="0">
                        <a:latin typeface="Sitka Text" pitchFamily="2" charset="0"/>
                      </a:endParaRPr>
                    </a:p>
                  </a:txBody>
                  <a:tcPr/>
                </a:tc>
                <a:extLst>
                  <a:ext uri="{0D108BD9-81ED-4DB2-BD59-A6C34878D82A}">
                    <a16:rowId xmlns:a16="http://schemas.microsoft.com/office/drawing/2014/main" val="4123747846"/>
                  </a:ext>
                </a:extLst>
              </a:tr>
              <a:tr h="370840">
                <a:tc>
                  <a:txBody>
                    <a:bodyPr/>
                    <a:lstStyle/>
                    <a:p>
                      <a:r>
                        <a:rPr lang="en-US" dirty="0" smtClean="0">
                          <a:latin typeface="Sitka Text" pitchFamily="2" charset="0"/>
                        </a:rPr>
                        <a:t>2</a:t>
                      </a:r>
                      <a:endParaRPr lang="en-US" dirty="0">
                        <a:latin typeface="Sitka Text" pitchFamily="2" charset="0"/>
                      </a:endParaRPr>
                    </a:p>
                  </a:txBody>
                  <a:tcPr/>
                </a:tc>
                <a:tc>
                  <a:txBody>
                    <a:bodyPr/>
                    <a:lstStyle/>
                    <a:p>
                      <a:r>
                        <a:rPr lang="en-US" sz="1800" b="0" i="0" kern="1200" dirty="0" smtClean="0">
                          <a:solidFill>
                            <a:schemeClr val="dk1"/>
                          </a:solidFill>
                          <a:effectLst/>
                          <a:latin typeface="Sitka Text" pitchFamily="2" charset="0"/>
                          <a:ea typeface="+mn-ea"/>
                          <a:cs typeface="+mn-cs"/>
                        </a:rPr>
                        <a:t>Accessories</a:t>
                      </a:r>
                      <a:endParaRPr lang="en-US" dirty="0">
                        <a:latin typeface="Sitka Text" pitchFamily="2" charset="0"/>
                      </a:endParaRPr>
                    </a:p>
                  </a:txBody>
                  <a:tcPr/>
                </a:tc>
                <a:tc>
                  <a:txBody>
                    <a:bodyPr/>
                    <a:lstStyle/>
                    <a:p>
                      <a:pPr algn="r"/>
                      <a:r>
                        <a:rPr lang="en-US" sz="1800" b="0" i="0" kern="1200" dirty="0" smtClean="0">
                          <a:solidFill>
                            <a:schemeClr val="dk1"/>
                          </a:solidFill>
                          <a:effectLst/>
                          <a:latin typeface="Sitka Text" pitchFamily="2" charset="0"/>
                          <a:ea typeface="+mn-ea"/>
                          <a:cs typeface="+mn-cs"/>
                        </a:rPr>
                        <a:t>7125</a:t>
                      </a:r>
                      <a:endParaRPr lang="en-US" dirty="0">
                        <a:latin typeface="Sitka Text" pitchFamily="2" charset="0"/>
                      </a:endParaRPr>
                    </a:p>
                  </a:txBody>
                  <a:tcPr/>
                </a:tc>
                <a:extLst>
                  <a:ext uri="{0D108BD9-81ED-4DB2-BD59-A6C34878D82A}">
                    <a16:rowId xmlns:a16="http://schemas.microsoft.com/office/drawing/2014/main" val="3680420316"/>
                  </a:ext>
                </a:extLst>
              </a:tr>
              <a:tr h="370840">
                <a:tc>
                  <a:txBody>
                    <a:bodyPr/>
                    <a:lstStyle/>
                    <a:p>
                      <a:r>
                        <a:rPr lang="en-US" dirty="0" smtClean="0">
                          <a:latin typeface="Sitka Text" pitchFamily="2" charset="0"/>
                        </a:rPr>
                        <a:t>3</a:t>
                      </a:r>
                      <a:endParaRPr lang="en-US" dirty="0">
                        <a:latin typeface="Sitka Text" pitchFamily="2" charset="0"/>
                      </a:endParaRPr>
                    </a:p>
                  </a:txBody>
                  <a:tcPr/>
                </a:tc>
                <a:tc>
                  <a:txBody>
                    <a:bodyPr/>
                    <a:lstStyle/>
                    <a:p>
                      <a:r>
                        <a:rPr lang="en-US" sz="1800" b="0" i="0" kern="1200" dirty="0" smtClean="0">
                          <a:solidFill>
                            <a:schemeClr val="dk1"/>
                          </a:solidFill>
                          <a:effectLst/>
                          <a:latin typeface="Sitka Text" pitchFamily="2" charset="0"/>
                          <a:ea typeface="+mn-ea"/>
                          <a:cs typeface="+mn-cs"/>
                        </a:rPr>
                        <a:t>Footwear</a:t>
                      </a:r>
                      <a:endParaRPr lang="en-US" dirty="0">
                        <a:latin typeface="Sitka Text" pitchFamily="2" charset="0"/>
                      </a:endParaRPr>
                    </a:p>
                  </a:txBody>
                  <a:tcPr/>
                </a:tc>
                <a:tc>
                  <a:txBody>
                    <a:bodyPr/>
                    <a:lstStyle/>
                    <a:p>
                      <a:pPr algn="r"/>
                      <a:r>
                        <a:rPr lang="en-US" dirty="0" smtClean="0">
                          <a:latin typeface="Sitka Text" pitchFamily="2" charset="0"/>
                        </a:rPr>
                        <a:t>5873</a:t>
                      </a:r>
                      <a:endParaRPr lang="en-US" dirty="0">
                        <a:latin typeface="Sitka Text" pitchFamily="2" charset="0"/>
                      </a:endParaRPr>
                    </a:p>
                  </a:txBody>
                  <a:tcPr/>
                </a:tc>
                <a:extLst>
                  <a:ext uri="{0D108BD9-81ED-4DB2-BD59-A6C34878D82A}">
                    <a16:rowId xmlns:a16="http://schemas.microsoft.com/office/drawing/2014/main" val="98431685"/>
                  </a:ext>
                </a:extLst>
              </a:tr>
              <a:tr h="370840">
                <a:tc>
                  <a:txBody>
                    <a:bodyPr/>
                    <a:lstStyle/>
                    <a:p>
                      <a:r>
                        <a:rPr lang="en-US" dirty="0" smtClean="0">
                          <a:latin typeface="Sitka Text" pitchFamily="2" charset="0"/>
                        </a:rPr>
                        <a:t>4</a:t>
                      </a:r>
                      <a:endParaRPr lang="en-US" dirty="0">
                        <a:latin typeface="Sitka Text" pitchFamily="2" charset="0"/>
                      </a:endParaRPr>
                    </a:p>
                  </a:txBody>
                  <a:tcPr/>
                </a:tc>
                <a:tc>
                  <a:txBody>
                    <a:bodyPr/>
                    <a:lstStyle/>
                    <a:p>
                      <a:r>
                        <a:rPr lang="en-US" sz="1800" b="0" i="0" kern="1200" dirty="0" smtClean="0">
                          <a:solidFill>
                            <a:schemeClr val="dk1"/>
                          </a:solidFill>
                          <a:effectLst/>
                          <a:latin typeface="Sitka Text" pitchFamily="2" charset="0"/>
                          <a:ea typeface="+mn-ea"/>
                          <a:cs typeface="+mn-cs"/>
                        </a:rPr>
                        <a:t>Personal Care</a:t>
                      </a:r>
                      <a:endParaRPr lang="en-US" dirty="0">
                        <a:latin typeface="Sitka Text" pitchFamily="2" charset="0"/>
                      </a:endParaRPr>
                    </a:p>
                  </a:txBody>
                  <a:tcPr/>
                </a:tc>
                <a:tc>
                  <a:txBody>
                    <a:bodyPr/>
                    <a:lstStyle/>
                    <a:p>
                      <a:pPr algn="r"/>
                      <a:r>
                        <a:rPr lang="en-US" dirty="0" smtClean="0">
                          <a:latin typeface="Sitka Text" pitchFamily="2" charset="0"/>
                        </a:rPr>
                        <a:t>1234</a:t>
                      </a:r>
                      <a:endParaRPr lang="en-US" dirty="0">
                        <a:latin typeface="Sitka Text" pitchFamily="2" charset="0"/>
                      </a:endParaRPr>
                    </a:p>
                  </a:txBody>
                  <a:tcPr/>
                </a:tc>
                <a:extLst>
                  <a:ext uri="{0D108BD9-81ED-4DB2-BD59-A6C34878D82A}">
                    <a16:rowId xmlns:a16="http://schemas.microsoft.com/office/drawing/2014/main" val="869127079"/>
                  </a:ext>
                </a:extLst>
              </a:tr>
              <a:tr h="370840">
                <a:tc>
                  <a:txBody>
                    <a:bodyPr/>
                    <a:lstStyle/>
                    <a:p>
                      <a:endParaRPr lang="en-US" dirty="0">
                        <a:latin typeface="Sitka Text" pitchFamily="2"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latin typeface="Sitka Text" pitchFamily="2" charset="0"/>
                        </a:rPr>
                        <a:t>Total</a:t>
                      </a:r>
                    </a:p>
                  </a:txBody>
                  <a:tcPr/>
                </a:tc>
                <a:tc>
                  <a:txBody>
                    <a:bodyPr/>
                    <a:lstStyle/>
                    <a:p>
                      <a:pPr algn="r"/>
                      <a:r>
                        <a:rPr lang="en-US" sz="1800" b="0" i="0" kern="1200" dirty="0" smtClean="0">
                          <a:solidFill>
                            <a:schemeClr val="dk1"/>
                          </a:solidFill>
                          <a:effectLst/>
                          <a:latin typeface="Sitka Text" pitchFamily="2" charset="0"/>
                          <a:ea typeface="+mn-ea"/>
                          <a:cs typeface="+mn-cs"/>
                        </a:rPr>
                        <a:t>27244</a:t>
                      </a:r>
                      <a:endParaRPr lang="en-US" dirty="0">
                        <a:latin typeface="Sitka Text" pitchFamily="2" charset="0"/>
                      </a:endParaRPr>
                    </a:p>
                  </a:txBody>
                  <a:tcPr/>
                </a:tc>
                <a:extLst>
                  <a:ext uri="{0D108BD9-81ED-4DB2-BD59-A6C34878D82A}">
                    <a16:rowId xmlns:a16="http://schemas.microsoft.com/office/drawing/2014/main" val="1657109749"/>
                  </a:ext>
                </a:extLst>
              </a:tr>
            </a:tbl>
          </a:graphicData>
        </a:graphic>
      </p:graphicFrame>
      <p:graphicFrame>
        <p:nvGraphicFramePr>
          <p:cNvPr id="6" name="Content Placeholder 4"/>
          <p:cNvGraphicFramePr>
            <a:graphicFrameLocks/>
          </p:cNvGraphicFramePr>
          <p:nvPr>
            <p:extLst>
              <p:ext uri="{D42A27DB-BD31-4B8C-83A1-F6EECF244321}">
                <p14:modId xmlns:p14="http://schemas.microsoft.com/office/powerpoint/2010/main" val="2411948249"/>
              </p:ext>
            </p:extLst>
          </p:nvPr>
        </p:nvGraphicFramePr>
        <p:xfrm>
          <a:off x="6785807" y="4221431"/>
          <a:ext cx="4736431" cy="2494280"/>
        </p:xfrm>
        <a:graphic>
          <a:graphicData uri="http://schemas.openxmlformats.org/drawingml/2006/table">
            <a:tbl>
              <a:tblPr firstRow="1" bandRow="1">
                <a:tableStyleId>{5C22544A-7EE6-4342-B048-85BDC9FD1C3A}</a:tableStyleId>
              </a:tblPr>
              <a:tblGrid>
                <a:gridCol w="606139">
                  <a:extLst>
                    <a:ext uri="{9D8B030D-6E8A-4147-A177-3AD203B41FA5}">
                      <a16:colId xmlns:a16="http://schemas.microsoft.com/office/drawing/2014/main" val="2239244100"/>
                    </a:ext>
                  </a:extLst>
                </a:gridCol>
                <a:gridCol w="2112997">
                  <a:extLst>
                    <a:ext uri="{9D8B030D-6E8A-4147-A177-3AD203B41FA5}">
                      <a16:colId xmlns:a16="http://schemas.microsoft.com/office/drawing/2014/main" val="1426749751"/>
                    </a:ext>
                  </a:extLst>
                </a:gridCol>
                <a:gridCol w="2017295">
                  <a:extLst>
                    <a:ext uri="{9D8B030D-6E8A-4147-A177-3AD203B41FA5}">
                      <a16:colId xmlns:a16="http://schemas.microsoft.com/office/drawing/2014/main" val="1820159548"/>
                    </a:ext>
                  </a:extLst>
                </a:gridCol>
              </a:tblGrid>
              <a:tr h="370840">
                <a:tc>
                  <a:txBody>
                    <a:bodyPr/>
                    <a:lstStyle/>
                    <a:p>
                      <a:r>
                        <a:rPr lang="en-US" dirty="0" smtClean="0">
                          <a:latin typeface="Sitka Text" pitchFamily="2" charset="0"/>
                        </a:rPr>
                        <a:t>Sl. No.</a:t>
                      </a:r>
                      <a:endParaRPr lang="en-US" dirty="0">
                        <a:latin typeface="Sitka Text" pitchFamily="2" charset="0"/>
                      </a:endParaRPr>
                    </a:p>
                  </a:txBody>
                  <a:tcPr/>
                </a:tc>
                <a:tc>
                  <a:txBody>
                    <a:bodyPr/>
                    <a:lstStyle/>
                    <a:p>
                      <a:r>
                        <a:rPr lang="en-US" dirty="0" smtClean="0">
                          <a:latin typeface="Sitka Text" pitchFamily="2" charset="0"/>
                        </a:rPr>
                        <a:t>Category</a:t>
                      </a:r>
                      <a:endParaRPr lang="en-US" dirty="0">
                        <a:latin typeface="Sitka Text" pitchFamily="2" charset="0"/>
                      </a:endParaRPr>
                    </a:p>
                  </a:txBody>
                  <a:tcPr/>
                </a:tc>
                <a:tc>
                  <a:txBody>
                    <a:bodyPr/>
                    <a:lstStyle/>
                    <a:p>
                      <a:r>
                        <a:rPr lang="en-US" sz="1800" b="0" i="0" kern="1200" dirty="0" smtClean="0">
                          <a:solidFill>
                            <a:schemeClr val="lt1"/>
                          </a:solidFill>
                          <a:effectLst/>
                          <a:latin typeface="Sitka Text" pitchFamily="2" charset="0"/>
                          <a:ea typeface="+mn-ea"/>
                          <a:cs typeface="+mn-cs"/>
                        </a:rPr>
                        <a:t># images in Test Set</a:t>
                      </a:r>
                      <a:endParaRPr lang="en-US" dirty="0">
                        <a:latin typeface="Sitka Text" pitchFamily="2" charset="0"/>
                      </a:endParaRPr>
                    </a:p>
                  </a:txBody>
                  <a:tcPr/>
                </a:tc>
                <a:extLst>
                  <a:ext uri="{0D108BD9-81ED-4DB2-BD59-A6C34878D82A}">
                    <a16:rowId xmlns:a16="http://schemas.microsoft.com/office/drawing/2014/main" val="1021612066"/>
                  </a:ext>
                </a:extLst>
              </a:tr>
              <a:tr h="370840">
                <a:tc>
                  <a:txBody>
                    <a:bodyPr/>
                    <a:lstStyle/>
                    <a:p>
                      <a:r>
                        <a:rPr lang="en-US" dirty="0" smtClean="0">
                          <a:latin typeface="Sitka Text" pitchFamily="2" charset="0"/>
                        </a:rPr>
                        <a:t>1</a:t>
                      </a:r>
                      <a:endParaRPr lang="en-US" dirty="0">
                        <a:latin typeface="Sitka Text" pitchFamily="2" charset="0"/>
                      </a:endParaRPr>
                    </a:p>
                  </a:txBody>
                  <a:tcPr/>
                </a:tc>
                <a:tc>
                  <a:txBody>
                    <a:bodyPr/>
                    <a:lstStyle/>
                    <a:p>
                      <a:r>
                        <a:rPr lang="en-US" sz="1800" b="0" i="0" kern="1200" dirty="0" smtClean="0">
                          <a:solidFill>
                            <a:schemeClr val="dk1"/>
                          </a:solidFill>
                          <a:effectLst/>
                          <a:latin typeface="Sitka Text" pitchFamily="2" charset="0"/>
                          <a:ea typeface="+mn-ea"/>
                          <a:cs typeface="+mn-cs"/>
                        </a:rPr>
                        <a:t>Apparel</a:t>
                      </a:r>
                      <a:endParaRPr lang="en-US" dirty="0">
                        <a:latin typeface="Sitka Text" pitchFamily="2" charset="0"/>
                      </a:endParaRPr>
                    </a:p>
                  </a:txBody>
                  <a:tcPr/>
                </a:tc>
                <a:tc>
                  <a:txBody>
                    <a:bodyPr/>
                    <a:lstStyle/>
                    <a:p>
                      <a:pPr algn="r"/>
                      <a:r>
                        <a:rPr lang="en-US" sz="1800" b="0" i="0" kern="1200" dirty="0" smtClean="0">
                          <a:solidFill>
                            <a:schemeClr val="dk1"/>
                          </a:solidFill>
                          <a:effectLst/>
                          <a:latin typeface="Sitka Text" pitchFamily="2" charset="0"/>
                          <a:ea typeface="+mn-ea"/>
                          <a:cs typeface="+mn-cs"/>
                        </a:rPr>
                        <a:t>4067</a:t>
                      </a:r>
                      <a:endParaRPr lang="en-US" dirty="0">
                        <a:latin typeface="Sitka Text" pitchFamily="2" charset="0"/>
                      </a:endParaRPr>
                    </a:p>
                  </a:txBody>
                  <a:tcPr/>
                </a:tc>
                <a:extLst>
                  <a:ext uri="{0D108BD9-81ED-4DB2-BD59-A6C34878D82A}">
                    <a16:rowId xmlns:a16="http://schemas.microsoft.com/office/drawing/2014/main" val="4123747846"/>
                  </a:ext>
                </a:extLst>
              </a:tr>
              <a:tr h="370840">
                <a:tc>
                  <a:txBody>
                    <a:bodyPr/>
                    <a:lstStyle/>
                    <a:p>
                      <a:r>
                        <a:rPr lang="en-US" dirty="0" smtClean="0">
                          <a:latin typeface="Sitka Text" pitchFamily="2" charset="0"/>
                        </a:rPr>
                        <a:t>2</a:t>
                      </a:r>
                      <a:endParaRPr lang="en-US" dirty="0">
                        <a:latin typeface="Sitka Text" pitchFamily="2" charset="0"/>
                      </a:endParaRPr>
                    </a:p>
                  </a:txBody>
                  <a:tcPr/>
                </a:tc>
                <a:tc>
                  <a:txBody>
                    <a:bodyPr/>
                    <a:lstStyle/>
                    <a:p>
                      <a:r>
                        <a:rPr lang="en-US" sz="1800" b="0" i="0" kern="1200" dirty="0" smtClean="0">
                          <a:solidFill>
                            <a:schemeClr val="dk1"/>
                          </a:solidFill>
                          <a:effectLst/>
                          <a:latin typeface="Sitka Text" pitchFamily="2" charset="0"/>
                          <a:ea typeface="+mn-ea"/>
                          <a:cs typeface="+mn-cs"/>
                        </a:rPr>
                        <a:t>Accessories</a:t>
                      </a:r>
                      <a:endParaRPr lang="en-US" dirty="0">
                        <a:latin typeface="Sitka Text" pitchFamily="2" charset="0"/>
                      </a:endParaRPr>
                    </a:p>
                  </a:txBody>
                  <a:tcPr/>
                </a:tc>
                <a:tc>
                  <a:txBody>
                    <a:bodyPr/>
                    <a:lstStyle/>
                    <a:p>
                      <a:pPr algn="r"/>
                      <a:r>
                        <a:rPr lang="en-US" dirty="0" smtClean="0">
                          <a:latin typeface="Sitka Text" pitchFamily="2" charset="0"/>
                        </a:rPr>
                        <a:t>2227</a:t>
                      </a:r>
                      <a:endParaRPr lang="en-US" dirty="0">
                        <a:latin typeface="Sitka Text" pitchFamily="2" charset="0"/>
                      </a:endParaRPr>
                    </a:p>
                  </a:txBody>
                  <a:tcPr/>
                </a:tc>
                <a:extLst>
                  <a:ext uri="{0D108BD9-81ED-4DB2-BD59-A6C34878D82A}">
                    <a16:rowId xmlns:a16="http://schemas.microsoft.com/office/drawing/2014/main" val="3680420316"/>
                  </a:ext>
                </a:extLst>
              </a:tr>
              <a:tr h="370840">
                <a:tc>
                  <a:txBody>
                    <a:bodyPr/>
                    <a:lstStyle/>
                    <a:p>
                      <a:r>
                        <a:rPr lang="en-US" dirty="0" smtClean="0">
                          <a:latin typeface="Sitka Text" pitchFamily="2" charset="0"/>
                        </a:rPr>
                        <a:t>3</a:t>
                      </a:r>
                      <a:endParaRPr lang="en-US" dirty="0">
                        <a:latin typeface="Sitka Text" pitchFamily="2" charset="0"/>
                      </a:endParaRPr>
                    </a:p>
                  </a:txBody>
                  <a:tcPr/>
                </a:tc>
                <a:tc>
                  <a:txBody>
                    <a:bodyPr/>
                    <a:lstStyle/>
                    <a:p>
                      <a:r>
                        <a:rPr lang="en-US" sz="1800" b="0" i="0" kern="1200" dirty="0" smtClean="0">
                          <a:solidFill>
                            <a:schemeClr val="dk1"/>
                          </a:solidFill>
                          <a:effectLst/>
                          <a:latin typeface="Sitka Text" pitchFamily="2" charset="0"/>
                          <a:ea typeface="+mn-ea"/>
                          <a:cs typeface="+mn-cs"/>
                        </a:rPr>
                        <a:t>Footwear</a:t>
                      </a:r>
                      <a:endParaRPr lang="en-US" dirty="0">
                        <a:latin typeface="Sitka Text" pitchFamily="2" charset="0"/>
                      </a:endParaRPr>
                    </a:p>
                  </a:txBody>
                  <a:tcPr/>
                </a:tc>
                <a:tc>
                  <a:txBody>
                    <a:bodyPr/>
                    <a:lstStyle/>
                    <a:p>
                      <a:pPr algn="r"/>
                      <a:r>
                        <a:rPr lang="en-US" dirty="0" smtClean="0">
                          <a:latin typeface="Sitka Text" pitchFamily="2" charset="0"/>
                        </a:rPr>
                        <a:t>1835</a:t>
                      </a:r>
                      <a:endParaRPr lang="en-US" dirty="0">
                        <a:latin typeface="Sitka Text" pitchFamily="2" charset="0"/>
                      </a:endParaRPr>
                    </a:p>
                  </a:txBody>
                  <a:tcPr/>
                </a:tc>
                <a:extLst>
                  <a:ext uri="{0D108BD9-81ED-4DB2-BD59-A6C34878D82A}">
                    <a16:rowId xmlns:a16="http://schemas.microsoft.com/office/drawing/2014/main" val="98431685"/>
                  </a:ext>
                </a:extLst>
              </a:tr>
              <a:tr h="370840">
                <a:tc>
                  <a:txBody>
                    <a:bodyPr/>
                    <a:lstStyle/>
                    <a:p>
                      <a:r>
                        <a:rPr lang="en-US" dirty="0" smtClean="0">
                          <a:latin typeface="Sitka Text" pitchFamily="2" charset="0"/>
                        </a:rPr>
                        <a:t>4</a:t>
                      </a:r>
                      <a:endParaRPr lang="en-US" dirty="0">
                        <a:latin typeface="Sitka Text" pitchFamily="2" charset="0"/>
                      </a:endParaRPr>
                    </a:p>
                  </a:txBody>
                  <a:tcPr/>
                </a:tc>
                <a:tc>
                  <a:txBody>
                    <a:bodyPr/>
                    <a:lstStyle/>
                    <a:p>
                      <a:r>
                        <a:rPr lang="en-US" sz="1800" b="0" i="0" kern="1200" dirty="0" smtClean="0">
                          <a:solidFill>
                            <a:schemeClr val="dk1"/>
                          </a:solidFill>
                          <a:effectLst/>
                          <a:latin typeface="Sitka Text" pitchFamily="2" charset="0"/>
                          <a:ea typeface="+mn-ea"/>
                          <a:cs typeface="+mn-cs"/>
                        </a:rPr>
                        <a:t>Personal Care</a:t>
                      </a:r>
                      <a:endParaRPr lang="en-US" dirty="0">
                        <a:latin typeface="Sitka Text" pitchFamily="2" charset="0"/>
                      </a:endParaRPr>
                    </a:p>
                  </a:txBody>
                  <a:tcPr/>
                </a:tc>
                <a:tc>
                  <a:txBody>
                    <a:bodyPr/>
                    <a:lstStyle/>
                    <a:p>
                      <a:pPr algn="r"/>
                      <a:r>
                        <a:rPr lang="en-US" dirty="0" smtClean="0">
                          <a:latin typeface="Sitka Text" pitchFamily="2" charset="0"/>
                        </a:rPr>
                        <a:t>386</a:t>
                      </a:r>
                      <a:endParaRPr lang="en-US" dirty="0">
                        <a:latin typeface="Sitka Text" pitchFamily="2" charset="0"/>
                      </a:endParaRPr>
                    </a:p>
                  </a:txBody>
                  <a:tcPr/>
                </a:tc>
                <a:extLst>
                  <a:ext uri="{0D108BD9-81ED-4DB2-BD59-A6C34878D82A}">
                    <a16:rowId xmlns:a16="http://schemas.microsoft.com/office/drawing/2014/main" val="869127079"/>
                  </a:ext>
                </a:extLst>
              </a:tr>
              <a:tr h="370840">
                <a:tc>
                  <a:txBody>
                    <a:bodyPr/>
                    <a:lstStyle/>
                    <a:p>
                      <a:endParaRPr lang="en-US" dirty="0">
                        <a:latin typeface="Sitka Text" pitchFamily="2"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latin typeface="Sitka Text" pitchFamily="2" charset="0"/>
                        </a:rPr>
                        <a:t>Total</a:t>
                      </a:r>
                    </a:p>
                  </a:txBody>
                  <a:tcPr/>
                </a:tc>
                <a:tc>
                  <a:txBody>
                    <a:bodyPr/>
                    <a:lstStyle/>
                    <a:p>
                      <a:pPr algn="r"/>
                      <a:r>
                        <a:rPr lang="en-US" dirty="0" smtClean="0">
                          <a:latin typeface="Sitka Text" pitchFamily="2" charset="0"/>
                        </a:rPr>
                        <a:t>8515</a:t>
                      </a:r>
                      <a:endParaRPr lang="en-US" dirty="0">
                        <a:latin typeface="Sitka Text" pitchFamily="2" charset="0"/>
                      </a:endParaRPr>
                    </a:p>
                  </a:txBody>
                  <a:tcPr/>
                </a:tc>
                <a:extLst>
                  <a:ext uri="{0D108BD9-81ED-4DB2-BD59-A6C34878D82A}">
                    <a16:rowId xmlns:a16="http://schemas.microsoft.com/office/drawing/2014/main" val="1657109749"/>
                  </a:ext>
                </a:extLst>
              </a:tr>
            </a:tbl>
          </a:graphicData>
        </a:graphic>
      </p:graphicFrame>
      <p:graphicFrame>
        <p:nvGraphicFramePr>
          <p:cNvPr id="7" name="Content Placeholder 4"/>
          <p:cNvGraphicFramePr>
            <a:graphicFrameLocks/>
          </p:cNvGraphicFramePr>
          <p:nvPr>
            <p:extLst>
              <p:ext uri="{D42A27DB-BD31-4B8C-83A1-F6EECF244321}">
                <p14:modId xmlns:p14="http://schemas.microsoft.com/office/powerpoint/2010/main" val="685782303"/>
              </p:ext>
            </p:extLst>
          </p:nvPr>
        </p:nvGraphicFramePr>
        <p:xfrm>
          <a:off x="6785807" y="1424890"/>
          <a:ext cx="4736431" cy="2494280"/>
        </p:xfrm>
        <a:graphic>
          <a:graphicData uri="http://schemas.openxmlformats.org/drawingml/2006/table">
            <a:tbl>
              <a:tblPr firstRow="1" bandRow="1">
                <a:tableStyleId>{5C22544A-7EE6-4342-B048-85BDC9FD1C3A}</a:tableStyleId>
              </a:tblPr>
              <a:tblGrid>
                <a:gridCol w="645694">
                  <a:extLst>
                    <a:ext uri="{9D8B030D-6E8A-4147-A177-3AD203B41FA5}">
                      <a16:colId xmlns:a16="http://schemas.microsoft.com/office/drawing/2014/main" val="2239244100"/>
                    </a:ext>
                  </a:extLst>
                </a:gridCol>
                <a:gridCol w="2069432">
                  <a:extLst>
                    <a:ext uri="{9D8B030D-6E8A-4147-A177-3AD203B41FA5}">
                      <a16:colId xmlns:a16="http://schemas.microsoft.com/office/drawing/2014/main" val="1426749751"/>
                    </a:ext>
                  </a:extLst>
                </a:gridCol>
                <a:gridCol w="2021305">
                  <a:extLst>
                    <a:ext uri="{9D8B030D-6E8A-4147-A177-3AD203B41FA5}">
                      <a16:colId xmlns:a16="http://schemas.microsoft.com/office/drawing/2014/main" val="1820159548"/>
                    </a:ext>
                  </a:extLst>
                </a:gridCol>
              </a:tblGrid>
              <a:tr h="511342">
                <a:tc>
                  <a:txBody>
                    <a:bodyPr/>
                    <a:lstStyle/>
                    <a:p>
                      <a:r>
                        <a:rPr lang="en-US" dirty="0" smtClean="0">
                          <a:latin typeface="Sitka Text" pitchFamily="2" charset="0"/>
                        </a:rPr>
                        <a:t>Sl. No.</a:t>
                      </a:r>
                      <a:endParaRPr lang="en-US" dirty="0">
                        <a:latin typeface="Sitka Text" pitchFamily="2" charset="0"/>
                      </a:endParaRPr>
                    </a:p>
                  </a:txBody>
                  <a:tcPr/>
                </a:tc>
                <a:tc>
                  <a:txBody>
                    <a:bodyPr/>
                    <a:lstStyle/>
                    <a:p>
                      <a:r>
                        <a:rPr lang="en-US" dirty="0" smtClean="0">
                          <a:latin typeface="Sitka Text" pitchFamily="2" charset="0"/>
                        </a:rPr>
                        <a:t>Category</a:t>
                      </a:r>
                      <a:endParaRPr lang="en-US" dirty="0">
                        <a:latin typeface="Sitka Text" pitchFamily="2" charset="0"/>
                      </a:endParaRPr>
                    </a:p>
                  </a:txBody>
                  <a:tcPr/>
                </a:tc>
                <a:tc>
                  <a:txBody>
                    <a:bodyPr/>
                    <a:lstStyle/>
                    <a:p>
                      <a:r>
                        <a:rPr lang="en-US" sz="1800" b="0" i="0" kern="1200" dirty="0" smtClean="0">
                          <a:solidFill>
                            <a:schemeClr val="lt1"/>
                          </a:solidFill>
                          <a:effectLst/>
                          <a:latin typeface="Sitka Text" pitchFamily="2" charset="0"/>
                          <a:ea typeface="+mn-ea"/>
                          <a:cs typeface="+mn-cs"/>
                        </a:rPr>
                        <a:t>#images in Validation Set</a:t>
                      </a:r>
                      <a:endParaRPr lang="en-US" dirty="0">
                        <a:latin typeface="Sitka Text" pitchFamily="2" charset="0"/>
                      </a:endParaRPr>
                    </a:p>
                  </a:txBody>
                  <a:tcPr/>
                </a:tc>
                <a:extLst>
                  <a:ext uri="{0D108BD9-81ED-4DB2-BD59-A6C34878D82A}">
                    <a16:rowId xmlns:a16="http://schemas.microsoft.com/office/drawing/2014/main" val="1021612066"/>
                  </a:ext>
                </a:extLst>
              </a:tr>
              <a:tr h="370840">
                <a:tc>
                  <a:txBody>
                    <a:bodyPr/>
                    <a:lstStyle/>
                    <a:p>
                      <a:r>
                        <a:rPr lang="en-US" dirty="0" smtClean="0">
                          <a:latin typeface="Sitka Text" pitchFamily="2" charset="0"/>
                        </a:rPr>
                        <a:t>1</a:t>
                      </a:r>
                      <a:endParaRPr lang="en-US" dirty="0">
                        <a:latin typeface="Sitka Text" pitchFamily="2" charset="0"/>
                      </a:endParaRPr>
                    </a:p>
                  </a:txBody>
                  <a:tcPr/>
                </a:tc>
                <a:tc>
                  <a:txBody>
                    <a:bodyPr/>
                    <a:lstStyle/>
                    <a:p>
                      <a:r>
                        <a:rPr lang="en-US" sz="1800" b="0" i="0" kern="1200" dirty="0" smtClean="0">
                          <a:solidFill>
                            <a:schemeClr val="dk1"/>
                          </a:solidFill>
                          <a:effectLst/>
                          <a:latin typeface="Sitka Text" pitchFamily="2" charset="0"/>
                          <a:ea typeface="+mn-ea"/>
                          <a:cs typeface="+mn-cs"/>
                        </a:rPr>
                        <a:t>Apparel</a:t>
                      </a:r>
                      <a:endParaRPr lang="en-US" dirty="0">
                        <a:latin typeface="Sitka Text" pitchFamily="2" charset="0"/>
                      </a:endParaRPr>
                    </a:p>
                  </a:txBody>
                  <a:tcPr/>
                </a:tc>
                <a:tc>
                  <a:txBody>
                    <a:bodyPr/>
                    <a:lstStyle/>
                    <a:p>
                      <a:pPr algn="r"/>
                      <a:r>
                        <a:rPr lang="en-US" dirty="0" smtClean="0">
                          <a:latin typeface="Sitka Text" pitchFamily="2" charset="0"/>
                        </a:rPr>
                        <a:t>3253</a:t>
                      </a:r>
                      <a:endParaRPr lang="en-US" dirty="0">
                        <a:latin typeface="Sitka Text" pitchFamily="2" charset="0"/>
                      </a:endParaRPr>
                    </a:p>
                  </a:txBody>
                  <a:tcPr/>
                </a:tc>
                <a:extLst>
                  <a:ext uri="{0D108BD9-81ED-4DB2-BD59-A6C34878D82A}">
                    <a16:rowId xmlns:a16="http://schemas.microsoft.com/office/drawing/2014/main" val="4123747846"/>
                  </a:ext>
                </a:extLst>
              </a:tr>
              <a:tr h="370840">
                <a:tc>
                  <a:txBody>
                    <a:bodyPr/>
                    <a:lstStyle/>
                    <a:p>
                      <a:r>
                        <a:rPr lang="en-US" dirty="0" smtClean="0">
                          <a:latin typeface="Sitka Text" pitchFamily="2" charset="0"/>
                        </a:rPr>
                        <a:t>2</a:t>
                      </a:r>
                      <a:endParaRPr lang="en-US" dirty="0">
                        <a:latin typeface="Sitka Text" pitchFamily="2" charset="0"/>
                      </a:endParaRPr>
                    </a:p>
                  </a:txBody>
                  <a:tcPr/>
                </a:tc>
                <a:tc>
                  <a:txBody>
                    <a:bodyPr/>
                    <a:lstStyle/>
                    <a:p>
                      <a:r>
                        <a:rPr lang="en-US" sz="1800" b="0" i="0" kern="1200" dirty="0" smtClean="0">
                          <a:solidFill>
                            <a:schemeClr val="dk1"/>
                          </a:solidFill>
                          <a:effectLst/>
                          <a:latin typeface="Sitka Text" pitchFamily="2" charset="0"/>
                          <a:ea typeface="+mn-ea"/>
                          <a:cs typeface="+mn-cs"/>
                        </a:rPr>
                        <a:t>Accessories</a:t>
                      </a:r>
                      <a:endParaRPr lang="en-US" dirty="0">
                        <a:latin typeface="Sitka Text" pitchFamily="2" charset="0"/>
                      </a:endParaRPr>
                    </a:p>
                  </a:txBody>
                  <a:tcPr/>
                </a:tc>
                <a:tc>
                  <a:txBody>
                    <a:bodyPr/>
                    <a:lstStyle/>
                    <a:p>
                      <a:pPr algn="r"/>
                      <a:r>
                        <a:rPr lang="en-US" sz="1800" b="0" i="0" kern="1200" dirty="0" smtClean="0">
                          <a:solidFill>
                            <a:schemeClr val="dk1"/>
                          </a:solidFill>
                          <a:effectLst/>
                          <a:latin typeface="Sitka Text" pitchFamily="2" charset="0"/>
                          <a:ea typeface="+mn-ea"/>
                          <a:cs typeface="+mn-cs"/>
                        </a:rPr>
                        <a:t>1781</a:t>
                      </a:r>
                      <a:endParaRPr lang="en-US" dirty="0">
                        <a:latin typeface="Sitka Text" pitchFamily="2" charset="0"/>
                      </a:endParaRPr>
                    </a:p>
                  </a:txBody>
                  <a:tcPr/>
                </a:tc>
                <a:extLst>
                  <a:ext uri="{0D108BD9-81ED-4DB2-BD59-A6C34878D82A}">
                    <a16:rowId xmlns:a16="http://schemas.microsoft.com/office/drawing/2014/main" val="3680420316"/>
                  </a:ext>
                </a:extLst>
              </a:tr>
              <a:tr h="370840">
                <a:tc>
                  <a:txBody>
                    <a:bodyPr/>
                    <a:lstStyle/>
                    <a:p>
                      <a:r>
                        <a:rPr lang="en-US" dirty="0" smtClean="0">
                          <a:latin typeface="Sitka Text" pitchFamily="2" charset="0"/>
                        </a:rPr>
                        <a:t>3</a:t>
                      </a:r>
                      <a:endParaRPr lang="en-US" dirty="0">
                        <a:latin typeface="Sitka Text" pitchFamily="2" charset="0"/>
                      </a:endParaRPr>
                    </a:p>
                  </a:txBody>
                  <a:tcPr/>
                </a:tc>
                <a:tc>
                  <a:txBody>
                    <a:bodyPr/>
                    <a:lstStyle/>
                    <a:p>
                      <a:r>
                        <a:rPr lang="en-US" sz="1800" b="0" i="0" kern="1200" dirty="0" smtClean="0">
                          <a:solidFill>
                            <a:schemeClr val="dk1"/>
                          </a:solidFill>
                          <a:effectLst/>
                          <a:latin typeface="Sitka Text" pitchFamily="2" charset="0"/>
                          <a:ea typeface="+mn-ea"/>
                          <a:cs typeface="+mn-cs"/>
                        </a:rPr>
                        <a:t>Footwear</a:t>
                      </a:r>
                      <a:endParaRPr lang="en-US" dirty="0">
                        <a:latin typeface="Sitka Text" pitchFamily="2" charset="0"/>
                      </a:endParaRPr>
                    </a:p>
                  </a:txBody>
                  <a:tcPr/>
                </a:tc>
                <a:tc>
                  <a:txBody>
                    <a:bodyPr/>
                    <a:lstStyle/>
                    <a:p>
                      <a:pPr algn="r"/>
                      <a:r>
                        <a:rPr lang="en-US" dirty="0" smtClean="0">
                          <a:latin typeface="Sitka Text" pitchFamily="2" charset="0"/>
                        </a:rPr>
                        <a:t>1469</a:t>
                      </a:r>
                      <a:endParaRPr lang="en-US" dirty="0">
                        <a:latin typeface="Sitka Text" pitchFamily="2" charset="0"/>
                      </a:endParaRPr>
                    </a:p>
                  </a:txBody>
                  <a:tcPr/>
                </a:tc>
                <a:extLst>
                  <a:ext uri="{0D108BD9-81ED-4DB2-BD59-A6C34878D82A}">
                    <a16:rowId xmlns:a16="http://schemas.microsoft.com/office/drawing/2014/main" val="98431685"/>
                  </a:ext>
                </a:extLst>
              </a:tr>
              <a:tr h="370840">
                <a:tc>
                  <a:txBody>
                    <a:bodyPr/>
                    <a:lstStyle/>
                    <a:p>
                      <a:r>
                        <a:rPr lang="en-US" dirty="0" smtClean="0">
                          <a:latin typeface="Sitka Text" pitchFamily="2" charset="0"/>
                        </a:rPr>
                        <a:t>4</a:t>
                      </a:r>
                      <a:endParaRPr lang="en-US" dirty="0">
                        <a:latin typeface="Sitka Text" pitchFamily="2" charset="0"/>
                      </a:endParaRPr>
                    </a:p>
                  </a:txBody>
                  <a:tcPr/>
                </a:tc>
                <a:tc>
                  <a:txBody>
                    <a:bodyPr/>
                    <a:lstStyle/>
                    <a:p>
                      <a:r>
                        <a:rPr lang="en-US" sz="1800" b="0" i="0" kern="1200" dirty="0" smtClean="0">
                          <a:solidFill>
                            <a:schemeClr val="dk1"/>
                          </a:solidFill>
                          <a:effectLst/>
                          <a:latin typeface="Sitka Text" pitchFamily="2" charset="0"/>
                          <a:ea typeface="+mn-ea"/>
                          <a:cs typeface="+mn-cs"/>
                        </a:rPr>
                        <a:t>Personal Care</a:t>
                      </a:r>
                      <a:endParaRPr lang="en-US" dirty="0">
                        <a:latin typeface="Sitka Text" pitchFamily="2" charset="0"/>
                      </a:endParaRPr>
                    </a:p>
                  </a:txBody>
                  <a:tcPr/>
                </a:tc>
                <a:tc>
                  <a:txBody>
                    <a:bodyPr/>
                    <a:lstStyle/>
                    <a:p>
                      <a:pPr algn="r"/>
                      <a:r>
                        <a:rPr lang="en-US" dirty="0" smtClean="0">
                          <a:latin typeface="Sitka Text" pitchFamily="2" charset="0"/>
                        </a:rPr>
                        <a:t>309</a:t>
                      </a:r>
                      <a:endParaRPr lang="en-US" dirty="0">
                        <a:latin typeface="Sitka Text" pitchFamily="2" charset="0"/>
                      </a:endParaRPr>
                    </a:p>
                  </a:txBody>
                  <a:tcPr/>
                </a:tc>
                <a:extLst>
                  <a:ext uri="{0D108BD9-81ED-4DB2-BD59-A6C34878D82A}">
                    <a16:rowId xmlns:a16="http://schemas.microsoft.com/office/drawing/2014/main" val="869127079"/>
                  </a:ext>
                </a:extLst>
              </a:tr>
              <a:tr h="370840">
                <a:tc>
                  <a:txBody>
                    <a:bodyPr/>
                    <a:lstStyle/>
                    <a:p>
                      <a:endParaRPr lang="en-US" dirty="0">
                        <a:latin typeface="Sitka Text" pitchFamily="2"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latin typeface="Sitka Text" pitchFamily="2" charset="0"/>
                        </a:rPr>
                        <a:t>Total</a:t>
                      </a:r>
                    </a:p>
                  </a:txBody>
                  <a:tcPr/>
                </a:tc>
                <a:tc>
                  <a:txBody>
                    <a:bodyPr/>
                    <a:lstStyle/>
                    <a:p>
                      <a:pPr algn="r"/>
                      <a:r>
                        <a:rPr lang="en-US" dirty="0" smtClean="0">
                          <a:latin typeface="Sitka Text" pitchFamily="2" charset="0"/>
                        </a:rPr>
                        <a:t>6812</a:t>
                      </a:r>
                      <a:endParaRPr lang="en-US" dirty="0">
                        <a:latin typeface="Sitka Text" pitchFamily="2" charset="0"/>
                      </a:endParaRPr>
                    </a:p>
                  </a:txBody>
                  <a:tcPr/>
                </a:tc>
                <a:extLst>
                  <a:ext uri="{0D108BD9-81ED-4DB2-BD59-A6C34878D82A}">
                    <a16:rowId xmlns:a16="http://schemas.microsoft.com/office/drawing/2014/main" val="1657109749"/>
                  </a:ext>
                </a:extLst>
              </a:tr>
            </a:tbl>
          </a:graphicData>
        </a:graphic>
      </p:graphicFrame>
    </p:spTree>
    <p:extLst>
      <p:ext uri="{BB962C8B-B14F-4D97-AF65-F5344CB8AC3E}">
        <p14:creationId xmlns:p14="http://schemas.microsoft.com/office/powerpoint/2010/main" val="2984166231"/>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Sitka Text" pitchFamily="2" charset="0"/>
              </a:rPr>
              <a:t>Data </a:t>
            </a:r>
            <a:r>
              <a:rPr lang="en-US" dirty="0" smtClean="0">
                <a:latin typeface="Sitka Text" pitchFamily="2" charset="0"/>
              </a:rPr>
              <a:t>Augmentation</a:t>
            </a:r>
            <a:endParaRPr lang="en-US" dirty="0"/>
          </a:p>
        </p:txBody>
      </p:sp>
      <p:pic>
        <p:nvPicPr>
          <p:cNvPr id="5" name="Picture 4"/>
          <p:cNvPicPr>
            <a:picLocks noChangeAspect="1"/>
          </p:cNvPicPr>
          <p:nvPr/>
        </p:nvPicPr>
        <p:blipFill>
          <a:blip r:embed="rId3"/>
          <a:stretch>
            <a:fillRect/>
          </a:stretch>
        </p:blipFill>
        <p:spPr>
          <a:xfrm>
            <a:off x="3001817" y="5642912"/>
            <a:ext cx="6630911" cy="1215088"/>
          </a:xfrm>
          <a:prstGeom prst="rect">
            <a:avLst/>
          </a:prstGeom>
        </p:spPr>
      </p:pic>
      <p:pic>
        <p:nvPicPr>
          <p:cNvPr id="6" name="Content Placeholder 3"/>
          <p:cNvPicPr>
            <a:picLocks noChangeAspect="1"/>
          </p:cNvPicPr>
          <p:nvPr/>
        </p:nvPicPr>
        <p:blipFill rotWithShape="1">
          <a:blip r:embed="rId4"/>
          <a:srcRect t="16810" b="71096"/>
          <a:stretch/>
        </p:blipFill>
        <p:spPr>
          <a:xfrm>
            <a:off x="2765320" y="2228258"/>
            <a:ext cx="6867408" cy="583699"/>
          </a:xfrm>
          <a:prstGeom prst="rect">
            <a:avLst/>
          </a:prstGeom>
        </p:spPr>
      </p:pic>
      <p:pic>
        <p:nvPicPr>
          <p:cNvPr id="7" name="Content Placeholder 3"/>
          <p:cNvPicPr>
            <a:picLocks noChangeAspect="1"/>
          </p:cNvPicPr>
          <p:nvPr/>
        </p:nvPicPr>
        <p:blipFill rotWithShape="1">
          <a:blip r:embed="rId4"/>
          <a:srcRect t="39869" b="33464"/>
          <a:stretch/>
        </p:blipFill>
        <p:spPr>
          <a:xfrm>
            <a:off x="2765320" y="3038129"/>
            <a:ext cx="6867408" cy="1286909"/>
          </a:xfrm>
          <a:prstGeom prst="rect">
            <a:avLst/>
          </a:prstGeom>
        </p:spPr>
      </p:pic>
      <p:pic>
        <p:nvPicPr>
          <p:cNvPr id="8" name="Content Placeholder 3"/>
          <p:cNvPicPr>
            <a:picLocks noChangeAspect="1"/>
          </p:cNvPicPr>
          <p:nvPr/>
        </p:nvPicPr>
        <p:blipFill rotWithShape="1">
          <a:blip r:embed="rId4"/>
          <a:srcRect t="70359" b="5527"/>
          <a:stretch/>
        </p:blipFill>
        <p:spPr>
          <a:xfrm>
            <a:off x="2765320" y="4479204"/>
            <a:ext cx="6867408" cy="1163708"/>
          </a:xfrm>
          <a:prstGeom prst="rect">
            <a:avLst/>
          </a:prstGeom>
        </p:spPr>
      </p:pic>
      <p:sp>
        <p:nvSpPr>
          <p:cNvPr id="9" name="TextBox 8"/>
          <p:cNvSpPr txBox="1"/>
          <p:nvPr/>
        </p:nvSpPr>
        <p:spPr>
          <a:xfrm>
            <a:off x="2920064" y="1486779"/>
            <a:ext cx="1133644" cy="646331"/>
          </a:xfrm>
          <a:prstGeom prst="rect">
            <a:avLst/>
          </a:prstGeom>
          <a:noFill/>
        </p:spPr>
        <p:txBody>
          <a:bodyPr wrap="none" rtlCol="0">
            <a:spAutoFit/>
          </a:bodyPr>
          <a:lstStyle/>
          <a:p>
            <a:pPr algn="ctr"/>
            <a:r>
              <a:rPr lang="en-US" dirty="0" smtClean="0">
                <a:latin typeface="Sitka Text" pitchFamily="2" charset="0"/>
              </a:rPr>
              <a:t>Original </a:t>
            </a:r>
          </a:p>
          <a:p>
            <a:pPr algn="ctr"/>
            <a:r>
              <a:rPr lang="en-US" dirty="0" smtClean="0">
                <a:latin typeface="Sitka Text" pitchFamily="2" charset="0"/>
              </a:rPr>
              <a:t>Image</a:t>
            </a:r>
            <a:endParaRPr lang="en-US" dirty="0">
              <a:latin typeface="Sitka Text" pitchFamily="2" charset="0"/>
            </a:endParaRPr>
          </a:p>
        </p:txBody>
      </p:sp>
      <p:sp>
        <p:nvSpPr>
          <p:cNvPr id="10" name="TextBox 9"/>
          <p:cNvSpPr txBox="1"/>
          <p:nvPr/>
        </p:nvSpPr>
        <p:spPr>
          <a:xfrm>
            <a:off x="4136936" y="1499875"/>
            <a:ext cx="1338829" cy="646331"/>
          </a:xfrm>
          <a:prstGeom prst="rect">
            <a:avLst/>
          </a:prstGeom>
          <a:noFill/>
        </p:spPr>
        <p:txBody>
          <a:bodyPr wrap="none" rtlCol="0">
            <a:spAutoFit/>
          </a:bodyPr>
          <a:lstStyle/>
          <a:p>
            <a:pPr algn="ctr"/>
            <a:r>
              <a:rPr lang="en-US" dirty="0" smtClean="0">
                <a:latin typeface="Sitka Text" pitchFamily="2" charset="0"/>
              </a:rPr>
              <a:t>Random</a:t>
            </a:r>
          </a:p>
          <a:p>
            <a:pPr algn="ctr"/>
            <a:r>
              <a:rPr lang="en-US" dirty="0" smtClean="0">
                <a:latin typeface="Sitka Text" pitchFamily="2" charset="0"/>
              </a:rPr>
              <a:t>Brightness</a:t>
            </a:r>
            <a:endParaRPr lang="en-US" dirty="0">
              <a:latin typeface="Sitka Text" pitchFamily="2" charset="0"/>
            </a:endParaRPr>
          </a:p>
        </p:txBody>
      </p:sp>
      <p:sp>
        <p:nvSpPr>
          <p:cNvPr id="11" name="TextBox 10"/>
          <p:cNvSpPr txBox="1"/>
          <p:nvPr/>
        </p:nvSpPr>
        <p:spPr>
          <a:xfrm>
            <a:off x="5666940" y="1462670"/>
            <a:ext cx="1112805" cy="646331"/>
          </a:xfrm>
          <a:prstGeom prst="rect">
            <a:avLst/>
          </a:prstGeom>
          <a:noFill/>
        </p:spPr>
        <p:txBody>
          <a:bodyPr wrap="none" rtlCol="0">
            <a:spAutoFit/>
          </a:bodyPr>
          <a:lstStyle/>
          <a:p>
            <a:pPr algn="ctr"/>
            <a:r>
              <a:rPr lang="en-US" dirty="0" smtClean="0">
                <a:latin typeface="Sitka Text" pitchFamily="2" charset="0"/>
              </a:rPr>
              <a:t>Random</a:t>
            </a:r>
          </a:p>
          <a:p>
            <a:pPr algn="ctr"/>
            <a:r>
              <a:rPr lang="en-US" dirty="0" smtClean="0">
                <a:latin typeface="Sitka Text" pitchFamily="2" charset="0"/>
              </a:rPr>
              <a:t>Contrast</a:t>
            </a:r>
            <a:endParaRPr lang="en-US" dirty="0">
              <a:latin typeface="Sitka Text" pitchFamily="2" charset="0"/>
            </a:endParaRPr>
          </a:p>
        </p:txBody>
      </p:sp>
      <p:sp>
        <p:nvSpPr>
          <p:cNvPr id="12" name="TextBox 11"/>
          <p:cNvSpPr txBox="1"/>
          <p:nvPr/>
        </p:nvSpPr>
        <p:spPr>
          <a:xfrm>
            <a:off x="7085536" y="1462669"/>
            <a:ext cx="1109599" cy="646331"/>
          </a:xfrm>
          <a:prstGeom prst="rect">
            <a:avLst/>
          </a:prstGeom>
          <a:noFill/>
        </p:spPr>
        <p:txBody>
          <a:bodyPr wrap="none" rtlCol="0">
            <a:spAutoFit/>
          </a:bodyPr>
          <a:lstStyle/>
          <a:p>
            <a:pPr algn="ctr"/>
            <a:r>
              <a:rPr lang="en-US" dirty="0" smtClean="0">
                <a:latin typeface="Sitka Text" pitchFamily="2" charset="0"/>
              </a:rPr>
              <a:t>Random</a:t>
            </a:r>
          </a:p>
          <a:p>
            <a:pPr algn="ctr"/>
            <a:r>
              <a:rPr lang="en-US" dirty="0" smtClean="0">
                <a:latin typeface="Sitka Text" pitchFamily="2" charset="0"/>
              </a:rPr>
              <a:t>Rotation</a:t>
            </a:r>
            <a:endParaRPr lang="en-US" dirty="0">
              <a:latin typeface="Sitka Text" pitchFamily="2" charset="0"/>
            </a:endParaRPr>
          </a:p>
        </p:txBody>
      </p:sp>
      <p:sp>
        <p:nvSpPr>
          <p:cNvPr id="13" name="TextBox 12"/>
          <p:cNvSpPr txBox="1"/>
          <p:nvPr/>
        </p:nvSpPr>
        <p:spPr>
          <a:xfrm>
            <a:off x="8624632" y="1521688"/>
            <a:ext cx="1071127" cy="646331"/>
          </a:xfrm>
          <a:prstGeom prst="rect">
            <a:avLst/>
          </a:prstGeom>
          <a:noFill/>
        </p:spPr>
        <p:txBody>
          <a:bodyPr wrap="none" rtlCol="0">
            <a:spAutoFit/>
          </a:bodyPr>
          <a:lstStyle/>
          <a:p>
            <a:pPr algn="ctr"/>
            <a:r>
              <a:rPr lang="en-US" dirty="0" smtClean="0">
                <a:latin typeface="Sitka Text" pitchFamily="2" charset="0"/>
              </a:rPr>
              <a:t>Random</a:t>
            </a:r>
          </a:p>
          <a:p>
            <a:pPr algn="ctr"/>
            <a:r>
              <a:rPr lang="en-US" dirty="0" smtClean="0">
                <a:latin typeface="Sitka Text" pitchFamily="2" charset="0"/>
              </a:rPr>
              <a:t>Zoom</a:t>
            </a:r>
            <a:endParaRPr lang="en-US" dirty="0">
              <a:latin typeface="Sitka Text" pitchFamily="2" charset="0"/>
            </a:endParaRPr>
          </a:p>
        </p:txBody>
      </p:sp>
    </p:spTree>
    <p:extLst>
      <p:ext uri="{BB962C8B-B14F-4D97-AF65-F5344CB8AC3E}">
        <p14:creationId xmlns:p14="http://schemas.microsoft.com/office/powerpoint/2010/main" val="1261498127"/>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Sitka Text" pitchFamily="2" charset="0"/>
              </a:rPr>
              <a:t>ResNet</a:t>
            </a:r>
            <a:endParaRPr lang="en-US" dirty="0">
              <a:latin typeface="Sitka Text" pitchFamily="2" charset="0"/>
            </a:endParaRPr>
          </a:p>
        </p:txBody>
      </p:sp>
      <p:pic>
        <p:nvPicPr>
          <p:cNvPr id="4" name="Picture 3"/>
          <p:cNvPicPr>
            <a:picLocks noChangeAspect="1"/>
          </p:cNvPicPr>
          <p:nvPr/>
        </p:nvPicPr>
        <p:blipFill>
          <a:blip r:embed="rId3"/>
          <a:stretch>
            <a:fillRect/>
          </a:stretch>
        </p:blipFill>
        <p:spPr>
          <a:xfrm rot="16200000">
            <a:off x="5148124" y="-717327"/>
            <a:ext cx="1895752" cy="11677197"/>
          </a:xfrm>
          <a:prstGeom prst="rect">
            <a:avLst/>
          </a:prstGeom>
        </p:spPr>
      </p:pic>
      <p:pic>
        <p:nvPicPr>
          <p:cNvPr id="5" name="Picture 4"/>
          <p:cNvPicPr>
            <a:picLocks noChangeAspect="1"/>
          </p:cNvPicPr>
          <p:nvPr/>
        </p:nvPicPr>
        <p:blipFill>
          <a:blip r:embed="rId4"/>
          <a:stretch>
            <a:fillRect/>
          </a:stretch>
        </p:blipFill>
        <p:spPr>
          <a:xfrm>
            <a:off x="2542125" y="1554161"/>
            <a:ext cx="3946226" cy="2378075"/>
          </a:xfrm>
          <a:prstGeom prst="rect">
            <a:avLst/>
          </a:prstGeom>
        </p:spPr>
      </p:pic>
      <p:pic>
        <p:nvPicPr>
          <p:cNvPr id="6" name="Picture 5"/>
          <p:cNvPicPr>
            <a:picLocks noChangeAspect="1"/>
          </p:cNvPicPr>
          <p:nvPr/>
        </p:nvPicPr>
        <p:blipFill>
          <a:blip r:embed="rId5"/>
          <a:stretch>
            <a:fillRect/>
          </a:stretch>
        </p:blipFill>
        <p:spPr>
          <a:xfrm>
            <a:off x="7927582" y="1383677"/>
            <a:ext cx="2821619" cy="2548559"/>
          </a:xfrm>
          <a:prstGeom prst="rect">
            <a:avLst/>
          </a:prstGeom>
        </p:spPr>
      </p:pic>
    </p:spTree>
    <p:extLst>
      <p:ext uri="{BB962C8B-B14F-4D97-AF65-F5344CB8AC3E}">
        <p14:creationId xmlns:p14="http://schemas.microsoft.com/office/powerpoint/2010/main" val="3555963173"/>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04965"/>
            <a:ext cx="10515600" cy="1325563"/>
          </a:xfrm>
        </p:spPr>
        <p:txBody>
          <a:bodyPr/>
          <a:lstStyle/>
          <a:p>
            <a:r>
              <a:rPr lang="en-US" dirty="0" smtClean="0">
                <a:latin typeface="Sitka Text" pitchFamily="2" charset="0"/>
              </a:rPr>
              <a:t>ResNet + Transfer Learning</a:t>
            </a:r>
            <a:endParaRPr lang="en-US" dirty="0"/>
          </a:p>
        </p:txBody>
      </p:sp>
      <p:pic>
        <p:nvPicPr>
          <p:cNvPr id="4" name="Picture 3"/>
          <p:cNvPicPr>
            <a:picLocks noChangeAspect="1"/>
          </p:cNvPicPr>
          <p:nvPr/>
        </p:nvPicPr>
        <p:blipFill rotWithShape="1">
          <a:blip r:embed="rId3"/>
          <a:srcRect b="36872"/>
          <a:stretch/>
        </p:blipFill>
        <p:spPr>
          <a:xfrm>
            <a:off x="4289634" y="1329741"/>
            <a:ext cx="7535025" cy="4438520"/>
          </a:xfrm>
          <a:prstGeom prst="rect">
            <a:avLst/>
          </a:prstGeom>
        </p:spPr>
      </p:pic>
      <p:sp>
        <p:nvSpPr>
          <p:cNvPr id="7" name="Rectangle 2"/>
          <p:cNvSpPr>
            <a:spLocks noChangeArrowheads="1"/>
          </p:cNvSpPr>
          <p:nvPr/>
        </p:nvSpPr>
        <p:spPr bwMode="auto">
          <a:xfrm>
            <a:off x="236621" y="5667542"/>
            <a:ext cx="5859379"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i="0" u="none" strike="noStrike" cap="none" normalizeH="0" baseline="0" dirty="0" smtClean="0">
                <a:ln>
                  <a:noFill/>
                </a:ln>
                <a:effectLst/>
                <a:latin typeface="Sitka Text" pitchFamily="2" charset="0"/>
              </a:rPr>
              <a:t>Total </a:t>
            </a:r>
            <a:r>
              <a:rPr kumimoji="0" lang="en-US" altLang="en-US" i="0" u="none" strike="noStrike" cap="none" normalizeH="0" baseline="0" dirty="0" err="1" smtClean="0">
                <a:ln>
                  <a:noFill/>
                </a:ln>
                <a:effectLst/>
                <a:latin typeface="Sitka Text" pitchFamily="2" charset="0"/>
              </a:rPr>
              <a:t>params</a:t>
            </a:r>
            <a:r>
              <a:rPr kumimoji="0" lang="en-US" altLang="en-US" i="0" u="none" strike="noStrike" cap="none" normalizeH="0" baseline="0" dirty="0" smtClean="0">
                <a:ln>
                  <a:noFill/>
                </a:ln>
                <a:effectLst/>
                <a:latin typeface="Sitka Text" pitchFamily="2" charset="0"/>
              </a:rPr>
              <a:t>: 24,121,476</a:t>
            </a:r>
          </a:p>
          <a:p>
            <a:pPr lvl="0" eaLnBrk="0" fontAlgn="base" hangingPunct="0">
              <a:spcBef>
                <a:spcPct val="0"/>
              </a:spcBef>
              <a:spcAft>
                <a:spcPct val="0"/>
              </a:spcAft>
            </a:pPr>
            <a:r>
              <a:rPr lang="en-US" altLang="en-US" dirty="0">
                <a:latin typeface="Sitka Text" pitchFamily="2" charset="0"/>
              </a:rPr>
              <a:t>Trainable </a:t>
            </a:r>
            <a:r>
              <a:rPr lang="en-US" altLang="en-US" dirty="0" err="1">
                <a:latin typeface="Sitka Text" pitchFamily="2" charset="0"/>
              </a:rPr>
              <a:t>params</a:t>
            </a:r>
            <a:r>
              <a:rPr lang="en-US" altLang="en-US" dirty="0">
                <a:latin typeface="Sitka Text" pitchFamily="2" charset="0"/>
              </a:rPr>
              <a:t>: </a:t>
            </a:r>
            <a:r>
              <a:rPr lang="en-US" altLang="en-US" dirty="0" smtClean="0">
                <a:latin typeface="Sitka Text" pitchFamily="2" charset="0"/>
              </a:rPr>
              <a:t>529,668</a:t>
            </a:r>
          </a:p>
          <a:p>
            <a:pPr lvl="0" eaLnBrk="0" fontAlgn="base" hangingPunct="0">
              <a:spcBef>
                <a:spcPct val="0"/>
              </a:spcBef>
              <a:spcAft>
                <a:spcPct val="0"/>
              </a:spcAft>
            </a:pPr>
            <a:r>
              <a:rPr lang="en-US" altLang="en-US" dirty="0">
                <a:latin typeface="Sitka Text" pitchFamily="2" charset="0"/>
              </a:rPr>
              <a:t>Non-trainable </a:t>
            </a:r>
            <a:r>
              <a:rPr lang="en-US" altLang="en-US" dirty="0" err="1">
                <a:latin typeface="Sitka Text" pitchFamily="2" charset="0"/>
              </a:rPr>
              <a:t>params</a:t>
            </a:r>
            <a:r>
              <a:rPr lang="en-US" altLang="en-US" dirty="0">
                <a:latin typeface="Sitka Text" pitchFamily="2" charset="0"/>
              </a:rPr>
              <a:t>: 23,591,808</a:t>
            </a:r>
            <a:endParaRPr kumimoji="0" lang="en-US" altLang="en-US" i="0" u="none" strike="noStrike" cap="none" normalizeH="0" baseline="0" dirty="0" smtClean="0">
              <a:ln>
                <a:noFill/>
              </a:ln>
              <a:effectLst/>
              <a:latin typeface="Sitka Text" pitchFamily="2" charset="0"/>
            </a:endParaRPr>
          </a:p>
        </p:txBody>
      </p:sp>
    </p:spTree>
    <p:extLst>
      <p:ext uri="{BB962C8B-B14F-4D97-AF65-F5344CB8AC3E}">
        <p14:creationId xmlns:p14="http://schemas.microsoft.com/office/powerpoint/2010/main" val="315682058"/>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Sitka Text" pitchFamily="2" charset="0"/>
              </a:rPr>
              <a:t>Loss Function</a:t>
            </a:r>
            <a:endParaRPr lang="en-US" dirty="0">
              <a:latin typeface="Sitka Text" pitchFamily="2" charset="0"/>
            </a:endParaRPr>
          </a:p>
        </p:txBody>
      </p:sp>
      <p:sp>
        <p:nvSpPr>
          <p:cNvPr id="3" name="Content Placeholder 2"/>
          <p:cNvSpPr>
            <a:spLocks noGrp="1"/>
          </p:cNvSpPr>
          <p:nvPr>
            <p:ph idx="1"/>
          </p:nvPr>
        </p:nvSpPr>
        <p:spPr/>
        <p:txBody>
          <a:bodyPr>
            <a:normAutofit/>
          </a:bodyPr>
          <a:lstStyle/>
          <a:p>
            <a:pPr marL="0" indent="0">
              <a:buNone/>
            </a:pPr>
            <a:r>
              <a:rPr lang="en-US" sz="2000" dirty="0">
                <a:latin typeface="Sitka Text" pitchFamily="2" charset="0"/>
              </a:rPr>
              <a:t>Categorical </a:t>
            </a:r>
            <a:r>
              <a:rPr lang="en-US" sz="2000" dirty="0" smtClean="0">
                <a:latin typeface="Sitka Text" pitchFamily="2" charset="0"/>
              </a:rPr>
              <a:t>cross-entropy loss function</a:t>
            </a:r>
            <a:endParaRPr lang="en-US" sz="2000" dirty="0">
              <a:latin typeface="Sitka Text" pitchFamily="2" charset="0"/>
            </a:endParaRPr>
          </a:p>
        </p:txBody>
      </p:sp>
      <p:pic>
        <p:nvPicPr>
          <p:cNvPr id="4" name="Picture 3"/>
          <p:cNvPicPr>
            <a:picLocks noChangeAspect="1"/>
          </p:cNvPicPr>
          <p:nvPr/>
        </p:nvPicPr>
        <p:blipFill>
          <a:blip r:embed="rId3"/>
          <a:stretch>
            <a:fillRect/>
          </a:stretch>
        </p:blipFill>
        <p:spPr>
          <a:xfrm>
            <a:off x="4190554" y="2862710"/>
            <a:ext cx="2751806" cy="1071617"/>
          </a:xfrm>
          <a:prstGeom prst="rect">
            <a:avLst/>
          </a:prstGeom>
        </p:spPr>
      </p:pic>
    </p:spTree>
    <p:extLst>
      <p:ext uri="{BB962C8B-B14F-4D97-AF65-F5344CB8AC3E}">
        <p14:creationId xmlns:p14="http://schemas.microsoft.com/office/powerpoint/2010/main" val="2834986784"/>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Sitka Text" pitchFamily="2" charset="0"/>
              </a:rPr>
              <a:t>Classification Metrics</a:t>
            </a:r>
          </a:p>
        </p:txBody>
      </p:sp>
      <p:pic>
        <p:nvPicPr>
          <p:cNvPr id="1026" name="Picture 2" descr="4: Definition of confusion matrix [3]. | Download Scientific Diagram"/>
          <p:cNvPicPr>
            <a:picLocks noGrp="1" noChangeAspect="1" noChangeArrowheads="1"/>
          </p:cNvPicPr>
          <p:nvPr>
            <p:ph idx="1"/>
          </p:nvPr>
        </p:nvPicPr>
        <p:blipFill rotWithShape="1">
          <a:blip r:embed="rId3">
            <a:extLst>
              <a:ext uri="{28A0092B-C50C-407E-A947-70E740481C1C}">
                <a14:useLocalDpi xmlns:a14="http://schemas.microsoft.com/office/drawing/2010/main" val="0"/>
              </a:ext>
            </a:extLst>
          </a:blip>
          <a:srcRect r="10543" b="9510"/>
          <a:stretch/>
        </p:blipFill>
        <p:spPr bwMode="auto">
          <a:xfrm>
            <a:off x="7621409" y="914523"/>
            <a:ext cx="3732391" cy="3640137"/>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 name="Rectangle 9"/>
              <p:cNvSpPr/>
              <p:nvPr/>
            </p:nvSpPr>
            <p:spPr>
              <a:xfrm>
                <a:off x="978657" y="3939170"/>
                <a:ext cx="3349891" cy="61549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𝑅𝑒𝑐𝑎𝑙𝑙</m:t>
                      </m:r>
                      <m:r>
                        <a:rPr lang="en-US" b="0" i="1" smtClean="0">
                          <a:latin typeface="Cambria Math" panose="02040503050406030204" pitchFamily="18" charset="0"/>
                        </a:rPr>
                        <m:t>/</m:t>
                      </m:r>
                      <m:r>
                        <a:rPr lang="en-US" i="1">
                          <a:latin typeface="Cambria Math" panose="02040503050406030204" pitchFamily="18" charset="0"/>
                        </a:rPr>
                        <m:t>𝑆</m:t>
                      </m:r>
                      <m:r>
                        <a:rPr lang="en-US" b="0" i="1" smtClean="0">
                          <a:latin typeface="Cambria Math" panose="02040503050406030204" pitchFamily="18" charset="0"/>
                        </a:rPr>
                        <m:t>𝑒𝑛𝑠𝑖𝑡𝑖𝑣𝑖</m:t>
                      </m:r>
                      <m:r>
                        <a:rPr lang="en-US" i="1">
                          <a:latin typeface="Cambria Math" panose="02040503050406030204" pitchFamily="18" charset="0"/>
                        </a:rPr>
                        <m:t>𝑡𝑦</m:t>
                      </m:r>
                      <m:r>
                        <a:rPr lang="en-US" i="0">
                          <a:latin typeface="Cambria Math" panose="02040503050406030204" pitchFamily="18" charset="0"/>
                        </a:rPr>
                        <m:t>= </m:t>
                      </m:r>
                      <m:f>
                        <m:fPr>
                          <m:ctrlPr>
                            <a:rPr lang="en-US" i="1">
                              <a:latin typeface="Cambria Math" panose="02040503050406030204" pitchFamily="18" charset="0"/>
                            </a:rPr>
                          </m:ctrlPr>
                        </m:fPr>
                        <m:num>
                          <m:r>
                            <a:rPr lang="en-US" i="1">
                              <a:latin typeface="Cambria Math" panose="02040503050406030204" pitchFamily="18" charset="0"/>
                            </a:rPr>
                            <m:t>𝑇</m:t>
                          </m:r>
                          <m:r>
                            <a:rPr lang="en-US" b="0" i="1" smtClean="0">
                              <a:latin typeface="Cambria Math" panose="02040503050406030204" pitchFamily="18" charset="0"/>
                            </a:rPr>
                            <m:t>𝑃</m:t>
                          </m:r>
                        </m:num>
                        <m:den>
                          <m:r>
                            <a:rPr lang="en-US" i="1">
                              <a:latin typeface="Cambria Math" panose="02040503050406030204" pitchFamily="18" charset="0"/>
                            </a:rPr>
                            <m:t>𝑇</m:t>
                          </m:r>
                          <m:r>
                            <a:rPr lang="en-US" b="0" i="1" smtClean="0">
                              <a:latin typeface="Cambria Math" panose="02040503050406030204" pitchFamily="18" charset="0"/>
                            </a:rPr>
                            <m:t>𝑃</m:t>
                          </m:r>
                          <m:r>
                            <a:rPr lang="en-US" i="0">
                              <a:latin typeface="Cambria Math" panose="02040503050406030204" pitchFamily="18" charset="0"/>
                            </a:rPr>
                            <m:t>+</m:t>
                          </m:r>
                          <m:r>
                            <a:rPr lang="en-US" i="1" smtClean="0">
                              <a:latin typeface="Cambria Math" panose="02040503050406030204" pitchFamily="18" charset="0"/>
                            </a:rPr>
                            <m:t>𝐹</m:t>
                          </m:r>
                          <m:r>
                            <a:rPr lang="en-US" b="0" i="1" smtClean="0">
                              <a:latin typeface="Cambria Math" panose="02040503050406030204" pitchFamily="18" charset="0"/>
                            </a:rPr>
                            <m:t>𝑁</m:t>
                          </m:r>
                        </m:den>
                      </m:f>
                    </m:oMath>
                  </m:oMathPara>
                </a14:m>
                <a:endParaRPr lang="en-US" dirty="0"/>
              </a:p>
            </p:txBody>
          </p:sp>
        </mc:Choice>
        <mc:Fallback xmlns="">
          <p:sp>
            <p:nvSpPr>
              <p:cNvPr id="10" name="Rectangle 9"/>
              <p:cNvSpPr>
                <a:spLocks noRot="1" noChangeAspect="1" noMove="1" noResize="1" noEditPoints="1" noAdjustHandles="1" noChangeArrowheads="1" noChangeShapeType="1" noTextEdit="1"/>
              </p:cNvSpPr>
              <p:nvPr/>
            </p:nvSpPr>
            <p:spPr>
              <a:xfrm>
                <a:off x="978657" y="3939170"/>
                <a:ext cx="3349891" cy="615490"/>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Rectangle 10"/>
              <p:cNvSpPr/>
              <p:nvPr/>
            </p:nvSpPr>
            <p:spPr>
              <a:xfrm>
                <a:off x="978657" y="1815471"/>
                <a:ext cx="3587136" cy="61549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𝐴𝑐𝑐𝑢𝑟𝑎𝑐𝑦</m:t>
                      </m:r>
                      <m:r>
                        <a:rPr lang="en-US" i="1" smtClean="0">
                          <a:latin typeface="Cambria Math" panose="02040503050406030204" pitchFamily="18" charset="0"/>
                        </a:rPr>
                        <m:t>= </m:t>
                      </m:r>
                      <m:f>
                        <m:fPr>
                          <m:ctrlPr>
                            <a:rPr lang="en-US" i="1" smtClean="0">
                              <a:latin typeface="Cambria Math" panose="02040503050406030204" pitchFamily="18" charset="0"/>
                            </a:rPr>
                          </m:ctrlPr>
                        </m:fPr>
                        <m:num>
                          <m:r>
                            <a:rPr lang="en-US" i="1">
                              <a:latin typeface="Cambria Math" panose="02040503050406030204" pitchFamily="18" charset="0"/>
                            </a:rPr>
                            <m:t>𝑇</m:t>
                          </m:r>
                          <m:r>
                            <a:rPr lang="en-US" b="0" i="1" smtClean="0">
                              <a:latin typeface="Cambria Math" panose="02040503050406030204" pitchFamily="18" charset="0"/>
                            </a:rPr>
                            <m:t>𝑃</m:t>
                          </m:r>
                          <m:r>
                            <a:rPr lang="en-US" b="0" i="1" smtClean="0">
                              <a:latin typeface="Cambria Math" panose="02040503050406030204" pitchFamily="18" charset="0"/>
                            </a:rPr>
                            <m:t>+</m:t>
                          </m:r>
                          <m:r>
                            <a:rPr lang="en-US" b="0" i="1" smtClean="0">
                              <a:latin typeface="Cambria Math" panose="02040503050406030204" pitchFamily="18" charset="0"/>
                            </a:rPr>
                            <m:t>𝑇𝑁</m:t>
                          </m:r>
                        </m:num>
                        <m:den>
                          <m:r>
                            <a:rPr lang="en-US" i="1">
                              <a:latin typeface="Cambria Math" panose="02040503050406030204" pitchFamily="18" charset="0"/>
                            </a:rPr>
                            <m:t>𝑇</m:t>
                          </m:r>
                          <m:r>
                            <a:rPr lang="en-US" b="0" i="1" smtClean="0">
                              <a:latin typeface="Cambria Math" panose="02040503050406030204" pitchFamily="18" charset="0"/>
                            </a:rPr>
                            <m:t>𝑃</m:t>
                          </m:r>
                          <m:r>
                            <a:rPr lang="en-US" b="0" i="1" smtClean="0">
                              <a:latin typeface="Cambria Math" panose="02040503050406030204" pitchFamily="18" charset="0"/>
                            </a:rPr>
                            <m:t>+</m:t>
                          </m:r>
                          <m:r>
                            <a:rPr lang="en-US" b="0" i="1" smtClean="0">
                              <a:latin typeface="Cambria Math" panose="02040503050406030204" pitchFamily="18" charset="0"/>
                            </a:rPr>
                            <m:t>𝑇𝑁</m:t>
                          </m:r>
                          <m:r>
                            <a:rPr lang="en-US" i="1">
                              <a:latin typeface="Cambria Math" panose="02040503050406030204" pitchFamily="18" charset="0"/>
                            </a:rPr>
                            <m:t>+</m:t>
                          </m:r>
                          <m:r>
                            <a:rPr lang="en-US" i="1" smtClean="0">
                              <a:latin typeface="Cambria Math" panose="02040503050406030204" pitchFamily="18" charset="0"/>
                            </a:rPr>
                            <m:t>𝐹</m:t>
                          </m:r>
                          <m:r>
                            <a:rPr lang="en-US" b="0" i="1" smtClean="0">
                              <a:latin typeface="Cambria Math" panose="02040503050406030204" pitchFamily="18" charset="0"/>
                            </a:rPr>
                            <m:t>𝑃</m:t>
                          </m:r>
                          <m:r>
                            <a:rPr lang="en-US" b="0" i="1" smtClean="0">
                              <a:latin typeface="Cambria Math" panose="02040503050406030204" pitchFamily="18" charset="0"/>
                            </a:rPr>
                            <m:t>+</m:t>
                          </m:r>
                          <m:r>
                            <a:rPr lang="en-US" b="0" i="1" smtClean="0">
                              <a:latin typeface="Cambria Math" panose="02040503050406030204" pitchFamily="18" charset="0"/>
                            </a:rPr>
                            <m:t>𝐹𝑁</m:t>
                          </m:r>
                        </m:den>
                      </m:f>
                    </m:oMath>
                  </m:oMathPara>
                </a14:m>
                <a:endParaRPr lang="en-US" i="1" dirty="0"/>
              </a:p>
            </p:txBody>
          </p:sp>
        </mc:Choice>
        <mc:Fallback xmlns="">
          <p:sp>
            <p:nvSpPr>
              <p:cNvPr id="11" name="Rectangle 10"/>
              <p:cNvSpPr>
                <a:spLocks noRot="1" noChangeAspect="1" noMove="1" noResize="1" noEditPoints="1" noAdjustHandles="1" noChangeArrowheads="1" noChangeShapeType="1" noTextEdit="1"/>
              </p:cNvSpPr>
              <p:nvPr/>
            </p:nvSpPr>
            <p:spPr>
              <a:xfrm>
                <a:off x="978657" y="1815471"/>
                <a:ext cx="3587136" cy="615490"/>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Rectangle 11"/>
              <p:cNvSpPr/>
              <p:nvPr/>
            </p:nvSpPr>
            <p:spPr>
              <a:xfrm>
                <a:off x="1013830" y="2634916"/>
                <a:ext cx="2428101" cy="61549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𝑃𝑟𝑒𝑐𝑖𝑠𝑖𝑜𝑛</m:t>
                      </m:r>
                      <m:r>
                        <a:rPr lang="en-US" i="0">
                          <a:latin typeface="Cambria Math" panose="02040503050406030204" pitchFamily="18" charset="0"/>
                        </a:rPr>
                        <m:t>= </m:t>
                      </m:r>
                      <m:f>
                        <m:fPr>
                          <m:ctrlPr>
                            <a:rPr lang="en-US" i="1">
                              <a:latin typeface="Cambria Math" panose="02040503050406030204" pitchFamily="18" charset="0"/>
                            </a:rPr>
                          </m:ctrlPr>
                        </m:fPr>
                        <m:num>
                          <m:r>
                            <a:rPr lang="en-US" i="1">
                              <a:latin typeface="Cambria Math" panose="02040503050406030204" pitchFamily="18" charset="0"/>
                            </a:rPr>
                            <m:t>𝑇</m:t>
                          </m:r>
                          <m:r>
                            <a:rPr lang="en-US" b="0" i="1" smtClean="0">
                              <a:latin typeface="Cambria Math" panose="02040503050406030204" pitchFamily="18" charset="0"/>
                            </a:rPr>
                            <m:t>𝑃</m:t>
                          </m:r>
                        </m:num>
                        <m:den>
                          <m:r>
                            <a:rPr lang="en-US" i="1">
                              <a:latin typeface="Cambria Math" panose="02040503050406030204" pitchFamily="18" charset="0"/>
                            </a:rPr>
                            <m:t>𝑇</m:t>
                          </m:r>
                          <m:r>
                            <a:rPr lang="en-US" b="0" i="1" smtClean="0">
                              <a:latin typeface="Cambria Math" panose="02040503050406030204" pitchFamily="18" charset="0"/>
                            </a:rPr>
                            <m:t>𝑃</m:t>
                          </m:r>
                          <m:r>
                            <a:rPr lang="en-US" i="0">
                              <a:latin typeface="Cambria Math" panose="02040503050406030204" pitchFamily="18" charset="0"/>
                            </a:rPr>
                            <m:t>+</m:t>
                          </m:r>
                          <m:r>
                            <a:rPr lang="en-US" i="1" smtClean="0">
                              <a:latin typeface="Cambria Math" panose="02040503050406030204" pitchFamily="18" charset="0"/>
                            </a:rPr>
                            <m:t>𝐹</m:t>
                          </m:r>
                          <m:r>
                            <a:rPr lang="en-US" b="0" i="1" smtClean="0">
                              <a:latin typeface="Cambria Math" panose="02040503050406030204" pitchFamily="18" charset="0"/>
                            </a:rPr>
                            <m:t>𝑃</m:t>
                          </m:r>
                        </m:den>
                      </m:f>
                    </m:oMath>
                  </m:oMathPara>
                </a14:m>
                <a:endParaRPr lang="en-US" dirty="0"/>
              </a:p>
            </p:txBody>
          </p:sp>
        </mc:Choice>
        <mc:Fallback xmlns="">
          <p:sp>
            <p:nvSpPr>
              <p:cNvPr id="12" name="Rectangle 11"/>
              <p:cNvSpPr>
                <a:spLocks noRot="1" noChangeAspect="1" noMove="1" noResize="1" noEditPoints="1" noAdjustHandles="1" noChangeArrowheads="1" noChangeShapeType="1" noTextEdit="1"/>
              </p:cNvSpPr>
              <p:nvPr/>
            </p:nvSpPr>
            <p:spPr>
              <a:xfrm>
                <a:off x="1013830" y="2634916"/>
                <a:ext cx="2428101" cy="615490"/>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p:cNvSpPr txBox="1"/>
              <p:nvPr/>
            </p:nvSpPr>
            <p:spPr>
              <a:xfrm>
                <a:off x="8216900" y="5431725"/>
                <a:ext cx="2056460" cy="52501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𝐹</m:t>
                      </m:r>
                      <m:r>
                        <a:rPr lang="en-US" b="0" i="1" smtClean="0">
                          <a:latin typeface="Cambria Math" panose="02040503050406030204" pitchFamily="18" charset="0"/>
                        </a:rPr>
                        <m:t>1−</m:t>
                      </m:r>
                      <m:r>
                        <a:rPr lang="en-US" b="0" i="1" smtClean="0">
                          <a:latin typeface="Cambria Math" panose="02040503050406030204" pitchFamily="18" charset="0"/>
                        </a:rPr>
                        <m:t>𝑆𝑐𝑜𝑟𝑒</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2</m:t>
                          </m:r>
                          <m:r>
                            <a:rPr lang="en-US" b="0" i="1" smtClean="0">
                              <a:latin typeface="Cambria Math" panose="02040503050406030204" pitchFamily="18" charset="0"/>
                            </a:rPr>
                            <m:t>𝑃𝑅</m:t>
                          </m:r>
                        </m:num>
                        <m:den>
                          <m:r>
                            <a:rPr lang="en-US" b="0" i="1" smtClean="0">
                              <a:latin typeface="Cambria Math" panose="02040503050406030204" pitchFamily="18" charset="0"/>
                            </a:rPr>
                            <m:t>𝑃</m:t>
                          </m:r>
                          <m:r>
                            <a:rPr lang="en-US" b="0" i="1" smtClean="0">
                              <a:latin typeface="Cambria Math" panose="02040503050406030204" pitchFamily="18" charset="0"/>
                            </a:rPr>
                            <m:t>+</m:t>
                          </m:r>
                          <m:r>
                            <a:rPr lang="en-US" b="0" i="1" smtClean="0">
                              <a:latin typeface="Cambria Math" panose="02040503050406030204" pitchFamily="18" charset="0"/>
                            </a:rPr>
                            <m:t>𝑅</m:t>
                          </m:r>
                        </m:den>
                      </m:f>
                    </m:oMath>
                  </m:oMathPara>
                </a14:m>
                <a:endParaRPr lang="en-US" dirty="0"/>
              </a:p>
            </p:txBody>
          </p:sp>
        </mc:Choice>
        <mc:Fallback xmlns="">
          <p:sp>
            <p:nvSpPr>
              <p:cNvPr id="3" name="TextBox 2"/>
              <p:cNvSpPr txBox="1">
                <a:spLocks noRot="1" noChangeAspect="1" noMove="1" noResize="1" noEditPoints="1" noAdjustHandles="1" noChangeArrowheads="1" noChangeShapeType="1" noTextEdit="1"/>
              </p:cNvSpPr>
              <p:nvPr/>
            </p:nvSpPr>
            <p:spPr>
              <a:xfrm>
                <a:off x="8216900" y="5431725"/>
                <a:ext cx="2056460" cy="525016"/>
              </a:xfrm>
              <a:prstGeom prst="rect">
                <a:avLst/>
              </a:prstGeom>
              <a:blipFill>
                <a:blip r:embed="rId7"/>
                <a:stretch>
                  <a:fillRect/>
                </a:stretch>
              </a:blipFill>
            </p:spPr>
            <p:txBody>
              <a:bodyPr/>
              <a:lstStyle/>
              <a:p>
                <a:r>
                  <a:rPr lang="en-US">
                    <a:noFill/>
                  </a:rPr>
                  <a:t> </a:t>
                </a:r>
              </a:p>
            </p:txBody>
          </p:sp>
        </mc:Fallback>
      </mc:AlternateContent>
      <p:sp>
        <p:nvSpPr>
          <p:cNvPr id="5" name="Rectangle 4"/>
          <p:cNvSpPr/>
          <p:nvPr/>
        </p:nvSpPr>
        <p:spPr>
          <a:xfrm>
            <a:off x="1710150" y="3369295"/>
            <a:ext cx="6838807" cy="646331"/>
          </a:xfrm>
          <a:prstGeom prst="rect">
            <a:avLst/>
          </a:prstGeom>
        </p:spPr>
        <p:txBody>
          <a:bodyPr wrap="square">
            <a:spAutoFit/>
          </a:bodyPr>
          <a:lstStyle/>
          <a:p>
            <a:r>
              <a:rPr lang="en-US" dirty="0"/>
              <a:t>how many of the instances predicted as positive </a:t>
            </a:r>
            <a:endParaRPr lang="en-US" dirty="0" smtClean="0"/>
          </a:p>
          <a:p>
            <a:r>
              <a:rPr lang="en-US" dirty="0" smtClean="0"/>
              <a:t>are </a:t>
            </a:r>
            <a:r>
              <a:rPr lang="en-US" dirty="0"/>
              <a:t>actually positive</a:t>
            </a:r>
          </a:p>
        </p:txBody>
      </p:sp>
      <p:sp>
        <p:nvSpPr>
          <p:cNvPr id="6" name="Rectangle 5"/>
          <p:cNvSpPr/>
          <p:nvPr/>
        </p:nvSpPr>
        <p:spPr>
          <a:xfrm>
            <a:off x="1704161" y="4638323"/>
            <a:ext cx="5458639" cy="646331"/>
          </a:xfrm>
          <a:prstGeom prst="rect">
            <a:avLst/>
          </a:prstGeom>
        </p:spPr>
        <p:txBody>
          <a:bodyPr wrap="square">
            <a:spAutoFit/>
          </a:bodyPr>
          <a:lstStyle/>
          <a:p>
            <a:r>
              <a:rPr lang="en-US" dirty="0"/>
              <a:t>proportion of true positives detected out of all the actual positive instances</a:t>
            </a:r>
          </a:p>
        </p:txBody>
      </p:sp>
      <mc:AlternateContent xmlns:mc="http://schemas.openxmlformats.org/markup-compatibility/2006" xmlns:a14="http://schemas.microsoft.com/office/drawing/2010/main">
        <mc:Choice Requires="a14">
          <p:sp>
            <p:nvSpPr>
              <p:cNvPr id="13" name="Rectangle 12"/>
              <p:cNvSpPr/>
              <p:nvPr/>
            </p:nvSpPr>
            <p:spPr>
              <a:xfrm>
                <a:off x="978657" y="5346771"/>
                <a:ext cx="2615652" cy="61549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𝑆𝑝𝑒𝑐𝑖𝑓𝑖𝑐𝑖𝑡𝑦</m:t>
                      </m:r>
                      <m:r>
                        <a:rPr lang="en-US" i="0">
                          <a:latin typeface="Cambria Math" panose="02040503050406030204" pitchFamily="18" charset="0"/>
                        </a:rPr>
                        <m:t>= </m:t>
                      </m:r>
                      <m:f>
                        <m:fPr>
                          <m:ctrlPr>
                            <a:rPr lang="en-US" i="1">
                              <a:latin typeface="Cambria Math" panose="02040503050406030204" pitchFamily="18" charset="0"/>
                            </a:rPr>
                          </m:ctrlPr>
                        </m:fPr>
                        <m:num>
                          <m:r>
                            <a:rPr lang="en-US" i="1">
                              <a:latin typeface="Cambria Math" panose="02040503050406030204" pitchFamily="18" charset="0"/>
                            </a:rPr>
                            <m:t>𝑇𝑁</m:t>
                          </m:r>
                        </m:num>
                        <m:den>
                          <m:r>
                            <a:rPr lang="en-US" i="1">
                              <a:latin typeface="Cambria Math" panose="02040503050406030204" pitchFamily="18" charset="0"/>
                            </a:rPr>
                            <m:t>𝑇𝑁</m:t>
                          </m:r>
                          <m:r>
                            <a:rPr lang="en-US" i="0">
                              <a:latin typeface="Cambria Math" panose="02040503050406030204" pitchFamily="18" charset="0"/>
                            </a:rPr>
                            <m:t>+</m:t>
                          </m:r>
                          <m:r>
                            <a:rPr lang="en-US" i="1">
                              <a:latin typeface="Cambria Math" panose="02040503050406030204" pitchFamily="18" charset="0"/>
                            </a:rPr>
                            <m:t>𝐹𝑃</m:t>
                          </m:r>
                        </m:den>
                      </m:f>
                    </m:oMath>
                  </m:oMathPara>
                </a14:m>
                <a:endParaRPr lang="en-US" dirty="0"/>
              </a:p>
            </p:txBody>
          </p:sp>
        </mc:Choice>
        <mc:Fallback xmlns="">
          <p:sp>
            <p:nvSpPr>
              <p:cNvPr id="13" name="Rectangle 12"/>
              <p:cNvSpPr>
                <a:spLocks noRot="1" noChangeAspect="1" noMove="1" noResize="1" noEditPoints="1" noAdjustHandles="1" noChangeArrowheads="1" noChangeShapeType="1" noTextEdit="1"/>
              </p:cNvSpPr>
              <p:nvPr/>
            </p:nvSpPr>
            <p:spPr>
              <a:xfrm>
                <a:off x="978657" y="5346771"/>
                <a:ext cx="2615652" cy="615490"/>
              </a:xfrm>
              <a:prstGeom prst="rect">
                <a:avLst/>
              </a:prstGeom>
              <a:blipFill>
                <a:blip r:embed="rId8"/>
                <a:stretch>
                  <a:fillRect/>
                </a:stretch>
              </a:blipFill>
            </p:spPr>
            <p:txBody>
              <a:bodyPr/>
              <a:lstStyle/>
              <a:p>
                <a:r>
                  <a:rPr lang="en-US">
                    <a:noFill/>
                  </a:rPr>
                  <a:t> </a:t>
                </a:r>
              </a:p>
            </p:txBody>
          </p:sp>
        </mc:Fallback>
      </mc:AlternateContent>
      <p:sp>
        <p:nvSpPr>
          <p:cNvPr id="7" name="Rectangle 6"/>
          <p:cNvSpPr/>
          <p:nvPr/>
        </p:nvSpPr>
        <p:spPr>
          <a:xfrm>
            <a:off x="1762785" y="6062869"/>
            <a:ext cx="5400015" cy="646331"/>
          </a:xfrm>
          <a:prstGeom prst="rect">
            <a:avLst/>
          </a:prstGeom>
        </p:spPr>
        <p:txBody>
          <a:bodyPr wrap="square">
            <a:spAutoFit/>
          </a:bodyPr>
          <a:lstStyle/>
          <a:p>
            <a:r>
              <a:rPr lang="en-US" dirty="0"/>
              <a:t>proportion of actual negative instances that are correctly identified by the model</a:t>
            </a:r>
          </a:p>
        </p:txBody>
      </p:sp>
    </p:spTree>
    <p:extLst>
      <p:ext uri="{BB962C8B-B14F-4D97-AF65-F5344CB8AC3E}">
        <p14:creationId xmlns:p14="http://schemas.microsoft.com/office/powerpoint/2010/main" val="55095600"/>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Sitka Text" pitchFamily="2" charset="0"/>
              </a:rPr>
              <a:t>Classification Metrics</a:t>
            </a:r>
            <a:endParaRPr lang="en-US" dirty="0"/>
          </a:p>
        </p:txBody>
      </p:sp>
      <p:pic>
        <p:nvPicPr>
          <p:cNvPr id="4" name="Picture 3"/>
          <p:cNvPicPr>
            <a:picLocks noChangeAspect="1"/>
          </p:cNvPicPr>
          <p:nvPr/>
        </p:nvPicPr>
        <p:blipFill>
          <a:blip r:embed="rId3"/>
          <a:stretch>
            <a:fillRect/>
          </a:stretch>
        </p:blipFill>
        <p:spPr>
          <a:xfrm>
            <a:off x="6501427" y="1728754"/>
            <a:ext cx="5553850" cy="4363059"/>
          </a:xfrm>
          <a:prstGeom prst="rect">
            <a:avLst/>
          </a:prstGeom>
        </p:spPr>
      </p:pic>
      <mc:AlternateContent xmlns:mc="http://schemas.openxmlformats.org/markup-compatibility/2006" xmlns:a14="http://schemas.microsoft.com/office/drawing/2010/main">
        <mc:Choice Requires="a14">
          <p:sp>
            <p:nvSpPr>
              <p:cNvPr id="5" name="Rectangle 4"/>
              <p:cNvSpPr/>
              <p:nvPr/>
            </p:nvSpPr>
            <p:spPr>
              <a:xfrm>
                <a:off x="978657" y="4579447"/>
                <a:ext cx="3693191" cy="61549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𝐹𝑃𝑅</m:t>
                      </m:r>
                      <m:r>
                        <a:rPr lang="en-US" i="0">
                          <a:latin typeface="Cambria Math" panose="02040503050406030204" pitchFamily="18" charset="0"/>
                        </a:rPr>
                        <m:t>=</m:t>
                      </m:r>
                      <m:r>
                        <a:rPr lang="en-IN" b="0" i="0" smtClean="0">
                          <a:latin typeface="Cambria Math" panose="02040503050406030204" pitchFamily="18" charset="0"/>
                        </a:rPr>
                        <m:t>1−</m:t>
                      </m:r>
                      <m:r>
                        <a:rPr lang="en-IN" b="0" i="1" smtClean="0">
                          <a:latin typeface="Cambria Math" panose="02040503050406030204" pitchFamily="18" charset="0"/>
                        </a:rPr>
                        <m:t>𝑠𝑝𝑒𝑐𝑖𝑓𝑖𝑐𝑖𝑡𝑦</m:t>
                      </m:r>
                      <m:r>
                        <a:rPr lang="en-IN" b="0" i="0" smtClean="0">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𝐹𝑃</m:t>
                          </m:r>
                        </m:num>
                        <m:den>
                          <m:r>
                            <a:rPr lang="en-US" i="1">
                              <a:latin typeface="Cambria Math" panose="02040503050406030204" pitchFamily="18" charset="0"/>
                            </a:rPr>
                            <m:t>𝑇𝑁</m:t>
                          </m:r>
                          <m:r>
                            <a:rPr lang="en-US" i="0">
                              <a:latin typeface="Cambria Math" panose="02040503050406030204" pitchFamily="18" charset="0"/>
                            </a:rPr>
                            <m:t>+</m:t>
                          </m:r>
                          <m:r>
                            <a:rPr lang="en-US" i="1">
                              <a:latin typeface="Cambria Math" panose="02040503050406030204" pitchFamily="18" charset="0"/>
                            </a:rPr>
                            <m:t>𝐹𝑃</m:t>
                          </m:r>
                        </m:den>
                      </m:f>
                    </m:oMath>
                  </m:oMathPara>
                </a14:m>
                <a:endParaRPr lang="en-US" dirty="0"/>
              </a:p>
            </p:txBody>
          </p:sp>
        </mc:Choice>
        <mc:Fallback xmlns="">
          <p:sp>
            <p:nvSpPr>
              <p:cNvPr id="5" name="Rectangle 4"/>
              <p:cNvSpPr>
                <a:spLocks noRot="1" noChangeAspect="1" noMove="1" noResize="1" noEditPoints="1" noAdjustHandles="1" noChangeArrowheads="1" noChangeShapeType="1" noTextEdit="1"/>
              </p:cNvSpPr>
              <p:nvPr/>
            </p:nvSpPr>
            <p:spPr>
              <a:xfrm>
                <a:off x="978657" y="4579447"/>
                <a:ext cx="3693191" cy="615490"/>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Rectangle 5"/>
              <p:cNvSpPr/>
              <p:nvPr/>
            </p:nvSpPr>
            <p:spPr>
              <a:xfrm>
                <a:off x="978657" y="1842389"/>
                <a:ext cx="1930720" cy="61549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𝐹𝑁𝑅</m:t>
                      </m:r>
                      <m:r>
                        <a:rPr lang="en-US" i="0">
                          <a:latin typeface="Cambria Math" panose="02040503050406030204" pitchFamily="18" charset="0"/>
                        </a:rPr>
                        <m:t>= </m:t>
                      </m:r>
                      <m:f>
                        <m:fPr>
                          <m:ctrlPr>
                            <a:rPr lang="en-US" i="1">
                              <a:latin typeface="Cambria Math" panose="02040503050406030204" pitchFamily="18" charset="0"/>
                            </a:rPr>
                          </m:ctrlPr>
                        </m:fPr>
                        <m:num>
                          <m:r>
                            <a:rPr lang="en-US" i="1">
                              <a:latin typeface="Cambria Math" panose="02040503050406030204" pitchFamily="18" charset="0"/>
                            </a:rPr>
                            <m:t>𝐹𝑁</m:t>
                          </m:r>
                        </m:num>
                        <m:den>
                          <m:r>
                            <a:rPr lang="en-US" i="1">
                              <a:latin typeface="Cambria Math" panose="02040503050406030204" pitchFamily="18" charset="0"/>
                            </a:rPr>
                            <m:t>𝐹𝑁</m:t>
                          </m:r>
                          <m:r>
                            <a:rPr lang="en-US" i="0">
                              <a:latin typeface="Cambria Math" panose="02040503050406030204" pitchFamily="18" charset="0"/>
                            </a:rPr>
                            <m:t>+</m:t>
                          </m:r>
                          <m:r>
                            <a:rPr lang="en-US" i="1">
                              <a:latin typeface="Cambria Math" panose="02040503050406030204" pitchFamily="18" charset="0"/>
                            </a:rPr>
                            <m:t>𝑇𝑃</m:t>
                          </m:r>
                        </m:den>
                      </m:f>
                    </m:oMath>
                  </m:oMathPara>
                </a14:m>
                <a:endParaRPr lang="en-US" dirty="0"/>
              </a:p>
            </p:txBody>
          </p:sp>
        </mc:Choice>
        <mc:Fallback xmlns="">
          <p:sp>
            <p:nvSpPr>
              <p:cNvPr id="6" name="Rectangle 5"/>
              <p:cNvSpPr>
                <a:spLocks noRot="1" noChangeAspect="1" noMove="1" noResize="1" noEditPoints="1" noAdjustHandles="1" noChangeArrowheads="1" noChangeShapeType="1" noTextEdit="1"/>
              </p:cNvSpPr>
              <p:nvPr/>
            </p:nvSpPr>
            <p:spPr>
              <a:xfrm>
                <a:off x="978657" y="1842389"/>
                <a:ext cx="1930720" cy="615490"/>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Rectangle 6"/>
              <p:cNvSpPr/>
              <p:nvPr/>
            </p:nvSpPr>
            <p:spPr>
              <a:xfrm>
                <a:off x="978657" y="3294794"/>
                <a:ext cx="5180072" cy="61549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𝑇𝑃𝑅</m:t>
                      </m:r>
                      <m:r>
                        <a:rPr lang="en-US" i="0" smtClean="0">
                          <a:latin typeface="Cambria Math" panose="02040503050406030204" pitchFamily="18" charset="0"/>
                        </a:rPr>
                        <m:t>=</m:t>
                      </m:r>
                      <m:r>
                        <a:rPr lang="en-US" b="0" i="1" smtClean="0">
                          <a:latin typeface="Cambria Math" panose="02040503050406030204" pitchFamily="18" charset="0"/>
                        </a:rPr>
                        <m:t>1−</m:t>
                      </m:r>
                      <m:r>
                        <a:rPr lang="en-US" b="0" i="1" smtClean="0">
                          <a:latin typeface="Cambria Math" panose="02040503050406030204" pitchFamily="18" charset="0"/>
                        </a:rPr>
                        <m:t>𝐹𝑁𝑅</m:t>
                      </m:r>
                      <m:r>
                        <a:rPr lang="en-US" b="0" i="1" smtClean="0">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𝑇</m:t>
                          </m:r>
                          <m:r>
                            <a:rPr lang="en-US" b="0" i="1" smtClean="0">
                              <a:latin typeface="Cambria Math" panose="02040503050406030204" pitchFamily="18" charset="0"/>
                            </a:rPr>
                            <m:t>𝑃</m:t>
                          </m:r>
                        </m:num>
                        <m:den>
                          <m:r>
                            <a:rPr lang="en-US" i="1">
                              <a:latin typeface="Cambria Math" panose="02040503050406030204" pitchFamily="18" charset="0"/>
                            </a:rPr>
                            <m:t>𝑇</m:t>
                          </m:r>
                          <m:r>
                            <a:rPr lang="en-US" b="0" i="1" smtClean="0">
                              <a:latin typeface="Cambria Math" panose="02040503050406030204" pitchFamily="18" charset="0"/>
                            </a:rPr>
                            <m:t>𝑃</m:t>
                          </m:r>
                          <m:r>
                            <a:rPr lang="en-US" i="0">
                              <a:latin typeface="Cambria Math" panose="02040503050406030204" pitchFamily="18" charset="0"/>
                            </a:rPr>
                            <m:t>+</m:t>
                          </m:r>
                          <m:r>
                            <a:rPr lang="en-US" i="1" smtClean="0">
                              <a:latin typeface="Cambria Math" panose="02040503050406030204" pitchFamily="18" charset="0"/>
                            </a:rPr>
                            <m:t>𝐹</m:t>
                          </m:r>
                          <m:r>
                            <a:rPr lang="en-US" b="0" i="1" smtClean="0">
                              <a:latin typeface="Cambria Math" panose="02040503050406030204" pitchFamily="18" charset="0"/>
                            </a:rPr>
                            <m:t>𝑁</m:t>
                          </m:r>
                        </m:den>
                      </m:f>
                      <m:r>
                        <a:rPr lang="en-US" b="0" i="1" smtClean="0">
                          <a:latin typeface="Cambria Math" panose="02040503050406030204" pitchFamily="18" charset="0"/>
                        </a:rPr>
                        <m:t>=</m:t>
                      </m:r>
                      <m:r>
                        <a:rPr lang="en-US" b="0" i="1" smtClean="0">
                          <a:latin typeface="Cambria Math" panose="02040503050406030204" pitchFamily="18" charset="0"/>
                        </a:rPr>
                        <m:t>𝑅𝑒𝑐𝑎𝑙𝑙</m:t>
                      </m:r>
                      <m:r>
                        <a:rPr lang="en-US" b="0" i="1" smtClean="0">
                          <a:latin typeface="Cambria Math" panose="02040503050406030204" pitchFamily="18" charset="0"/>
                        </a:rPr>
                        <m:t>/</m:t>
                      </m:r>
                      <m:r>
                        <a:rPr lang="en-US" i="1">
                          <a:latin typeface="Cambria Math" panose="02040503050406030204" pitchFamily="18" charset="0"/>
                        </a:rPr>
                        <m:t>𝑆</m:t>
                      </m:r>
                      <m:r>
                        <a:rPr lang="en-US" b="0" i="1" smtClean="0">
                          <a:latin typeface="Cambria Math" panose="02040503050406030204" pitchFamily="18" charset="0"/>
                        </a:rPr>
                        <m:t>𝑒𝑛𝑠𝑖𝑡𝑖𝑣𝑖</m:t>
                      </m:r>
                      <m:r>
                        <a:rPr lang="en-US" i="1">
                          <a:latin typeface="Cambria Math" panose="02040503050406030204" pitchFamily="18" charset="0"/>
                        </a:rPr>
                        <m:t>𝑡𝑦</m:t>
                      </m:r>
                    </m:oMath>
                  </m:oMathPara>
                </a14:m>
                <a:endParaRPr lang="en-US" dirty="0"/>
              </a:p>
            </p:txBody>
          </p:sp>
        </mc:Choice>
        <mc:Fallback xmlns="">
          <p:sp>
            <p:nvSpPr>
              <p:cNvPr id="7" name="Rectangle 6"/>
              <p:cNvSpPr>
                <a:spLocks noRot="1" noChangeAspect="1" noMove="1" noResize="1" noEditPoints="1" noAdjustHandles="1" noChangeArrowheads="1" noChangeShapeType="1" noTextEdit="1"/>
              </p:cNvSpPr>
              <p:nvPr/>
            </p:nvSpPr>
            <p:spPr>
              <a:xfrm>
                <a:off x="978657" y="3294794"/>
                <a:ext cx="5180072" cy="615490"/>
              </a:xfrm>
              <a:prstGeom prst="rect">
                <a:avLst/>
              </a:prstGeom>
              <a:blipFill>
                <a:blip r:embed="rId6"/>
                <a:stretch>
                  <a:fillRect/>
                </a:stretch>
              </a:blipFill>
            </p:spPr>
            <p:txBody>
              <a:bodyPr/>
              <a:lstStyle/>
              <a:p>
                <a:r>
                  <a:rPr lang="en-US">
                    <a:noFill/>
                  </a:rPr>
                  <a:t> </a:t>
                </a:r>
              </a:p>
            </p:txBody>
          </p:sp>
        </mc:Fallback>
      </mc:AlternateContent>
      <p:sp>
        <p:nvSpPr>
          <p:cNvPr id="3" name="Rectangle 2"/>
          <p:cNvSpPr/>
          <p:nvPr/>
        </p:nvSpPr>
        <p:spPr>
          <a:xfrm>
            <a:off x="1486817" y="5391174"/>
            <a:ext cx="4609183" cy="646331"/>
          </a:xfrm>
          <a:prstGeom prst="rect">
            <a:avLst/>
          </a:prstGeom>
        </p:spPr>
        <p:txBody>
          <a:bodyPr wrap="square">
            <a:spAutoFit/>
          </a:bodyPr>
          <a:lstStyle/>
          <a:p>
            <a:r>
              <a:rPr lang="en-US" dirty="0"/>
              <a:t>proportion of actual negative instances that are incorrectly classified as positive by the model</a:t>
            </a:r>
          </a:p>
        </p:txBody>
      </p:sp>
      <p:sp>
        <p:nvSpPr>
          <p:cNvPr id="8" name="Rectangle 7"/>
          <p:cNvSpPr/>
          <p:nvPr/>
        </p:nvSpPr>
        <p:spPr>
          <a:xfrm>
            <a:off x="2005765" y="2521407"/>
            <a:ext cx="4610935" cy="646331"/>
          </a:xfrm>
          <a:prstGeom prst="rect">
            <a:avLst/>
          </a:prstGeom>
        </p:spPr>
        <p:txBody>
          <a:bodyPr wrap="square">
            <a:spAutoFit/>
          </a:bodyPr>
          <a:lstStyle/>
          <a:p>
            <a:r>
              <a:rPr lang="en-US" dirty="0"/>
              <a:t>proportion of actual positive instances that are incorrectly classified as negative by the model</a:t>
            </a:r>
          </a:p>
        </p:txBody>
      </p:sp>
    </p:spTree>
    <p:extLst>
      <p:ext uri="{BB962C8B-B14F-4D97-AF65-F5344CB8AC3E}">
        <p14:creationId xmlns:p14="http://schemas.microsoft.com/office/powerpoint/2010/main" val="3303983497"/>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Sitka Text" pitchFamily="2" charset="0"/>
              </a:rPr>
              <a:t>Classification Metrics</a:t>
            </a:r>
            <a:endParaRPr lang="en-US" dirty="0"/>
          </a:p>
        </p:txBody>
      </p:sp>
      <p:pic>
        <p:nvPicPr>
          <p:cNvPr id="4" name="Content Placeholder 3"/>
          <p:cNvPicPr>
            <a:picLocks noChangeAspect="1"/>
          </p:cNvPicPr>
          <p:nvPr/>
        </p:nvPicPr>
        <p:blipFill>
          <a:blip r:embed="rId3"/>
          <a:stretch>
            <a:fillRect/>
          </a:stretch>
        </p:blipFill>
        <p:spPr>
          <a:xfrm>
            <a:off x="1198108" y="2129279"/>
            <a:ext cx="8945223" cy="1314633"/>
          </a:xfrm>
          <a:prstGeom prst="rect">
            <a:avLst/>
          </a:prstGeom>
        </p:spPr>
      </p:pic>
      <p:pic>
        <p:nvPicPr>
          <p:cNvPr id="5" name="Picture 4"/>
          <p:cNvPicPr>
            <a:picLocks noChangeAspect="1"/>
          </p:cNvPicPr>
          <p:nvPr/>
        </p:nvPicPr>
        <p:blipFill>
          <a:blip r:embed="rId4"/>
          <a:stretch>
            <a:fillRect/>
          </a:stretch>
        </p:blipFill>
        <p:spPr>
          <a:xfrm>
            <a:off x="1198108" y="4074305"/>
            <a:ext cx="5571497" cy="1495548"/>
          </a:xfrm>
          <a:prstGeom prst="rect">
            <a:avLst/>
          </a:prstGeom>
        </p:spPr>
      </p:pic>
    </p:spTree>
    <p:extLst>
      <p:ext uri="{BB962C8B-B14F-4D97-AF65-F5344CB8AC3E}">
        <p14:creationId xmlns:p14="http://schemas.microsoft.com/office/powerpoint/2010/main" val="1029942254"/>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Sitka Text" pitchFamily="2" charset="0"/>
              </a:rPr>
              <a:t>Training and Validation Result</a:t>
            </a:r>
            <a:endParaRPr lang="en-US" dirty="0">
              <a:latin typeface="Sitka Text" pitchFamily="2" charset="0"/>
            </a:endParaRPr>
          </a:p>
        </p:txBody>
      </p:sp>
      <p:pic>
        <p:nvPicPr>
          <p:cNvPr id="4" name="Content Placeholder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647802" y="1817688"/>
            <a:ext cx="5266954" cy="4160528"/>
          </a:xfrm>
        </p:spPr>
      </p:pic>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000" y="1817688"/>
            <a:ext cx="5266954" cy="4160528"/>
          </a:xfrm>
          <a:prstGeom prst="rect">
            <a:avLst/>
          </a:prstGeom>
        </p:spPr>
      </p:pic>
    </p:spTree>
    <p:extLst>
      <p:ext uri="{BB962C8B-B14F-4D97-AF65-F5344CB8AC3E}">
        <p14:creationId xmlns:p14="http://schemas.microsoft.com/office/powerpoint/2010/main" val="546460101"/>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Sitka Text" pitchFamily="2" charset="0"/>
              </a:rPr>
              <a:t>Performance on the Test Set</a:t>
            </a:r>
            <a:endParaRPr lang="en-US" dirty="0">
              <a:latin typeface="Sitka Text" pitchFamily="2" charset="0"/>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662258026"/>
              </p:ext>
            </p:extLst>
          </p:nvPr>
        </p:nvGraphicFramePr>
        <p:xfrm>
          <a:off x="838200" y="1847368"/>
          <a:ext cx="4206240" cy="1112520"/>
        </p:xfrm>
        <a:graphic>
          <a:graphicData uri="http://schemas.openxmlformats.org/drawingml/2006/table">
            <a:tbl>
              <a:tblPr firstRow="1" bandRow="1">
                <a:tableStyleId>{5C22544A-7EE6-4342-B048-85BDC9FD1C3A}</a:tableStyleId>
              </a:tblPr>
              <a:tblGrid>
                <a:gridCol w="2103120">
                  <a:extLst>
                    <a:ext uri="{9D8B030D-6E8A-4147-A177-3AD203B41FA5}">
                      <a16:colId xmlns:a16="http://schemas.microsoft.com/office/drawing/2014/main" val="1355096214"/>
                    </a:ext>
                  </a:extLst>
                </a:gridCol>
                <a:gridCol w="2103120">
                  <a:extLst>
                    <a:ext uri="{9D8B030D-6E8A-4147-A177-3AD203B41FA5}">
                      <a16:colId xmlns:a16="http://schemas.microsoft.com/office/drawing/2014/main" val="3488434293"/>
                    </a:ext>
                  </a:extLst>
                </a:gridCol>
              </a:tblGrid>
              <a:tr h="370840">
                <a:tc>
                  <a:txBody>
                    <a:bodyPr/>
                    <a:lstStyle/>
                    <a:p>
                      <a:r>
                        <a:rPr lang="en-US" dirty="0" smtClean="0">
                          <a:latin typeface="Sitka Text" pitchFamily="2" charset="0"/>
                        </a:rPr>
                        <a:t>Metrics</a:t>
                      </a:r>
                      <a:endParaRPr lang="en-US" dirty="0">
                        <a:latin typeface="Sitka Text" pitchFamily="2" charset="0"/>
                      </a:endParaRPr>
                    </a:p>
                  </a:txBody>
                  <a:tcPr/>
                </a:tc>
                <a:tc>
                  <a:txBody>
                    <a:bodyPr/>
                    <a:lstStyle/>
                    <a:p>
                      <a:r>
                        <a:rPr lang="en-US" dirty="0" smtClean="0">
                          <a:latin typeface="Sitka Text" pitchFamily="2" charset="0"/>
                        </a:rPr>
                        <a:t>Multi-class </a:t>
                      </a:r>
                      <a:endParaRPr lang="en-US" dirty="0">
                        <a:latin typeface="Sitka Text" pitchFamily="2" charset="0"/>
                      </a:endParaRPr>
                    </a:p>
                  </a:txBody>
                  <a:tcPr/>
                </a:tc>
                <a:extLst>
                  <a:ext uri="{0D108BD9-81ED-4DB2-BD59-A6C34878D82A}">
                    <a16:rowId xmlns:a16="http://schemas.microsoft.com/office/drawing/2014/main" val="840484841"/>
                  </a:ext>
                </a:extLst>
              </a:tr>
              <a:tr h="370840">
                <a:tc>
                  <a:txBody>
                    <a:bodyPr/>
                    <a:lstStyle/>
                    <a:p>
                      <a:r>
                        <a:rPr lang="en-US" dirty="0" smtClean="0">
                          <a:latin typeface="Sitka Text" pitchFamily="2" charset="0"/>
                        </a:rPr>
                        <a:t>Loss</a:t>
                      </a:r>
                      <a:endParaRPr lang="en-US" dirty="0">
                        <a:latin typeface="Sitka Text" pitchFamily="2" charset="0"/>
                      </a:endParaRPr>
                    </a:p>
                  </a:txBody>
                  <a:tcPr/>
                </a:tc>
                <a:tc>
                  <a:txBody>
                    <a:bodyPr/>
                    <a:lstStyle/>
                    <a:p>
                      <a:r>
                        <a:rPr lang="en-US" dirty="0" smtClean="0">
                          <a:latin typeface="Sitka Text" pitchFamily="2" charset="0"/>
                        </a:rPr>
                        <a:t>0.1452</a:t>
                      </a:r>
                      <a:endParaRPr lang="en-US" dirty="0">
                        <a:latin typeface="Sitka Text" pitchFamily="2" charset="0"/>
                      </a:endParaRPr>
                    </a:p>
                  </a:txBody>
                  <a:tcPr/>
                </a:tc>
                <a:extLst>
                  <a:ext uri="{0D108BD9-81ED-4DB2-BD59-A6C34878D82A}">
                    <a16:rowId xmlns:a16="http://schemas.microsoft.com/office/drawing/2014/main" val="279590111"/>
                  </a:ext>
                </a:extLst>
              </a:tr>
              <a:tr h="370840">
                <a:tc>
                  <a:txBody>
                    <a:bodyPr/>
                    <a:lstStyle/>
                    <a:p>
                      <a:r>
                        <a:rPr lang="en-US" dirty="0" smtClean="0">
                          <a:latin typeface="Sitka Text" pitchFamily="2" charset="0"/>
                        </a:rPr>
                        <a:t>Accuracy</a:t>
                      </a:r>
                      <a:endParaRPr lang="en-US" dirty="0">
                        <a:latin typeface="Sitka Text" pitchFamily="2" charset="0"/>
                      </a:endParaRPr>
                    </a:p>
                  </a:txBody>
                  <a:tcPr/>
                </a:tc>
                <a:tc>
                  <a:txBody>
                    <a:bodyPr/>
                    <a:lstStyle/>
                    <a:p>
                      <a:r>
                        <a:rPr lang="en-US" dirty="0" smtClean="0">
                          <a:latin typeface="Sitka Text" pitchFamily="2" charset="0"/>
                        </a:rPr>
                        <a:t>95.69%</a:t>
                      </a:r>
                      <a:endParaRPr lang="en-US" dirty="0">
                        <a:latin typeface="Sitka Text" pitchFamily="2" charset="0"/>
                      </a:endParaRPr>
                    </a:p>
                  </a:txBody>
                  <a:tcPr/>
                </a:tc>
                <a:extLst>
                  <a:ext uri="{0D108BD9-81ED-4DB2-BD59-A6C34878D82A}">
                    <a16:rowId xmlns:a16="http://schemas.microsoft.com/office/drawing/2014/main" val="2116694446"/>
                  </a:ext>
                </a:extLst>
              </a:tr>
            </a:tbl>
          </a:graphicData>
        </a:graphic>
      </p:graphicFrame>
      <p:pic>
        <p:nvPicPr>
          <p:cNvPr id="5" name="Picture 4"/>
          <p:cNvPicPr>
            <a:picLocks noChangeAspect="1"/>
          </p:cNvPicPr>
          <p:nvPr/>
        </p:nvPicPr>
        <p:blipFill>
          <a:blip r:embed="rId2"/>
          <a:stretch>
            <a:fillRect/>
          </a:stretch>
        </p:blipFill>
        <p:spPr>
          <a:xfrm>
            <a:off x="5249780" y="2403628"/>
            <a:ext cx="6435677" cy="2948438"/>
          </a:xfrm>
          <a:prstGeom prst="rect">
            <a:avLst/>
          </a:prstGeom>
        </p:spPr>
      </p:pic>
      <p:sp>
        <p:nvSpPr>
          <p:cNvPr id="6" name="Rectangle 5"/>
          <p:cNvSpPr/>
          <p:nvPr/>
        </p:nvSpPr>
        <p:spPr>
          <a:xfrm>
            <a:off x="1134979" y="3758736"/>
            <a:ext cx="6096000" cy="1200329"/>
          </a:xfrm>
          <a:prstGeom prst="rect">
            <a:avLst/>
          </a:prstGeom>
        </p:spPr>
        <p:txBody>
          <a:bodyPr>
            <a:spAutoFit/>
          </a:bodyPr>
          <a:lstStyle/>
          <a:p>
            <a:r>
              <a:rPr lang="en-US" dirty="0" smtClean="0">
                <a:solidFill>
                  <a:srgbClr val="008000"/>
                </a:solidFill>
                <a:latin typeface="Consolas" panose="020B0609020204030204" pitchFamily="49" charset="0"/>
              </a:rPr>
              <a:t>'Apparel' </a:t>
            </a:r>
          </a:p>
          <a:p>
            <a:r>
              <a:rPr lang="en-US" dirty="0" smtClean="0">
                <a:solidFill>
                  <a:srgbClr val="008000"/>
                </a:solidFill>
                <a:latin typeface="Consolas" panose="020B0609020204030204" pitchFamily="49" charset="0"/>
              </a:rPr>
              <a:t>'Accessories' </a:t>
            </a:r>
          </a:p>
          <a:p>
            <a:r>
              <a:rPr lang="en-US" dirty="0" smtClean="0">
                <a:solidFill>
                  <a:srgbClr val="008000"/>
                </a:solidFill>
                <a:latin typeface="Consolas" panose="020B0609020204030204" pitchFamily="49" charset="0"/>
              </a:rPr>
              <a:t>'Footwear'</a:t>
            </a:r>
          </a:p>
          <a:p>
            <a:r>
              <a:rPr lang="en-US" dirty="0" smtClean="0">
                <a:solidFill>
                  <a:srgbClr val="008000"/>
                </a:solidFill>
                <a:latin typeface="Consolas" panose="020B0609020204030204" pitchFamily="49" charset="0"/>
              </a:rPr>
              <a:t>'Personal </a:t>
            </a:r>
            <a:r>
              <a:rPr lang="en-US" dirty="0">
                <a:solidFill>
                  <a:srgbClr val="008000"/>
                </a:solidFill>
                <a:latin typeface="Consolas" panose="020B0609020204030204" pitchFamily="49" charset="0"/>
              </a:rPr>
              <a:t>Care</a:t>
            </a:r>
            <a:r>
              <a:rPr lang="en-US" dirty="0" smtClean="0">
                <a:solidFill>
                  <a:srgbClr val="008000"/>
                </a:solidFill>
                <a:latin typeface="Consolas" panose="020B0609020204030204" pitchFamily="49" charset="0"/>
              </a:rPr>
              <a:t>'</a:t>
            </a:r>
            <a:endParaRPr lang="en-US" b="0" dirty="0">
              <a:solidFill>
                <a:srgbClr val="000000"/>
              </a:solidFill>
              <a:effectLst/>
              <a:latin typeface="Consolas" panose="020B0609020204030204" pitchFamily="49" charset="0"/>
            </a:endParaRPr>
          </a:p>
        </p:txBody>
      </p:sp>
      <mc:AlternateContent xmlns:mc="http://schemas.openxmlformats.org/markup-compatibility/2006" xmlns:a14="http://schemas.microsoft.com/office/drawing/2010/main">
        <mc:Choice Requires="a14">
          <p:sp>
            <p:nvSpPr>
              <p:cNvPr id="7" name="Rectangle 6"/>
              <p:cNvSpPr/>
              <p:nvPr/>
            </p:nvSpPr>
            <p:spPr>
              <a:xfrm>
                <a:off x="4585457" y="5757261"/>
                <a:ext cx="3349891" cy="61549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𝑅𝑒𝑐𝑎𝑙𝑙</m:t>
                      </m:r>
                      <m:r>
                        <a:rPr lang="en-US" b="0" i="1" smtClean="0">
                          <a:latin typeface="Cambria Math" panose="02040503050406030204" pitchFamily="18" charset="0"/>
                        </a:rPr>
                        <m:t>/</m:t>
                      </m:r>
                      <m:r>
                        <a:rPr lang="en-US" i="1">
                          <a:latin typeface="Cambria Math" panose="02040503050406030204" pitchFamily="18" charset="0"/>
                        </a:rPr>
                        <m:t>𝑆</m:t>
                      </m:r>
                      <m:r>
                        <a:rPr lang="en-US" b="0" i="1" smtClean="0">
                          <a:latin typeface="Cambria Math" panose="02040503050406030204" pitchFamily="18" charset="0"/>
                        </a:rPr>
                        <m:t>𝑒𝑛𝑠𝑖𝑡𝑖𝑣𝑖</m:t>
                      </m:r>
                      <m:r>
                        <a:rPr lang="en-US" i="1">
                          <a:latin typeface="Cambria Math" panose="02040503050406030204" pitchFamily="18" charset="0"/>
                        </a:rPr>
                        <m:t>𝑡𝑦</m:t>
                      </m:r>
                      <m:r>
                        <a:rPr lang="en-US" i="0">
                          <a:latin typeface="Cambria Math" panose="02040503050406030204" pitchFamily="18" charset="0"/>
                        </a:rPr>
                        <m:t>= </m:t>
                      </m:r>
                      <m:f>
                        <m:fPr>
                          <m:ctrlPr>
                            <a:rPr lang="en-US" i="1">
                              <a:latin typeface="Cambria Math" panose="02040503050406030204" pitchFamily="18" charset="0"/>
                            </a:rPr>
                          </m:ctrlPr>
                        </m:fPr>
                        <m:num>
                          <m:r>
                            <a:rPr lang="en-US" i="1">
                              <a:latin typeface="Cambria Math" panose="02040503050406030204" pitchFamily="18" charset="0"/>
                            </a:rPr>
                            <m:t>𝑇</m:t>
                          </m:r>
                          <m:r>
                            <a:rPr lang="en-US" b="0" i="1" smtClean="0">
                              <a:latin typeface="Cambria Math" panose="02040503050406030204" pitchFamily="18" charset="0"/>
                            </a:rPr>
                            <m:t>𝑃</m:t>
                          </m:r>
                        </m:num>
                        <m:den>
                          <m:r>
                            <a:rPr lang="en-US" i="1">
                              <a:latin typeface="Cambria Math" panose="02040503050406030204" pitchFamily="18" charset="0"/>
                            </a:rPr>
                            <m:t>𝑇</m:t>
                          </m:r>
                          <m:r>
                            <a:rPr lang="en-US" b="0" i="1" smtClean="0">
                              <a:latin typeface="Cambria Math" panose="02040503050406030204" pitchFamily="18" charset="0"/>
                            </a:rPr>
                            <m:t>𝑃</m:t>
                          </m:r>
                          <m:r>
                            <a:rPr lang="en-US" i="0">
                              <a:latin typeface="Cambria Math" panose="02040503050406030204" pitchFamily="18" charset="0"/>
                            </a:rPr>
                            <m:t>+</m:t>
                          </m:r>
                          <m:r>
                            <a:rPr lang="en-US" i="1" smtClean="0">
                              <a:latin typeface="Cambria Math" panose="02040503050406030204" pitchFamily="18" charset="0"/>
                            </a:rPr>
                            <m:t>𝐹</m:t>
                          </m:r>
                          <m:r>
                            <a:rPr lang="en-US" b="0" i="1" smtClean="0">
                              <a:latin typeface="Cambria Math" panose="02040503050406030204" pitchFamily="18" charset="0"/>
                            </a:rPr>
                            <m:t>𝑁</m:t>
                          </m:r>
                        </m:den>
                      </m:f>
                    </m:oMath>
                  </m:oMathPara>
                </a14:m>
                <a:endParaRPr lang="en-US" dirty="0"/>
              </a:p>
            </p:txBody>
          </p:sp>
        </mc:Choice>
        <mc:Fallback xmlns="">
          <p:sp>
            <p:nvSpPr>
              <p:cNvPr id="7" name="Rectangle 6"/>
              <p:cNvSpPr>
                <a:spLocks noRot="1" noChangeAspect="1" noMove="1" noResize="1" noEditPoints="1" noAdjustHandles="1" noChangeArrowheads="1" noChangeShapeType="1" noTextEdit="1"/>
              </p:cNvSpPr>
              <p:nvPr/>
            </p:nvSpPr>
            <p:spPr>
              <a:xfrm>
                <a:off x="4585457" y="5757261"/>
                <a:ext cx="3349891" cy="615490"/>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Rectangle 7"/>
              <p:cNvSpPr/>
              <p:nvPr/>
            </p:nvSpPr>
            <p:spPr>
              <a:xfrm>
                <a:off x="620130" y="5757913"/>
                <a:ext cx="2428101" cy="61549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𝑃𝑟𝑒𝑐𝑖𝑠𝑖𝑜𝑛</m:t>
                      </m:r>
                      <m:r>
                        <a:rPr lang="en-US" i="0">
                          <a:latin typeface="Cambria Math" panose="02040503050406030204" pitchFamily="18" charset="0"/>
                        </a:rPr>
                        <m:t>= </m:t>
                      </m:r>
                      <m:f>
                        <m:fPr>
                          <m:ctrlPr>
                            <a:rPr lang="en-US" i="1">
                              <a:latin typeface="Cambria Math" panose="02040503050406030204" pitchFamily="18" charset="0"/>
                            </a:rPr>
                          </m:ctrlPr>
                        </m:fPr>
                        <m:num>
                          <m:r>
                            <a:rPr lang="en-US" i="1">
                              <a:latin typeface="Cambria Math" panose="02040503050406030204" pitchFamily="18" charset="0"/>
                            </a:rPr>
                            <m:t>𝑇</m:t>
                          </m:r>
                          <m:r>
                            <a:rPr lang="en-US" b="0" i="1" smtClean="0">
                              <a:latin typeface="Cambria Math" panose="02040503050406030204" pitchFamily="18" charset="0"/>
                            </a:rPr>
                            <m:t>𝑃</m:t>
                          </m:r>
                        </m:num>
                        <m:den>
                          <m:r>
                            <a:rPr lang="en-US" i="1">
                              <a:latin typeface="Cambria Math" panose="02040503050406030204" pitchFamily="18" charset="0"/>
                            </a:rPr>
                            <m:t>𝑇</m:t>
                          </m:r>
                          <m:r>
                            <a:rPr lang="en-US" b="0" i="1" smtClean="0">
                              <a:latin typeface="Cambria Math" panose="02040503050406030204" pitchFamily="18" charset="0"/>
                            </a:rPr>
                            <m:t>𝑃</m:t>
                          </m:r>
                          <m:r>
                            <a:rPr lang="en-US" i="0">
                              <a:latin typeface="Cambria Math" panose="02040503050406030204" pitchFamily="18" charset="0"/>
                            </a:rPr>
                            <m:t>+</m:t>
                          </m:r>
                          <m:r>
                            <a:rPr lang="en-US" i="1" smtClean="0">
                              <a:latin typeface="Cambria Math" panose="02040503050406030204" pitchFamily="18" charset="0"/>
                            </a:rPr>
                            <m:t>𝐹</m:t>
                          </m:r>
                          <m:r>
                            <a:rPr lang="en-US" b="0" i="1" smtClean="0">
                              <a:latin typeface="Cambria Math" panose="02040503050406030204" pitchFamily="18" charset="0"/>
                            </a:rPr>
                            <m:t>𝑃</m:t>
                          </m:r>
                        </m:den>
                      </m:f>
                    </m:oMath>
                  </m:oMathPara>
                </a14:m>
                <a:endParaRPr lang="en-US" dirty="0"/>
              </a:p>
            </p:txBody>
          </p:sp>
        </mc:Choice>
        <mc:Fallback xmlns="">
          <p:sp>
            <p:nvSpPr>
              <p:cNvPr id="8" name="Rectangle 7"/>
              <p:cNvSpPr>
                <a:spLocks noRot="1" noChangeAspect="1" noMove="1" noResize="1" noEditPoints="1" noAdjustHandles="1" noChangeArrowheads="1" noChangeShapeType="1" noTextEdit="1"/>
              </p:cNvSpPr>
              <p:nvPr/>
            </p:nvSpPr>
            <p:spPr>
              <a:xfrm>
                <a:off x="620130" y="5757913"/>
                <a:ext cx="2428101" cy="615490"/>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346110364"/>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Sitka Text" pitchFamily="2" charset="0"/>
              </a:rPr>
              <a:t>Performance on the Test Set</a:t>
            </a:r>
            <a:endParaRPr lang="en-US" dirty="0"/>
          </a:p>
        </p:txBody>
      </p:sp>
      <p:sp>
        <p:nvSpPr>
          <p:cNvPr id="4" name="Rectangle 3"/>
          <p:cNvSpPr/>
          <p:nvPr/>
        </p:nvSpPr>
        <p:spPr>
          <a:xfrm>
            <a:off x="1074821" y="2828835"/>
            <a:ext cx="6096000" cy="1200329"/>
          </a:xfrm>
          <a:prstGeom prst="rect">
            <a:avLst/>
          </a:prstGeom>
        </p:spPr>
        <p:txBody>
          <a:bodyPr>
            <a:spAutoFit/>
          </a:bodyPr>
          <a:lstStyle/>
          <a:p>
            <a:r>
              <a:rPr lang="en-US" dirty="0">
                <a:solidFill>
                  <a:srgbClr val="008000"/>
                </a:solidFill>
                <a:latin typeface="Consolas" panose="020B0609020204030204" pitchFamily="49" charset="0"/>
              </a:rPr>
              <a:t>'Apparel' </a:t>
            </a:r>
          </a:p>
          <a:p>
            <a:r>
              <a:rPr lang="en-US" dirty="0">
                <a:solidFill>
                  <a:srgbClr val="008000"/>
                </a:solidFill>
                <a:latin typeface="Consolas" panose="020B0609020204030204" pitchFamily="49" charset="0"/>
              </a:rPr>
              <a:t>'Accessories' </a:t>
            </a:r>
          </a:p>
          <a:p>
            <a:r>
              <a:rPr lang="en-US" dirty="0">
                <a:solidFill>
                  <a:srgbClr val="008000"/>
                </a:solidFill>
                <a:latin typeface="Consolas" panose="020B0609020204030204" pitchFamily="49" charset="0"/>
              </a:rPr>
              <a:t>'Footwear'</a:t>
            </a:r>
          </a:p>
          <a:p>
            <a:r>
              <a:rPr lang="en-US" dirty="0">
                <a:solidFill>
                  <a:srgbClr val="008000"/>
                </a:solidFill>
                <a:latin typeface="Consolas" panose="020B0609020204030204" pitchFamily="49" charset="0"/>
              </a:rPr>
              <a:t>'Personal Care'</a:t>
            </a:r>
            <a:endParaRPr lang="en-US" dirty="0">
              <a:solidFill>
                <a:srgbClr val="000000"/>
              </a:solidFill>
              <a:latin typeface="Consolas" panose="020B0609020204030204" pitchFamily="49" charset="0"/>
            </a:endParaRPr>
          </a:p>
        </p:txBody>
      </p:sp>
      <p:pic>
        <p:nvPicPr>
          <p:cNvPr id="7" name="Content Placeholder 6"/>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231152" y="1382973"/>
            <a:ext cx="5825696" cy="5292383"/>
          </a:xfrm>
        </p:spPr>
      </p:pic>
    </p:spTree>
    <p:extLst>
      <p:ext uri="{BB962C8B-B14F-4D97-AF65-F5344CB8AC3E}">
        <p14:creationId xmlns:p14="http://schemas.microsoft.com/office/powerpoint/2010/main" val="669674710"/>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Sitka Text" pitchFamily="2" charset="0"/>
              </a:rPr>
              <a:t>Performance on </a:t>
            </a:r>
            <a:r>
              <a:rPr lang="en-US" dirty="0" smtClean="0">
                <a:latin typeface="Sitka Text" pitchFamily="2" charset="0"/>
              </a:rPr>
              <a:t>the</a:t>
            </a:r>
            <a:br>
              <a:rPr lang="en-US" dirty="0" smtClean="0">
                <a:latin typeface="Sitka Text" pitchFamily="2" charset="0"/>
              </a:rPr>
            </a:br>
            <a:r>
              <a:rPr lang="en-US" dirty="0" smtClean="0">
                <a:latin typeface="Sitka Text" pitchFamily="2" charset="0"/>
              </a:rPr>
              <a:t>Test </a:t>
            </a:r>
            <a:r>
              <a:rPr lang="en-US" dirty="0">
                <a:latin typeface="Sitka Text" pitchFamily="2" charset="0"/>
              </a:rPr>
              <a:t>Set</a:t>
            </a: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256422" y="990428"/>
            <a:ext cx="5638800" cy="5739987"/>
          </a:xfrm>
        </p:spPr>
      </p:pic>
      <p:sp>
        <p:nvSpPr>
          <p:cNvPr id="5" name="Rectangle 4"/>
          <p:cNvSpPr/>
          <p:nvPr/>
        </p:nvSpPr>
        <p:spPr>
          <a:xfrm>
            <a:off x="842938" y="5720433"/>
            <a:ext cx="2844048" cy="369332"/>
          </a:xfrm>
          <a:prstGeom prst="rect">
            <a:avLst/>
          </a:prstGeom>
        </p:spPr>
        <p:txBody>
          <a:bodyPr wrap="none">
            <a:spAutoFit/>
          </a:bodyPr>
          <a:lstStyle/>
          <a:p>
            <a:r>
              <a:rPr lang="en-US" dirty="0">
                <a:solidFill>
                  <a:srgbClr val="000000"/>
                </a:solidFill>
                <a:latin typeface="Consolas" panose="020B0609020204030204" pitchFamily="49" charset="0"/>
              </a:rPr>
              <a:t>Macro ROC AUC: 0.9957</a:t>
            </a:r>
            <a:endParaRPr lang="en-US" dirty="0"/>
          </a:p>
        </p:txBody>
      </p:sp>
      <p:sp>
        <p:nvSpPr>
          <p:cNvPr id="6" name="Rectangle 5"/>
          <p:cNvSpPr/>
          <p:nvPr/>
        </p:nvSpPr>
        <p:spPr>
          <a:xfrm>
            <a:off x="1074821" y="2828835"/>
            <a:ext cx="6096000" cy="1200329"/>
          </a:xfrm>
          <a:prstGeom prst="rect">
            <a:avLst/>
          </a:prstGeom>
        </p:spPr>
        <p:txBody>
          <a:bodyPr>
            <a:spAutoFit/>
          </a:bodyPr>
          <a:lstStyle/>
          <a:p>
            <a:r>
              <a:rPr lang="en-US" dirty="0">
                <a:solidFill>
                  <a:srgbClr val="008000"/>
                </a:solidFill>
                <a:latin typeface="Consolas" panose="020B0609020204030204" pitchFamily="49" charset="0"/>
              </a:rPr>
              <a:t>'Apparel' </a:t>
            </a:r>
          </a:p>
          <a:p>
            <a:r>
              <a:rPr lang="en-US" dirty="0">
                <a:solidFill>
                  <a:srgbClr val="008000"/>
                </a:solidFill>
                <a:latin typeface="Consolas" panose="020B0609020204030204" pitchFamily="49" charset="0"/>
              </a:rPr>
              <a:t>'Accessories' </a:t>
            </a:r>
          </a:p>
          <a:p>
            <a:r>
              <a:rPr lang="en-US" dirty="0">
                <a:solidFill>
                  <a:srgbClr val="008000"/>
                </a:solidFill>
                <a:latin typeface="Consolas" panose="020B0609020204030204" pitchFamily="49" charset="0"/>
              </a:rPr>
              <a:t>'Footwear'</a:t>
            </a:r>
          </a:p>
          <a:p>
            <a:r>
              <a:rPr lang="en-US" dirty="0">
                <a:solidFill>
                  <a:srgbClr val="008000"/>
                </a:solidFill>
                <a:latin typeface="Consolas" panose="020B0609020204030204" pitchFamily="49" charset="0"/>
              </a:rPr>
              <a:t>'Personal Care'</a:t>
            </a:r>
            <a:endParaRPr lang="en-US" dirty="0">
              <a:solidFill>
                <a:srgbClr val="000000"/>
              </a:solidFill>
              <a:latin typeface="Consolas" panose="020B0609020204030204" pitchFamily="49" charset="0"/>
            </a:endParaRPr>
          </a:p>
        </p:txBody>
      </p:sp>
    </p:spTree>
    <p:extLst>
      <p:ext uri="{BB962C8B-B14F-4D97-AF65-F5344CB8AC3E}">
        <p14:creationId xmlns:p14="http://schemas.microsoft.com/office/powerpoint/2010/main" val="797672883"/>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153654"/>
            <a:ext cx="10515600" cy="2063666"/>
          </a:xfrm>
        </p:spPr>
        <p:txBody>
          <a:bodyPr>
            <a:normAutofit fontScale="90000"/>
          </a:bodyPr>
          <a:lstStyle/>
          <a:p>
            <a:pPr algn="ctr"/>
            <a:r>
              <a:rPr lang="en-US" sz="5400" dirty="0" smtClean="0">
                <a:latin typeface="Sitka Text" pitchFamily="2" charset="0"/>
              </a:rPr>
              <a:t>Case Study </a:t>
            </a:r>
            <a:r>
              <a:rPr lang="en-US" sz="5400" dirty="0">
                <a:latin typeface="Sitka Text" pitchFamily="2" charset="0"/>
              </a:rPr>
              <a:t>2</a:t>
            </a:r>
            <a:br>
              <a:rPr lang="en-US" sz="5400" dirty="0">
                <a:latin typeface="Sitka Text" pitchFamily="2" charset="0"/>
              </a:rPr>
            </a:br>
            <a:r>
              <a:rPr lang="en-US" sz="5400" dirty="0">
                <a:latin typeface="Sitka Text" pitchFamily="2" charset="0"/>
              </a:rPr>
              <a:t>Detection of Diabetic Retinopathy</a:t>
            </a:r>
            <a:endParaRPr lang="en-US" sz="5400" dirty="0"/>
          </a:p>
        </p:txBody>
      </p:sp>
    </p:spTree>
    <p:extLst>
      <p:ext uri="{BB962C8B-B14F-4D97-AF65-F5344CB8AC3E}">
        <p14:creationId xmlns:p14="http://schemas.microsoft.com/office/powerpoint/2010/main" val="2995857442"/>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Sitka Text" pitchFamily="2" charset="0"/>
              </a:rPr>
              <a:t>Dataset</a:t>
            </a:r>
            <a:endParaRPr lang="en-US" dirty="0"/>
          </a:p>
        </p:txBody>
      </p:sp>
      <p:sp>
        <p:nvSpPr>
          <p:cNvPr id="3" name="Content Placeholder 2"/>
          <p:cNvSpPr>
            <a:spLocks noGrp="1"/>
          </p:cNvSpPr>
          <p:nvPr>
            <p:ph idx="1"/>
          </p:nvPr>
        </p:nvSpPr>
        <p:spPr/>
        <p:txBody>
          <a:bodyPr>
            <a:normAutofit/>
          </a:bodyPr>
          <a:lstStyle/>
          <a:p>
            <a:r>
              <a:rPr lang="en-US" sz="1800" dirty="0">
                <a:latin typeface="Sitka Text" pitchFamily="2" charset="0"/>
              </a:rPr>
              <a:t>APTOS 2019 Blindness Detection </a:t>
            </a:r>
            <a:r>
              <a:rPr lang="en-US" sz="1800" dirty="0" smtClean="0">
                <a:latin typeface="Sitka Text" pitchFamily="2" charset="0"/>
              </a:rPr>
              <a:t>Dataset</a:t>
            </a:r>
            <a:r>
              <a:rPr lang="en-US" sz="1800" dirty="0">
                <a:latin typeface="Sitka Text" pitchFamily="2" charset="0"/>
              </a:rPr>
              <a:t>, which contains high-resolution retinal images labeled with DR severity:</a:t>
            </a:r>
          </a:p>
          <a:p>
            <a:pPr marL="457200" lvl="1" indent="0">
              <a:buNone/>
            </a:pPr>
            <a:r>
              <a:rPr lang="en-US" sz="1800" dirty="0" smtClean="0">
                <a:latin typeface="Sitka Text" pitchFamily="2" charset="0"/>
              </a:rPr>
              <a:t>0: No </a:t>
            </a:r>
            <a:r>
              <a:rPr lang="en-US" sz="1800" dirty="0">
                <a:latin typeface="Sitka Text" pitchFamily="2" charset="0"/>
              </a:rPr>
              <a:t>DR</a:t>
            </a:r>
          </a:p>
          <a:p>
            <a:pPr marL="457200" lvl="1" indent="0">
              <a:buNone/>
            </a:pPr>
            <a:r>
              <a:rPr lang="en-US" sz="1800" dirty="0">
                <a:latin typeface="Sitka Text" pitchFamily="2" charset="0"/>
              </a:rPr>
              <a:t>1: Mild</a:t>
            </a:r>
          </a:p>
          <a:p>
            <a:pPr marL="457200" lvl="1" indent="0">
              <a:buNone/>
            </a:pPr>
            <a:r>
              <a:rPr lang="en-US" sz="1800" dirty="0">
                <a:latin typeface="Sitka Text" pitchFamily="2" charset="0"/>
              </a:rPr>
              <a:t>2: Moderate</a:t>
            </a:r>
          </a:p>
          <a:p>
            <a:pPr marL="457200" lvl="1" indent="0">
              <a:buNone/>
            </a:pPr>
            <a:r>
              <a:rPr lang="en-US" sz="1800" dirty="0">
                <a:latin typeface="Sitka Text" pitchFamily="2" charset="0"/>
              </a:rPr>
              <a:t>3: Severe</a:t>
            </a:r>
          </a:p>
          <a:p>
            <a:pPr marL="457200" lvl="1" indent="0">
              <a:buNone/>
            </a:pPr>
            <a:r>
              <a:rPr lang="en-US" sz="1800" dirty="0">
                <a:latin typeface="Sitka Text" pitchFamily="2" charset="0"/>
              </a:rPr>
              <a:t>4: Proliferative DR</a:t>
            </a:r>
          </a:p>
          <a:p>
            <a:r>
              <a:rPr lang="en-US" sz="1800" dirty="0" smtClean="0">
                <a:latin typeface="Sitka Text" pitchFamily="2" charset="0"/>
              </a:rPr>
              <a:t>Lets use it for binary classification: No DR and DR</a:t>
            </a:r>
          </a:p>
          <a:p>
            <a:endParaRPr lang="en-US" sz="1800" dirty="0">
              <a:latin typeface="Sitka Text" pitchFamily="2" charset="0"/>
            </a:endParaRPr>
          </a:p>
        </p:txBody>
      </p:sp>
    </p:spTree>
    <p:extLst>
      <p:ext uri="{BB962C8B-B14F-4D97-AF65-F5344CB8AC3E}">
        <p14:creationId xmlns:p14="http://schemas.microsoft.com/office/powerpoint/2010/main" val="1932267777"/>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Sitka Text" pitchFamily="2" charset="0"/>
              </a:rPr>
              <a:t>Dataset</a:t>
            </a:r>
            <a:endParaRPr lang="en-US" dirty="0"/>
          </a:p>
        </p:txBody>
      </p:sp>
      <p:pic>
        <p:nvPicPr>
          <p:cNvPr id="4" name="Content Placeholder 3"/>
          <p:cNvPicPr>
            <a:picLocks noGrp="1" noChangeAspect="1"/>
          </p:cNvPicPr>
          <p:nvPr>
            <p:ph idx="1"/>
          </p:nvPr>
        </p:nvPicPr>
        <p:blipFill rotWithShape="1">
          <a:blip r:embed="rId3">
            <a:extLst>
              <a:ext uri="{28A0092B-C50C-407E-A947-70E740481C1C}">
                <a14:useLocalDpi xmlns:a14="http://schemas.microsoft.com/office/drawing/2010/main" val="0"/>
              </a:ext>
            </a:extLst>
          </a:blip>
          <a:srcRect t="10304"/>
          <a:stretch/>
        </p:blipFill>
        <p:spPr>
          <a:xfrm>
            <a:off x="1698155" y="1690688"/>
            <a:ext cx="9012257" cy="3902995"/>
          </a:xfrm>
        </p:spPr>
      </p:pic>
      <p:sp>
        <p:nvSpPr>
          <p:cNvPr id="5" name="TextBox 4"/>
          <p:cNvSpPr txBox="1"/>
          <p:nvPr/>
        </p:nvSpPr>
        <p:spPr>
          <a:xfrm>
            <a:off x="4042611" y="5811253"/>
            <a:ext cx="452368" cy="369332"/>
          </a:xfrm>
          <a:prstGeom prst="rect">
            <a:avLst/>
          </a:prstGeom>
          <a:noFill/>
        </p:spPr>
        <p:txBody>
          <a:bodyPr wrap="none" rtlCol="0">
            <a:spAutoFit/>
          </a:bodyPr>
          <a:lstStyle/>
          <a:p>
            <a:r>
              <a:rPr lang="en-US" dirty="0" smtClean="0"/>
              <a:t>DR</a:t>
            </a:r>
            <a:endParaRPr lang="en-US" dirty="0"/>
          </a:p>
        </p:txBody>
      </p:sp>
      <p:sp>
        <p:nvSpPr>
          <p:cNvPr id="6" name="TextBox 5"/>
          <p:cNvSpPr txBox="1"/>
          <p:nvPr/>
        </p:nvSpPr>
        <p:spPr>
          <a:xfrm>
            <a:off x="8009022" y="5811253"/>
            <a:ext cx="776175" cy="369332"/>
          </a:xfrm>
          <a:prstGeom prst="rect">
            <a:avLst/>
          </a:prstGeom>
          <a:noFill/>
        </p:spPr>
        <p:txBody>
          <a:bodyPr wrap="none" rtlCol="0">
            <a:spAutoFit/>
          </a:bodyPr>
          <a:lstStyle/>
          <a:p>
            <a:r>
              <a:rPr lang="en-US" dirty="0" smtClean="0"/>
              <a:t>No DR</a:t>
            </a:r>
            <a:endParaRPr lang="en-US" dirty="0"/>
          </a:p>
        </p:txBody>
      </p:sp>
    </p:spTree>
    <p:extLst>
      <p:ext uri="{BB962C8B-B14F-4D97-AF65-F5344CB8AC3E}">
        <p14:creationId xmlns:p14="http://schemas.microsoft.com/office/powerpoint/2010/main" val="3452414230"/>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Sitka Text" pitchFamily="2" charset="0"/>
              </a:rPr>
              <a:t>Dataset</a:t>
            </a:r>
            <a:endParaRPr lang="en-US" dirty="0"/>
          </a:p>
        </p:txBody>
      </p:sp>
      <p:graphicFrame>
        <p:nvGraphicFramePr>
          <p:cNvPr id="4" name="Content Placeholder 4"/>
          <p:cNvGraphicFramePr>
            <a:graphicFrameLocks/>
          </p:cNvGraphicFramePr>
          <p:nvPr>
            <p:extLst>
              <p:ext uri="{D42A27DB-BD31-4B8C-83A1-F6EECF244321}">
                <p14:modId xmlns:p14="http://schemas.microsoft.com/office/powerpoint/2010/main" val="2073793554"/>
              </p:ext>
            </p:extLst>
          </p:nvPr>
        </p:nvGraphicFramePr>
        <p:xfrm>
          <a:off x="3048493" y="1797926"/>
          <a:ext cx="5060299" cy="3977640"/>
        </p:xfrm>
        <a:graphic>
          <a:graphicData uri="http://schemas.openxmlformats.org/drawingml/2006/table">
            <a:tbl>
              <a:tblPr firstRow="1" bandRow="1">
                <a:tableStyleId>{5C22544A-7EE6-4342-B048-85BDC9FD1C3A}</a:tableStyleId>
              </a:tblPr>
              <a:tblGrid>
                <a:gridCol w="1743845">
                  <a:extLst>
                    <a:ext uri="{9D8B030D-6E8A-4147-A177-3AD203B41FA5}">
                      <a16:colId xmlns:a16="http://schemas.microsoft.com/office/drawing/2014/main" val="1426749751"/>
                    </a:ext>
                  </a:extLst>
                </a:gridCol>
                <a:gridCol w="1658227">
                  <a:extLst>
                    <a:ext uri="{9D8B030D-6E8A-4147-A177-3AD203B41FA5}">
                      <a16:colId xmlns:a16="http://schemas.microsoft.com/office/drawing/2014/main" val="3573309738"/>
                    </a:ext>
                  </a:extLst>
                </a:gridCol>
                <a:gridCol w="1658227">
                  <a:extLst>
                    <a:ext uri="{9D8B030D-6E8A-4147-A177-3AD203B41FA5}">
                      <a16:colId xmlns:a16="http://schemas.microsoft.com/office/drawing/2014/main" val="1820159548"/>
                    </a:ext>
                  </a:extLst>
                </a:gridCol>
              </a:tblGrid>
              <a:tr h="370840">
                <a:tc>
                  <a:txBody>
                    <a:bodyPr/>
                    <a:lstStyle/>
                    <a:p>
                      <a:r>
                        <a:rPr lang="en-US" dirty="0" smtClean="0">
                          <a:latin typeface="Sitka Text" pitchFamily="2" charset="0"/>
                        </a:rPr>
                        <a:t>Data</a:t>
                      </a:r>
                      <a:endParaRPr lang="en-US" dirty="0">
                        <a:latin typeface="Sitka Text" pitchFamily="2" charset="0"/>
                      </a:endParaRPr>
                    </a:p>
                  </a:txBody>
                  <a:tcPr/>
                </a:tc>
                <a:tc>
                  <a:txBody>
                    <a:bodyPr/>
                    <a:lstStyle/>
                    <a:p>
                      <a:r>
                        <a:rPr lang="en-US" dirty="0" smtClean="0">
                          <a:latin typeface="Sitka Text" pitchFamily="2" charset="0"/>
                        </a:rPr>
                        <a:t>Class</a:t>
                      </a:r>
                      <a:endParaRPr lang="en-US" dirty="0">
                        <a:latin typeface="Sitka Text" pitchFamily="2" charset="0"/>
                      </a:endParaRPr>
                    </a:p>
                  </a:txBody>
                  <a:tcPr/>
                </a:tc>
                <a:tc>
                  <a:txBody>
                    <a:bodyPr/>
                    <a:lstStyle/>
                    <a:p>
                      <a:r>
                        <a:rPr lang="en-US" sz="1800" b="0" i="0" kern="1200" dirty="0" smtClean="0">
                          <a:solidFill>
                            <a:schemeClr val="lt1"/>
                          </a:solidFill>
                          <a:effectLst/>
                          <a:latin typeface="Sitka Text" pitchFamily="2" charset="0"/>
                          <a:ea typeface="+mn-ea"/>
                          <a:cs typeface="+mn-cs"/>
                        </a:rPr>
                        <a:t>Number of images</a:t>
                      </a:r>
                      <a:endParaRPr lang="en-US" dirty="0">
                        <a:latin typeface="Sitka Text" pitchFamily="2" charset="0"/>
                      </a:endParaRPr>
                    </a:p>
                  </a:txBody>
                  <a:tcPr/>
                </a:tc>
                <a:extLst>
                  <a:ext uri="{0D108BD9-81ED-4DB2-BD59-A6C34878D82A}">
                    <a16:rowId xmlns:a16="http://schemas.microsoft.com/office/drawing/2014/main" val="1021612066"/>
                  </a:ext>
                </a:extLst>
              </a:tr>
              <a:tr h="370840">
                <a:tc rowSpan="3">
                  <a:txBody>
                    <a:bodyPr/>
                    <a:lstStyle/>
                    <a:p>
                      <a:r>
                        <a:rPr lang="en-US" sz="1800" b="0" i="0" kern="1200" dirty="0" smtClean="0">
                          <a:solidFill>
                            <a:schemeClr val="dk1"/>
                          </a:solidFill>
                          <a:effectLst/>
                          <a:latin typeface="Sitka Text" pitchFamily="2" charset="0"/>
                          <a:ea typeface="+mn-ea"/>
                          <a:cs typeface="+mn-cs"/>
                        </a:rPr>
                        <a:t>Training Set</a:t>
                      </a:r>
                      <a:endParaRPr lang="en-US" dirty="0">
                        <a:latin typeface="Sitka Text" pitchFamily="2" charset="0"/>
                      </a:endParaRPr>
                    </a:p>
                  </a:txBody>
                  <a:tcPr/>
                </a:tc>
                <a:tc>
                  <a:txBody>
                    <a:bodyPr/>
                    <a:lstStyle/>
                    <a:p>
                      <a:pPr algn="r"/>
                      <a:r>
                        <a:rPr lang="en-US" dirty="0" smtClean="0">
                          <a:latin typeface="Sitka Text" pitchFamily="2" charset="0"/>
                        </a:rPr>
                        <a:t>DR</a:t>
                      </a:r>
                      <a:endParaRPr lang="en-US" dirty="0">
                        <a:latin typeface="Sitka Text" pitchFamily="2" charset="0"/>
                      </a:endParaRPr>
                    </a:p>
                  </a:txBody>
                  <a:tcPr/>
                </a:tc>
                <a:tc>
                  <a:txBody>
                    <a:bodyPr/>
                    <a:lstStyle/>
                    <a:p>
                      <a:pPr algn="r"/>
                      <a:r>
                        <a:rPr lang="en-US" sz="1800" b="0" i="0" kern="1200" dirty="0" smtClean="0">
                          <a:solidFill>
                            <a:schemeClr val="dk1"/>
                          </a:solidFill>
                          <a:effectLst/>
                          <a:latin typeface="Sitka Text" pitchFamily="2" charset="0"/>
                          <a:ea typeface="+mn-ea"/>
                          <a:cs typeface="+mn-cs"/>
                        </a:rPr>
                        <a:t>1050</a:t>
                      </a:r>
                      <a:endParaRPr lang="en-US" dirty="0">
                        <a:latin typeface="Sitka Text" pitchFamily="2" charset="0"/>
                      </a:endParaRPr>
                    </a:p>
                  </a:txBody>
                  <a:tcPr/>
                </a:tc>
                <a:extLst>
                  <a:ext uri="{0D108BD9-81ED-4DB2-BD59-A6C34878D82A}">
                    <a16:rowId xmlns:a16="http://schemas.microsoft.com/office/drawing/2014/main" val="4123747846"/>
                  </a:ext>
                </a:extLst>
              </a:tr>
              <a:tr h="370840">
                <a:tc vMerge="1">
                  <a:txBody>
                    <a:bodyPr/>
                    <a:lstStyle/>
                    <a:p>
                      <a:endParaRPr lang="en-US" dirty="0">
                        <a:latin typeface="Sitka Text" pitchFamily="2" charset="0"/>
                      </a:endParaRPr>
                    </a:p>
                  </a:txBody>
                  <a:tcPr/>
                </a:tc>
                <a:tc>
                  <a:txBody>
                    <a:bodyPr/>
                    <a:lstStyle/>
                    <a:p>
                      <a:pPr algn="r"/>
                      <a:r>
                        <a:rPr lang="en-US" dirty="0" smtClean="0">
                          <a:latin typeface="Sitka Text" pitchFamily="2" charset="0"/>
                        </a:rPr>
                        <a:t>No DR</a:t>
                      </a:r>
                      <a:endParaRPr lang="en-US" dirty="0">
                        <a:latin typeface="Sitka Text" pitchFamily="2" charset="0"/>
                      </a:endParaRPr>
                    </a:p>
                  </a:txBody>
                  <a:tcPr/>
                </a:tc>
                <a:tc>
                  <a:txBody>
                    <a:bodyPr/>
                    <a:lstStyle/>
                    <a:p>
                      <a:pPr algn="r"/>
                      <a:r>
                        <a:rPr lang="en-US" dirty="0" smtClean="0">
                          <a:latin typeface="Sitka Text" pitchFamily="2" charset="0"/>
                        </a:rPr>
                        <a:t>1026</a:t>
                      </a:r>
                      <a:endParaRPr lang="en-US" dirty="0">
                        <a:latin typeface="Sitka Text" pitchFamily="2" charset="0"/>
                      </a:endParaRPr>
                    </a:p>
                  </a:txBody>
                  <a:tcPr/>
                </a:tc>
                <a:extLst>
                  <a:ext uri="{0D108BD9-81ED-4DB2-BD59-A6C34878D82A}">
                    <a16:rowId xmlns:a16="http://schemas.microsoft.com/office/drawing/2014/main" val="714463085"/>
                  </a:ext>
                </a:extLst>
              </a:tr>
              <a:tr h="370840">
                <a:tc vMerge="1">
                  <a:txBody>
                    <a:bodyPr/>
                    <a:lstStyle/>
                    <a:p>
                      <a:endParaRPr lang="en-US" dirty="0">
                        <a:latin typeface="Sitka Text" pitchFamily="2" charset="0"/>
                      </a:endParaRPr>
                    </a:p>
                  </a:txBody>
                  <a:tcPr/>
                </a:tc>
                <a:tc>
                  <a:txBody>
                    <a:bodyPr/>
                    <a:lstStyle/>
                    <a:p>
                      <a:pPr algn="r"/>
                      <a:r>
                        <a:rPr lang="en-US" dirty="0" smtClean="0">
                          <a:latin typeface="Sitka Text" pitchFamily="2" charset="0"/>
                        </a:rPr>
                        <a:t>Total</a:t>
                      </a:r>
                      <a:endParaRPr lang="en-US" dirty="0">
                        <a:latin typeface="Sitka Text" pitchFamily="2" charset="0"/>
                      </a:endParaRPr>
                    </a:p>
                  </a:txBody>
                  <a:tcPr/>
                </a:tc>
                <a:tc>
                  <a:txBody>
                    <a:bodyPr/>
                    <a:lstStyle/>
                    <a:p>
                      <a:pPr algn="r"/>
                      <a:r>
                        <a:rPr lang="en-US" dirty="0" smtClean="0">
                          <a:latin typeface="Sitka Text" pitchFamily="2" charset="0"/>
                        </a:rPr>
                        <a:t>2076</a:t>
                      </a:r>
                      <a:endParaRPr lang="en-US" dirty="0">
                        <a:latin typeface="Sitka Text" pitchFamily="2" charset="0"/>
                      </a:endParaRPr>
                    </a:p>
                  </a:txBody>
                  <a:tcPr/>
                </a:tc>
                <a:extLst>
                  <a:ext uri="{0D108BD9-81ED-4DB2-BD59-A6C34878D82A}">
                    <a16:rowId xmlns:a16="http://schemas.microsoft.com/office/drawing/2014/main" val="3703126937"/>
                  </a:ext>
                </a:extLst>
              </a:tr>
              <a:tr h="370840">
                <a:tc rowSpan="3">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latin typeface="Sitka Text" pitchFamily="2" charset="0"/>
                        </a:rPr>
                        <a:t>Validation</a:t>
                      </a:r>
                      <a:r>
                        <a:rPr lang="en-US" baseline="0" dirty="0" smtClean="0">
                          <a:latin typeface="Sitka Text" pitchFamily="2" charset="0"/>
                        </a:rPr>
                        <a:t> Set</a:t>
                      </a:r>
                      <a:endParaRPr lang="en-US" dirty="0" smtClean="0">
                        <a:latin typeface="Sitka Text" pitchFamily="2" charset="0"/>
                      </a:endParaRPr>
                    </a:p>
                  </a:txBody>
                  <a:tcPr/>
                </a:tc>
                <a:tc>
                  <a:txBody>
                    <a:bodyPr/>
                    <a:lstStyle/>
                    <a:p>
                      <a:pPr algn="r"/>
                      <a:r>
                        <a:rPr lang="en-US" dirty="0" smtClean="0">
                          <a:latin typeface="Sitka Text" pitchFamily="2" charset="0"/>
                        </a:rPr>
                        <a:t>DR</a:t>
                      </a:r>
                      <a:endParaRPr lang="en-US" dirty="0">
                        <a:latin typeface="Sitka Text" pitchFamily="2" charset="0"/>
                      </a:endParaRPr>
                    </a:p>
                  </a:txBody>
                  <a:tcPr/>
                </a:tc>
                <a:tc>
                  <a:txBody>
                    <a:bodyPr/>
                    <a:lstStyle/>
                    <a:p>
                      <a:pPr algn="r"/>
                      <a:r>
                        <a:rPr lang="en-US" dirty="0" smtClean="0">
                          <a:latin typeface="Sitka Text" pitchFamily="2" charset="0"/>
                        </a:rPr>
                        <a:t>245</a:t>
                      </a:r>
                      <a:endParaRPr lang="en-US" dirty="0">
                        <a:latin typeface="Sitka Text" pitchFamily="2" charset="0"/>
                      </a:endParaRPr>
                    </a:p>
                  </a:txBody>
                  <a:tcPr/>
                </a:tc>
                <a:extLst>
                  <a:ext uri="{0D108BD9-81ED-4DB2-BD59-A6C34878D82A}">
                    <a16:rowId xmlns:a16="http://schemas.microsoft.com/office/drawing/2014/main" val="1000426581"/>
                  </a:ext>
                </a:extLst>
              </a:tr>
              <a:tr h="370840">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smtClean="0">
                        <a:latin typeface="Sitka Text" pitchFamily="2" charset="0"/>
                      </a:endParaRPr>
                    </a:p>
                  </a:txBody>
                  <a:tcPr/>
                </a:tc>
                <a:tc>
                  <a:txBody>
                    <a:bodyPr/>
                    <a:lstStyle/>
                    <a:p>
                      <a:pPr algn="r"/>
                      <a:r>
                        <a:rPr lang="en-US" dirty="0" smtClean="0">
                          <a:latin typeface="Sitka Text" pitchFamily="2" charset="0"/>
                        </a:rPr>
                        <a:t>No DR</a:t>
                      </a:r>
                      <a:endParaRPr lang="en-US" dirty="0">
                        <a:latin typeface="Sitka Text" pitchFamily="2" charset="0"/>
                      </a:endParaRPr>
                    </a:p>
                  </a:txBody>
                  <a:tcPr/>
                </a:tc>
                <a:tc>
                  <a:txBody>
                    <a:bodyPr/>
                    <a:lstStyle/>
                    <a:p>
                      <a:pPr algn="r"/>
                      <a:r>
                        <a:rPr lang="en-US" dirty="0" smtClean="0">
                          <a:latin typeface="Sitka Text" pitchFamily="2" charset="0"/>
                        </a:rPr>
                        <a:t>286</a:t>
                      </a:r>
                      <a:endParaRPr lang="en-US" dirty="0">
                        <a:latin typeface="Sitka Text" pitchFamily="2" charset="0"/>
                      </a:endParaRPr>
                    </a:p>
                  </a:txBody>
                  <a:tcPr/>
                </a:tc>
                <a:extLst>
                  <a:ext uri="{0D108BD9-81ED-4DB2-BD59-A6C34878D82A}">
                    <a16:rowId xmlns:a16="http://schemas.microsoft.com/office/drawing/2014/main" val="1746685476"/>
                  </a:ext>
                </a:extLst>
              </a:tr>
              <a:tr h="370840">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smtClean="0">
                        <a:latin typeface="Sitka Text" pitchFamily="2" charset="0"/>
                      </a:endParaRPr>
                    </a:p>
                  </a:txBody>
                  <a:tcPr/>
                </a:tc>
                <a:tc>
                  <a:txBody>
                    <a:bodyPr/>
                    <a:lstStyle/>
                    <a:p>
                      <a:pPr algn="r"/>
                      <a:r>
                        <a:rPr lang="en-US" dirty="0" smtClean="0">
                          <a:latin typeface="Sitka Text" pitchFamily="2" charset="0"/>
                        </a:rPr>
                        <a:t>Total</a:t>
                      </a:r>
                      <a:endParaRPr lang="en-US" dirty="0">
                        <a:latin typeface="Sitka Text" pitchFamily="2" charset="0"/>
                      </a:endParaRPr>
                    </a:p>
                  </a:txBody>
                  <a:tcPr/>
                </a:tc>
                <a:tc>
                  <a:txBody>
                    <a:bodyPr/>
                    <a:lstStyle/>
                    <a:p>
                      <a:pPr algn="r"/>
                      <a:r>
                        <a:rPr lang="en-US" dirty="0" smtClean="0">
                          <a:latin typeface="Sitka Text" pitchFamily="2" charset="0"/>
                        </a:rPr>
                        <a:t>531</a:t>
                      </a:r>
                      <a:endParaRPr lang="en-US" dirty="0">
                        <a:latin typeface="Sitka Text" pitchFamily="2" charset="0"/>
                      </a:endParaRPr>
                    </a:p>
                  </a:txBody>
                  <a:tcPr/>
                </a:tc>
                <a:extLst>
                  <a:ext uri="{0D108BD9-81ED-4DB2-BD59-A6C34878D82A}">
                    <a16:rowId xmlns:a16="http://schemas.microsoft.com/office/drawing/2014/main" val="3822104117"/>
                  </a:ext>
                </a:extLst>
              </a:tr>
              <a:tr h="370840">
                <a:tc rowSpan="3">
                  <a:txBody>
                    <a:bodyPr/>
                    <a:lstStyle/>
                    <a:p>
                      <a:r>
                        <a:rPr lang="en-US" sz="1800" b="0" i="0" kern="1200" dirty="0" smtClean="0">
                          <a:solidFill>
                            <a:schemeClr val="dk1"/>
                          </a:solidFill>
                          <a:effectLst/>
                          <a:latin typeface="Sitka Text" pitchFamily="2" charset="0"/>
                          <a:ea typeface="+mn-ea"/>
                          <a:cs typeface="+mn-cs"/>
                        </a:rPr>
                        <a:t>Test Set</a:t>
                      </a:r>
                      <a:endParaRPr lang="en-US" dirty="0">
                        <a:latin typeface="Sitka Text" pitchFamily="2" charset="0"/>
                      </a:endParaRPr>
                    </a:p>
                  </a:txBody>
                  <a:tcPr/>
                </a:tc>
                <a:tc>
                  <a:txBody>
                    <a:bodyPr/>
                    <a:lstStyle/>
                    <a:p>
                      <a:pPr algn="r"/>
                      <a:r>
                        <a:rPr lang="en-US" dirty="0" smtClean="0">
                          <a:latin typeface="Sitka Text" pitchFamily="2" charset="0"/>
                        </a:rPr>
                        <a:t>DR</a:t>
                      </a:r>
                      <a:endParaRPr lang="en-US" dirty="0">
                        <a:latin typeface="Sitka Text" pitchFamily="2" charset="0"/>
                      </a:endParaRPr>
                    </a:p>
                  </a:txBody>
                  <a:tcPr/>
                </a:tc>
                <a:tc>
                  <a:txBody>
                    <a:bodyPr/>
                    <a:lstStyle/>
                    <a:p>
                      <a:pPr algn="r"/>
                      <a:r>
                        <a:rPr lang="en-US" sz="1800" b="0" i="0" kern="1200" dirty="0" smtClean="0">
                          <a:solidFill>
                            <a:schemeClr val="dk1"/>
                          </a:solidFill>
                          <a:effectLst/>
                          <a:latin typeface="Sitka Text" pitchFamily="2" charset="0"/>
                          <a:ea typeface="+mn-ea"/>
                          <a:cs typeface="+mn-cs"/>
                        </a:rPr>
                        <a:t>113</a:t>
                      </a:r>
                      <a:endParaRPr lang="en-US" dirty="0">
                        <a:latin typeface="Sitka Text" pitchFamily="2" charset="0"/>
                      </a:endParaRPr>
                    </a:p>
                  </a:txBody>
                  <a:tcPr/>
                </a:tc>
                <a:extLst>
                  <a:ext uri="{0D108BD9-81ED-4DB2-BD59-A6C34878D82A}">
                    <a16:rowId xmlns:a16="http://schemas.microsoft.com/office/drawing/2014/main" val="3680420316"/>
                  </a:ext>
                </a:extLst>
              </a:tr>
              <a:tr h="370840">
                <a:tc vMerge="1">
                  <a:txBody>
                    <a:bodyPr/>
                    <a:lstStyle/>
                    <a:p>
                      <a:endParaRPr lang="en-US" dirty="0">
                        <a:latin typeface="Sitka Text" pitchFamily="2" charset="0"/>
                      </a:endParaRPr>
                    </a:p>
                  </a:txBody>
                  <a:tcPr/>
                </a:tc>
                <a:tc>
                  <a:txBody>
                    <a:bodyPr/>
                    <a:lstStyle/>
                    <a:p>
                      <a:pPr algn="r"/>
                      <a:r>
                        <a:rPr lang="en-US" dirty="0" smtClean="0">
                          <a:latin typeface="Sitka Text" pitchFamily="2" charset="0"/>
                        </a:rPr>
                        <a:t>No DR</a:t>
                      </a:r>
                      <a:endParaRPr lang="en-US" dirty="0">
                        <a:latin typeface="Sitka Text" pitchFamily="2" charset="0"/>
                      </a:endParaRPr>
                    </a:p>
                  </a:txBody>
                  <a:tcPr/>
                </a:tc>
                <a:tc>
                  <a:txBody>
                    <a:bodyPr/>
                    <a:lstStyle/>
                    <a:p>
                      <a:pPr algn="r"/>
                      <a:r>
                        <a:rPr lang="en-US" dirty="0" smtClean="0">
                          <a:latin typeface="Sitka Text" pitchFamily="2" charset="0"/>
                        </a:rPr>
                        <a:t>118</a:t>
                      </a:r>
                      <a:endParaRPr lang="en-US" dirty="0">
                        <a:latin typeface="Sitka Text" pitchFamily="2" charset="0"/>
                      </a:endParaRPr>
                    </a:p>
                  </a:txBody>
                  <a:tcPr/>
                </a:tc>
                <a:extLst>
                  <a:ext uri="{0D108BD9-81ED-4DB2-BD59-A6C34878D82A}">
                    <a16:rowId xmlns:a16="http://schemas.microsoft.com/office/drawing/2014/main" val="3699298343"/>
                  </a:ext>
                </a:extLst>
              </a:tr>
              <a:tr h="370840">
                <a:tc vMerge="1">
                  <a:txBody>
                    <a:bodyPr/>
                    <a:lstStyle/>
                    <a:p>
                      <a:endParaRPr lang="en-US" dirty="0">
                        <a:latin typeface="Sitka Text" pitchFamily="2" charset="0"/>
                      </a:endParaRPr>
                    </a:p>
                  </a:txBody>
                  <a:tcPr/>
                </a:tc>
                <a:tc>
                  <a:txBody>
                    <a:bodyPr/>
                    <a:lstStyle/>
                    <a:p>
                      <a:pPr algn="r"/>
                      <a:r>
                        <a:rPr lang="en-US" dirty="0" smtClean="0">
                          <a:latin typeface="Sitka Text" pitchFamily="2" charset="0"/>
                        </a:rPr>
                        <a:t>Total</a:t>
                      </a:r>
                      <a:endParaRPr lang="en-US" dirty="0">
                        <a:latin typeface="Sitka Text" pitchFamily="2" charset="0"/>
                      </a:endParaRPr>
                    </a:p>
                  </a:txBody>
                  <a:tcPr/>
                </a:tc>
                <a:tc>
                  <a:txBody>
                    <a:bodyPr/>
                    <a:lstStyle/>
                    <a:p>
                      <a:pPr algn="r"/>
                      <a:r>
                        <a:rPr lang="en-US" dirty="0" smtClean="0">
                          <a:latin typeface="Sitka Text" pitchFamily="2" charset="0"/>
                        </a:rPr>
                        <a:t>231</a:t>
                      </a:r>
                      <a:endParaRPr lang="en-US" dirty="0">
                        <a:latin typeface="Sitka Text" pitchFamily="2" charset="0"/>
                      </a:endParaRPr>
                    </a:p>
                  </a:txBody>
                  <a:tcPr/>
                </a:tc>
                <a:extLst>
                  <a:ext uri="{0D108BD9-81ED-4DB2-BD59-A6C34878D82A}">
                    <a16:rowId xmlns:a16="http://schemas.microsoft.com/office/drawing/2014/main" val="2201675144"/>
                  </a:ext>
                </a:extLst>
              </a:tr>
            </a:tbl>
          </a:graphicData>
        </a:graphic>
      </p:graphicFrame>
    </p:spTree>
    <p:extLst>
      <p:ext uri="{BB962C8B-B14F-4D97-AF65-F5344CB8AC3E}">
        <p14:creationId xmlns:p14="http://schemas.microsoft.com/office/powerpoint/2010/main" val="36917887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latin typeface="Sitka Text" pitchFamily="2" charset="0"/>
              </a:rPr>
              <a:t>MobileNet</a:t>
            </a:r>
            <a:endParaRPr lang="en-US" dirty="0">
              <a:latin typeface="Sitka Text" pitchFamily="2" charset="0"/>
            </a:endParaRPr>
          </a:p>
        </p:txBody>
      </p:sp>
      <p:pic>
        <p:nvPicPr>
          <p:cNvPr id="4" name="Content Placeholder 3"/>
          <p:cNvPicPr>
            <a:picLocks noGrp="1" noChangeAspect="1"/>
          </p:cNvPicPr>
          <p:nvPr>
            <p:ph idx="1"/>
          </p:nvPr>
        </p:nvPicPr>
        <p:blipFill>
          <a:blip r:embed="rId3"/>
          <a:stretch>
            <a:fillRect/>
          </a:stretch>
        </p:blipFill>
        <p:spPr>
          <a:xfrm>
            <a:off x="1061335" y="1690688"/>
            <a:ext cx="10069330" cy="3953427"/>
          </a:xfrm>
          <a:prstGeom prst="rect">
            <a:avLst/>
          </a:prstGeom>
        </p:spPr>
      </p:pic>
      <p:sp>
        <p:nvSpPr>
          <p:cNvPr id="3" name="Rectangle 2"/>
          <p:cNvSpPr/>
          <p:nvPr/>
        </p:nvSpPr>
        <p:spPr>
          <a:xfrm>
            <a:off x="673100" y="5878036"/>
            <a:ext cx="10807699" cy="584775"/>
          </a:xfrm>
          <a:prstGeom prst="rect">
            <a:avLst/>
          </a:prstGeom>
        </p:spPr>
        <p:txBody>
          <a:bodyPr wrap="square">
            <a:spAutoFit/>
          </a:bodyPr>
          <a:lstStyle/>
          <a:p>
            <a:r>
              <a:rPr lang="en-US" sz="1600" b="1" dirty="0" err="1" smtClean="0">
                <a:latin typeface="Sitka Text" pitchFamily="2" charset="0"/>
              </a:rPr>
              <a:t>Depthwise</a:t>
            </a:r>
            <a:r>
              <a:rPr lang="en-US" sz="1600" b="1" dirty="0" smtClean="0">
                <a:latin typeface="Sitka Text" pitchFamily="2" charset="0"/>
              </a:rPr>
              <a:t> </a:t>
            </a:r>
            <a:r>
              <a:rPr lang="en-US" sz="1600" b="1" dirty="0">
                <a:latin typeface="Sitka Text" pitchFamily="2" charset="0"/>
              </a:rPr>
              <a:t>separable </a:t>
            </a:r>
            <a:r>
              <a:rPr lang="en-US" sz="1600" b="1" dirty="0" smtClean="0">
                <a:latin typeface="Sitka Text" pitchFamily="2" charset="0"/>
              </a:rPr>
              <a:t>convolutions</a:t>
            </a:r>
            <a:r>
              <a:rPr lang="en-US" sz="1600" dirty="0" smtClean="0">
                <a:latin typeface="Sitka Text" pitchFamily="2" charset="0"/>
              </a:rPr>
              <a:t>: </a:t>
            </a:r>
            <a:r>
              <a:rPr lang="en-US" sz="1600" dirty="0">
                <a:latin typeface="Sitka Text" pitchFamily="2" charset="0"/>
              </a:rPr>
              <a:t>a </a:t>
            </a:r>
            <a:r>
              <a:rPr lang="en-US" sz="1600" dirty="0" err="1">
                <a:latin typeface="Sitka Text" pitchFamily="2" charset="0"/>
              </a:rPr>
              <a:t>depthwise</a:t>
            </a:r>
            <a:r>
              <a:rPr lang="en-US" sz="1600" dirty="0">
                <a:latin typeface="Sitka Text" pitchFamily="2" charset="0"/>
              </a:rPr>
              <a:t> convolution that applies a single filter to each input channel independently, followed by a pointwise (1×1) convolution that combines information across channels</a:t>
            </a:r>
          </a:p>
        </p:txBody>
      </p:sp>
    </p:spTree>
    <p:extLst>
      <p:ext uri="{BB962C8B-B14F-4D97-AF65-F5344CB8AC3E}">
        <p14:creationId xmlns:p14="http://schemas.microsoft.com/office/powerpoint/2010/main" val="1452252781"/>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latin typeface="Sitka Text" pitchFamily="2" charset="0"/>
              </a:rPr>
              <a:t>MobileNet</a:t>
            </a:r>
            <a:endParaRPr lang="en-US" dirty="0"/>
          </a:p>
        </p:txBody>
      </p:sp>
      <p:pic>
        <p:nvPicPr>
          <p:cNvPr id="4" name="Content Placeholder 3"/>
          <p:cNvPicPr>
            <a:picLocks noGrp="1" noChangeAspect="1"/>
          </p:cNvPicPr>
          <p:nvPr>
            <p:ph idx="1"/>
          </p:nvPr>
        </p:nvPicPr>
        <p:blipFill>
          <a:blip r:embed="rId3"/>
          <a:stretch>
            <a:fillRect/>
          </a:stretch>
        </p:blipFill>
        <p:spPr>
          <a:xfrm>
            <a:off x="1758464" y="2214955"/>
            <a:ext cx="8983087" cy="3355665"/>
          </a:xfrm>
          <a:prstGeom prst="rect">
            <a:avLst/>
          </a:prstGeom>
        </p:spPr>
      </p:pic>
      <p:sp>
        <p:nvSpPr>
          <p:cNvPr id="5" name="Rectangle 2"/>
          <p:cNvSpPr>
            <a:spLocks noChangeArrowheads="1"/>
          </p:cNvSpPr>
          <p:nvPr/>
        </p:nvSpPr>
        <p:spPr bwMode="auto">
          <a:xfrm>
            <a:off x="236621" y="5667542"/>
            <a:ext cx="5859379"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kumimoji="0" lang="en-US" altLang="en-US" i="0" u="none" strike="noStrike" cap="none" normalizeH="0" baseline="0" dirty="0" smtClean="0">
                <a:ln>
                  <a:noFill/>
                </a:ln>
                <a:effectLst/>
                <a:latin typeface="Sitka Text" pitchFamily="2" charset="0"/>
              </a:rPr>
              <a:t>Total </a:t>
            </a:r>
            <a:r>
              <a:rPr kumimoji="0" lang="en-US" altLang="en-US" i="0" u="none" strike="noStrike" cap="none" normalizeH="0" baseline="0" dirty="0" err="1" smtClean="0">
                <a:ln>
                  <a:noFill/>
                </a:ln>
                <a:effectLst/>
                <a:latin typeface="Sitka Text" pitchFamily="2" charset="0"/>
              </a:rPr>
              <a:t>params</a:t>
            </a:r>
            <a:r>
              <a:rPr lang="en-US" altLang="en-US" dirty="0">
                <a:latin typeface="Sitka Text" pitchFamily="2" charset="0"/>
              </a:rPr>
              <a:t>: </a:t>
            </a:r>
            <a:r>
              <a:rPr lang="en-US" altLang="en-US" dirty="0" smtClean="0">
                <a:latin typeface="Sitka Text" pitchFamily="2" charset="0"/>
              </a:rPr>
              <a:t>3,229,889</a:t>
            </a:r>
          </a:p>
          <a:p>
            <a:pPr lvl="0" eaLnBrk="0" fontAlgn="base" hangingPunct="0">
              <a:spcBef>
                <a:spcPct val="0"/>
              </a:spcBef>
              <a:spcAft>
                <a:spcPct val="0"/>
              </a:spcAft>
            </a:pPr>
            <a:r>
              <a:rPr lang="en-US" altLang="en-US" dirty="0" smtClean="0">
                <a:latin typeface="Sitka Text" pitchFamily="2" charset="0"/>
              </a:rPr>
              <a:t>Trainable </a:t>
            </a:r>
            <a:r>
              <a:rPr lang="en-US" altLang="en-US" dirty="0" err="1">
                <a:latin typeface="Sitka Text" pitchFamily="2" charset="0"/>
              </a:rPr>
              <a:t>params</a:t>
            </a:r>
            <a:r>
              <a:rPr lang="en-US" altLang="en-US" dirty="0">
                <a:latin typeface="Sitka Text" pitchFamily="2" charset="0"/>
              </a:rPr>
              <a:t>: </a:t>
            </a:r>
            <a:r>
              <a:rPr lang="en-US" altLang="en-US" dirty="0" smtClean="0">
                <a:latin typeface="Sitka Text" pitchFamily="2" charset="0"/>
              </a:rPr>
              <a:t>3,208,001</a:t>
            </a:r>
          </a:p>
          <a:p>
            <a:pPr lvl="0" eaLnBrk="0" fontAlgn="base" hangingPunct="0">
              <a:spcBef>
                <a:spcPct val="0"/>
              </a:spcBef>
              <a:spcAft>
                <a:spcPct val="0"/>
              </a:spcAft>
            </a:pPr>
            <a:r>
              <a:rPr lang="en-US" altLang="en-US" dirty="0" smtClean="0">
                <a:latin typeface="Sitka Text" pitchFamily="2" charset="0"/>
              </a:rPr>
              <a:t>Non-trainable </a:t>
            </a:r>
            <a:r>
              <a:rPr lang="en-US" altLang="en-US" dirty="0" err="1">
                <a:latin typeface="Sitka Text" pitchFamily="2" charset="0"/>
              </a:rPr>
              <a:t>params</a:t>
            </a:r>
            <a:r>
              <a:rPr lang="en-US" altLang="en-US" dirty="0">
                <a:latin typeface="Sitka Text" pitchFamily="2" charset="0"/>
              </a:rPr>
              <a:t>: 21,888</a:t>
            </a:r>
            <a:endParaRPr kumimoji="0" lang="en-US" altLang="en-US" i="0" u="none" strike="noStrike" cap="none" normalizeH="0" baseline="0" dirty="0" smtClean="0">
              <a:ln>
                <a:noFill/>
              </a:ln>
              <a:effectLst/>
              <a:latin typeface="Sitka Text" pitchFamily="2" charset="0"/>
            </a:endParaRPr>
          </a:p>
        </p:txBody>
      </p:sp>
    </p:spTree>
    <p:extLst>
      <p:ext uri="{BB962C8B-B14F-4D97-AF65-F5344CB8AC3E}">
        <p14:creationId xmlns:p14="http://schemas.microsoft.com/office/powerpoint/2010/main" val="3113655989"/>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Sitka Text" pitchFamily="2" charset="0"/>
              </a:rPr>
              <a:t>Loss Function</a:t>
            </a:r>
            <a:endParaRPr lang="en-US" dirty="0"/>
          </a:p>
        </p:txBody>
      </p:sp>
      <p:sp>
        <p:nvSpPr>
          <p:cNvPr id="3" name="Content Placeholder 2"/>
          <p:cNvSpPr>
            <a:spLocks noGrp="1"/>
          </p:cNvSpPr>
          <p:nvPr>
            <p:ph idx="1"/>
          </p:nvPr>
        </p:nvSpPr>
        <p:spPr/>
        <p:txBody>
          <a:bodyPr>
            <a:normAutofit/>
          </a:bodyPr>
          <a:lstStyle/>
          <a:p>
            <a:pPr marL="0" indent="0">
              <a:buNone/>
            </a:pPr>
            <a:r>
              <a:rPr lang="en-US" sz="2000" dirty="0" smtClean="0">
                <a:latin typeface="Sitka Text" pitchFamily="2" charset="0"/>
              </a:rPr>
              <a:t>Binary </a:t>
            </a:r>
            <a:r>
              <a:rPr lang="en-US" sz="2000" dirty="0">
                <a:latin typeface="Sitka Text" pitchFamily="2" charset="0"/>
              </a:rPr>
              <a:t>cross-entropy loss function</a:t>
            </a:r>
          </a:p>
          <a:p>
            <a:endParaRPr lang="en-US" sz="2000" dirty="0"/>
          </a:p>
        </p:txBody>
      </p:sp>
      <p:pic>
        <p:nvPicPr>
          <p:cNvPr id="4" name="Picture 3"/>
          <p:cNvPicPr>
            <a:picLocks noChangeAspect="1"/>
          </p:cNvPicPr>
          <p:nvPr/>
        </p:nvPicPr>
        <p:blipFill>
          <a:blip r:embed="rId3"/>
          <a:stretch>
            <a:fillRect/>
          </a:stretch>
        </p:blipFill>
        <p:spPr>
          <a:xfrm>
            <a:off x="3621044" y="2865741"/>
            <a:ext cx="4700799" cy="671543"/>
          </a:xfrm>
          <a:prstGeom prst="rect">
            <a:avLst/>
          </a:prstGeom>
        </p:spPr>
      </p:pic>
    </p:spTree>
    <p:extLst>
      <p:ext uri="{BB962C8B-B14F-4D97-AF65-F5344CB8AC3E}">
        <p14:creationId xmlns:p14="http://schemas.microsoft.com/office/powerpoint/2010/main" val="4026043813"/>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Sitka Text" pitchFamily="2" charset="0"/>
              </a:rPr>
              <a:t>Training and Validation Result</a:t>
            </a:r>
            <a:endParaRPr lang="en-US" dirty="0">
              <a:latin typeface="Sitka Text" pitchFamily="2" charset="0"/>
            </a:endParaRPr>
          </a:p>
        </p:txBody>
      </p:sp>
      <p:pic>
        <p:nvPicPr>
          <p:cNvPr id="6" name="Content Placeholder 5"/>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471713" y="1625308"/>
            <a:ext cx="5184658" cy="4160528"/>
          </a:xfrm>
        </p:spPr>
      </p:pic>
      <p:pic>
        <p:nvPicPr>
          <p:cNvPr id="7" name="Pictur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95292" y="1690688"/>
            <a:ext cx="5184658" cy="4160528"/>
          </a:xfrm>
          <a:prstGeom prst="rect">
            <a:avLst/>
          </a:prstGeom>
        </p:spPr>
      </p:pic>
    </p:spTree>
    <p:extLst>
      <p:ext uri="{BB962C8B-B14F-4D97-AF65-F5344CB8AC3E}">
        <p14:creationId xmlns:p14="http://schemas.microsoft.com/office/powerpoint/2010/main" val="3180256354"/>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2"/>
          <a:stretch>
            <a:fillRect/>
          </a:stretch>
        </p:blipFill>
        <p:spPr>
          <a:xfrm>
            <a:off x="4397250" y="2848941"/>
            <a:ext cx="7490204" cy="2689664"/>
          </a:xfrm>
          <a:prstGeom prst="rect">
            <a:avLst/>
          </a:prstGeom>
        </p:spPr>
      </p:pic>
      <p:sp>
        <p:nvSpPr>
          <p:cNvPr id="2" name="Title 1"/>
          <p:cNvSpPr>
            <a:spLocks noGrp="1"/>
          </p:cNvSpPr>
          <p:nvPr>
            <p:ph type="title"/>
          </p:nvPr>
        </p:nvSpPr>
        <p:spPr/>
        <p:txBody>
          <a:bodyPr/>
          <a:lstStyle/>
          <a:p>
            <a:r>
              <a:rPr lang="en-US" dirty="0" smtClean="0">
                <a:latin typeface="Sitka Text" pitchFamily="2" charset="0"/>
              </a:rPr>
              <a:t>Performance on the Test Set</a:t>
            </a:r>
            <a:endParaRPr lang="en-US" dirty="0">
              <a:latin typeface="Sitka Text" pitchFamily="2" charset="0"/>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181914536"/>
              </p:ext>
            </p:extLst>
          </p:nvPr>
        </p:nvGraphicFramePr>
        <p:xfrm>
          <a:off x="838200" y="1847368"/>
          <a:ext cx="4206240" cy="1112520"/>
        </p:xfrm>
        <a:graphic>
          <a:graphicData uri="http://schemas.openxmlformats.org/drawingml/2006/table">
            <a:tbl>
              <a:tblPr firstRow="1" bandRow="1">
                <a:tableStyleId>{5C22544A-7EE6-4342-B048-85BDC9FD1C3A}</a:tableStyleId>
              </a:tblPr>
              <a:tblGrid>
                <a:gridCol w="2103120">
                  <a:extLst>
                    <a:ext uri="{9D8B030D-6E8A-4147-A177-3AD203B41FA5}">
                      <a16:colId xmlns:a16="http://schemas.microsoft.com/office/drawing/2014/main" val="1355096214"/>
                    </a:ext>
                  </a:extLst>
                </a:gridCol>
                <a:gridCol w="2103120">
                  <a:extLst>
                    <a:ext uri="{9D8B030D-6E8A-4147-A177-3AD203B41FA5}">
                      <a16:colId xmlns:a16="http://schemas.microsoft.com/office/drawing/2014/main" val="3488434293"/>
                    </a:ext>
                  </a:extLst>
                </a:gridCol>
              </a:tblGrid>
              <a:tr h="370840">
                <a:tc>
                  <a:txBody>
                    <a:bodyPr/>
                    <a:lstStyle/>
                    <a:p>
                      <a:r>
                        <a:rPr lang="en-US" dirty="0" smtClean="0">
                          <a:latin typeface="Sitka Text" pitchFamily="2" charset="0"/>
                        </a:rPr>
                        <a:t>Metrics</a:t>
                      </a:r>
                      <a:endParaRPr lang="en-US" dirty="0">
                        <a:latin typeface="Sitka Text" pitchFamily="2" charset="0"/>
                      </a:endParaRPr>
                    </a:p>
                  </a:txBody>
                  <a:tcPr/>
                </a:tc>
                <a:tc>
                  <a:txBody>
                    <a:bodyPr/>
                    <a:lstStyle/>
                    <a:p>
                      <a:r>
                        <a:rPr lang="en-US" dirty="0" smtClean="0">
                          <a:latin typeface="Sitka Text" pitchFamily="2" charset="0"/>
                        </a:rPr>
                        <a:t>Multi-class </a:t>
                      </a:r>
                      <a:endParaRPr lang="en-US" dirty="0">
                        <a:latin typeface="Sitka Text" pitchFamily="2" charset="0"/>
                      </a:endParaRPr>
                    </a:p>
                  </a:txBody>
                  <a:tcPr/>
                </a:tc>
                <a:extLst>
                  <a:ext uri="{0D108BD9-81ED-4DB2-BD59-A6C34878D82A}">
                    <a16:rowId xmlns:a16="http://schemas.microsoft.com/office/drawing/2014/main" val="840484841"/>
                  </a:ext>
                </a:extLst>
              </a:tr>
              <a:tr h="370840">
                <a:tc>
                  <a:txBody>
                    <a:bodyPr/>
                    <a:lstStyle/>
                    <a:p>
                      <a:r>
                        <a:rPr lang="en-US" dirty="0" smtClean="0">
                          <a:latin typeface="Sitka Text" pitchFamily="2" charset="0"/>
                        </a:rPr>
                        <a:t>Loss</a:t>
                      </a:r>
                      <a:endParaRPr lang="en-US" dirty="0">
                        <a:latin typeface="Sitka Text" pitchFamily="2" charset="0"/>
                      </a:endParaRPr>
                    </a:p>
                  </a:txBody>
                  <a:tcPr/>
                </a:tc>
                <a:tc>
                  <a:txBody>
                    <a:bodyPr/>
                    <a:lstStyle/>
                    <a:p>
                      <a:r>
                        <a:rPr lang="en-US" dirty="0" smtClean="0">
                          <a:latin typeface="Sitka Text" pitchFamily="2" charset="0"/>
                        </a:rPr>
                        <a:t>0.6394</a:t>
                      </a:r>
                      <a:endParaRPr lang="en-US" dirty="0">
                        <a:latin typeface="Sitka Text" pitchFamily="2" charset="0"/>
                      </a:endParaRPr>
                    </a:p>
                  </a:txBody>
                  <a:tcPr/>
                </a:tc>
                <a:extLst>
                  <a:ext uri="{0D108BD9-81ED-4DB2-BD59-A6C34878D82A}">
                    <a16:rowId xmlns:a16="http://schemas.microsoft.com/office/drawing/2014/main" val="279590111"/>
                  </a:ext>
                </a:extLst>
              </a:tr>
              <a:tr h="370840">
                <a:tc>
                  <a:txBody>
                    <a:bodyPr/>
                    <a:lstStyle/>
                    <a:p>
                      <a:r>
                        <a:rPr lang="en-US" dirty="0" smtClean="0">
                          <a:latin typeface="Sitka Text" pitchFamily="2" charset="0"/>
                        </a:rPr>
                        <a:t>Accuracy</a:t>
                      </a:r>
                      <a:endParaRPr lang="en-US" dirty="0">
                        <a:latin typeface="Sitka Text" pitchFamily="2" charset="0"/>
                      </a:endParaRPr>
                    </a:p>
                  </a:txBody>
                  <a:tcPr/>
                </a:tc>
                <a:tc>
                  <a:txBody>
                    <a:bodyPr/>
                    <a:lstStyle/>
                    <a:p>
                      <a:r>
                        <a:rPr lang="en-US" dirty="0" smtClean="0">
                          <a:latin typeface="Sitka Text" pitchFamily="2" charset="0"/>
                        </a:rPr>
                        <a:t>61.47%</a:t>
                      </a:r>
                      <a:endParaRPr lang="en-US" dirty="0">
                        <a:latin typeface="Sitka Text" pitchFamily="2" charset="0"/>
                      </a:endParaRPr>
                    </a:p>
                  </a:txBody>
                  <a:tcPr/>
                </a:tc>
                <a:extLst>
                  <a:ext uri="{0D108BD9-81ED-4DB2-BD59-A6C34878D82A}">
                    <a16:rowId xmlns:a16="http://schemas.microsoft.com/office/drawing/2014/main" val="2116694446"/>
                  </a:ext>
                </a:extLst>
              </a:tr>
            </a:tbl>
          </a:graphicData>
        </a:graphic>
      </p:graphicFrame>
      <p:sp>
        <p:nvSpPr>
          <p:cNvPr id="6" name="Rectangle 5"/>
          <p:cNvSpPr/>
          <p:nvPr/>
        </p:nvSpPr>
        <p:spPr>
          <a:xfrm>
            <a:off x="1134979" y="3758736"/>
            <a:ext cx="6096000" cy="923330"/>
          </a:xfrm>
          <a:prstGeom prst="rect">
            <a:avLst/>
          </a:prstGeom>
        </p:spPr>
        <p:txBody>
          <a:bodyPr>
            <a:spAutoFit/>
          </a:bodyPr>
          <a:lstStyle/>
          <a:p>
            <a:r>
              <a:rPr lang="en-US" dirty="0" smtClean="0">
                <a:solidFill>
                  <a:srgbClr val="008000"/>
                </a:solidFill>
                <a:latin typeface="Consolas" panose="020B0609020204030204" pitchFamily="49" charset="0"/>
              </a:rPr>
              <a:t>‘DR' </a:t>
            </a:r>
          </a:p>
          <a:p>
            <a:r>
              <a:rPr lang="en-US" dirty="0" smtClean="0">
                <a:solidFill>
                  <a:srgbClr val="008000"/>
                </a:solidFill>
                <a:latin typeface="Consolas" panose="020B0609020204030204" pitchFamily="49" charset="0"/>
              </a:rPr>
              <a:t>‘</a:t>
            </a:r>
            <a:r>
              <a:rPr lang="en-US" dirty="0" err="1" smtClean="0">
                <a:solidFill>
                  <a:srgbClr val="008000"/>
                </a:solidFill>
                <a:latin typeface="Consolas" panose="020B0609020204030204" pitchFamily="49" charset="0"/>
              </a:rPr>
              <a:t>No_DR</a:t>
            </a:r>
            <a:r>
              <a:rPr lang="en-US" dirty="0" smtClean="0">
                <a:solidFill>
                  <a:srgbClr val="008000"/>
                </a:solidFill>
                <a:latin typeface="Consolas" panose="020B0609020204030204" pitchFamily="49" charset="0"/>
              </a:rPr>
              <a:t>' </a:t>
            </a:r>
          </a:p>
          <a:p>
            <a:endParaRPr lang="en-US" b="0" dirty="0">
              <a:solidFill>
                <a:srgbClr val="000000"/>
              </a:solidFill>
              <a:effectLst/>
              <a:latin typeface="Consolas" panose="020B0609020204030204" pitchFamily="49" charset="0"/>
            </a:endParaRPr>
          </a:p>
        </p:txBody>
      </p:sp>
      <mc:AlternateContent xmlns:mc="http://schemas.openxmlformats.org/markup-compatibility/2006" xmlns:a14="http://schemas.microsoft.com/office/drawing/2010/main">
        <mc:Choice Requires="a14">
          <p:sp>
            <p:nvSpPr>
              <p:cNvPr id="8" name="Rectangle 7"/>
              <p:cNvSpPr/>
              <p:nvPr/>
            </p:nvSpPr>
            <p:spPr>
              <a:xfrm>
                <a:off x="4585457" y="5757261"/>
                <a:ext cx="3349891" cy="61549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𝑅𝑒𝑐𝑎𝑙𝑙</m:t>
                      </m:r>
                      <m:r>
                        <a:rPr lang="en-US" b="0" i="1" smtClean="0">
                          <a:latin typeface="Cambria Math" panose="02040503050406030204" pitchFamily="18" charset="0"/>
                        </a:rPr>
                        <m:t>/</m:t>
                      </m:r>
                      <m:r>
                        <a:rPr lang="en-US" i="1">
                          <a:latin typeface="Cambria Math" panose="02040503050406030204" pitchFamily="18" charset="0"/>
                        </a:rPr>
                        <m:t>𝑆</m:t>
                      </m:r>
                      <m:r>
                        <a:rPr lang="en-US" b="0" i="1" smtClean="0">
                          <a:latin typeface="Cambria Math" panose="02040503050406030204" pitchFamily="18" charset="0"/>
                        </a:rPr>
                        <m:t>𝑒𝑛𝑠𝑖𝑡𝑖𝑣𝑖</m:t>
                      </m:r>
                      <m:r>
                        <a:rPr lang="en-US" i="1">
                          <a:latin typeface="Cambria Math" panose="02040503050406030204" pitchFamily="18" charset="0"/>
                        </a:rPr>
                        <m:t>𝑡𝑦</m:t>
                      </m:r>
                      <m:r>
                        <a:rPr lang="en-US" i="0">
                          <a:latin typeface="Cambria Math" panose="02040503050406030204" pitchFamily="18" charset="0"/>
                        </a:rPr>
                        <m:t>= </m:t>
                      </m:r>
                      <m:f>
                        <m:fPr>
                          <m:ctrlPr>
                            <a:rPr lang="en-US" i="1">
                              <a:latin typeface="Cambria Math" panose="02040503050406030204" pitchFamily="18" charset="0"/>
                            </a:rPr>
                          </m:ctrlPr>
                        </m:fPr>
                        <m:num>
                          <m:r>
                            <a:rPr lang="en-US" i="1">
                              <a:latin typeface="Cambria Math" panose="02040503050406030204" pitchFamily="18" charset="0"/>
                            </a:rPr>
                            <m:t>𝑇</m:t>
                          </m:r>
                          <m:r>
                            <a:rPr lang="en-US" b="0" i="1" smtClean="0">
                              <a:latin typeface="Cambria Math" panose="02040503050406030204" pitchFamily="18" charset="0"/>
                            </a:rPr>
                            <m:t>𝑃</m:t>
                          </m:r>
                        </m:num>
                        <m:den>
                          <m:r>
                            <a:rPr lang="en-US" i="1">
                              <a:latin typeface="Cambria Math" panose="02040503050406030204" pitchFamily="18" charset="0"/>
                            </a:rPr>
                            <m:t>𝑇</m:t>
                          </m:r>
                          <m:r>
                            <a:rPr lang="en-US" b="0" i="1" smtClean="0">
                              <a:latin typeface="Cambria Math" panose="02040503050406030204" pitchFamily="18" charset="0"/>
                            </a:rPr>
                            <m:t>𝑃</m:t>
                          </m:r>
                          <m:r>
                            <a:rPr lang="en-US" i="0">
                              <a:latin typeface="Cambria Math" panose="02040503050406030204" pitchFamily="18" charset="0"/>
                            </a:rPr>
                            <m:t>+</m:t>
                          </m:r>
                          <m:r>
                            <a:rPr lang="en-US" i="1" smtClean="0">
                              <a:latin typeface="Cambria Math" panose="02040503050406030204" pitchFamily="18" charset="0"/>
                            </a:rPr>
                            <m:t>𝐹</m:t>
                          </m:r>
                          <m:r>
                            <a:rPr lang="en-US" b="0" i="1" smtClean="0">
                              <a:latin typeface="Cambria Math" panose="02040503050406030204" pitchFamily="18" charset="0"/>
                            </a:rPr>
                            <m:t>𝑁</m:t>
                          </m:r>
                        </m:den>
                      </m:f>
                    </m:oMath>
                  </m:oMathPara>
                </a14:m>
                <a:endParaRPr lang="en-US" dirty="0"/>
              </a:p>
            </p:txBody>
          </p:sp>
        </mc:Choice>
        <mc:Fallback xmlns="">
          <p:sp>
            <p:nvSpPr>
              <p:cNvPr id="8" name="Rectangle 7"/>
              <p:cNvSpPr>
                <a:spLocks noRot="1" noChangeAspect="1" noMove="1" noResize="1" noEditPoints="1" noAdjustHandles="1" noChangeArrowheads="1" noChangeShapeType="1" noTextEdit="1"/>
              </p:cNvSpPr>
              <p:nvPr/>
            </p:nvSpPr>
            <p:spPr>
              <a:xfrm>
                <a:off x="4585457" y="5757261"/>
                <a:ext cx="3349891" cy="615490"/>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Rectangle 8"/>
              <p:cNvSpPr/>
              <p:nvPr/>
            </p:nvSpPr>
            <p:spPr>
              <a:xfrm>
                <a:off x="620130" y="5757913"/>
                <a:ext cx="2428101" cy="61549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𝑃𝑟𝑒𝑐𝑖𝑠𝑖𝑜𝑛</m:t>
                      </m:r>
                      <m:r>
                        <a:rPr lang="en-US" i="0">
                          <a:latin typeface="Cambria Math" panose="02040503050406030204" pitchFamily="18" charset="0"/>
                        </a:rPr>
                        <m:t>= </m:t>
                      </m:r>
                      <m:f>
                        <m:fPr>
                          <m:ctrlPr>
                            <a:rPr lang="en-US" i="1">
                              <a:latin typeface="Cambria Math" panose="02040503050406030204" pitchFamily="18" charset="0"/>
                            </a:rPr>
                          </m:ctrlPr>
                        </m:fPr>
                        <m:num>
                          <m:r>
                            <a:rPr lang="en-US" i="1">
                              <a:latin typeface="Cambria Math" panose="02040503050406030204" pitchFamily="18" charset="0"/>
                            </a:rPr>
                            <m:t>𝑇</m:t>
                          </m:r>
                          <m:r>
                            <a:rPr lang="en-US" b="0" i="1" smtClean="0">
                              <a:latin typeface="Cambria Math" panose="02040503050406030204" pitchFamily="18" charset="0"/>
                            </a:rPr>
                            <m:t>𝑃</m:t>
                          </m:r>
                        </m:num>
                        <m:den>
                          <m:r>
                            <a:rPr lang="en-US" i="1">
                              <a:latin typeface="Cambria Math" panose="02040503050406030204" pitchFamily="18" charset="0"/>
                            </a:rPr>
                            <m:t>𝑇</m:t>
                          </m:r>
                          <m:r>
                            <a:rPr lang="en-US" b="0" i="1" smtClean="0">
                              <a:latin typeface="Cambria Math" panose="02040503050406030204" pitchFamily="18" charset="0"/>
                            </a:rPr>
                            <m:t>𝑃</m:t>
                          </m:r>
                          <m:r>
                            <a:rPr lang="en-US" i="0">
                              <a:latin typeface="Cambria Math" panose="02040503050406030204" pitchFamily="18" charset="0"/>
                            </a:rPr>
                            <m:t>+</m:t>
                          </m:r>
                          <m:r>
                            <a:rPr lang="en-US" i="1" smtClean="0">
                              <a:latin typeface="Cambria Math" panose="02040503050406030204" pitchFamily="18" charset="0"/>
                            </a:rPr>
                            <m:t>𝐹</m:t>
                          </m:r>
                          <m:r>
                            <a:rPr lang="en-US" b="0" i="1" smtClean="0">
                              <a:latin typeface="Cambria Math" panose="02040503050406030204" pitchFamily="18" charset="0"/>
                            </a:rPr>
                            <m:t>𝑃</m:t>
                          </m:r>
                        </m:den>
                      </m:f>
                    </m:oMath>
                  </m:oMathPara>
                </a14:m>
                <a:endParaRPr lang="en-US" dirty="0"/>
              </a:p>
            </p:txBody>
          </p:sp>
        </mc:Choice>
        <mc:Fallback xmlns="">
          <p:sp>
            <p:nvSpPr>
              <p:cNvPr id="9" name="Rectangle 8"/>
              <p:cNvSpPr>
                <a:spLocks noRot="1" noChangeAspect="1" noMove="1" noResize="1" noEditPoints="1" noAdjustHandles="1" noChangeArrowheads="1" noChangeShapeType="1" noTextEdit="1"/>
              </p:cNvSpPr>
              <p:nvPr/>
            </p:nvSpPr>
            <p:spPr>
              <a:xfrm>
                <a:off x="620130" y="5757913"/>
                <a:ext cx="2428101" cy="615490"/>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144830166"/>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Sitka Text" pitchFamily="2" charset="0"/>
              </a:rPr>
              <a:t>Performance on the Test Set</a:t>
            </a:r>
            <a:endParaRPr lang="en-US" dirty="0"/>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096000" y="1690688"/>
            <a:ext cx="4937770" cy="4160528"/>
          </a:xfrm>
        </p:spPr>
      </p:pic>
      <p:sp>
        <p:nvSpPr>
          <p:cNvPr id="8" name="Rectangle 7"/>
          <p:cNvSpPr/>
          <p:nvPr/>
        </p:nvSpPr>
        <p:spPr>
          <a:xfrm>
            <a:off x="1134979" y="3758736"/>
            <a:ext cx="6096000" cy="923330"/>
          </a:xfrm>
          <a:prstGeom prst="rect">
            <a:avLst/>
          </a:prstGeom>
        </p:spPr>
        <p:txBody>
          <a:bodyPr>
            <a:spAutoFit/>
          </a:bodyPr>
          <a:lstStyle/>
          <a:p>
            <a:r>
              <a:rPr lang="en-US" dirty="0" smtClean="0">
                <a:solidFill>
                  <a:srgbClr val="008000"/>
                </a:solidFill>
                <a:latin typeface="Consolas" panose="020B0609020204030204" pitchFamily="49" charset="0"/>
              </a:rPr>
              <a:t>‘DR' </a:t>
            </a:r>
          </a:p>
          <a:p>
            <a:r>
              <a:rPr lang="en-US" dirty="0" smtClean="0">
                <a:solidFill>
                  <a:srgbClr val="008000"/>
                </a:solidFill>
                <a:latin typeface="Consolas" panose="020B0609020204030204" pitchFamily="49" charset="0"/>
              </a:rPr>
              <a:t>‘</a:t>
            </a:r>
            <a:r>
              <a:rPr lang="en-US" dirty="0" err="1" smtClean="0">
                <a:solidFill>
                  <a:srgbClr val="008000"/>
                </a:solidFill>
                <a:latin typeface="Consolas" panose="020B0609020204030204" pitchFamily="49" charset="0"/>
              </a:rPr>
              <a:t>No_DR</a:t>
            </a:r>
            <a:r>
              <a:rPr lang="en-US" dirty="0" smtClean="0">
                <a:solidFill>
                  <a:srgbClr val="008000"/>
                </a:solidFill>
                <a:latin typeface="Consolas" panose="020B0609020204030204" pitchFamily="49" charset="0"/>
              </a:rPr>
              <a:t>' </a:t>
            </a:r>
          </a:p>
          <a:p>
            <a:endParaRPr lang="en-US" b="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2521319014"/>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Sitka Text" pitchFamily="2" charset="0"/>
              </a:rPr>
              <a:t>Performance on </a:t>
            </a:r>
            <a:r>
              <a:rPr lang="en-US" dirty="0" smtClean="0">
                <a:latin typeface="Sitka Text" pitchFamily="2" charset="0"/>
              </a:rPr>
              <a:t>the Test </a:t>
            </a:r>
            <a:r>
              <a:rPr lang="en-US" dirty="0">
                <a:latin typeface="Sitka Text" pitchFamily="2" charset="0"/>
              </a:rPr>
              <a:t>Set</a:t>
            </a:r>
            <a:endParaRPr lang="en-US" dirty="0"/>
          </a:p>
        </p:txBody>
      </p:sp>
      <p:sp>
        <p:nvSpPr>
          <p:cNvPr id="5" name="Rectangle 4"/>
          <p:cNvSpPr/>
          <p:nvPr/>
        </p:nvSpPr>
        <p:spPr>
          <a:xfrm>
            <a:off x="842938" y="5720433"/>
            <a:ext cx="2084225" cy="369332"/>
          </a:xfrm>
          <a:prstGeom prst="rect">
            <a:avLst/>
          </a:prstGeom>
        </p:spPr>
        <p:txBody>
          <a:bodyPr wrap="none">
            <a:spAutoFit/>
          </a:bodyPr>
          <a:lstStyle/>
          <a:p>
            <a:r>
              <a:rPr lang="en-US" dirty="0" smtClean="0">
                <a:solidFill>
                  <a:srgbClr val="000000"/>
                </a:solidFill>
                <a:latin typeface="Consolas" panose="020B0609020204030204" pitchFamily="49" charset="0"/>
              </a:rPr>
              <a:t>ROC </a:t>
            </a:r>
            <a:r>
              <a:rPr lang="en-US" dirty="0">
                <a:solidFill>
                  <a:srgbClr val="000000"/>
                </a:solidFill>
                <a:latin typeface="Consolas" panose="020B0609020204030204" pitchFamily="49" charset="0"/>
              </a:rPr>
              <a:t>AUC: </a:t>
            </a:r>
            <a:r>
              <a:rPr lang="en-US" dirty="0" smtClean="0">
                <a:solidFill>
                  <a:srgbClr val="000000"/>
                </a:solidFill>
                <a:latin typeface="Consolas" panose="020B0609020204030204" pitchFamily="49" charset="0"/>
              </a:rPr>
              <a:t>0.6094</a:t>
            </a:r>
            <a:endParaRPr lang="en-US" dirty="0"/>
          </a:p>
        </p:txBody>
      </p:sp>
      <p:pic>
        <p:nvPicPr>
          <p:cNvPr id="8" name="Content Placeholder 7"/>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5115902" y="1836809"/>
            <a:ext cx="5184658" cy="4160528"/>
          </a:xfrm>
        </p:spPr>
      </p:pic>
      <p:sp>
        <p:nvSpPr>
          <p:cNvPr id="9" name="Rectangle 8"/>
          <p:cNvSpPr/>
          <p:nvPr/>
        </p:nvSpPr>
        <p:spPr>
          <a:xfrm>
            <a:off x="1134979" y="3758736"/>
            <a:ext cx="6096000" cy="923330"/>
          </a:xfrm>
          <a:prstGeom prst="rect">
            <a:avLst/>
          </a:prstGeom>
        </p:spPr>
        <p:txBody>
          <a:bodyPr>
            <a:spAutoFit/>
          </a:bodyPr>
          <a:lstStyle/>
          <a:p>
            <a:r>
              <a:rPr lang="en-US" dirty="0" smtClean="0">
                <a:solidFill>
                  <a:srgbClr val="008000"/>
                </a:solidFill>
                <a:latin typeface="Consolas" panose="020B0609020204030204" pitchFamily="49" charset="0"/>
              </a:rPr>
              <a:t>‘DR' </a:t>
            </a:r>
          </a:p>
          <a:p>
            <a:r>
              <a:rPr lang="en-US" dirty="0" smtClean="0">
                <a:solidFill>
                  <a:srgbClr val="008000"/>
                </a:solidFill>
                <a:latin typeface="Consolas" panose="020B0609020204030204" pitchFamily="49" charset="0"/>
              </a:rPr>
              <a:t>‘</a:t>
            </a:r>
            <a:r>
              <a:rPr lang="en-US" dirty="0" err="1" smtClean="0">
                <a:solidFill>
                  <a:srgbClr val="008000"/>
                </a:solidFill>
                <a:latin typeface="Consolas" panose="020B0609020204030204" pitchFamily="49" charset="0"/>
              </a:rPr>
              <a:t>No_DR</a:t>
            </a:r>
            <a:r>
              <a:rPr lang="en-US" dirty="0" smtClean="0">
                <a:solidFill>
                  <a:srgbClr val="008000"/>
                </a:solidFill>
                <a:latin typeface="Consolas" panose="020B0609020204030204" pitchFamily="49" charset="0"/>
              </a:rPr>
              <a:t>' </a:t>
            </a:r>
          </a:p>
          <a:p>
            <a:endParaRPr lang="en-US" b="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2045355712"/>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Sitka Text" pitchFamily="2" charset="0"/>
              </a:rPr>
              <a:t>Discussion</a:t>
            </a:r>
            <a:endParaRPr lang="en-US" dirty="0">
              <a:latin typeface="Sitka Text" pitchFamily="2" charset="0"/>
            </a:endParaRPr>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418260468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Sitka Small Semibold" pitchFamily="2" charset="0"/>
              </a:rPr>
              <a:t>References</a:t>
            </a:r>
          </a:p>
        </p:txBody>
      </p:sp>
      <p:sp>
        <p:nvSpPr>
          <p:cNvPr id="3" name="Content Placeholder 2"/>
          <p:cNvSpPr>
            <a:spLocks noGrp="1"/>
          </p:cNvSpPr>
          <p:nvPr>
            <p:ph idx="1"/>
          </p:nvPr>
        </p:nvSpPr>
        <p:spPr/>
        <p:txBody>
          <a:bodyPr>
            <a:normAutofit/>
          </a:bodyPr>
          <a:lstStyle/>
          <a:p>
            <a:pPr algn="just">
              <a:lnSpc>
                <a:spcPct val="150000"/>
              </a:lnSpc>
              <a:buFont typeface="Wingdings" panose="05000000000000000000" pitchFamily="2" charset="2"/>
              <a:buChar char="q"/>
            </a:pPr>
            <a:r>
              <a:rPr lang="en-IN" sz="1800" dirty="0">
                <a:latin typeface="Sitka Text" pitchFamily="2" charset="0"/>
              </a:rPr>
              <a:t> “</a:t>
            </a:r>
            <a:r>
              <a:rPr lang="en-US" sz="1800" dirty="0">
                <a:latin typeface="Sitka Text" pitchFamily="2" charset="0"/>
              </a:rPr>
              <a:t>Deep Learning”, An MIT Press book, Ian </a:t>
            </a:r>
            <a:r>
              <a:rPr lang="en-US" sz="1800" dirty="0" err="1">
                <a:latin typeface="Sitka Text" pitchFamily="2" charset="0"/>
              </a:rPr>
              <a:t>Goodfellow</a:t>
            </a:r>
            <a:r>
              <a:rPr lang="en-US" sz="1800" dirty="0">
                <a:latin typeface="Sitka Text" pitchFamily="2" charset="0"/>
              </a:rPr>
              <a:t> and </a:t>
            </a:r>
            <a:r>
              <a:rPr lang="en-US" sz="1800" dirty="0" err="1">
                <a:latin typeface="Sitka Text" pitchFamily="2" charset="0"/>
              </a:rPr>
              <a:t>Yoshua</a:t>
            </a:r>
            <a:r>
              <a:rPr lang="en-US" sz="1800" dirty="0">
                <a:latin typeface="Sitka Text" pitchFamily="2" charset="0"/>
              </a:rPr>
              <a:t> </a:t>
            </a:r>
            <a:r>
              <a:rPr lang="en-US" sz="1800" dirty="0" err="1">
                <a:latin typeface="Sitka Text" pitchFamily="2" charset="0"/>
              </a:rPr>
              <a:t>Bengio</a:t>
            </a:r>
            <a:r>
              <a:rPr lang="en-US" sz="1800" dirty="0">
                <a:latin typeface="Sitka Text" pitchFamily="2" charset="0"/>
              </a:rPr>
              <a:t> and Aaron </a:t>
            </a:r>
            <a:r>
              <a:rPr lang="en-US" sz="1800" dirty="0" err="1">
                <a:latin typeface="Sitka Text" pitchFamily="2" charset="0"/>
              </a:rPr>
              <a:t>Courville</a:t>
            </a:r>
            <a:r>
              <a:rPr lang="en-US" sz="1800" dirty="0">
                <a:latin typeface="Sitka Text" pitchFamily="2" charset="0"/>
              </a:rPr>
              <a:t>, </a:t>
            </a:r>
            <a:r>
              <a:rPr lang="en-US" sz="1800" dirty="0">
                <a:latin typeface="Sitka Text" pitchFamily="2" charset="0"/>
                <a:hlinkClick r:id="rId2"/>
              </a:rPr>
              <a:t>http://www.deeplearningbook.org</a:t>
            </a:r>
            <a:endParaRPr lang="en-US" sz="1800" dirty="0">
              <a:latin typeface="Sitka Text" pitchFamily="2" charset="0"/>
            </a:endParaRPr>
          </a:p>
          <a:p>
            <a:pPr algn="just">
              <a:lnSpc>
                <a:spcPct val="150000"/>
              </a:lnSpc>
              <a:buFont typeface="Wingdings" panose="05000000000000000000" pitchFamily="2" charset="2"/>
              <a:buChar char="q"/>
            </a:pPr>
            <a:r>
              <a:rPr lang="en-IN" sz="1800" dirty="0">
                <a:latin typeface="Sitka Text" pitchFamily="2" charset="0"/>
              </a:rPr>
              <a:t> </a:t>
            </a:r>
            <a:r>
              <a:rPr lang="en-IN" sz="1800" dirty="0">
                <a:latin typeface="Sitka Text" pitchFamily="2" charset="0"/>
                <a:hlinkClick r:id="rId3"/>
              </a:rPr>
              <a:t>https://onlinecourses.nptel.ac.in/noc22_cs124/preview</a:t>
            </a:r>
            <a:endParaRPr lang="en-IN" sz="1800" dirty="0">
              <a:latin typeface="Sitka Text" pitchFamily="2" charset="0"/>
            </a:endParaRPr>
          </a:p>
          <a:p>
            <a:pPr algn="just">
              <a:lnSpc>
                <a:spcPct val="150000"/>
              </a:lnSpc>
              <a:buFont typeface="Wingdings" panose="05000000000000000000" pitchFamily="2" charset="2"/>
              <a:buChar char="q"/>
            </a:pPr>
            <a:r>
              <a:rPr lang="en-US" sz="1800" dirty="0">
                <a:latin typeface="Sitka Text" pitchFamily="2" charset="0"/>
              </a:rPr>
              <a:t> “Neural Networks and Deep Learning”, Aggarwal, C. C. , 2018. </a:t>
            </a:r>
            <a:endParaRPr lang="en-IN" sz="1800" dirty="0">
              <a:latin typeface="Sitka Text" pitchFamily="2" charset="0"/>
            </a:endParaRPr>
          </a:p>
          <a:p>
            <a:pPr algn="just">
              <a:lnSpc>
                <a:spcPct val="150000"/>
              </a:lnSpc>
              <a:buFont typeface="Wingdings" panose="05000000000000000000" pitchFamily="2" charset="2"/>
              <a:buChar char="q"/>
            </a:pPr>
            <a:r>
              <a:rPr lang="en-US" sz="1800" dirty="0">
                <a:latin typeface="Sitka Text" pitchFamily="2" charset="0"/>
              </a:rPr>
              <a:t> </a:t>
            </a:r>
            <a:r>
              <a:rPr lang="en-US" sz="1800" dirty="0" smtClean="0">
                <a:latin typeface="Sitka Text" pitchFamily="2" charset="0"/>
              </a:rPr>
              <a:t>"Gradient-Based </a:t>
            </a:r>
            <a:r>
              <a:rPr lang="en-US" sz="1800" dirty="0">
                <a:latin typeface="Sitka Text" pitchFamily="2" charset="0"/>
              </a:rPr>
              <a:t>Learning Applied to Document Recognition" by Yann </a:t>
            </a:r>
            <a:r>
              <a:rPr lang="en-US" sz="1800" dirty="0" err="1">
                <a:latin typeface="Sitka Text" pitchFamily="2" charset="0"/>
              </a:rPr>
              <a:t>LeCun</a:t>
            </a:r>
            <a:r>
              <a:rPr lang="en-US" sz="1800" dirty="0">
                <a:latin typeface="Sitka Text" pitchFamily="2" charset="0"/>
              </a:rPr>
              <a:t>, Léon </a:t>
            </a:r>
            <a:r>
              <a:rPr lang="en-US" sz="1800" dirty="0" err="1">
                <a:latin typeface="Sitka Text" pitchFamily="2" charset="0"/>
              </a:rPr>
              <a:t>Bottou</a:t>
            </a:r>
            <a:r>
              <a:rPr lang="en-US" sz="1800" dirty="0">
                <a:latin typeface="Sitka Text" pitchFamily="2" charset="0"/>
              </a:rPr>
              <a:t>, </a:t>
            </a:r>
            <a:r>
              <a:rPr lang="en-US" sz="1800" dirty="0" err="1">
                <a:latin typeface="Sitka Text" pitchFamily="2" charset="0"/>
              </a:rPr>
              <a:t>Yoshua</a:t>
            </a:r>
            <a:r>
              <a:rPr lang="en-US" sz="1800" dirty="0">
                <a:latin typeface="Sitka Text" pitchFamily="2" charset="0"/>
              </a:rPr>
              <a:t> </a:t>
            </a:r>
            <a:r>
              <a:rPr lang="en-US" sz="1800" dirty="0" err="1">
                <a:latin typeface="Sitka Text" pitchFamily="2" charset="0"/>
              </a:rPr>
              <a:t>Bengio</a:t>
            </a:r>
            <a:r>
              <a:rPr lang="en-US" sz="1800" dirty="0">
                <a:latin typeface="Sitka Text" pitchFamily="2" charset="0"/>
              </a:rPr>
              <a:t>, and Patrick </a:t>
            </a:r>
            <a:r>
              <a:rPr lang="en-US" sz="1800" dirty="0" err="1">
                <a:latin typeface="Sitka Text" pitchFamily="2" charset="0"/>
              </a:rPr>
              <a:t>Haffner</a:t>
            </a:r>
            <a:r>
              <a:rPr lang="en-US" sz="1800" dirty="0" smtClean="0">
                <a:latin typeface="Sitka Text" pitchFamily="2" charset="0"/>
              </a:rPr>
              <a:t>.</a:t>
            </a:r>
          </a:p>
          <a:p>
            <a:pPr algn="just">
              <a:lnSpc>
                <a:spcPct val="150000"/>
              </a:lnSpc>
              <a:buFont typeface="Wingdings" panose="05000000000000000000" pitchFamily="2" charset="2"/>
              <a:buChar char="q"/>
            </a:pPr>
            <a:r>
              <a:rPr lang="en-IN" sz="1800" dirty="0">
                <a:latin typeface="Sitka Text" pitchFamily="2" charset="0"/>
              </a:rPr>
              <a:t> </a:t>
            </a:r>
            <a:r>
              <a:rPr lang="en-IN" sz="1800" dirty="0" err="1" smtClean="0">
                <a:latin typeface="Sitka Text" pitchFamily="2" charset="0"/>
              </a:rPr>
              <a:t>Zeiler</a:t>
            </a:r>
            <a:r>
              <a:rPr lang="en-IN" sz="1800" dirty="0">
                <a:latin typeface="Sitka Text" pitchFamily="2" charset="0"/>
              </a:rPr>
              <a:t>, M. D., &amp; Fergus, R. (2014). Visualizing and understanding convolutional networks. In Computer Vision–ECCV 2014: 13th European Conference, Zurich, Switzerland, September 6-12, 2014, Proceedings, Part I 13 (pp. 818-833). Springer International Publishing.</a:t>
            </a:r>
          </a:p>
        </p:txBody>
      </p:sp>
    </p:spTree>
    <p:extLst>
      <p:ext uri="{BB962C8B-B14F-4D97-AF65-F5344CB8AC3E}">
        <p14:creationId xmlns:p14="http://schemas.microsoft.com/office/powerpoint/2010/main" val="3967990936"/>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9153" y="1549919"/>
            <a:ext cx="10058400" cy="3594932"/>
          </a:xfrm>
          <a:solidFill>
            <a:schemeClr val="bg1"/>
          </a:solidFill>
        </p:spPr>
        <p:txBody>
          <a:bodyPr>
            <a:normAutofit/>
          </a:bodyPr>
          <a:lstStyle/>
          <a:p>
            <a:pPr algn="ctr"/>
            <a:r>
              <a:rPr lang="en-IN" sz="8000" dirty="0">
                <a:latin typeface="Sitka Small Semibold" pitchFamily="2" charset="0"/>
              </a:rPr>
              <a:t>Thank You</a:t>
            </a:r>
          </a:p>
        </p:txBody>
      </p:sp>
    </p:spTree>
    <p:extLst>
      <p:ext uri="{BB962C8B-B14F-4D97-AF65-F5344CB8AC3E}">
        <p14:creationId xmlns:p14="http://schemas.microsoft.com/office/powerpoint/2010/main" val="607644842"/>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2175</TotalTime>
  <Words>4384</Words>
  <Application>Microsoft Office PowerPoint</Application>
  <PresentationFormat>Widescreen</PresentationFormat>
  <Paragraphs>470</Paragraphs>
  <Slides>58</Slides>
  <Notes>43</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58</vt:i4>
      </vt:variant>
    </vt:vector>
  </HeadingPairs>
  <TitlesOfParts>
    <vt:vector size="69" baseType="lpstr">
      <vt:lpstr>Arial</vt:lpstr>
      <vt:lpstr>Calibri</vt:lpstr>
      <vt:lpstr>Calibri Light</vt:lpstr>
      <vt:lpstr>Cambria Math</vt:lpstr>
      <vt:lpstr>Consolas</vt:lpstr>
      <vt:lpstr>Sitka Small Semibold</vt:lpstr>
      <vt:lpstr>Sitka Subheading Semibold</vt:lpstr>
      <vt:lpstr>Sitka Text</vt:lpstr>
      <vt:lpstr>Times New Roman</vt:lpstr>
      <vt:lpstr>Wingdings</vt:lpstr>
      <vt:lpstr>Office Theme</vt:lpstr>
      <vt:lpstr>Industry Applications of CNNs</vt:lpstr>
      <vt:lpstr>Agenda</vt:lpstr>
      <vt:lpstr>Convolutional Neural Networks</vt:lpstr>
      <vt:lpstr>Convolutional Layer</vt:lpstr>
      <vt:lpstr>Convolutional Layer</vt:lpstr>
      <vt:lpstr>Convolutional Layer</vt:lpstr>
      <vt:lpstr>Convolutional Layer</vt:lpstr>
      <vt:lpstr>Pooling Layer</vt:lpstr>
      <vt:lpstr>Fully-connected Layer</vt:lpstr>
      <vt:lpstr>Convolutional Neural Networks</vt:lpstr>
      <vt:lpstr>Convolutional Neural Networks</vt:lpstr>
      <vt:lpstr>Pre-trained CNNs and Transfer Learning</vt:lpstr>
      <vt:lpstr>Pre-trained CNNs and Fine-tuning</vt:lpstr>
      <vt:lpstr>Real-world Applications</vt:lpstr>
      <vt:lpstr>Real-world Applications</vt:lpstr>
      <vt:lpstr>Image classification</vt:lpstr>
      <vt:lpstr>Object Detection</vt:lpstr>
      <vt:lpstr>Image Segmentation</vt:lpstr>
      <vt:lpstr>Retail and E-commerce</vt:lpstr>
      <vt:lpstr>Medical Image Analysis</vt:lpstr>
      <vt:lpstr>Model Development</vt:lpstr>
      <vt:lpstr>Data Collection</vt:lpstr>
      <vt:lpstr>Data Pre-processing</vt:lpstr>
      <vt:lpstr>Train, Validation and Test split</vt:lpstr>
      <vt:lpstr>Data augmentation</vt:lpstr>
      <vt:lpstr>Case Study 1 Retail / E-commerce – Visual Product Categorization</vt:lpstr>
      <vt:lpstr>Dataset</vt:lpstr>
      <vt:lpstr>Dataset</vt:lpstr>
      <vt:lpstr>Dataset</vt:lpstr>
      <vt:lpstr>Data Preparation</vt:lpstr>
      <vt:lpstr>Problem Formulation</vt:lpstr>
      <vt:lpstr>Train-Validation-Test Split</vt:lpstr>
      <vt:lpstr>Train-Validation-Test Split</vt:lpstr>
      <vt:lpstr>Data Augmentation</vt:lpstr>
      <vt:lpstr>ResNet</vt:lpstr>
      <vt:lpstr>ResNet + Transfer Learning</vt:lpstr>
      <vt:lpstr>Loss Function</vt:lpstr>
      <vt:lpstr>Classification Metrics</vt:lpstr>
      <vt:lpstr>Classification Metrics</vt:lpstr>
      <vt:lpstr>Classification Metrics</vt:lpstr>
      <vt:lpstr>Training and Validation Result</vt:lpstr>
      <vt:lpstr>Performance on the Test Set</vt:lpstr>
      <vt:lpstr>Performance on the Test Set</vt:lpstr>
      <vt:lpstr>Performance on the Test Set</vt:lpstr>
      <vt:lpstr>Case Study 2 Detection of Diabetic Retinopathy</vt:lpstr>
      <vt:lpstr>Dataset</vt:lpstr>
      <vt:lpstr>Dataset</vt:lpstr>
      <vt:lpstr>Dataset</vt:lpstr>
      <vt:lpstr>MobileNet</vt:lpstr>
      <vt:lpstr>MobileNet</vt:lpstr>
      <vt:lpstr>Loss Function</vt:lpstr>
      <vt:lpstr>Training and Validation Result</vt:lpstr>
      <vt:lpstr>Performance on the Test Set</vt:lpstr>
      <vt:lpstr>Performance on the Test Set</vt:lpstr>
      <vt:lpstr>Performance on the Test Set</vt:lpstr>
      <vt:lpstr>Discussion</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Industry Applications of CNNs</dc:title>
  <dc:creator>user</dc:creator>
  <cp:lastModifiedBy>user</cp:lastModifiedBy>
  <cp:revision>60</cp:revision>
  <dcterms:created xsi:type="dcterms:W3CDTF">2026-01-13T05:55:37Z</dcterms:created>
  <dcterms:modified xsi:type="dcterms:W3CDTF">2026-02-01T04:07:30Z</dcterms:modified>
</cp:coreProperties>
</file>